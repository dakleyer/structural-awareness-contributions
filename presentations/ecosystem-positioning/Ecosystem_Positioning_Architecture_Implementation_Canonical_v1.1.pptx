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72" r:id="rId23"/>
    <p:sldId id="260" r:id="rId6"/>
    <p:sldId id="261" r:id="rId7"/>
    <p:sldId id="262" r:id="rId8"/>
    <p:sldId id="263" r:id="rId9"/>
    <p:sldId id="271" r:id="rId22"/>
    <p:sldId id="273" r:id="rId10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D4D544-A292-4829-B32B-F321090D9532}" name="Codex" initials="CX" userId="" providerId=""/>
  <p188:author id="{A1367D4F-5962-5773-E0CE-22E838CB07E5}" name="Ivan Abril Palma" initials="IA" userId="1518fb449b47511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6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8/10/relationships/authors" Target="authors.xml"/><Relationship Id="rId22" Type="http://schemas.openxmlformats.org/officeDocument/2006/relationships/slide" Target="slides/slide17.xml"/><Relationship Id="rId2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4AC05A-A514-42F8-9016-2E5D147A1C0F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1045952" cy="0"/>
          </a:xfrm>
          <a:prstGeom prst="line">
            <a:avLst/>
          </a:prstGeom>
          <a:noFill/>
          <a:ln w="19050">
            <a:solidFill>
              <a:srgbClr val="1B2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BA3AA8-903F-4A9F-BD7E-F197175788E2}"/>
              </a:ext>
            </a:extLst>
          </p:cNvPr>
          <p:cNvSpPr>
            <a:spLocks noGrp="1"/>
          </p:cNvSpPr>
          <p:nvPr/>
        </p:nvSpPr>
        <p:spPr>
          <a:xfrm>
            <a:off x="566928" y="512064"/>
            <a:ext cx="11045952" cy="0"/>
          </a:xfrm>
          <a:prstGeom prst="line">
            <a:avLst/>
          </a:prstGeom>
          <a:noFill/>
          <a:ln w="8890">
            <a:solidFill>
              <a:srgbClr val="1B2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D5C33F-27A7-4571-BF55-2281985972E4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1045952" cy="0"/>
          </a:xfrm>
          <a:prstGeom prst="line">
            <a:avLst/>
          </a:prstGeom>
          <a:noFill/>
          <a:ln w="10160">
            <a:solidFill>
              <a:srgbClr val="1B2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7C5CD3-1C90-4DE4-AC10-83A6A6D3A474}"/>
              </a:ext>
            </a:extLst>
          </p:cNvPr>
          <p:cNvSpPr>
            <a:spLocks noGrp="1"/>
          </p:cNvSpPr>
          <p:nvPr/>
        </p:nvSpPr>
        <p:spPr>
          <a:xfrm>
            <a:off x="566928" y="6547104"/>
            <a:ext cx="32461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67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0B3E1A-A271-4DB8-96AC-80B94A660E23}"/>
              </a:ext>
            </a:extLst>
          </p:cNvPr>
          <p:cNvSpPr>
            <a:spLocks noGrp="1"/>
          </p:cNvSpPr>
          <p:nvPr/>
        </p:nvSpPr>
        <p:spPr>
          <a:xfrm>
            <a:off x="4187952" y="6547104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70">
                <a:solidFill>
                  <a:srgbClr val="7A7E84"/>
                </a:solidFill>
                <a:latin typeface="Consolas"/>
                <a:ea typeface="Consolas"/>
                <a:cs typeface="Consolas"/>
              </a:rPr>
              <a:t>Ecosystem Awareness · Positioning architecture</a:t>
            </a:r>
            <a:endParaRPr sz="67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58AFA47-6D7A-4B0F-8606-AF5E073936E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64240" y="6537960"/>
            <a:ext cx="502920" cy="164592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1B273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7F9CD0A-AACD-49F3-918C-789F249C6D5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64240" y="6537960"/>
            <a:ext cx="502920" cy="164592"/>
          </a:xfrm>
          <a:prstGeom prst="rect">
            <a:avLst/>
          </a:prstGeom>
        </p:spPr>
        <p:txBody>
          <a:bodyPr/>
          <a:lstStyle>
            <a:lvl1pPr>
              <a:buNone/>
              <a:defRPr sz="750">
                <a:solidFill>
                  <a:srgbClr val="1B273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dakleyer/structural-awareness-contributions/blob/main/architectural-contributions/ecosystem-positioning/README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dakleyer/structural-awareness-contributions/blob/main/architectural-contributions/ecosystem-positioning/README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dakleyer/structural-awareness-contributions/blob/main/research/ecosystem-awareness/baseline/00_CANONICAL_ARCHITECTURE_TOPOLOGY.md" TargetMode="External"/><Relationship Id="rId4" Type="http://schemas.openxmlformats.org/officeDocument/2006/relationships/hyperlink" Target="https://github.com/dakleyer/structural-awareness-contributions/blob/main/research/ecosystem-awareness/baseline/01J_ECOSYSTEM_SIGNALLING_SELECTIVE_DISCLOSURE_AND_CHOREOGRAPHED_REPOSITIONING_v0.1.md" TargetMode="External"/><Relationship Id="rId5" Type="http://schemas.openxmlformats.org/officeDocument/2006/relationships/hyperlink" Target="https://github.com/dakleyer/structural-awareness-contributions/blob/main/standards/minimum-sufficient-control/03_MSCA_ECOSYSTEM_COMPOSITION_AND_CONTROL.md" TargetMode="External"/><Relationship Id="rId6" Type="http://schemas.openxmlformats.org/officeDocument/2006/relationships/hyperlink" Target="https://github.com/dakleyer/structural-awareness-contributions/blob/main/research/regime-awareness/README.md" TargetMode="External"/><Relationship Id="rId7" Type="http://schemas.openxmlformats.org/officeDocument/2006/relationships/hyperlink" Target="https://github.com/dakleyer/structural-awareness-contributions/blob/main/standards/minimum-sufficient-control/04_CANONICAL_MSCA_OPERATION_AND_REPOSITIONING.md" TargetMode="External"/><Relationship Id="rId8" Type="http://schemas.openxmlformats.org/officeDocument/2006/relationships/hyperlink" Target="https://github.com/dakleyer/structural-awareness-contributions/blob/main/architectural-contributions/ecosystem-positioning/01_OBJECTIVE_CONDITIONED_AGENTIC_GRADIENT_LAW.md" TargetMode="External"/><Relationship Id="rId9" Type="http://schemas.openxmlformats.org/officeDocument/2006/relationships/hyperlink" Target="https://github.com/dakleyer/structural-awareness-contributions/blob/main/research/ecosystem-awareness/baseline/01I_AGENTIC_CITIZENSHIP_CONTRACT_HUMAN_GOVERNED_PARTICIPATION_PROFILE_v0.1.md" TargetMode="External"/><Relationship Id="rId10" Type="http://schemas.openxmlformats.org/officeDocument/2006/relationships/hyperlink" Target="https://github.com/dakleyer/structural-awareness-contributions/blob/main/standards/minimum-sufficient-control/00_CANONICAL_MSCA_ARCHITECTURE.md" TargetMode="External"/><Relationship Id="rId11" Type="http://schemas.openxmlformats.org/officeDocument/2006/relationships/hyperlink" Target="https://github.com/dakleyer/structural-awareness-contributions/blob/main/architectural-contributions/ecosystem-positioning/README.md#the-mechanisms-of-the-positioning-cycl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dakleyer/structural-awareness-contributions/blob/main/research/ecosystem-awareness/baseline/01I_AGENTIC_CITIZENSHIP_CONTRACT_HUMAN_GOVERNED_PARTICIPATION_PROFILE_v0.1.md" TargetMode="External"/><Relationship Id="rId4" Type="http://schemas.openxmlformats.org/officeDocument/2006/relationships/hyperlink" Target="https://github.com/dakleyer/structural-awareness-contributions/blob/main/research/regime-awareness/README.md" TargetMode="External"/><Relationship Id="rId5" Type="http://schemas.openxmlformats.org/officeDocument/2006/relationships/hyperlink" Target="https://github.com/dakleyer/structural-awareness-contributions/blob/main/standards/minimum-sufficient-control/README.md" TargetMode="External"/><Relationship Id="rId6" Type="http://schemas.openxmlformats.org/officeDocument/2006/relationships/hyperlink" Target="https://github.com/dakleyer/structural-awareness-contributions/blob/main/research/ecosystem-awareness/baseline/01J_ECOSYSTEM_SIGNALLING_SELECTIVE_DISCLOSURE_AND_CHOREOGRAPHED_REPOSITIONING_v0.1.md" TargetMode="External"/><Relationship Id="rId7" Type="http://schemas.openxmlformats.org/officeDocument/2006/relationships/hyperlink" Target="https://github.com/dakleyer/structural-awareness-contributions/blob/main/architectural-contributions/ecosystem-positioning/README.md#the-mechanisms-of-the-positioning-cycle" TargetMode="External"/><Relationship Id="rId8" Type="http://schemas.openxmlformats.org/officeDocument/2006/relationships/hyperlink" Target="https://github.com/dakleyer/structural-awareness-contributions/blob/main/research/ecosystem-awareness/baseline/01H_PARTICIPANT_LOCAL_ECOSYSTEM_POSITIONING_AND_DECISION_SCOPED_EPISTEMIC_OPPORTUNITY_v0.1.md" TargetMode="External"/><Relationship Id="rId9" Type="http://schemas.openxmlformats.org/officeDocument/2006/relationships/hyperlink" Target="https://github.com/dakleyer/structural-awareness-contributions/blob/main/research/ecosystem-awareness/README.md" TargetMode="External"/><Relationship Id="rId10" Type="http://schemas.openxmlformats.org/officeDocument/2006/relationships/hyperlink" Target="https://github.com/dakleyer/structural-awareness-contributions/blob/main/standards/minimum-sufficient-control/04_CANONICAL_MSCA_OPERATION_AND_REPOSITIONING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dakleyer/structural-awareness-contributions/blob/main/research/ecosystem-awareness/baseline/04_GENERAL_FUNCTIONAL_INTERFACES_AGENTIC_SECURITY_v0.5_INTEGRATED.m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dakleyer/structural-awareness-contributions/blob/main/research/ecosystem-awareness/baseline/00_CANONICAL_ARCHITECTURE_TOPOLOGY.md" TargetMode="External"/><Relationship Id="rId4" Type="http://schemas.openxmlformats.org/officeDocument/2006/relationships/hyperlink" Target="https://github.com/dakleyer/structural-awareness-contributions/blob/main/architectural-contributions/ecosystem-positioning/README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dakleyer/structural-awareness-contributions" TargetMode="External"/><Relationship Id="rId3" Type="http://schemas.openxmlformats.org/officeDocument/2006/relationships/hyperlink" Target="https://github.com/dakleyer/structural-awareness-contributions/tree/main/architectural-contributions/ecosystem-positioning" TargetMode="External"/><Relationship Id="rId4" Type="http://schemas.openxmlformats.org/officeDocument/2006/relationships/hyperlink" Target="https://github.com/dakleyer/structural-awareness-contributions/tree/main/research/ecosystem-awareness" TargetMode="External"/><Relationship Id="rId5" Type="http://schemas.openxmlformats.org/officeDocument/2006/relationships/hyperlink" Target="https://github.com/dakleyer/structural-awareness-contributions/tree/main/research/regime-awareness" TargetMode="External"/><Relationship Id="rId6" Type="http://schemas.openxmlformats.org/officeDocument/2006/relationships/hyperlink" Target="https://github.com/dakleyer/structural-awareness-contributions/tree/main/standards/minimum-sufficient-control" TargetMode="External"/><Relationship Id="rId7" Type="http://schemas.openxmlformats.org/officeDocument/2006/relationships/hyperlink" Target="https://github.com/dakleyer/structural-awareness-contributions/tree/main/research/ecosystem-awareness/fg-tida" TargetMode="External"/><Relationship Id="rId8" Type="http://schemas.openxmlformats.org/officeDocument/2006/relationships/hyperlink" Target="https://github.com/dakleyer/structural-awareness-contributions/blob/main/research/ecosystem-awareness/baseline/00_CANONICAL_REQUIREMENTS_CHALLENGES_SUFFICIENCY_HYPOTHESES_KPIS.md" TargetMode="External"/><Relationship Id="rId9" Type="http://schemas.openxmlformats.org/officeDocument/2006/relationships/hyperlink" Target="https://github.com/dakleyer/structural-awareness-contributions/blob/main/research/ecosystem-awareness/baseline/00D_CANONICAL_ARCHITECTURE_BENCHMARK_AND_REFERENCE_SCENARIO_EVIDENCE_v0.2.md" TargetMode="External"/><Relationship Id="rId10" Type="http://schemas.openxmlformats.org/officeDocument/2006/relationships/hyperlink" Target="https://github.com/dakleyer/structural-awareness-contributions/blob/main/research/ecosystem-awareness/baseline/00D_CANONICAL_ARCHITECTURE_BENCHMARK_v0.3_DRAFT_ECOSYSTEM_POSITIONING.md" TargetMode="External"/><Relationship Id="rId11" Type="http://schemas.openxmlformats.org/officeDocument/2006/relationships/hyperlink" Target="https://github.com/dakleyer/structural-awareness-contributions/blob/main/research/ecosystem-awareness/DECISION_BOUNDARY_CHALLENGE_v0.2.md" TargetMode="External"/><Relationship Id="rId12" Type="http://schemas.openxmlformats.org/officeDocument/2006/relationships/hyperlink" Target="https://github.com/dakleyer/structural-awareness-contributions/blob/main/research/ecosystem-awareness/baseline/CANONICAL_CORPUS_MANIFEST.md" TargetMode="External"/><Relationship Id="rId13" Type="http://schemas.openxmlformats.org/officeDocument/2006/relationships/hyperlink" Target="https://github.com/dakleyer/structural-awareness-contributions/blob/main/research/ecosystem-awareness/baseline/00F_FAILURE_MODE_SMART_CITY_MOBILITY_SYSTEMIC_DIVERGENCE_v0.2_FREEZE_EDITION.md" TargetMode="External"/><Relationship Id="rId14" Type="http://schemas.openxmlformats.org/officeDocument/2006/relationships/hyperlink" Target="https://spiffe.io/docs/latest/spire-about/comparisons/" TargetMode="External"/><Relationship Id="rId15" Type="http://schemas.openxmlformats.org/officeDocument/2006/relationships/hyperlink" Target="https://www.rfc-editor.org/rfc/rfc8693.html" TargetMode="External"/><Relationship Id="rId16" Type="http://schemas.openxmlformats.org/officeDocument/2006/relationships/hyperlink" Target="https://www.rfc-editor.org/rfc/rfc9334.html" TargetMode="External"/><Relationship Id="rId17" Type="http://schemas.openxmlformats.org/officeDocument/2006/relationships/hyperlink" Target="https://www.nccoe.nist.gov/projects/software-and-ai-agent-identity-and-authorization" TargetMode="External"/><Relationship Id="rId18" Type="http://schemas.openxmlformats.org/officeDocument/2006/relationships/hyperlink" Target="https://github.com/dakleyer/structural-awareness-contributions/blob/main/architectural-contributions/ecosystem-positioning/README.md" TargetMode="External"/><Relationship Id="rId19" Type="http://schemas.openxmlformats.org/officeDocument/2006/relationships/hyperlink" Target="https://github.com/dakleyer/structural-awareness-contributions/blob/main/research/ecosystem-awareness/README.md" TargetMode="External"/><Relationship Id="rId20" Type="http://schemas.openxmlformats.org/officeDocument/2006/relationships/hyperlink" Target="https://github.com/dakleyer/structural-awareness-contributions/blob/main/research/ecosystem-awareness/fg-tida/README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44C1FD-9BE7-4172-8EB3-B600C9604AC5}"/>
              </a:ext>
            </a:extLst>
          </p:cNvPr>
          <p:cNvSpPr>
            <a:spLocks noGrp="1"/>
          </p:cNvSpPr>
          <p:nvPr/>
        </p:nvSpPr>
        <p:spPr>
          <a:xfrm>
            <a:off x="9795967" y="3657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4" name="Connector 3">
            <a:extLst>
              <a:ext uri="{FF2B5EF4-FFF2-40B4-BE49-F238E27FC236}">
                <a16:creationId xmlns:a16="http://schemas.microsoft.com/office/drawing/2014/main" id="{88B86075-DCCC-4A44-AD37-7FBEBF0D2087}"/>
              </a:ext>
            </a:extLst>
          </p:cNvPr>
          <p:cNvSpPr>
            <a:spLocks noGrp="1"/>
          </p:cNvSpPr>
          <p:nvPr/>
        </p:nvSpPr>
        <p:spPr>
          <a:xfrm>
            <a:off x="566928" y="713232"/>
            <a:ext cx="11057839" cy="0"/>
          </a:xfrm>
          <a:prstGeom prst="line">
            <a:avLst/>
          </a:prstGeom>
          <a:ln w="19050">
            <a:solidFill>
              <a:srgbClr val="D3D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CB3F87A0-9B7F-4CC6-AEBA-4ADB2ED68A79}"/>
              </a:ext>
            </a:extLst>
          </p:cNvPr>
          <p:cNvSpPr>
            <a:spLocks noGrp="1"/>
          </p:cNvSpPr>
          <p:nvPr/>
        </p:nvSpPr>
        <p:spPr>
          <a:xfrm>
            <a:off x="566928" y="763524"/>
            <a:ext cx="11057839" cy="0"/>
          </a:xfrm>
          <a:prstGeom prst="line">
            <a:avLst/>
          </a:prstGeom>
          <a:ln w="7620">
            <a:solidFill>
              <a:srgbClr val="D3D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B8D62-E8BB-4E19-A69A-7C23C3E24251}"/>
              </a:ext>
            </a:extLst>
          </p:cNvPr>
          <p:cNvSpPr>
            <a:spLocks noGrp="1"/>
          </p:cNvSpPr>
          <p:nvPr/>
        </p:nvSpPr>
        <p:spPr>
          <a:xfrm>
            <a:off x="566928" y="1783080"/>
            <a:ext cx="7040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4600" b="1" i="0" spc="-100">
                <a:solidFill>
                  <a:srgbClr val="FCFCFD"/>
                </a:solidFill>
                <a:latin typeface="Cambria"/>
                <a:ea typeface="Cambria"/>
                <a:cs typeface="Cambria"/>
                <a:hlinkClick r:id="rId3"/>
              </a:rPr>
              <a:t>Ecosystem Positioning</a:t>
            </a:r>
          </a:p>
          <a:p>
            <a:pPr algn="l">
              <a:lnSpc>
                <a:spcPct val="95000"/>
              </a:lnSpc>
              <a:buNone/>
            </a:pPr>
            <a:r>
              <a:rPr sz="4600" b="1" i="0" spc="-100">
                <a:solidFill>
                  <a:srgbClr val="FCFCFD"/>
                </a:solidFill>
                <a:latin typeface="Cambria"/>
                <a:ea typeface="Cambria"/>
                <a:cs typeface="Cambria"/>
                <a:hlinkClick r:id="rId3"/>
              </a:rPr>
              <a:t>for Agentic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FFF38-AB10-4A8D-82EC-580B75F79819}"/>
              </a:ext>
            </a:extLst>
          </p:cNvPr>
          <p:cNvSpPr>
            <a:spLocks noGrp="1"/>
          </p:cNvSpPr>
          <p:nvPr/>
        </p:nvSpPr>
        <p:spPr>
          <a:xfrm>
            <a:off x="566928" y="338328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50" b="0" i="0">
                <a:solidFill>
                  <a:srgbClr val="CACDD3"/>
                </a:solidFill>
                <a:latin typeface="Calibri"/>
                <a:ea typeface="Calibri"/>
                <a:cs typeface="Calibri"/>
              </a:rPr>
              <a:t>A proposed architecture for participants that must stay situated, and requalify, as authority, evidence, roles and the ecosystem itself change.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D80915-4B47-4AED-B24B-784257D0C6FA}"/>
              </a:ext>
            </a:extLst>
          </p:cNvPr>
          <p:cNvSpPr>
            <a:spLocks noGrp="1"/>
          </p:cNvSpPr>
          <p:nvPr/>
        </p:nvSpPr>
        <p:spPr>
          <a:xfrm>
            <a:off x="630936" y="4928616"/>
            <a:ext cx="292608" cy="292608"/>
          </a:xfrm>
          <a:prstGeom prst="ellipse">
            <a:avLst/>
          </a:prstGeom>
          <a:noFill/>
          <a:ln w="12700">
            <a:solidFill>
              <a:srgbClr val="7FB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16341C-B92E-4F9B-B4CA-A2BD3CF1B83C}"/>
              </a:ext>
            </a:extLst>
          </p:cNvPr>
          <p:cNvSpPr>
            <a:spLocks noGrp="1"/>
          </p:cNvSpPr>
          <p:nvPr/>
        </p:nvSpPr>
        <p:spPr>
          <a:xfrm>
            <a:off x="2560320" y="4937759"/>
            <a:ext cx="274320" cy="274320"/>
          </a:xfrm>
          <a:prstGeom prst="rect">
            <a:avLst/>
          </a:prstGeom>
          <a:noFill/>
          <a:ln w="12700">
            <a:solidFill>
              <a:srgbClr val="7FB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4407DF-E482-4DAA-8190-BCBEF679B05D}"/>
              </a:ext>
            </a:extLst>
          </p:cNvPr>
          <p:cNvSpPr>
            <a:spLocks noGrp="1"/>
          </p:cNvSpPr>
          <p:nvPr/>
        </p:nvSpPr>
        <p:spPr>
          <a:xfrm>
            <a:off x="4480559" y="4937759"/>
            <a:ext cx="274320" cy="274320"/>
          </a:xfrm>
          <a:prstGeom prst="rect">
            <a:avLst/>
          </a:prstGeom>
          <a:noFill/>
          <a:ln w="12700">
            <a:solidFill>
              <a:srgbClr val="7FB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E96F78-EE96-491B-86E3-289BE64F5D29}"/>
              </a:ext>
            </a:extLst>
          </p:cNvPr>
          <p:cNvSpPr>
            <a:spLocks noGrp="1"/>
          </p:cNvSpPr>
          <p:nvPr/>
        </p:nvSpPr>
        <p:spPr>
          <a:xfrm>
            <a:off x="6400800" y="4937759"/>
            <a:ext cx="274320" cy="274320"/>
          </a:xfrm>
          <a:prstGeom prst="rect">
            <a:avLst/>
          </a:prstGeom>
          <a:noFill/>
          <a:ln w="12700">
            <a:solidFill>
              <a:srgbClr val="7FB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Connector 12">
            <a:extLst>
              <a:ext uri="{FF2B5EF4-FFF2-40B4-BE49-F238E27FC236}">
                <a16:creationId xmlns:a16="http://schemas.microsoft.com/office/drawing/2014/main" id="{C8EFA27D-7367-4FDD-8492-2D7BFD38E59C}"/>
              </a:ext>
            </a:extLst>
          </p:cNvPr>
          <p:cNvSpPr>
            <a:spLocks noGrp="1"/>
          </p:cNvSpPr>
          <p:nvPr/>
        </p:nvSpPr>
        <p:spPr>
          <a:xfrm>
            <a:off x="978408" y="5074920"/>
            <a:ext cx="1517904" cy="0"/>
          </a:xfrm>
          <a:prstGeom prst="line">
            <a:avLst/>
          </a:prstGeom>
          <a:ln w="12700">
            <a:solidFill>
              <a:srgbClr val="7FB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52460077-9A01-4EB7-8E4D-B20BEED93C72}"/>
              </a:ext>
            </a:extLst>
          </p:cNvPr>
          <p:cNvSpPr>
            <a:spLocks noGrp="1"/>
          </p:cNvSpPr>
          <p:nvPr/>
        </p:nvSpPr>
        <p:spPr>
          <a:xfrm>
            <a:off x="2898648" y="5074920"/>
            <a:ext cx="1517904" cy="0"/>
          </a:xfrm>
          <a:prstGeom prst="line">
            <a:avLst/>
          </a:prstGeom>
          <a:ln w="12700">
            <a:solidFill>
              <a:srgbClr val="7FB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A33DCA61-C02F-4ECB-836D-01059D11CA72}"/>
              </a:ext>
            </a:extLst>
          </p:cNvPr>
          <p:cNvSpPr>
            <a:spLocks noGrp="1"/>
          </p:cNvSpPr>
          <p:nvPr/>
        </p:nvSpPr>
        <p:spPr>
          <a:xfrm>
            <a:off x="4818888" y="5074920"/>
            <a:ext cx="1517904" cy="0"/>
          </a:xfrm>
          <a:prstGeom prst="line">
            <a:avLst/>
          </a:prstGeom>
          <a:ln w="12700">
            <a:solidFill>
              <a:srgbClr val="7FB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A8AB46-338A-41D8-9072-2B79785B1B9F}"/>
              </a:ext>
            </a:extLst>
          </p:cNvPr>
          <p:cNvSpPr>
            <a:spLocks noGrp="1"/>
          </p:cNvSpPr>
          <p:nvPr/>
        </p:nvSpPr>
        <p:spPr>
          <a:xfrm>
            <a:off x="1188720" y="47823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00" b="0" i="0">
                <a:solidFill>
                  <a:srgbClr val="8B919E"/>
                </a:solidFill>
                <a:latin typeface="Consolas"/>
                <a:ea typeface="Consolas"/>
                <a:cs typeface="Consolas"/>
              </a:rPr>
              <a:t>triggers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E9A3CA-6531-4F27-B60A-D8193F71AF48}"/>
              </a:ext>
            </a:extLst>
          </p:cNvPr>
          <p:cNvSpPr>
            <a:spLocks noGrp="1"/>
          </p:cNvSpPr>
          <p:nvPr/>
        </p:nvSpPr>
        <p:spPr>
          <a:xfrm>
            <a:off x="3108960" y="47823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00" b="0" i="0">
                <a:solidFill>
                  <a:srgbClr val="8B919E"/>
                </a:solidFill>
                <a:latin typeface="Consolas"/>
                <a:ea typeface="Consolas"/>
                <a:cs typeface="Consolas"/>
              </a:rPr>
              <a:t>informs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3604AD-BA4A-4398-BCC2-5B233B20FCAC}"/>
              </a:ext>
            </a:extLst>
          </p:cNvPr>
          <p:cNvSpPr>
            <a:spLocks noGrp="1"/>
          </p:cNvSpPr>
          <p:nvPr/>
        </p:nvSpPr>
        <p:spPr>
          <a:xfrm>
            <a:off x="5029200" y="47823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00" b="0" i="0">
                <a:solidFill>
                  <a:srgbClr val="8B919E"/>
                </a:solidFill>
                <a:latin typeface="Consolas"/>
                <a:ea typeface="Consolas"/>
                <a:cs typeface="Consolas"/>
              </a:rPr>
              <a:t>guides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24855-CA76-4EC6-A838-59A192F22622}"/>
              </a:ext>
            </a:extLst>
          </p:cNvPr>
          <p:cNvSpPr>
            <a:spLocks noGrp="1"/>
          </p:cNvSpPr>
          <p:nvPr/>
        </p:nvSpPr>
        <p:spPr>
          <a:xfrm>
            <a:off x="137160" y="53309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50" b="0" i="0" spc="130">
                <a:solidFill>
                  <a:srgbClr val="A6ABB5"/>
                </a:solidFill>
                <a:latin typeface="Consolas"/>
                <a:ea typeface="Consolas"/>
                <a:cs typeface="Consolas"/>
              </a:rPr>
              <a:t>CHANGE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FE189-58C0-40C4-9878-C5C5E1C230A6}"/>
              </a:ext>
            </a:extLst>
          </p:cNvPr>
          <p:cNvSpPr>
            <a:spLocks noGrp="1"/>
          </p:cNvSpPr>
          <p:nvPr/>
        </p:nvSpPr>
        <p:spPr>
          <a:xfrm>
            <a:off x="2057400" y="53309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50" b="0" i="0" spc="130">
                <a:solidFill>
                  <a:srgbClr val="A6ABB5"/>
                </a:solidFill>
                <a:latin typeface="Consolas"/>
                <a:ea typeface="Consolas"/>
                <a:cs typeface="Consolas"/>
              </a:rPr>
              <a:t>AWARENESS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CC274B-1102-4ED1-9240-F522FA0A70E4}"/>
              </a:ext>
            </a:extLst>
          </p:cNvPr>
          <p:cNvSpPr>
            <a:spLocks noGrp="1"/>
          </p:cNvSpPr>
          <p:nvPr/>
        </p:nvSpPr>
        <p:spPr>
          <a:xfrm>
            <a:off x="3977639" y="53309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50" b="0" i="0" spc="130">
                <a:solidFill>
                  <a:srgbClr val="A6ABB5"/>
                </a:solidFill>
                <a:latin typeface="Consolas"/>
                <a:ea typeface="Consolas"/>
                <a:cs typeface="Consolas"/>
              </a:rPr>
              <a:t>GRADIENT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849B5E-791B-46D2-B407-98F8694A420A}"/>
              </a:ext>
            </a:extLst>
          </p:cNvPr>
          <p:cNvSpPr>
            <a:spLocks noGrp="1"/>
          </p:cNvSpPr>
          <p:nvPr/>
        </p:nvSpPr>
        <p:spPr>
          <a:xfrm>
            <a:off x="5897880" y="53309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50" b="0" i="0" spc="130">
                <a:solidFill>
                  <a:srgbClr val="A6ABB5"/>
                </a:solidFill>
                <a:latin typeface="Consolas"/>
                <a:ea typeface="Consolas"/>
                <a:cs typeface="Consolas"/>
              </a:rPr>
              <a:t>REPOSITIONING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C8ED7C-AF29-45CC-94C6-AD5C455D53DF}"/>
              </a:ext>
            </a:extLst>
          </p:cNvPr>
          <p:cNvSpPr>
            <a:spLocks noGrp="1"/>
          </p:cNvSpPr>
          <p:nvPr/>
        </p:nvSpPr>
        <p:spPr>
          <a:xfrm>
            <a:off x="5440680" y="5550408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00" b="0" i="0">
                <a:solidFill>
                  <a:srgbClr val="8B919E"/>
                </a:solidFill>
                <a:latin typeface="Consolas"/>
                <a:ea typeface="Consolas"/>
                <a:cs typeface="Consolas"/>
              </a:rPr>
              <a:t>signal ≠ command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39579E-1223-4732-A566-50EA4B906736}"/>
              </a:ext>
            </a:extLst>
          </p:cNvPr>
          <p:cNvSpPr>
            <a:spLocks noGrp="1"/>
          </p:cNvSpPr>
          <p:nvPr/>
        </p:nvSpPr>
        <p:spPr>
          <a:xfrm>
            <a:off x="8001000" y="1371600"/>
            <a:ext cx="3621024" cy="3429000"/>
          </a:xfrm>
          <a:prstGeom prst="rect">
            <a:avLst/>
          </a:prstGeom>
          <a:solidFill>
            <a:srgbClr val="27324A"/>
          </a:solidFill>
          <a:ln w="7620">
            <a:solidFill>
              <a:srgbClr val="3F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077071-B7F3-409A-9E21-C4A07FC8B413}"/>
              </a:ext>
            </a:extLst>
          </p:cNvPr>
          <p:cNvSpPr>
            <a:spLocks noGrp="1"/>
          </p:cNvSpPr>
          <p:nvPr/>
        </p:nvSpPr>
        <p:spPr>
          <a:xfrm>
            <a:off x="8001000" y="1371600"/>
            <a:ext cx="41148" cy="3429000"/>
          </a:xfrm>
          <a:prstGeom prst="rect">
            <a:avLst/>
          </a:prstGeom>
          <a:solidFill>
            <a:srgbClr val="7FB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7BBAD8-8C10-41B7-A960-401218E4901A}"/>
              </a:ext>
            </a:extLst>
          </p:cNvPr>
          <p:cNvSpPr>
            <a:spLocks noGrp="1"/>
          </p:cNvSpPr>
          <p:nvPr/>
        </p:nvSpPr>
        <p:spPr>
          <a:xfrm>
            <a:off x="8275320" y="1627632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FFFFFF"/>
                </a:solidFill>
                <a:latin typeface="Consolas"/>
              </a:rPr>
              <a:t>DECK II · ARCHITECTURE &amp; IMPLEMENTATION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30DBCA-C598-4CBC-A2F8-927CD883B311}"/>
              </a:ext>
            </a:extLst>
          </p:cNvPr>
          <p:cNvSpPr>
            <a:spLocks noGrp="1"/>
          </p:cNvSpPr>
          <p:nvPr/>
        </p:nvSpPr>
        <p:spPr>
          <a:xfrm>
            <a:off x="8275320" y="1938528"/>
            <a:ext cx="316382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650" b="1">
                <a:solidFill>
                  <a:srgbClr val="D7E4F2"/>
                </a:solidFill>
                <a:latin typeface="Cambria"/>
              </a:rPr>
              <a:t>Working architecture → interfaces → standards-facing application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C0098D-5598-4259-9996-0A3CB712FBB0}"/>
              </a:ext>
            </a:extLst>
          </p:cNvPr>
          <p:cNvSpPr>
            <a:spLocks noGrp="1"/>
          </p:cNvSpPr>
          <p:nvPr/>
        </p:nvSpPr>
        <p:spPr>
          <a:xfrm>
            <a:off x="8275320" y="2788920"/>
            <a:ext cx="30723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1">
                <a:solidFill>
                  <a:srgbClr val="A6ABB5"/>
                </a:solidFill>
                <a:latin typeface="Consolas"/>
              </a:rPr>
              <a:t>CREATED BY</a:t>
            </a:r>
          </a:p>
          <a:p>
            <a:pPr algn="l"/>
            <a:r>
              <a:rPr sz="1700" b="1">
                <a:solidFill>
                  <a:srgbClr val="FCFCFD"/>
                </a:solidFill>
                <a:latin typeface="Cambria"/>
              </a:rPr>
              <a:t>Iván Abril Palma</a:t>
            </a:r>
          </a:p>
          <a:p>
            <a:pPr algn="l"/>
            <a:r>
              <a:rPr sz="1150" b="0">
                <a:solidFill>
                  <a:srgbClr val="CACDD3"/>
                </a:solidFill>
                <a:latin typeface="Calibri"/>
              </a:rPr>
              <a:t>Tegrity.ai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C1FE84-E727-4E00-89B0-AE684AE870BE}"/>
              </a:ext>
            </a:extLst>
          </p:cNvPr>
          <p:cNvSpPr>
            <a:spLocks noGrp="1"/>
          </p:cNvSpPr>
          <p:nvPr/>
        </p:nvSpPr>
        <p:spPr>
          <a:xfrm>
            <a:off x="8275320" y="4114800"/>
            <a:ext cx="3163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000">
                <a:solidFill>
                  <a:srgbClr val="5D6775"/>
                </a:solidFill>
                <a:latin typeface="Aptos"/>
              </a:rPr>
              <a:t>CREATIVE COMMONS · ATTRIBUTION</a:t>
            </a:r>
            <a:br/>
            <a:r>
              <a:rPr sz="1000">
                <a:solidFill>
                  <a:srgbClr val="5D6775"/>
                </a:solidFill>
                <a:latin typeface="Aptos"/>
              </a:rPr>
              <a:t>V1.1 · 2026-09-25 · CANONICAL WORKING PROPOSAL</a:t>
            </a:r>
          </a:p>
        </p:txBody>
      </p:sp>
      <p:sp>
        <p:nvSpPr>
          <p:cNvPr id="30" name="Connector 29">
            <a:extLst>
              <a:ext uri="{FF2B5EF4-FFF2-40B4-BE49-F238E27FC236}">
                <a16:creationId xmlns:a16="http://schemas.microsoft.com/office/drawing/2014/main" id="{6E104162-6C42-4DC6-8D59-85A25DD63B37}"/>
              </a:ext>
            </a:extLst>
          </p:cNvPr>
          <p:cNvSpPr>
            <a:spLocks noGrp="1"/>
          </p:cNvSpPr>
          <p:nvPr/>
        </p:nvSpPr>
        <p:spPr>
          <a:xfrm>
            <a:off x="566928" y="6217920"/>
            <a:ext cx="11057839" cy="0"/>
          </a:xfrm>
          <a:prstGeom prst="line">
            <a:avLst/>
          </a:prstGeom>
          <a:ln w="6350">
            <a:solidFill>
              <a:srgbClr val="3A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16A0F1-7C69-469B-93BA-5C85695950E2}"/>
              </a:ext>
            </a:extLst>
          </p:cNvPr>
          <p:cNvSpPr>
            <a:spLocks noGrp="1"/>
          </p:cNvSpPr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3566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1">
                <a:solidFill>
                  <a:srgbClr val="727A86"/>
                </a:solidFill>
                <a:latin typeface="Calibri"/>
              </a:rPr>
              <a:t>CORPUS ↗  </a:t>
            </a:r>
            <a:r>
              <a:rPr sz="680" b="0" u="sng">
                <a:solidFill>
                  <a:srgbClr val="2F6FB2"/>
                </a:solidFill>
                <a:latin typeface="Calibri"/>
                <a:hlinkClick r:id="rId3"/>
              </a:rPr>
              <a:t>Ecosystem Positioning README</a:t>
            </a:r>
          </a:p>
        </p:txBody>
      </p:sp>
    </p:spTree>
    <p:extLst>
      <p:ext uri="{BB962C8B-B14F-4D97-AF65-F5344CB8AC3E}">
        <p14:creationId xmlns:p14="http://schemas.microsoft.com/office/powerpoint/2010/main" val="676717828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D2DEEB"/>
                </a:solidFill>
                <a:latin typeface="Aptos"/>
              </a:rPr>
              <a:t>PROPOSED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2004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2DEEB"/>
                </a:solidFill>
                <a:latin typeface="Aptos"/>
              </a:rPr>
              <a:t>§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0" cy="13716"/>
          </a:xfrm>
          <a:prstGeom prst="rect">
            <a:avLst/>
          </a:prstGeom>
          <a:solidFill>
            <a:srgbClr val="D2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22960"/>
            <a:ext cx="10972800" cy="13716"/>
          </a:xfrm>
          <a:prstGeom prst="rect">
            <a:avLst/>
          </a:prstGeom>
          <a:solidFill>
            <a:srgbClr val="148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  <a:hlinkClick r:id="rId2"/>
              </a:rPr>
              <a:t>Proposed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2DEEB"/>
                </a:solidFill>
                <a:latin typeface="Aptos"/>
              </a:rPr>
              <a:t>From awareness to qualified repositioning.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0080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D2DEEB"/>
                </a:solidFill>
                <a:latin typeface="Aptos"/>
              </a:rPr>
              <a:t>Ecosystem Awareness · Positioning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3566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1">
                <a:solidFill>
                  <a:srgbClr val="727A86"/>
                </a:solidFill>
                <a:latin typeface="Calibri"/>
              </a:rPr>
              <a:t>CORPUS ↗  </a:t>
            </a:r>
            <a:r>
              <a:rPr sz="680" b="0" u="sng">
                <a:solidFill>
                  <a:srgbClr val="2F6FB2"/>
                </a:solidFill>
                <a:latin typeface="Calibri"/>
                <a:hlinkClick r:id="rId2"/>
              </a:rPr>
              <a:t>Ecosystem Positioning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15544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0" b="0">
                <a:solidFill>
                  <a:srgbClr val="5D6775"/>
                </a:solidFill>
                <a:latin typeface="Consolas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155448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60" b="0">
                <a:solidFill>
                  <a:srgbClr val="5D6775"/>
                </a:solidFill>
                <a:latin typeface="Consolas"/>
              </a:rPr>
              <a:t>§ A1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457200"/>
            <a:ext cx="10826496" cy="10972"/>
          </a:xfrm>
          <a:prstGeom prst="rect">
            <a:avLst/>
          </a:prstGeom>
          <a:solidFill>
            <a:srgbClr val="24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" y="512064"/>
            <a:ext cx="10826496" cy="5486"/>
          </a:xfrm>
          <a:prstGeom prst="rect">
            <a:avLst/>
          </a:prstGeom>
          <a:solidFill>
            <a:srgbClr val="24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94944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24355B"/>
                </a:solidFill>
                <a:latin typeface="Cambria"/>
              </a:rPr>
              <a:t>What exists today — beyond the architecture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5214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5D6775"/>
                </a:solidFill>
                <a:latin typeface="Aptos"/>
              </a:rPr>
              <a:t>Working hypothesis, but not paper-only: canonical artefacts, executable harnesses and a standards-facing contribution route already exist.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6446520"/>
            <a:ext cx="10826496" cy="10972"/>
          </a:xfrm>
          <a:prstGeom prst="rect">
            <a:avLst/>
          </a:prstGeom>
          <a:solidFill>
            <a:srgbClr val="24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212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70" b="0">
                <a:solidFill>
                  <a:srgbClr val="5D6775"/>
                </a:solidFill>
                <a:latin typeface="Aptos"/>
              </a:rPr>
              <a:t>CORPUS ↗  00 · 04 · 05/05A · 00K/A1–A6 · CASE-EXTENSION · FG-TIDA 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60" b="0">
                <a:solidFill>
                  <a:srgbClr val="5D6775"/>
                </a:solidFill>
                <a:latin typeface="Aptos"/>
              </a:rPr>
              <a:t>Ecosystem Positioning · canonical working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>
                <a:solidFill>
                  <a:srgbClr val="5D6775"/>
                </a:solidFill>
                <a:latin typeface="Aptos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1664208"/>
            <a:ext cx="3383280" cy="3182112"/>
          </a:xfrm>
          <a:prstGeom prst="roundRect">
            <a:avLst/>
          </a:prstGeom>
          <a:solidFill>
            <a:srgbClr val="E8F6F5"/>
          </a:solidFill>
          <a:ln w="1016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1664208"/>
            <a:ext cx="50292" cy="3182112"/>
          </a:xfrm>
          <a:prstGeom prst="rect">
            <a:avLst/>
          </a:prstGeom>
          <a:solidFill>
            <a:srgbClr val="00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847088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00848A"/>
                </a:solidFill>
                <a:latin typeface="Consolas"/>
              </a:rPr>
              <a:t>CANONICAL ARTEFACTS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58568"/>
            <a:ext cx="2971800" cy="2432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D3D"/>
                </a:solidFill>
                <a:latin typeface="Aptos"/>
              </a:rPr>
              <a:t>• 00 · S1–S14 / T1–T4 / KPI contract
• 04 · programme-independent interfaces
• 05 · ideal FG-TIDA projection
• 05A · current-state evidence bridge
• draft charter / specification preparation
• six Success Model Cases + extensibility profiles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664208"/>
            <a:ext cx="3383280" cy="3182112"/>
          </a:xfrm>
          <a:prstGeom prst="roundRect">
            <a:avLst/>
          </a:prstGeom>
          <a:solidFill>
            <a:srgbClr val="E9F2FB"/>
          </a:solidFill>
          <a:ln w="1016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664208"/>
            <a:ext cx="50292" cy="3182112"/>
          </a:xfrm>
          <a:prstGeom prst="rect">
            <a:avLst/>
          </a:prstGeom>
          <a:solidFill>
            <a:srgbClr val="2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847088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2F6FB2"/>
                </a:solidFill>
                <a:latin typeface="Consolas"/>
              </a:rPr>
              <a:t>EXECUTABLE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258568"/>
            <a:ext cx="2971800" cy="2432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D3D"/>
                </a:solidFill>
                <a:latin typeface="Aptos"/>
              </a:rPr>
              <a:t>• 00E–00J quality-plan routes
• A1–A6 ablation harnesses
• 379 registered symbolic tests
• A22 full-cube certificate
• A23 65,536-state conformance check
• TRACE / CLOSURE / CASE-EXTENSION registries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9248" y="1664208"/>
            <a:ext cx="3584448" cy="3182112"/>
          </a:xfrm>
          <a:prstGeom prst="roundRect">
            <a:avLst/>
          </a:prstGeom>
          <a:solidFill>
            <a:srgbClr val="FBF1E5"/>
          </a:solidFill>
          <a:ln w="1016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99248" y="1664208"/>
            <a:ext cx="50292" cy="3182112"/>
          </a:xfrm>
          <a:prstGeom prst="rect">
            <a:avLst/>
          </a:prstGeom>
          <a:solidFill>
            <a:srgbClr val="D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0416" y="1847088"/>
            <a:ext cx="31729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D07800"/>
                </a:solidFill>
                <a:latin typeface="Consolas"/>
              </a:rPr>
              <a:t>STANDARDS-FACING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0416" y="2258568"/>
            <a:ext cx="3172968" cy="2432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D3D"/>
                </a:solidFill>
                <a:latin typeface="Aptos"/>
              </a:rPr>
              <a:t>• FG-TIDA contribution package
• Theme #13 architectural contribution route
• cross-Theme interfaces, cases, tests &amp; provenance
• harness / testbed paths for independent implementation
• current-state vs ideal mapping kept explicit
• no claim of formal ITU adoption or endorsement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07492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24355B"/>
                </a:solidFill>
                <a:latin typeface="Consolas"/>
              </a:rPr>
              <a:t>DEVELOPMENT PATH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431536"/>
            <a:ext cx="19659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5532120"/>
            <a:ext cx="1819656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24355B"/>
                </a:solidFill>
                <a:latin typeface="Aptos"/>
              </a:rPr>
              <a:t>Architecture hypothesis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42616" y="5522976"/>
            <a:ext cx="246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67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35224" y="5431536"/>
            <a:ext cx="22402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08376" y="5532120"/>
            <a:ext cx="2093976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2F6FB2"/>
                </a:solidFill>
                <a:latin typeface="Aptos"/>
              </a:rPr>
              <a:t>Frozen case / requirement route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5522976"/>
            <a:ext cx="246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6775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5431536"/>
            <a:ext cx="17830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9552" y="5532120"/>
            <a:ext cx="1636776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00848A"/>
                </a:solidFill>
                <a:latin typeface="Aptos"/>
              </a:rPr>
              <a:t>Executable harness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7768" y="5522976"/>
            <a:ext cx="246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6775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0375" y="5431536"/>
            <a:ext cx="21031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53527" y="5532120"/>
            <a:ext cx="1956815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C86E14"/>
                </a:solidFill>
                <a:latin typeface="Aptos"/>
              </a:rPr>
              <a:t>Interoperable implementation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1784" y="5522976"/>
            <a:ext cx="246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6775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94392" y="5431536"/>
            <a:ext cx="20574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67544" y="5532120"/>
            <a:ext cx="1911095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F2D3D"/>
                </a:solidFill>
                <a:latin typeface="Aptos"/>
              </a:rPr>
              <a:t>Independent replication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6126480"/>
            <a:ext cx="10561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1">
                <a:solidFill>
                  <a:srgbClr val="5D6775"/>
                </a:solidFill>
                <a:latin typeface="Consolas"/>
              </a:rPr>
              <a:t>STATUS BOUNDARY  ·  contributed ≠ adopted   ·   tested ≠ production-proven   ·   working architecture remains falsifiable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603C2A-EDE6-4F29-A34B-C5ADE34E02AE}"/>
              </a:ext>
            </a:extLst>
          </p:cNvPr>
          <p:cNvSpPr>
            <a:spLocks noGrp="1"/>
          </p:cNvSpPr>
          <p:nvPr/>
        </p:nvSpPr>
        <p:spPr>
          <a:xfrm>
            <a:off x="566928" y="146304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PROPOSED PROCESS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1A6EEE-EF09-4EAB-9991-53413BC29016}"/>
              </a:ext>
            </a:extLst>
          </p:cNvPr>
          <p:cNvSpPr>
            <a:spLocks noGrp="1"/>
          </p:cNvSpPr>
          <p:nvPr/>
        </p:nvSpPr>
        <p:spPr>
          <a:xfrm>
            <a:off x="566928" y="329184"/>
            <a:ext cx="10972800" cy="16459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11BA3-C90C-4EAC-89FB-AF2D210BC2C2}"/>
              </a:ext>
            </a:extLst>
          </p:cNvPr>
          <p:cNvSpPr>
            <a:spLocks noGrp="1"/>
          </p:cNvSpPr>
          <p:nvPr/>
        </p:nvSpPr>
        <p:spPr>
          <a:xfrm>
            <a:off x="10881360" y="14630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§ 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522ADA-7F11-4646-AC5D-53A8C74E0CED}"/>
              </a:ext>
            </a:extLst>
          </p:cNvPr>
          <p:cNvSpPr>
            <a:spLocks noGrp="1"/>
          </p:cNvSpPr>
          <p:nvPr/>
        </p:nvSpPr>
        <p:spPr>
          <a:xfrm>
            <a:off x="566928" y="676656"/>
            <a:ext cx="10789920" cy="518091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r>
              <a:rPr sz="240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From unresolved ecosystem change to qualified repositioning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BD1609-1773-4E81-A4D0-CFAAD5DA3C30}"/>
              </a:ext>
            </a:extLst>
          </p:cNvPr>
          <p:cNvSpPr>
            <a:spLocks noGrp="1"/>
          </p:cNvSpPr>
          <p:nvPr/>
        </p:nvSpPr>
        <p:spPr>
          <a:xfrm>
            <a:off x="0" y="6336792"/>
            <a:ext cx="12191695" cy="521207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E6288D-530F-4430-A549-73DD0F71610D}"/>
              </a:ext>
            </a:extLst>
          </p:cNvPr>
          <p:cNvSpPr>
            <a:spLocks noGrp="1"/>
          </p:cNvSpPr>
          <p:nvPr/>
        </p:nvSpPr>
        <p:spPr>
          <a:xfrm>
            <a:off x="566928" y="6492240"/>
            <a:ext cx="10972800" cy="13716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172088-50EC-4488-A3BA-69A5D8844DBE}"/>
              </a:ext>
            </a:extLst>
          </p:cNvPr>
          <p:cNvSpPr>
            <a:spLocks noGrp="1"/>
          </p:cNvSpPr>
          <p:nvPr/>
        </p:nvSpPr>
        <p:spPr>
          <a:xfrm>
            <a:off x="4114800" y="6528816"/>
            <a:ext cx="3657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Ecosystem Awareness · Positioning architecture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193EA4-CB24-47D0-A4F3-21E636B3F5A0}"/>
              </a:ext>
            </a:extLst>
          </p:cNvPr>
          <p:cNvSpPr>
            <a:spLocks noGrp="1"/>
          </p:cNvSpPr>
          <p:nvPr/>
        </p:nvSpPr>
        <p:spPr>
          <a:xfrm>
            <a:off x="11018520" y="652881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D6775"/>
                </a:solidFill>
                <a:latin typeface="Aptos"/>
              </a:rPr>
              <a:t>3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483E7DE4-BD57-4DAE-964E-616105439335}"/>
              </a:ext>
            </a:extLst>
          </p:cNvPr>
          <p:cNvSpPr>
            <a:spLocks noGrp="1"/>
          </p:cNvSpPr>
          <p:nvPr/>
        </p:nvSpPr>
        <p:spPr>
          <a:xfrm>
            <a:off x="566928" y="1133856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Working proposal, not an adopted standard. Top row: the process sequence. Panels below: expansion of the numbered steps.</a:t>
            </a:r>
          </a:p>
        </p:txBody>
      </p:sp>
      <p:sp>
        <p:nvSpPr>
          <p:cNvPr id="101" name="Badge proposal">
            <a:extLst>
              <a:ext uri="{FF2B5EF4-FFF2-40B4-BE49-F238E27FC236}">
                <a16:creationId xmlns:a16="http://schemas.microsoft.com/office/drawing/2014/main" id="{76673D47-3A06-4329-B8DA-59ED66B1A4B7}"/>
              </a:ext>
            </a:extLst>
          </p:cNvPr>
          <p:cNvSpPr>
            <a:spLocks noGrp="1"/>
          </p:cNvSpPr>
          <p:nvPr/>
        </p:nvSpPr>
        <p:spPr>
          <a:xfrm>
            <a:off x="9052560" y="91440"/>
            <a:ext cx="1463040" cy="219456"/>
          </a:xfrm>
          <a:prstGeom prst="roundRect">
            <a:avLst/>
          </a:prstGeom>
          <a:solidFill>
            <a:srgbClr val="007B8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PROPOSAL PROCESS</a:t>
            </a:r>
          </a:p>
        </p:txBody>
      </p:sp>
      <p:sp>
        <p:nvSpPr>
          <p:cNvPr id="102" name="Process step 0">
            <a:extLst>
              <a:ext uri="{FF2B5EF4-FFF2-40B4-BE49-F238E27FC236}">
                <a16:creationId xmlns:a16="http://schemas.microsoft.com/office/drawing/2014/main" id="{517B6355-DB34-405C-9938-4D1D746CFEC8}"/>
              </a:ext>
            </a:extLst>
          </p:cNvPr>
          <p:cNvSpPr>
            <a:spLocks noGrp="1"/>
          </p:cNvSpPr>
          <p:nvPr/>
        </p:nvSpPr>
        <p:spPr>
          <a:xfrm>
            <a:off x="566928" y="1627632"/>
            <a:ext cx="137160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7629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C17629"/>
                </a:solidFill>
                <a:latin typeface="Aptos"/>
                <a:ea typeface="Aptos"/>
                <a:cs typeface="Aptos"/>
                <a:hlinkClick r:id="rId3"/>
              </a:rPr>
              <a:t>0 · Epistemic Awareness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C17629"/>
                </a:solidFill>
                <a:latin typeface="Aptos"/>
                <a:ea typeface="Aptos"/>
                <a:cs typeface="Aptos"/>
                <a:hlinkClick r:id="rId3"/>
              </a:rPr>
              <a:t>Local position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D6572"/>
                </a:solidFill>
                <a:latin typeface="Aptos"/>
                <a:ea typeface="Aptos"/>
                <a:cs typeface="Aptos"/>
                <a:hlinkClick r:id="rId3"/>
              </a:rPr>
              <a:t>Qualify Π_EA = A/B/C/D</a:t>
            </a:r>
          </a:p>
        </p:txBody>
      </p:sp>
      <p:sp>
        <p:nvSpPr>
          <p:cNvPr id="103" name="Process step 1">
            <a:extLst>
              <a:ext uri="{FF2B5EF4-FFF2-40B4-BE49-F238E27FC236}">
                <a16:creationId xmlns:a16="http://schemas.microsoft.com/office/drawing/2014/main" id="{16B9117A-4BCA-491C-9F68-6B8C032AE91F}"/>
              </a:ext>
            </a:extLst>
          </p:cNvPr>
          <p:cNvSpPr>
            <a:spLocks noGrp="1"/>
          </p:cNvSpPr>
          <p:nvPr/>
        </p:nvSpPr>
        <p:spPr>
          <a:xfrm>
            <a:off x="2180844" y="1627632"/>
            <a:ext cx="1371600" cy="7680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CAD4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  <a:hlinkClick r:id="rId4"/>
              </a:rPr>
              <a:t>1 · Ecosystem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  <a:hlinkClick r:id="rId4"/>
              </a:rPr>
              <a:t>Signalling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D6572"/>
                </a:solidFill>
                <a:latin typeface="Aptos"/>
                <a:ea typeface="Aptos"/>
                <a:cs typeface="Aptos"/>
                <a:hlinkClick r:id="rId4"/>
              </a:rPr>
              <a:t>Qualify / exchange ReceivedSignals</a:t>
            </a:r>
          </a:p>
        </p:txBody>
      </p:sp>
      <p:sp>
        <p:nvSpPr>
          <p:cNvPr id="104" name="Process step 2">
            <a:extLst>
              <a:ext uri="{FF2B5EF4-FFF2-40B4-BE49-F238E27FC236}">
                <a16:creationId xmlns:a16="http://schemas.microsoft.com/office/drawing/2014/main" id="{6164AB89-51DB-4AF3-80CB-5BA82DB74782}"/>
              </a:ext>
            </a:extLst>
          </p:cNvPr>
          <p:cNvSpPr>
            <a:spLocks noGrp="1"/>
          </p:cNvSpPr>
          <p:nvPr/>
        </p:nvSpPr>
        <p:spPr>
          <a:xfrm>
            <a:off x="3794760" y="1627632"/>
            <a:ext cx="1371600" cy="7680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CAD4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F2C4A"/>
                </a:solidFill>
                <a:latin typeface="Aptos"/>
                <a:ea typeface="Aptos"/>
                <a:cs typeface="Aptos"/>
                <a:hlinkClick r:id="rId5"/>
              </a:rPr>
              <a:t>2 · Ecosystem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F2C4A"/>
                </a:solidFill>
                <a:latin typeface="Aptos"/>
                <a:ea typeface="Aptos"/>
                <a:cs typeface="Aptos"/>
                <a:hlinkClick r:id="rId5"/>
              </a:rPr>
              <a:t>Cartography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D6572"/>
                </a:solidFill>
                <a:latin typeface="Aptos"/>
                <a:ea typeface="Aptos"/>
                <a:cs typeface="Aptos"/>
                <a:hlinkClick r:id="rId5"/>
              </a:rPr>
              <a:t>Update Cart_i / Δ_Cart_i</a:t>
            </a:r>
          </a:p>
        </p:txBody>
      </p:sp>
      <p:sp>
        <p:nvSpPr>
          <p:cNvPr id="105" name="Process step 3">
            <a:extLst>
              <a:ext uri="{FF2B5EF4-FFF2-40B4-BE49-F238E27FC236}">
                <a16:creationId xmlns:a16="http://schemas.microsoft.com/office/drawing/2014/main" id="{8F158232-38E7-4B2F-AEEE-4A1EEAB56986}"/>
              </a:ext>
            </a:extLst>
          </p:cNvPr>
          <p:cNvSpPr>
            <a:spLocks noGrp="1"/>
          </p:cNvSpPr>
          <p:nvPr/>
        </p:nvSpPr>
        <p:spPr>
          <a:xfrm>
            <a:off x="5408676" y="1627632"/>
            <a:ext cx="1371600" cy="7680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CAD4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  <a:hlinkClick r:id="rId6"/>
              </a:rPr>
              <a:t>3 · Regime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  <a:hlinkClick r:id="rId6"/>
              </a:rPr>
              <a:t>Awareness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D6572"/>
                </a:solidFill>
                <a:latin typeface="Aptos"/>
                <a:ea typeface="Aptos"/>
                <a:cs typeface="Aptos"/>
                <a:hlinkClick r:id="rId6"/>
              </a:rPr>
              <a:t>Emit Δ_RA + regime overlay</a:t>
            </a:r>
          </a:p>
        </p:txBody>
      </p:sp>
      <p:sp>
        <p:nvSpPr>
          <p:cNvPr id="106" name="Process step 4">
            <a:extLst>
              <a:ext uri="{FF2B5EF4-FFF2-40B4-BE49-F238E27FC236}">
                <a16:creationId xmlns:a16="http://schemas.microsoft.com/office/drawing/2014/main" id="{4329262A-0C2C-42B2-BB72-41EC113BD493}"/>
              </a:ext>
            </a:extLst>
          </p:cNvPr>
          <p:cNvSpPr>
            <a:spLocks noGrp="1"/>
          </p:cNvSpPr>
          <p:nvPr/>
        </p:nvSpPr>
        <p:spPr>
          <a:xfrm>
            <a:off x="7022592" y="1627632"/>
            <a:ext cx="1371600" cy="7680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CAD4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  <a:hlinkClick r:id="rId7"/>
              </a:rPr>
              <a:t>4 · MSCA Operation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  <a:hlinkClick r:id="rId7"/>
              </a:rPr>
              <a:t>Drift &amp; Posture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D6572"/>
                </a:solidFill>
                <a:latin typeface="Aptos"/>
                <a:ea typeface="Aptos"/>
                <a:cs typeface="Aptos"/>
                <a:hlinkClick r:id="rId7"/>
              </a:rPr>
              <a:t>Role_effective · Type 0/1/2 · P1/P2/P3</a:t>
            </a:r>
          </a:p>
        </p:txBody>
      </p:sp>
      <p:sp>
        <p:nvSpPr>
          <p:cNvPr id="22" name="Process step 5">
            <a:extLst>
              <a:ext uri="{FF2B5EF4-FFF2-40B4-BE49-F238E27FC236}">
                <a16:creationId xmlns:a16="http://schemas.microsoft.com/office/drawing/2014/main" id="{706D606C-E386-4F91-98D7-A34A3755215C}"/>
              </a:ext>
            </a:extLst>
          </p:cNvPr>
          <p:cNvSpPr>
            <a:spLocks noGrp="1"/>
          </p:cNvSpPr>
          <p:nvPr/>
        </p:nvSpPr>
        <p:spPr>
          <a:xfrm>
            <a:off x="8636508" y="1627632"/>
            <a:ext cx="1371600" cy="7680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CAD4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  <a:hlinkClick r:id="rId8"/>
              </a:rPr>
              <a:t>5 · Gradient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F2C4A"/>
                </a:solidFill>
                <a:latin typeface="Aptos"/>
                <a:ea typeface="Aptos"/>
                <a:cs typeface="Aptos"/>
                <a:hlinkClick r:id="rId8"/>
              </a:rPr>
              <a:t>Repositioning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D6572"/>
                </a:solidFill>
                <a:latin typeface="Aptos"/>
                <a:ea typeface="Aptos"/>
                <a:cs typeface="Aptos"/>
                <a:hlinkClick r:id="rId8"/>
              </a:rPr>
              <a:t>Rank from Role_effective → ACC gate → re-contract / escalate</a:t>
            </a:r>
          </a:p>
        </p:txBody>
      </p:sp>
      <p:sp>
        <p:nvSpPr>
          <p:cNvPr id="107" name="Process step 6">
            <a:extLst>
              <a:ext uri="{FF2B5EF4-FFF2-40B4-BE49-F238E27FC236}">
                <a16:creationId xmlns:a16="http://schemas.microsoft.com/office/drawing/2014/main" id="{AF72C7D0-9333-4194-A4D4-8F31D7038FBC}"/>
              </a:ext>
            </a:extLst>
          </p:cNvPr>
          <p:cNvSpPr>
            <a:spLocks noGrp="1"/>
          </p:cNvSpPr>
          <p:nvPr/>
        </p:nvSpPr>
        <p:spPr>
          <a:xfrm>
            <a:off x="10250424" y="1627632"/>
            <a:ext cx="137160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2C4A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F2C4A"/>
                </a:solidFill>
                <a:latin typeface="Aptos"/>
                <a:ea typeface="Aptos"/>
                <a:cs typeface="Aptos"/>
                <a:hlinkClick r:id="rId9"/>
              </a:rPr>
              <a:t>Human / Institutional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F2C4A"/>
                </a:solidFill>
                <a:latin typeface="Aptos"/>
                <a:ea typeface="Aptos"/>
                <a:cs typeface="Aptos"/>
                <a:hlinkClick r:id="rId9"/>
              </a:rPr>
              <a:t>Governance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D6572"/>
                </a:solidFill>
                <a:latin typeface="Aptos"/>
                <a:ea typeface="Aptos"/>
                <a:cs typeface="Aptos"/>
                <a:hlinkClick r:id="rId9"/>
              </a:rPr>
              <a:t>Authority decides; signals ≠ commands</a:t>
            </a:r>
          </a:p>
        </p:txBody>
      </p:sp>
      <p:cxnSp>
        <p:nvCxnSpPr>
          <p:cNvPr id="159" name="Flow 0-1"/>
          <p:cNvCxnSpPr>
            <a:stCxn id="102" idx="3"/>
            <a:endCxn id="103" idx="1"/>
          </p:cNvCxnSpPr>
          <p:nvPr/>
        </p:nvCxnSpPr>
        <p:spPr>
          <a:xfrm>
            <a:off x="1938528" y="2011680"/>
            <a:ext cx="242316" cy="0"/>
          </a:xfrm>
          <a:prstGeom prst="line">
            <a:avLst/>
          </a:prstGeom>
          <a:ln w="15875">
            <a:solidFill>
              <a:srgbClr val="1F2C4A"/>
            </a:solidFill>
            <a:tailEnd type="triangle" w="med" len="med"/>
          </a:ln>
        </p:spPr>
      </p:cxnSp>
      <p:cxnSp>
        <p:nvCxnSpPr>
          <p:cNvPr id="160" name="Flow 1-2"/>
          <p:cNvCxnSpPr>
            <a:stCxn id="103" idx="3"/>
            <a:endCxn id="104" idx="1"/>
          </p:cNvCxnSpPr>
          <p:nvPr/>
        </p:nvCxnSpPr>
        <p:spPr>
          <a:xfrm>
            <a:off x="3552444" y="2011680"/>
            <a:ext cx="242316" cy="0"/>
          </a:xfrm>
          <a:prstGeom prst="line">
            <a:avLst/>
          </a:prstGeom>
          <a:ln w="15875">
            <a:solidFill>
              <a:srgbClr val="1F2C4A"/>
            </a:solidFill>
            <a:tailEnd type="triangle" w="med" len="med"/>
          </a:ln>
        </p:spPr>
      </p:cxnSp>
      <p:cxnSp>
        <p:nvCxnSpPr>
          <p:cNvPr id="161" name="Flow 2-3"/>
          <p:cNvCxnSpPr>
            <a:stCxn id="104" idx="3"/>
            <a:endCxn id="105" idx="1"/>
          </p:cNvCxnSpPr>
          <p:nvPr/>
        </p:nvCxnSpPr>
        <p:spPr>
          <a:xfrm>
            <a:off x="5166360" y="2011680"/>
            <a:ext cx="242316" cy="0"/>
          </a:xfrm>
          <a:prstGeom prst="line">
            <a:avLst/>
          </a:prstGeom>
          <a:ln w="15875">
            <a:solidFill>
              <a:srgbClr val="1F2C4A"/>
            </a:solidFill>
            <a:tailEnd type="triangle" w="med" len="med"/>
          </a:ln>
        </p:spPr>
      </p:cxnSp>
      <p:cxnSp>
        <p:nvCxnSpPr>
          <p:cNvPr id="162" name="Flow 3-4"/>
          <p:cNvCxnSpPr>
            <a:stCxn id="105" idx="3"/>
            <a:endCxn id="106" idx="1"/>
          </p:cNvCxnSpPr>
          <p:nvPr/>
        </p:nvCxnSpPr>
        <p:spPr>
          <a:xfrm>
            <a:off x="6780276" y="2011680"/>
            <a:ext cx="242316" cy="0"/>
          </a:xfrm>
          <a:prstGeom prst="line">
            <a:avLst/>
          </a:prstGeom>
          <a:ln w="15875">
            <a:solidFill>
              <a:srgbClr val="1F2C4A"/>
            </a:solidFill>
            <a:tailEnd type="triangle" w="med" len="med"/>
          </a:ln>
        </p:spPr>
      </p:cxnSp>
      <p:cxnSp>
        <p:nvCxnSpPr>
          <p:cNvPr id="163" name="Flow 4-5"/>
          <p:cNvCxnSpPr>
            <a:stCxn id="106" idx="3"/>
            <a:endCxn id="22" idx="1"/>
          </p:cNvCxnSpPr>
          <p:nvPr/>
        </p:nvCxnSpPr>
        <p:spPr>
          <a:xfrm>
            <a:off x="8394192" y="2011680"/>
            <a:ext cx="242316" cy="0"/>
          </a:xfrm>
          <a:prstGeom prst="line">
            <a:avLst/>
          </a:prstGeom>
          <a:ln w="15875">
            <a:solidFill>
              <a:srgbClr val="1F2C4A"/>
            </a:solidFill>
            <a:tailEnd type="triangle" w="med" len="med"/>
          </a:ln>
        </p:spPr>
      </p:cxnSp>
      <p:cxnSp>
        <p:nvCxnSpPr>
          <p:cNvPr id="164" name="Flow 5-6"/>
          <p:cNvCxnSpPr>
            <a:stCxn id="22" idx="3"/>
            <a:endCxn id="107" idx="1"/>
          </p:cNvCxnSpPr>
          <p:nvPr/>
        </p:nvCxnSpPr>
        <p:spPr>
          <a:xfrm>
            <a:off x="10008108" y="2011680"/>
            <a:ext cx="242316" cy="0"/>
          </a:xfrm>
          <a:prstGeom prst="line">
            <a:avLst/>
          </a:prstGeom>
          <a:ln w="15875">
            <a:solidFill>
              <a:srgbClr val="1F2C4A"/>
            </a:solidFill>
            <a:prstDash val="dash"/>
            <a:tailEnd type="triangle" w="med" len="med"/>
          </a:ln>
        </p:spPr>
      </p:cxnSp>
      <p:sp>
        <p:nvSpPr>
          <p:cNvPr id="114" name="Participant boundary">
            <a:extLst>
              <a:ext uri="{FF2B5EF4-FFF2-40B4-BE49-F238E27FC236}">
                <a16:creationId xmlns:a16="http://schemas.microsoft.com/office/drawing/2014/main" id="{4BA6BC61-0BF4-4712-A4FD-E11266E7ED38}"/>
              </a:ext>
            </a:extLst>
          </p:cNvPr>
          <p:cNvSpPr>
            <a:spLocks noGrp="1"/>
          </p:cNvSpPr>
          <p:nvPr/>
        </p:nvSpPr>
        <p:spPr>
          <a:xfrm>
            <a:off x="10129266" y="1581912"/>
            <a:ext cx="0" cy="859536"/>
          </a:xfrm>
          <a:prstGeom prst="line">
            <a:avLst/>
          </a:prstGeom>
          <a:ln w="12700">
            <a:solidFill>
              <a:srgbClr val="C4CAD4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15" name="Loop up">
            <a:extLst>
              <a:ext uri="{FF2B5EF4-FFF2-40B4-BE49-F238E27FC236}">
                <a16:creationId xmlns:a16="http://schemas.microsoft.com/office/drawing/2014/main" id="{0AB932F0-B549-4108-AEB3-0C81134AA9AC}"/>
              </a:ext>
            </a:extLst>
          </p:cNvPr>
          <p:cNvSpPr>
            <a:spLocks noGrp="1"/>
          </p:cNvSpPr>
          <p:nvPr/>
        </p:nvSpPr>
        <p:spPr>
          <a:xfrm flipV="1">
            <a:off x="10936224" y="1435608"/>
            <a:ext cx="0" cy="192024"/>
          </a:xfrm>
          <a:prstGeom prst="line">
            <a:avLst/>
          </a:prstGeom>
          <a:ln w="13970">
            <a:solidFill>
              <a:srgbClr val="C1762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Loop across">
            <a:extLst>
              <a:ext uri="{FF2B5EF4-FFF2-40B4-BE49-F238E27FC236}">
                <a16:creationId xmlns:a16="http://schemas.microsoft.com/office/drawing/2014/main" id="{06A65A58-BB32-4A44-B23B-C36B1CA075D8}"/>
              </a:ext>
            </a:extLst>
          </p:cNvPr>
          <p:cNvSpPr>
            <a:spLocks noGrp="1"/>
          </p:cNvSpPr>
          <p:nvPr/>
        </p:nvSpPr>
        <p:spPr>
          <a:xfrm flipH="1">
            <a:off x="1252728" y="1435608"/>
            <a:ext cx="9683496" cy="0"/>
          </a:xfrm>
          <a:prstGeom prst="line">
            <a:avLst/>
          </a:prstGeom>
          <a:ln w="13970">
            <a:solidFill>
              <a:srgbClr val="C1762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Loop down">
            <a:extLst>
              <a:ext uri="{FF2B5EF4-FFF2-40B4-BE49-F238E27FC236}">
                <a16:creationId xmlns:a16="http://schemas.microsoft.com/office/drawing/2014/main" id="{C44B0C9F-E4A3-45DF-B1D0-4473CC2C10D2}"/>
              </a:ext>
            </a:extLst>
          </p:cNvPr>
          <p:cNvSpPr>
            <a:spLocks noGrp="1"/>
          </p:cNvSpPr>
          <p:nvPr/>
        </p:nvSpPr>
        <p:spPr>
          <a:xfrm>
            <a:off x="1252728" y="1435608"/>
            <a:ext cx="0" cy="192024"/>
          </a:xfrm>
          <a:prstGeom prst="line">
            <a:avLst/>
          </a:prstGeom>
          <a:ln w="13970">
            <a:solidFill>
              <a:srgbClr val="C17629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Loop label">
            <a:extLst>
              <a:ext uri="{FF2B5EF4-FFF2-40B4-BE49-F238E27FC236}">
                <a16:creationId xmlns:a16="http://schemas.microsoft.com/office/drawing/2014/main" id="{5EF6659A-4EAA-43B5-988F-49F1E38B2165}"/>
              </a:ext>
            </a:extLst>
          </p:cNvPr>
          <p:cNvSpPr>
            <a:spLocks noGrp="1"/>
          </p:cNvSpPr>
          <p:nvPr/>
        </p:nvSpPr>
        <p:spPr>
          <a:xfrm>
            <a:off x="3291840" y="1344168"/>
            <a:ext cx="5577840" cy="1828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18288" tIns="0" rIns="18288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>
                <a:solidFill>
                  <a:srgbClr val="C17629"/>
                </a:solidFill>
                <a:latin typeface="Aptos"/>
                <a:ea typeface="Aptos"/>
                <a:cs typeface="Aptos"/>
              </a:rPr>
              <a:t>↺  role / ACC / authority / outcome changes re-enter as new state</a:t>
            </a:r>
          </a:p>
        </p:txBody>
      </p:sp>
      <p:sp>
        <p:nvSpPr>
          <p:cNvPr id="37" name="Panel Regime change detect">
            <a:extLst>
              <a:ext uri="{FF2B5EF4-FFF2-40B4-BE49-F238E27FC236}">
                <a16:creationId xmlns:a16="http://schemas.microsoft.com/office/drawing/2014/main" id="{8A7CD422-9742-4E90-B80B-8D3B855CBBE1}"/>
              </a:ext>
            </a:extLst>
          </p:cNvPr>
          <p:cNvSpPr>
            <a:spLocks noGrp="1"/>
          </p:cNvSpPr>
          <p:nvPr/>
        </p:nvSpPr>
        <p:spPr>
          <a:xfrm>
            <a:off x="566928" y="2697480"/>
            <a:ext cx="1847088" cy="2542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17629"/>
            </a:solidFill>
          </a:ln>
        </p:spPr>
        <p:txBody>
          <a:bodyPr wrap="square" lIns="82296" tIns="64008" rIns="82296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C17629"/>
                </a:solidFill>
                <a:latin typeface="Aptos"/>
                <a:ea typeface="Aptos"/>
                <a:cs typeface="Aptos"/>
                <a:hlinkClick r:id="rId7"/>
              </a:rPr>
              <a:t>Repositioning posture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D6572"/>
                </a:solidFill>
                <a:latin typeface="Aptos"/>
                <a:ea typeface="Aptos"/>
                <a:cs typeface="Aptos"/>
                <a:hlinkClick r:id="rId7"/>
              </a:rPr>
              <a:t>Step 4 · P1 / P2 / P3</a:t>
            </a:r>
          </a:p>
        </p:txBody>
      </p:sp>
      <p:sp>
        <p:nvSpPr>
          <p:cNvPr id="120" name="State 1 · Normal operation">
            <a:extLst>
              <a:ext uri="{FF2B5EF4-FFF2-40B4-BE49-F238E27FC236}">
                <a16:creationId xmlns:a16="http://schemas.microsoft.com/office/drawing/2014/main" id="{491654FA-69EB-4BE3-833E-FA1F2459861D}"/>
              </a:ext>
            </a:extLst>
          </p:cNvPr>
          <p:cNvSpPr>
            <a:spLocks noGrp="1"/>
          </p:cNvSpPr>
          <p:nvPr/>
        </p:nvSpPr>
        <p:spPr>
          <a:xfrm>
            <a:off x="640080" y="3383280"/>
            <a:ext cx="1700784" cy="566928"/>
          </a:xfrm>
          <a:prstGeom prst="roundRect">
            <a:avLst>
              <a:gd name="adj" fmla="val 10000"/>
            </a:avLst>
          </a:prstGeom>
          <a:solidFill>
            <a:srgbClr val="E6F4EF"/>
          </a:solidFill>
          <a:ln w="9525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P1 · Normal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Qualified frame remains usable.</a:t>
            </a:r>
          </a:p>
        </p:txBody>
      </p:sp>
      <p:sp>
        <p:nvSpPr>
          <p:cNvPr id="121" name="State 2 · Containment mode">
            <a:extLst>
              <a:ext uri="{FF2B5EF4-FFF2-40B4-BE49-F238E27FC236}">
                <a16:creationId xmlns:a16="http://schemas.microsoft.com/office/drawing/2014/main" id="{C0321FCE-250A-4341-B7E0-E492D7C7E896}"/>
              </a:ext>
            </a:extLst>
          </p:cNvPr>
          <p:cNvSpPr>
            <a:spLocks noGrp="1"/>
          </p:cNvSpPr>
          <p:nvPr/>
        </p:nvSpPr>
        <p:spPr>
          <a:xfrm>
            <a:off x="640080" y="3986784"/>
            <a:ext cx="1700784" cy="566928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 w="9525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P2 · Containment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Bounded response needed; request / escalate.</a:t>
            </a:r>
          </a:p>
        </p:txBody>
      </p:sp>
      <p:sp>
        <p:nvSpPr>
          <p:cNvPr id="122" name="State 3 · Transition/Migration">
            <a:extLst>
              <a:ext uri="{FF2B5EF4-FFF2-40B4-BE49-F238E27FC236}">
                <a16:creationId xmlns:a16="http://schemas.microsoft.com/office/drawing/2014/main" id="{86593AE9-ED2B-47E7-90D4-F876FF121026}"/>
              </a:ext>
            </a:extLst>
          </p:cNvPr>
          <p:cNvSpPr>
            <a:spLocks noGrp="1"/>
          </p:cNvSpPr>
          <p:nvPr/>
        </p:nvSpPr>
        <p:spPr>
          <a:xfrm>
            <a:off x="640080" y="4590288"/>
            <a:ext cx="1700784" cy="566928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9525">
            <a:solidFill>
              <a:srgbClr val="C65D4E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C65D4E"/>
                </a:solidFill>
                <a:latin typeface="Aptos"/>
                <a:ea typeface="Aptos"/>
                <a:cs typeface="Aptos"/>
              </a:rPr>
              <a:t>P3 · Migration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Current frame insufficient; qualify transition.</a:t>
            </a:r>
          </a:p>
        </p:txBody>
      </p:sp>
      <p:sp>
        <p:nvSpPr>
          <p:cNvPr id="27" name="Panel Epistemic state — 4 ">
            <a:extLst>
              <a:ext uri="{FF2B5EF4-FFF2-40B4-BE49-F238E27FC236}">
                <a16:creationId xmlns:a16="http://schemas.microsoft.com/office/drawing/2014/main" id="{BA84E12A-5615-46D2-A4D1-4BA250EEF7FA}"/>
              </a:ext>
            </a:extLst>
          </p:cNvPr>
          <p:cNvSpPr>
            <a:spLocks noGrp="1"/>
          </p:cNvSpPr>
          <p:nvPr/>
        </p:nvSpPr>
        <p:spPr>
          <a:xfrm>
            <a:off x="2532888" y="2697480"/>
            <a:ext cx="2788920" cy="2542032"/>
          </a:xfrm>
          <a:prstGeom prst="roundRect">
            <a:avLst>
              <a:gd name="adj" fmla="val 6000"/>
            </a:avLst>
          </a:prstGeom>
          <a:solidFill>
            <a:srgbClr val="F4FBF9"/>
          </a:solidFill>
          <a:ln w="19050">
            <a:solidFill>
              <a:srgbClr val="007B82"/>
            </a:solidFill>
          </a:ln>
        </p:spPr>
        <p:txBody>
          <a:bodyPr wrap="square" lIns="82296" tIns="64008" rIns="82296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7B82"/>
                </a:solidFill>
                <a:latin typeface="Aptos"/>
                <a:ea typeface="Aptos"/>
                <a:cs typeface="Aptos"/>
                <a:hlinkClick r:id="rId3"/>
              </a:rPr>
              <a:t>Epistemic state — 4 components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D6572"/>
                </a:solidFill>
                <a:latin typeface="Aptos"/>
                <a:ea typeface="Aptos"/>
                <a:cs typeface="Aptos"/>
                <a:hlinkClick r:id="rId3"/>
              </a:rPr>
              <a:t>Step 0 · A/B/C/D, relative to the active decision window</a:t>
            </a:r>
          </a:p>
        </p:txBody>
      </p:sp>
      <p:sp>
        <p:nvSpPr>
          <p:cNvPr id="123" name="Epistemic state label">
            <a:extLst>
              <a:ext uri="{FF2B5EF4-FFF2-40B4-BE49-F238E27FC236}">
                <a16:creationId xmlns:a16="http://schemas.microsoft.com/office/drawing/2014/main" id="{6F986745-2163-4481-B181-186ED3ECF9F3}"/>
              </a:ext>
            </a:extLst>
          </p:cNvPr>
          <p:cNvSpPr>
            <a:spLocks noGrp="1"/>
          </p:cNvSpPr>
          <p:nvPr/>
        </p:nvSpPr>
        <p:spPr>
          <a:xfrm>
            <a:off x="2615184" y="5038344"/>
            <a:ext cx="2624328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Not equal quadrants; the balance is decision-specific.</a:t>
            </a:r>
          </a:p>
        </p:txBody>
      </p:sp>
      <p:sp>
        <p:nvSpPr>
          <p:cNvPr id="125" name="Component A">
            <a:extLst>
              <a:ext uri="{FF2B5EF4-FFF2-40B4-BE49-F238E27FC236}">
                <a16:creationId xmlns:a16="http://schemas.microsoft.com/office/drawing/2014/main" id="{833A6830-8B62-4F91-B47F-11ED6B796CE0}"/>
              </a:ext>
            </a:extLst>
          </p:cNvPr>
          <p:cNvSpPr>
            <a:spLocks noGrp="1"/>
          </p:cNvSpPr>
          <p:nvPr/>
        </p:nvSpPr>
        <p:spPr>
          <a:xfrm>
            <a:off x="2624328" y="3383280"/>
            <a:ext cx="125272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A · Situated assertion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68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What / where / from which frame is represented now.</a:t>
            </a:r>
          </a:p>
        </p:txBody>
      </p:sp>
      <p:sp>
        <p:nvSpPr>
          <p:cNvPr id="126" name="Component B">
            <a:extLst>
              <a:ext uri="{FF2B5EF4-FFF2-40B4-BE49-F238E27FC236}">
                <a16:creationId xmlns:a16="http://schemas.microsoft.com/office/drawing/2014/main" id="{B471F6DB-7FAB-44B0-9932-1B8F632B5DF0}"/>
              </a:ext>
            </a:extLst>
          </p:cNvPr>
          <p:cNvSpPr>
            <a:spLocks noGrp="1"/>
          </p:cNvSpPr>
          <p:nvPr/>
        </p:nvSpPr>
        <p:spPr>
          <a:xfrm>
            <a:off x="3977640" y="3383280"/>
            <a:ext cx="125272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B · Confidence / intensity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68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Support for A; does not erase C or D.</a:t>
            </a:r>
          </a:p>
        </p:txBody>
      </p:sp>
      <p:sp>
        <p:nvSpPr>
          <p:cNvPr id="127" name="Component C">
            <a:extLst>
              <a:ext uri="{FF2B5EF4-FFF2-40B4-BE49-F238E27FC236}">
                <a16:creationId xmlns:a16="http://schemas.microsoft.com/office/drawing/2014/main" id="{1856D2F8-FED5-4A8D-940B-B9B719769030}"/>
              </a:ext>
            </a:extLst>
          </p:cNvPr>
          <p:cNvSpPr>
            <a:spLocks noGrp="1"/>
          </p:cNvSpPr>
          <p:nvPr/>
        </p:nvSpPr>
        <p:spPr>
          <a:xfrm>
            <a:off x="2624328" y="4215384"/>
            <a:ext cx="125272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C · Capability frontier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68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What can still be established with current capability.</a:t>
            </a:r>
          </a:p>
        </p:txBody>
      </p:sp>
      <p:sp>
        <p:nvSpPr>
          <p:cNvPr id="128" name="Component D">
            <a:extLst>
              <a:ext uri="{FF2B5EF4-FFF2-40B4-BE49-F238E27FC236}">
                <a16:creationId xmlns:a16="http://schemas.microsoft.com/office/drawing/2014/main" id="{8F66D00B-A29A-488D-87CE-ED6AB2C9527E}"/>
              </a:ext>
            </a:extLst>
          </p:cNvPr>
          <p:cNvSpPr>
            <a:spLocks noGrp="1"/>
          </p:cNvSpPr>
          <p:nvPr/>
        </p:nvSpPr>
        <p:spPr>
          <a:xfrm>
            <a:off x="3977640" y="4215384"/>
            <a:ext cx="125272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D · Structural residual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68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Outside represented / recognized-obtainable capability.</a:t>
            </a:r>
          </a:p>
        </p:txBody>
      </p:sp>
      <p:sp>
        <p:nvSpPr>
          <p:cNvPr id="129" name="Panel EHD · Epistemic Hand">
            <a:extLst>
              <a:ext uri="{FF2B5EF4-FFF2-40B4-BE49-F238E27FC236}">
                <a16:creationId xmlns:a16="http://schemas.microsoft.com/office/drawing/2014/main" id="{118B7937-6006-4DF1-8153-C10F2E214264}"/>
              </a:ext>
            </a:extLst>
          </p:cNvPr>
          <p:cNvSpPr>
            <a:spLocks noGrp="1"/>
          </p:cNvSpPr>
          <p:nvPr/>
        </p:nvSpPr>
        <p:spPr>
          <a:xfrm>
            <a:off x="5458968" y="2697480"/>
            <a:ext cx="1828800" cy="2542032"/>
          </a:xfrm>
          <a:prstGeom prst="roundRect">
            <a:avLst>
              <a:gd name="adj" fmla="val 6000"/>
            </a:avLst>
          </a:prstGeom>
          <a:solidFill>
            <a:srgbClr val="F4FBF9"/>
          </a:solidFill>
          <a:ln w="19050">
            <a:solidFill>
              <a:srgbClr val="007B82"/>
            </a:solidFill>
          </a:ln>
        </p:spPr>
        <p:txBody>
          <a:bodyPr wrap="square" lIns="82296" tIns="64008" rIns="82296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7B82"/>
                </a:solidFill>
                <a:latin typeface="Aptos"/>
                <a:ea typeface="Aptos"/>
                <a:cs typeface="Aptos"/>
                <a:hlinkClick r:id="rId4"/>
              </a:rPr>
              <a:t>Ecosystem Signalling / EHD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D6572"/>
                </a:solidFill>
                <a:latin typeface="Aptos"/>
                <a:ea typeface="Aptos"/>
                <a:cs typeface="Aptos"/>
                <a:hlinkClick r:id="rId4"/>
              </a:rPr>
              <a:t>Step 1 · what crosses a boundary</a:t>
            </a:r>
          </a:p>
        </p:txBody>
      </p:sp>
      <p:sp>
        <p:nvSpPr>
          <p:cNvPr id="131" name="EHD fields">
            <a:extLst>
              <a:ext uri="{FF2B5EF4-FFF2-40B4-BE49-F238E27FC236}">
                <a16:creationId xmlns:a16="http://schemas.microsoft.com/office/drawing/2014/main" id="{CDDED5F8-8DDE-4A09-9F01-50140C86581C}"/>
              </a:ext>
            </a:extLst>
          </p:cNvPr>
          <p:cNvSpPr>
            <a:spLocks noGrp="1"/>
          </p:cNvSpPr>
          <p:nvPr/>
        </p:nvSpPr>
        <p:spPr>
          <a:xfrm>
            <a:off x="5541264" y="3383280"/>
            <a:ext cx="1664208" cy="181051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8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qualified state / MSCA / role (where material)</a:t>
            </a:r>
          </a:p>
          <a:p>
            <a:pPr>
              <a:spcBef>
                <a:spcPts val="200"/>
              </a:spcBef>
              <a:buNone/>
            </a:pPr>
            <a:r>
              <a:rPr sz="78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</a:t>
            </a:r>
            <a:r>
              <a:rPr sz="78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scope and receiving decision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8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provenance / source dependence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8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epistemic state composition (A–D)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8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revalidation conditions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Compound profiles may carry RepositionIntent / AuthorityResponse. Signal ≠ authority.</a:t>
            </a:r>
          </a:p>
        </p:txBody>
      </p:sp>
      <p:sp>
        <p:nvSpPr>
          <p:cNvPr id="132" name="Panel Positioning opportun">
            <a:extLst>
              <a:ext uri="{FF2B5EF4-FFF2-40B4-BE49-F238E27FC236}">
                <a16:creationId xmlns:a16="http://schemas.microsoft.com/office/drawing/2014/main" id="{0FFD818B-517B-4AFE-A5EB-B3617E21EF38}"/>
              </a:ext>
            </a:extLst>
          </p:cNvPr>
          <p:cNvSpPr>
            <a:spLocks noGrp="1"/>
          </p:cNvSpPr>
          <p:nvPr/>
        </p:nvSpPr>
        <p:spPr>
          <a:xfrm>
            <a:off x="7424928" y="2697480"/>
            <a:ext cx="2331720" cy="2542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17629"/>
            </a:solidFill>
          </a:ln>
        </p:spPr>
        <p:txBody>
          <a:bodyPr wrap="square" lIns="82296" tIns="64008" rIns="82296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C17629"/>
                </a:solidFill>
                <a:latin typeface="Aptos"/>
                <a:ea typeface="Aptos"/>
                <a:cs typeface="Aptos"/>
                <a:hlinkClick r:id="rId8"/>
              </a:rPr>
              <a:t>Agentic gradient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D6572"/>
                </a:solidFill>
                <a:latin typeface="Aptos"/>
                <a:ea typeface="Aptos"/>
                <a:cs typeface="Aptos"/>
                <a:hlinkClick r:id="rId8"/>
              </a:rPr>
              <a:t>Step 5 · objective-conditioned opportunity</a:t>
            </a:r>
          </a:p>
        </p:txBody>
      </p:sp>
      <p:sp>
        <p:nvSpPr>
          <p:cNvPr id="134" name="Gradient body">
            <a:extLst>
              <a:ext uri="{FF2B5EF4-FFF2-40B4-BE49-F238E27FC236}">
                <a16:creationId xmlns:a16="http://schemas.microsoft.com/office/drawing/2014/main" id="{EF4C3839-235A-4590-B94E-6E6F6B1C7A5A}"/>
              </a:ext>
            </a:extLst>
          </p:cNvPr>
          <p:cNvSpPr>
            <a:spLocks noGrp="1"/>
          </p:cNvSpPr>
          <p:nvPr/>
        </p:nvSpPr>
        <p:spPr>
          <a:xfrm>
            <a:off x="7507224" y="3346704"/>
            <a:ext cx="2167128" cy="186537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Which candidate transition most reduces objective-conditioned MSCA risk from Role_effective?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sz="74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Basis: </a:t>
            </a:r>
            <a:r>
              <a:rPr sz="72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Δ_RA, Cart_i, Objective Envelope, burden and response horizon.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Ranks candidate transitions: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74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→ remain / adapt in role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74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→ request authority / ACC change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74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→ realign / re-contract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74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→ migrate / request isolation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sz="680" b="0" i="1">
                <a:solidFill>
                  <a:srgbClr val="C17629"/>
                </a:solidFill>
                <a:latin typeface="Aptos"/>
                <a:ea typeface="Aptos"/>
                <a:cs typeface="Aptos"/>
              </a:rPr>
              <a:t>Opportunity ≠ permission · signal ≠ command.</a:t>
            </a:r>
          </a:p>
        </p:txBody>
      </p:sp>
      <p:sp>
        <p:nvSpPr>
          <p:cNvPr id="135" name="Panel Choreography">
            <a:extLst>
              <a:ext uri="{FF2B5EF4-FFF2-40B4-BE49-F238E27FC236}">
                <a16:creationId xmlns:a16="http://schemas.microsoft.com/office/drawing/2014/main" id="{D78CD6A8-B52D-4E47-8140-3BE710D28140}"/>
              </a:ext>
            </a:extLst>
          </p:cNvPr>
          <p:cNvSpPr>
            <a:spLocks noGrp="1"/>
          </p:cNvSpPr>
          <p:nvPr/>
        </p:nvSpPr>
        <p:spPr>
          <a:xfrm>
            <a:off x="9893808" y="2697480"/>
            <a:ext cx="1728216" cy="2542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C4A"/>
            </a:solidFill>
          </a:ln>
        </p:spPr>
        <p:txBody>
          <a:bodyPr wrap="square" lIns="82296" tIns="64008" rIns="82296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Choreography, not orchestration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 dirty="0">
                <a:solidFill>
                  <a:srgbClr val="5D6572"/>
                </a:solidFill>
                <a:latin typeface="Aptos"/>
                <a:ea typeface="Aptos"/>
                <a:cs typeface="Aptos"/>
              </a:rPr>
              <a:t>Role · Cartography · Signalling</a:t>
            </a:r>
          </a:p>
        </p:txBody>
      </p:sp>
      <p:sp>
        <p:nvSpPr>
          <p:cNvPr id="137" name="Choreography body">
            <a:extLst>
              <a:ext uri="{FF2B5EF4-FFF2-40B4-BE49-F238E27FC236}">
                <a16:creationId xmlns:a16="http://schemas.microsoft.com/office/drawing/2014/main" id="{E88C962F-3417-4135-9127-8C46CEC58BDE}"/>
              </a:ext>
            </a:extLst>
          </p:cNvPr>
          <p:cNvSpPr>
            <a:spLocks noGrp="1"/>
          </p:cNvSpPr>
          <p:nvPr/>
        </p:nvSpPr>
        <p:spPr>
          <a:xfrm>
            <a:off x="9966960" y="3218688"/>
            <a:ext cx="1591056" cy="199339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250"/>
              </a:spcBef>
              <a:spcAft>
                <a:spcPts val="0"/>
              </a:spcAft>
              <a:buNone/>
            </a:pPr>
            <a:r>
              <a:rPr sz="71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Autonomy kept: </a:t>
            </a:r>
            <a:r>
              <a:rPr sz="710" b="0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each participant evaluates locally.</a:t>
            </a:r>
          </a:p>
          <a:p>
            <a:pPr algn="l">
              <a:spcBef>
                <a:spcPts val="250"/>
              </a:spcBef>
              <a:spcAft>
                <a:spcPts val="0"/>
              </a:spcAft>
              <a:buNone/>
            </a:pPr>
            <a:r>
              <a:rPr sz="71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Signalling: </a:t>
            </a:r>
            <a:r>
              <a:rPr sz="710" b="0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RepositionIntent may stay local or go to authority.</a:t>
            </a:r>
          </a:p>
          <a:p>
            <a:pPr algn="l">
              <a:spcBef>
                <a:spcPts val="250"/>
              </a:spcBef>
              <a:spcAft>
                <a:spcPts val="0"/>
              </a:spcAft>
              <a:buNone/>
            </a:pPr>
            <a:r>
              <a:rPr sz="71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Effective role: </a:t>
            </a:r>
            <a:r>
              <a:rPr sz="710" b="0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the gradient starts from Role_effective after drift.</a:t>
            </a:r>
          </a:p>
          <a:p>
            <a:pPr algn="l">
              <a:spcBef>
                <a:spcPts val="250"/>
              </a:spcBef>
              <a:spcAft>
                <a:spcPts val="0"/>
              </a:spcAft>
              <a:buNone/>
            </a:pPr>
            <a:r>
              <a:rPr sz="71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Evidence: </a:t>
            </a:r>
            <a:r>
              <a:rPr sz="710" b="0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qualified signals change evidence, not commands.</a:t>
            </a:r>
          </a:p>
          <a:p>
            <a:pPr algn="l">
              <a:spcBef>
                <a:spcPts val="250"/>
              </a:spcBef>
              <a:spcAft>
                <a:spcPts val="0"/>
              </a:spcAft>
              <a:buNone/>
            </a:pPr>
            <a:r>
              <a:rPr sz="710" b="1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• Not required: </a:t>
            </a:r>
            <a:r>
              <a:rPr sz="710" b="0" i="0" dirty="0">
                <a:solidFill>
                  <a:srgbClr val="1F2C4A"/>
                </a:solidFill>
                <a:latin typeface="Aptos"/>
                <a:ea typeface="Aptos"/>
                <a:cs typeface="Aptos"/>
              </a:rPr>
              <a:t>a central controller or shared world-state.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sz="670" b="0" i="1" dirty="0">
                <a:solidFill>
                  <a:srgbClr val="5D6572"/>
                </a:solidFill>
                <a:latin typeface="Aptos"/>
                <a:ea typeface="Aptos"/>
                <a:cs typeface="Aptos"/>
              </a:rPr>
              <a:t>Self-healing is bounded; convergence is not guaranteed.</a:t>
            </a:r>
          </a:p>
        </p:txBody>
      </p:sp>
      <p:sp>
        <p:nvSpPr>
          <p:cNvPr id="138" name="MSCA bar">
            <a:extLst>
              <a:ext uri="{FF2B5EF4-FFF2-40B4-BE49-F238E27FC236}">
                <a16:creationId xmlns:a16="http://schemas.microsoft.com/office/drawing/2014/main" id="{B198B108-1D9D-462C-A455-5219D41C3615}"/>
              </a:ext>
            </a:extLst>
          </p:cNvPr>
          <p:cNvSpPr>
            <a:spLocks noGrp="1"/>
          </p:cNvSpPr>
          <p:nvPr/>
        </p:nvSpPr>
        <p:spPr>
          <a:xfrm>
            <a:off x="566928" y="5376672"/>
            <a:ext cx="11055096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1F2C4A"/>
            </a:solidFill>
          </a:ln>
        </p:spPr>
        <p:txBody>
          <a:bodyPr wrap="square" lIns="64008" tIns="45720" rIns="64008" bIns="45720" anchor="t">
            <a:noAutofit/>
          </a:bodyPr>
          <a:lstStyle/>
          <a:p>
            <a:endParaRPr sz="800"/>
          </a:p>
        </p:txBody>
      </p:sp>
      <p:sp>
        <p:nvSpPr>
          <p:cNvPr id="139" name="MSCA tag">
            <a:extLst>
              <a:ext uri="{FF2B5EF4-FFF2-40B4-BE49-F238E27FC236}">
                <a16:creationId xmlns:a16="http://schemas.microsoft.com/office/drawing/2014/main" id="{F3A04202-8946-404C-BC47-3A68AEB8FA61}"/>
              </a:ext>
            </a:extLst>
          </p:cNvPr>
          <p:cNvSpPr>
            <a:spLocks noGrp="1"/>
          </p:cNvSpPr>
          <p:nvPr/>
        </p:nvSpPr>
        <p:spPr>
          <a:xfrm>
            <a:off x="658368" y="5468112"/>
            <a:ext cx="2103120" cy="384048"/>
          </a:xfrm>
          <a:prstGeom prst="roundRect">
            <a:avLst/>
          </a:prstGeom>
          <a:solidFill>
            <a:srgbClr val="1F2C4A"/>
          </a:solidFill>
          <a:ln>
            <a:noFill/>
          </a:ln>
        </p:spPr>
        <p:txBody>
          <a:bodyPr wrap="square" lIns="36576" tIns="9144" rIns="36576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Aptos"/>
                <a:ea typeface="Aptos"/>
                <a:cs typeface="Aptos"/>
                <a:hlinkClick r:id="rId10"/>
              </a:rPr>
              <a:t>MSCA · Minimum Sufficient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Aptos"/>
                <a:ea typeface="Aptos"/>
                <a:cs typeface="Aptos"/>
                <a:hlinkClick r:id="rId10"/>
              </a:rPr>
              <a:t>Control Architecture</a:t>
            </a:r>
          </a:p>
        </p:txBody>
      </p:sp>
      <p:sp>
        <p:nvSpPr>
          <p:cNvPr id="140" name="MSCA text">
            <a:extLst>
              <a:ext uri="{FF2B5EF4-FFF2-40B4-BE49-F238E27FC236}">
                <a16:creationId xmlns:a16="http://schemas.microsoft.com/office/drawing/2014/main" id="{C54DD751-B187-453E-93D0-0922A0767893}"/>
              </a:ext>
            </a:extLst>
          </p:cNvPr>
          <p:cNvSpPr>
            <a:spLocks noGrp="1"/>
          </p:cNvSpPr>
          <p:nvPr/>
        </p:nvSpPr>
        <p:spPr>
          <a:xfrm>
            <a:off x="2880360" y="5431536"/>
            <a:ext cx="86410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MSCA static + dynamic set — </a:t>
            </a:r>
            <a:r>
              <a:rPr sz="80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S/E/C/P/M kernel · Architectural Role · Ecosystem Cartography · Operation/Repositioning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Re-assessed when frame, role, envelope or authority changes; MSCA never creates authority.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66928" y="6510528"/>
            <a:ext cx="3566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1">
                <a:solidFill>
                  <a:srgbClr val="727A86"/>
                </a:solidFill>
                <a:latin typeface="Calibri"/>
              </a:rPr>
              <a:t>CORPUS ↗  </a:t>
            </a:r>
            <a:r>
              <a:rPr sz="680" b="0" u="sng">
                <a:solidFill>
                  <a:srgbClr val="2F6FB2"/>
                </a:solidFill>
                <a:latin typeface="Calibri"/>
                <a:hlinkClick r:id="rId11"/>
              </a:rPr>
              <a:t>Positioning cycle</a:t>
            </a:r>
          </a:p>
        </p:txBody>
      </p:sp>
    </p:spTree>
    <p:extLst>
      <p:ext uri="{BB962C8B-B14F-4D97-AF65-F5344CB8AC3E}">
        <p14:creationId xmlns:p14="http://schemas.microsoft.com/office/powerpoint/2010/main" val="905580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8EFC53-9073-4DE9-A48D-6BDBD37096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E31B5-AB1F-4603-AE7A-2A86A2870DCF}"/>
              </a:ext>
            </a:extLst>
          </p:cNvPr>
          <p:cNvSpPr>
            <a:spLocks noGrp="1"/>
          </p:cNvSpPr>
          <p:nvPr/>
        </p:nvSpPr>
        <p:spPr>
          <a:xfrm>
            <a:off x="475488" y="310896"/>
            <a:ext cx="6400800" cy="310896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A0FDF9-FD96-429B-BB51-0D74DEF72F23}"/>
              </a:ext>
            </a:extLst>
          </p:cNvPr>
          <p:cNvSpPr>
            <a:spLocks noGrp="1"/>
          </p:cNvSpPr>
          <p:nvPr/>
        </p:nvSpPr>
        <p:spPr>
          <a:xfrm>
            <a:off x="475488" y="676656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92129B-C475-40D7-A75D-EA495681FBFE}"/>
              </a:ext>
            </a:extLst>
          </p:cNvPr>
          <p:cNvSpPr>
            <a:spLocks noGrp="1"/>
          </p:cNvSpPr>
          <p:nvPr/>
        </p:nvSpPr>
        <p:spPr>
          <a:xfrm>
            <a:off x="658368" y="1062281"/>
            <a:ext cx="2880360" cy="411480"/>
          </a:xfrm>
          <a:prstGeom prst="roundRect">
            <a:avLst/>
          </a:prstGeom>
          <a:solidFill>
            <a:srgbClr val="808EA0"/>
          </a:solidFill>
          <a:ln w="17780">
            <a:solidFill>
              <a:srgbClr val="808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/ INSTITUTIONAL GOVERNANCE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A42936-C2A6-421F-9DAC-A5597C11CE5C}"/>
              </a:ext>
            </a:extLst>
          </p:cNvPr>
          <p:cNvSpPr>
            <a:spLocks noGrp="1"/>
          </p:cNvSpPr>
          <p:nvPr/>
        </p:nvSpPr>
        <p:spPr>
          <a:xfrm>
            <a:off x="2670048" y="1554480"/>
            <a:ext cx="7498079" cy="4443984"/>
          </a:xfrm>
          <a:prstGeom prst="roundRect">
            <a:avLst/>
          </a:prstGeom>
          <a:solidFill>
            <a:srgbClr val="ECF4F9"/>
          </a:solidFill>
          <a:ln w="27940">
            <a:solidFill>
              <a:srgbClr val="4E9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A0C7AD-5330-4BC1-8FAF-CD6FC1CF04A4}"/>
              </a:ext>
            </a:extLst>
          </p:cNvPr>
          <p:cNvSpPr>
            <a:spLocks noGrp="1"/>
          </p:cNvSpPr>
          <p:nvPr/>
        </p:nvSpPr>
        <p:spPr>
          <a:xfrm>
            <a:off x="6537960" y="171907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0706E-9615-4273-9CD5-414364AFE968}"/>
              </a:ext>
            </a:extLst>
          </p:cNvPr>
          <p:cNvSpPr>
            <a:spLocks noGrp="1"/>
          </p:cNvSpPr>
          <p:nvPr/>
        </p:nvSpPr>
        <p:spPr>
          <a:xfrm>
            <a:off x="6675120" y="1993392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26AC2E-4808-4D73-B342-F351381FD169}"/>
              </a:ext>
            </a:extLst>
          </p:cNvPr>
          <p:cNvSpPr>
            <a:spLocks noGrp="1"/>
          </p:cNvSpPr>
          <p:nvPr/>
        </p:nvSpPr>
        <p:spPr>
          <a:xfrm>
            <a:off x="566928" y="1847088"/>
            <a:ext cx="4389120" cy="1207008"/>
          </a:xfrm>
          <a:prstGeom prst="roundRect">
            <a:avLst/>
          </a:prstGeom>
          <a:solidFill>
            <a:srgbClr val="F3E9DF"/>
          </a:solidFill>
          <a:ln w="25400">
            <a:solidFill>
              <a:srgbClr val="E29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F67FA9-743F-4637-95A4-91A67D36A5E1}"/>
              </a:ext>
            </a:extLst>
          </p:cNvPr>
          <p:cNvSpPr>
            <a:spLocks noGrp="1"/>
          </p:cNvSpPr>
          <p:nvPr/>
        </p:nvSpPr>
        <p:spPr>
          <a:xfrm>
            <a:off x="1005840" y="2066543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A8681F"/>
                </a:solidFill>
                <a:latin typeface="Aptos"/>
                <a:ea typeface="Aptos"/>
                <a:cs typeface="Aptos"/>
                <a:hlinkClick r:id="rId3"/>
              </a:rPr>
              <a:t>AGENTIC CITIZENSHIP CONTRACT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558525-C2DC-4CA7-A1D6-97A5F5EA3B5D}"/>
              </a:ext>
            </a:extLst>
          </p:cNvPr>
          <p:cNvSpPr>
            <a:spLocks noGrp="1"/>
          </p:cNvSpPr>
          <p:nvPr/>
        </p:nvSpPr>
        <p:spPr>
          <a:xfrm>
            <a:off x="914400" y="2509152"/>
            <a:ext cx="24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r>
              <a:rPr sz="800" b="0" i="0">
                <a:solidFill>
                  <a:srgbClr val="74542F"/>
                </a:solidFill>
                <a:latin typeface="Aptos"/>
                <a:ea typeface="Aptos"/>
                <a:cs typeface="Aptos"/>
              </a:rPr>
              <a:t>membership · admissible roles · obligations · prohibitions</a:t>
            </a:r>
          </a:p>
          <a:p>
            <a:pPr algn="ctr">
              <a:buNone/>
            </a:pPr>
            <a:r>
              <a:rPr sz="800" b="0" i="0">
                <a:solidFill>
                  <a:srgbClr val="74542F"/>
                </a:solidFill>
                <a:latin typeface="Aptos"/>
                <a:ea typeface="Aptos"/>
                <a:cs typeface="Aptos"/>
              </a:rPr>
              <a:t>autonomy bounds · hard constraints · revocation / exit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5DA38B-41F7-4205-A853-7969686D980C}"/>
              </a:ext>
            </a:extLst>
          </p:cNvPr>
          <p:cNvSpPr>
            <a:spLocks noGrp="1"/>
          </p:cNvSpPr>
          <p:nvPr/>
        </p:nvSpPr>
        <p:spPr>
          <a:xfrm>
            <a:off x="987552" y="3002928"/>
            <a:ext cx="2327088" cy="13716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r>
              <a:rPr sz="850" b="0" i="1">
                <a:solidFill>
                  <a:srgbClr val="74542F"/>
                </a:solidFill>
                <a:latin typeface="Aptos"/>
                <a:ea typeface="Aptos"/>
                <a:cs typeface="Aptos"/>
              </a:rPr>
              <a:t>Defines admissible conditions — not each trajectory</a:t>
            </a:r>
          </a:p>
        </p:txBody>
      </p:sp>
      <p:sp>
        <p:nvSpPr>
          <p:cNvPr id="13" name="Connector 12">
            <a:extLst>
              <a:ext uri="{FF2B5EF4-FFF2-40B4-BE49-F238E27FC236}">
                <a16:creationId xmlns:a16="http://schemas.microsoft.com/office/drawing/2014/main" id="{C3CA6D39-B042-4AC8-97B1-009C086FBC26}"/>
              </a:ext>
            </a:extLst>
          </p:cNvPr>
          <p:cNvSpPr>
            <a:spLocks noGrp="1"/>
          </p:cNvSpPr>
          <p:nvPr/>
        </p:nvSpPr>
        <p:spPr>
          <a:xfrm>
            <a:off x="2057400" y="1490472"/>
            <a:ext cx="0" cy="356616"/>
          </a:xfrm>
          <a:prstGeom prst="line">
            <a:avLst/>
          </a:prstGeom>
          <a:ln w="12700">
            <a:solidFill>
              <a:srgbClr val="5D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5ACE021-547F-4D5F-B4FE-9634D001F503}"/>
              </a:ext>
            </a:extLst>
          </p:cNvPr>
          <p:cNvSpPr>
            <a:spLocks noGrp="1"/>
          </p:cNvSpPr>
          <p:nvPr/>
        </p:nvSpPr>
        <p:spPr>
          <a:xfrm>
            <a:off x="3886200" y="2331720"/>
            <a:ext cx="4754880" cy="2011680"/>
          </a:xfrm>
          <a:prstGeom prst="roundRect">
            <a:avLst/>
          </a:prstGeom>
          <a:solidFill>
            <a:srgbClr val="D3E3EC"/>
          </a:solidFill>
          <a:ln w="27940">
            <a:solidFill>
              <a:srgbClr val="00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497B1B-9FE3-4DA4-AEA6-328C3066E9C8}"/>
              </a:ext>
            </a:extLst>
          </p:cNvPr>
          <p:cNvSpPr>
            <a:spLocks noGrp="1"/>
          </p:cNvSpPr>
          <p:nvPr/>
        </p:nvSpPr>
        <p:spPr>
          <a:xfrm>
            <a:off x="5577840" y="254203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7E9485-0F69-4AB6-BE4A-C6BBEF1921A3}"/>
              </a:ext>
            </a:extLst>
          </p:cNvPr>
          <p:cNvSpPr>
            <a:spLocks noGrp="1"/>
          </p:cNvSpPr>
          <p:nvPr/>
        </p:nvSpPr>
        <p:spPr>
          <a:xfrm>
            <a:off x="4800600" y="2907792"/>
            <a:ext cx="297180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FF82214-7A61-4999-B98B-708F7CCC7C44}"/>
              </a:ext>
            </a:extLst>
          </p:cNvPr>
          <p:cNvSpPr>
            <a:spLocks noGrp="1"/>
          </p:cNvSpPr>
          <p:nvPr/>
        </p:nvSpPr>
        <p:spPr>
          <a:xfrm>
            <a:off x="4572000" y="3218688"/>
            <a:ext cx="169164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5A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ctr">
              <a:buNone/>
            </a:pPr>
            <a:r>
              <a:rPr sz="94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Current epistemic position</a:t>
            </a:r>
          </a:p>
          <a:p>
            <a:pPr algn="ctr">
              <a:spcBef>
                <a:spcPts val="300"/>
              </a:spcBef>
              <a:buNone/>
            </a:pPr>
            <a:r>
              <a:rPr sz="840">
                <a:solidFill>
                  <a:srgbClr val="5D6572"/>
                </a:solidFill>
                <a:latin typeface="Aptos"/>
                <a:ea typeface="Aptos"/>
                <a:cs typeface="Aptos"/>
              </a:rPr>
              <a:t>Π_EA · A/B/C/D · residual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693C5A4-C2D0-4493-B57A-9D46D3C31721}"/>
              </a:ext>
            </a:extLst>
          </p:cNvPr>
          <p:cNvSpPr>
            <a:spLocks noGrp="1"/>
          </p:cNvSpPr>
          <p:nvPr/>
        </p:nvSpPr>
        <p:spPr>
          <a:xfrm>
            <a:off x="6473952" y="3218688"/>
            <a:ext cx="1901952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5AD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ctr">
              <a:buNone/>
            </a:pPr>
            <a:r>
              <a:rPr sz="94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Cartography input</a:t>
            </a:r>
          </a:p>
          <a:p>
            <a:pPr algn="ctr">
              <a:spcBef>
                <a:spcPts val="300"/>
              </a:spcBef>
              <a:buNone/>
            </a:pPr>
            <a:r>
              <a:rPr sz="840">
                <a:solidFill>
                  <a:srgbClr val="5D6572"/>
                </a:solidFill>
                <a:latin typeface="Aptos"/>
                <a:ea typeface="Aptos"/>
                <a:cs typeface="Aptos"/>
              </a:rPr>
              <a:t>Cart_i where material · owned by MSCA</a:t>
            </a:r>
          </a:p>
          <a:p>
            <a:pPr algn="ctr">
              <a:buNone/>
            </a:pPr>
            <a:endParaRPr sz="840">
              <a:solidFill>
                <a:srgbClr val="5D65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6FF86B4-2E1E-42DB-805D-F620693D2B1F}"/>
              </a:ext>
            </a:extLst>
          </p:cNvPr>
          <p:cNvSpPr>
            <a:spLocks noGrp="1"/>
          </p:cNvSpPr>
          <p:nvPr/>
        </p:nvSpPr>
        <p:spPr>
          <a:xfrm>
            <a:off x="9253728" y="2377440"/>
            <a:ext cx="2359152" cy="23957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9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ctr">
              <a:buNone/>
            </a:pPr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5323079-6281-4574-86E7-99278830EA5D}"/>
              </a:ext>
            </a:extLst>
          </p:cNvPr>
          <p:cNvSpPr>
            <a:spLocks noGrp="1"/>
          </p:cNvSpPr>
          <p:nvPr/>
        </p:nvSpPr>
        <p:spPr>
          <a:xfrm>
            <a:off x="5440680" y="4142232"/>
            <a:ext cx="2560320" cy="402336"/>
          </a:xfrm>
          <a:prstGeom prst="roundRect">
            <a:avLst/>
          </a:prstGeom>
          <a:solidFill>
            <a:srgbClr val="C65D4E"/>
          </a:solidFill>
          <a:ln w="17780">
            <a:solidFill>
              <a:srgbClr val="C6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anchor="t"/>
          <a:lstStyle/>
          <a:p>
            <a:pPr algn="ctr">
              <a:buNone/>
            </a:pPr>
            <a:r>
              <a:rPr sz="1130" b="1">
                <a:solidFill>
                  <a:srgbClr val="FFFFFF"/>
                </a:solidFill>
                <a:latin typeface="Aptos"/>
                <a:ea typeface="Aptos"/>
                <a:cs typeface="Aptos"/>
                <a:hlinkClick r:id="rId4"/>
              </a:rPr>
              <a:t>REGIME AWARENESS</a:t>
            </a:r>
          </a:p>
          <a:p>
            <a:pPr algn="ctr">
              <a:buNone/>
            </a:pPr>
            <a:r>
              <a:rPr sz="1130" b="1">
                <a:solidFill>
                  <a:srgbClr val="FFFFFF"/>
                </a:solidFill>
                <a:latin typeface="Aptos"/>
                <a:ea typeface="Aptos"/>
                <a:cs typeface="Aptos"/>
                <a:hlinkClick r:id="rId4"/>
              </a:rPr>
              <a:t>Δ_RA + regime overlay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343D23B-F84B-4266-A3DB-E4A0D7070420}"/>
              </a:ext>
            </a:extLst>
          </p:cNvPr>
          <p:cNvSpPr>
            <a:spLocks noGrp="1"/>
          </p:cNvSpPr>
          <p:nvPr/>
        </p:nvSpPr>
        <p:spPr>
          <a:xfrm>
            <a:off x="3401568" y="2816352"/>
            <a:ext cx="932688" cy="932688"/>
          </a:xfrm>
          <a:prstGeom prst="ellipse">
            <a:avLst/>
          </a:prstGeom>
          <a:solidFill>
            <a:srgbClr val="7A4FBA"/>
          </a:solidFill>
          <a:ln w="25400">
            <a:solidFill>
              <a:srgbClr val="6037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84D58A-2883-4E62-8713-599C24EDF177}"/>
              </a:ext>
            </a:extLst>
          </p:cNvPr>
          <p:cNvSpPr>
            <a:spLocks noGrp="1"/>
          </p:cNvSpPr>
          <p:nvPr/>
        </p:nvSpPr>
        <p:spPr>
          <a:xfrm>
            <a:off x="3538728" y="3072384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450" b="1">
                <a:solidFill>
                  <a:srgbClr val="FFFFFF"/>
                </a:solidFill>
                <a:latin typeface="Aptos"/>
                <a:ea typeface="Aptos"/>
                <a:cs typeface="Aptos"/>
                <a:hlinkClick r:id="rId5"/>
              </a:rPr>
              <a:t>MSCA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607570-3FDA-4F8A-A654-D02AA5288725}"/>
              </a:ext>
            </a:extLst>
          </p:cNvPr>
          <p:cNvSpPr>
            <a:spLocks noGrp="1"/>
          </p:cNvSpPr>
          <p:nvPr/>
        </p:nvSpPr>
        <p:spPr>
          <a:xfrm>
            <a:off x="3502152" y="3355848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3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sufficiency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C100CA-4531-4A80-BD9B-78B7F0476B95}"/>
              </a:ext>
            </a:extLst>
          </p:cNvPr>
          <p:cNvSpPr>
            <a:spLocks noGrp="1"/>
          </p:cNvSpPr>
          <p:nvPr/>
        </p:nvSpPr>
        <p:spPr>
          <a:xfrm>
            <a:off x="2761488" y="3844857"/>
            <a:ext cx="2697480" cy="146304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ctr">
              <a:buNone/>
            </a:pPr>
            <a:r>
              <a:rPr sz="900" b="1" i="0">
                <a:solidFill>
                  <a:srgbClr val="7A4FBA"/>
                </a:solidFill>
                <a:latin typeface="Aptos"/>
                <a:ea typeface="Aptos"/>
                <a:cs typeface="Aptos"/>
                <a:hlinkClick r:id="rId5"/>
              </a:rPr>
              <a:t>MSCA bridge: Role · Cartography · Operation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98C8BA0-FC13-46D2-AD35-60AC1FB4AD73}"/>
              </a:ext>
            </a:extLst>
          </p:cNvPr>
          <p:cNvSpPr>
            <a:spLocks noGrp="1"/>
          </p:cNvSpPr>
          <p:nvPr/>
        </p:nvSpPr>
        <p:spPr>
          <a:xfrm>
            <a:off x="960120" y="5102352"/>
            <a:ext cx="8641080" cy="457200"/>
          </a:xfrm>
          <a:prstGeom prst="roundRect">
            <a:avLst/>
          </a:prstGeom>
          <a:solidFill>
            <a:srgbClr val="44A784"/>
          </a:solidFill>
          <a:ln w="17780">
            <a:solidFill>
              <a:srgbClr val="3B9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AEE390-E08C-4AA2-90C8-9958AD0523E3}"/>
              </a:ext>
            </a:extLst>
          </p:cNvPr>
          <p:cNvSpPr>
            <a:spLocks noGrp="1"/>
          </p:cNvSpPr>
          <p:nvPr/>
        </p:nvSpPr>
        <p:spPr>
          <a:xfrm>
            <a:off x="1298448" y="5175080"/>
            <a:ext cx="2514600" cy="330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FFFFFF"/>
                </a:solidFill>
                <a:latin typeface="Aptos"/>
                <a:ea typeface="Aptos"/>
                <a:cs typeface="Aptos"/>
                <a:hlinkClick r:id="rId6"/>
              </a:rPr>
              <a:t>ECOSYSTEM SIGNALLING / EHD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54B870-D2E2-4E41-85BE-20253473E08A}"/>
              </a:ext>
            </a:extLst>
          </p:cNvPr>
          <p:cNvSpPr>
            <a:spLocks noGrp="1"/>
          </p:cNvSpPr>
          <p:nvPr/>
        </p:nvSpPr>
        <p:spPr>
          <a:xfrm>
            <a:off x="3840480" y="5175504"/>
            <a:ext cx="214884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qualified state · Cart_i · RepositionIntent</a:t>
            </a:r>
          </a:p>
          <a:p>
            <a:pPr algn="ctr">
              <a:buNone/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lineage / UNKNOWN preserved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40CBF6-7BCE-4D9E-906D-14A997D5ABA2}"/>
              </a:ext>
            </a:extLst>
          </p:cNvPr>
          <p:cNvSpPr>
            <a:spLocks noGrp="1"/>
          </p:cNvSpPr>
          <p:nvPr/>
        </p:nvSpPr>
        <p:spPr>
          <a:xfrm>
            <a:off x="6492240" y="5175504"/>
            <a:ext cx="256032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transport · peers · authorities</a:t>
            </a:r>
          </a:p>
          <a:p>
            <a:pPr algn="ctr">
              <a:buNone/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membership may vary</a:t>
            </a:r>
          </a:p>
        </p:txBody>
      </p:sp>
      <p:sp>
        <p:nvSpPr>
          <p:cNvPr id="29" name="Connector 28">
            <a:extLst>
              <a:ext uri="{FF2B5EF4-FFF2-40B4-BE49-F238E27FC236}">
                <a16:creationId xmlns:a16="http://schemas.microsoft.com/office/drawing/2014/main" id="{CE891D4B-53FE-4B3E-9FD3-B4FE6B06C6B1}"/>
              </a:ext>
            </a:extLst>
          </p:cNvPr>
          <p:cNvSpPr>
            <a:spLocks noGrp="1"/>
          </p:cNvSpPr>
          <p:nvPr/>
        </p:nvSpPr>
        <p:spPr>
          <a:xfrm>
            <a:off x="8375904" y="3675887"/>
            <a:ext cx="859536" cy="0"/>
          </a:xfrm>
          <a:prstGeom prst="line">
            <a:avLst/>
          </a:prstGeom>
          <a:ln w="20320">
            <a:solidFill>
              <a:srgbClr val="569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Connector 29">
            <a:extLst>
              <a:ext uri="{FF2B5EF4-FFF2-40B4-BE49-F238E27FC236}">
                <a16:creationId xmlns:a16="http://schemas.microsoft.com/office/drawing/2014/main" id="{4374D3B3-5ACE-4C83-97F1-6FC673A17A84}"/>
              </a:ext>
            </a:extLst>
          </p:cNvPr>
          <p:cNvSpPr>
            <a:spLocks noGrp="1"/>
          </p:cNvSpPr>
          <p:nvPr/>
        </p:nvSpPr>
        <p:spPr>
          <a:xfrm flipH="1">
            <a:off x="7360920" y="4233672"/>
            <a:ext cx="640080" cy="0"/>
          </a:xfrm>
          <a:prstGeom prst="line">
            <a:avLst/>
          </a:prstGeom>
          <a:ln w="17780">
            <a:solidFill>
              <a:srgbClr val="C65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9F1C3F-93E6-4272-88D8-F9010F8B1D5E}"/>
              </a:ext>
            </a:extLst>
          </p:cNvPr>
          <p:cNvSpPr>
            <a:spLocks noGrp="1"/>
          </p:cNvSpPr>
          <p:nvPr/>
        </p:nvSpPr>
        <p:spPr>
          <a:xfrm>
            <a:off x="640080" y="614476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09D18D-63C9-4E71-998A-CED41D0948E6}"/>
              </a:ext>
            </a:extLst>
          </p:cNvPr>
          <p:cNvSpPr>
            <a:spLocks noGrp="1"/>
          </p:cNvSpPr>
          <p:nvPr/>
        </p:nvSpPr>
        <p:spPr>
          <a:xfrm>
            <a:off x="1481328" y="6126480"/>
            <a:ext cx="9098280" cy="310896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3A16D1-17CB-4BBF-BFC9-D204F15B68C9}"/>
              </a:ext>
            </a:extLst>
          </p:cNvPr>
          <p:cNvSpPr>
            <a:spLocks noGrp="1"/>
          </p:cNvSpPr>
          <p:nvPr/>
        </p:nvSpPr>
        <p:spPr>
          <a:xfrm>
            <a:off x="9966960" y="6446520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F2CA30-2655-4EEF-8477-4BFFECA76B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42A9A3-CF03-41FF-B96D-3A225E1489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DFC85F-082D-4C0D-9043-7378B3AA0D6C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0332720" cy="436017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282828"/>
                </a:solidFill>
                <a:latin typeface="Aptos"/>
                <a:ea typeface="Aptos"/>
                <a:cs typeface="Aptos"/>
                <a:hlinkClick r:id="rId7"/>
              </a:rPr>
              <a:t>Architecture map — where each mechanism lives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809FCC-0C0A-4038-AE3C-64BA47DA6B76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0607040" cy="1828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buNone/>
            </a:pPr>
            <a:r>
              <a:rPr sz="900" b="0">
                <a:solidFill>
                  <a:srgbClr val="5D6572"/>
                </a:solidFill>
                <a:latin typeface="Aptos"/>
                <a:ea typeface="Aptos"/>
                <a:cs typeface="Aptos"/>
              </a:rPr>
              <a:t>Citizenship constrains admissibility; Role fixes bound function; EA qualifies knowledge; Cartography maps dependencies; Repositioning proposes / escalates transitions.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9BD89F-487D-4AEC-A085-1176F3A27885}"/>
              </a:ext>
            </a:extLst>
          </p:cNvPr>
          <p:cNvSpPr>
            <a:spLocks noGrp="1"/>
          </p:cNvSpPr>
          <p:nvPr/>
        </p:nvSpPr>
        <p:spPr>
          <a:xfrm>
            <a:off x="5897880" y="1664208"/>
            <a:ext cx="3977639" cy="566928"/>
          </a:xfrm>
          <a:prstGeom prst="rect">
            <a:avLst/>
          </a:prstGeom>
          <a:solidFill>
            <a:srgbClr val="EC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6A0DF8-C38C-4A43-A094-D37724FE7BC3}"/>
              </a:ext>
            </a:extLst>
          </p:cNvPr>
          <p:cNvSpPr>
            <a:spLocks noGrp="1"/>
          </p:cNvSpPr>
          <p:nvPr/>
        </p:nvSpPr>
        <p:spPr>
          <a:xfrm>
            <a:off x="5989320" y="1700784"/>
            <a:ext cx="3749039" cy="438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buNone/>
            </a:pPr>
            <a:r>
              <a:rPr sz="1520" b="1">
                <a:solidFill>
                  <a:srgbClr val="276383"/>
                </a:solidFill>
                <a:latin typeface="Aptos"/>
                <a:ea typeface="Aptos"/>
                <a:cs typeface="Aptos"/>
                <a:hlinkClick r:id="rId8"/>
              </a:rPr>
              <a:t>AGENT / ECOSYSTEM</a:t>
            </a:r>
          </a:p>
          <a:p>
            <a:pPr algn="ctr">
              <a:buNone/>
            </a:pPr>
            <a:r>
              <a:rPr sz="1520" b="1">
                <a:solidFill>
                  <a:srgbClr val="276383"/>
                </a:solidFill>
                <a:latin typeface="Aptos"/>
                <a:ea typeface="Aptos"/>
                <a:cs typeface="Aptos"/>
                <a:hlinkClick r:id="rId8"/>
              </a:rPr>
              <a:t>POSITIONING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C89A54-0964-4375-B132-EC52C37D9F86}"/>
              </a:ext>
            </a:extLst>
          </p:cNvPr>
          <p:cNvSpPr>
            <a:spLocks noGrp="1"/>
          </p:cNvSpPr>
          <p:nvPr/>
        </p:nvSpPr>
        <p:spPr>
          <a:xfrm>
            <a:off x="6080760" y="2289696"/>
            <a:ext cx="3566160" cy="16459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buNone/>
            </a:pPr>
            <a:r>
              <a:rPr sz="760" b="0">
                <a:solidFill>
                  <a:srgbClr val="4A7084"/>
                </a:solidFill>
                <a:latin typeface="Aptos"/>
                <a:ea typeface="Aptos"/>
                <a:cs typeface="Aptos"/>
              </a:rPr>
              <a:t>Where the participant is situated — and which transition is legitimate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1437DC2-473A-425F-BE36-18879211388F}"/>
              </a:ext>
            </a:extLst>
          </p:cNvPr>
          <p:cNvSpPr>
            <a:spLocks noGrp="1"/>
          </p:cNvSpPr>
          <p:nvPr/>
        </p:nvSpPr>
        <p:spPr>
          <a:xfrm>
            <a:off x="4663440" y="2432304"/>
            <a:ext cx="3246120" cy="658368"/>
          </a:xfrm>
          <a:prstGeom prst="rect">
            <a:avLst/>
          </a:prstGeom>
          <a:solidFill>
            <a:srgbClr val="D3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D75B6D-46BA-48C3-80DC-5E8ED22424C1}"/>
              </a:ext>
            </a:extLst>
          </p:cNvPr>
          <p:cNvSpPr>
            <a:spLocks noGrp="1"/>
          </p:cNvSpPr>
          <p:nvPr/>
        </p:nvSpPr>
        <p:spPr>
          <a:xfrm>
            <a:off x="5166360" y="2496312"/>
            <a:ext cx="2240280" cy="47548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buNone/>
            </a:pPr>
            <a:r>
              <a:rPr sz="1420" b="1">
                <a:solidFill>
                  <a:srgbClr val="1E5B75"/>
                </a:solidFill>
                <a:latin typeface="Aptos"/>
                <a:ea typeface="Aptos"/>
                <a:cs typeface="Aptos"/>
                <a:hlinkClick r:id="rId9"/>
              </a:rPr>
              <a:t>ECOSYSTEM AWARENESS</a:t>
            </a:r>
          </a:p>
          <a:p>
            <a:pPr algn="ctr">
              <a:buNone/>
            </a:pPr>
            <a:r>
              <a:rPr sz="1420" b="1">
                <a:solidFill>
                  <a:srgbClr val="1E5B75"/>
                </a:solidFill>
                <a:latin typeface="Aptos"/>
                <a:ea typeface="Aptos"/>
                <a:cs typeface="Aptos"/>
                <a:hlinkClick r:id="rId9"/>
              </a:rPr>
              <a:t>(EA)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0B3D16-03FC-4774-B011-A97E57220771}"/>
              </a:ext>
            </a:extLst>
          </p:cNvPr>
          <p:cNvSpPr>
            <a:spLocks noGrp="1"/>
          </p:cNvSpPr>
          <p:nvPr/>
        </p:nvSpPr>
        <p:spPr>
          <a:xfrm>
            <a:off x="4754880" y="3110944"/>
            <a:ext cx="3063240" cy="14630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buNone/>
            </a:pPr>
            <a:r>
              <a:rPr sz="919" b="0">
                <a:solidFill>
                  <a:srgbClr val="34677E"/>
                </a:solidFill>
                <a:latin typeface="Aptos"/>
                <a:ea typeface="Aptos"/>
                <a:cs typeface="Aptos"/>
              </a:rPr>
              <a:t>Qualifies the participant-local epistemic position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CCA962-68F8-4E47-B6FF-451954D649FE}"/>
              </a:ext>
            </a:extLst>
          </p:cNvPr>
          <p:cNvSpPr>
            <a:spLocks noGrp="1"/>
          </p:cNvSpPr>
          <p:nvPr/>
        </p:nvSpPr>
        <p:spPr>
          <a:xfrm>
            <a:off x="9308592" y="2432304"/>
            <a:ext cx="2249424" cy="228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892EAA-E346-4E3A-9A84-D40C7F6BD849}"/>
              </a:ext>
            </a:extLst>
          </p:cNvPr>
          <p:cNvSpPr>
            <a:spLocks noGrp="1"/>
          </p:cNvSpPr>
          <p:nvPr/>
        </p:nvSpPr>
        <p:spPr>
          <a:xfrm>
            <a:off x="9345168" y="2468880"/>
            <a:ext cx="2176272" cy="329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buNone/>
            </a:pPr>
            <a:r>
              <a:rPr sz="1019" b="1">
                <a:solidFill>
                  <a:srgbClr val="276383"/>
                </a:solidFill>
                <a:latin typeface="Aptos"/>
                <a:ea typeface="Aptos"/>
                <a:cs typeface="Aptos"/>
                <a:hlinkClick r:id="rId5"/>
              </a:rPr>
              <a:t>MSCA OPERATION /</a:t>
            </a:r>
          </a:p>
          <a:p>
            <a:pPr algn="ctr">
              <a:buNone/>
            </a:pPr>
            <a:r>
              <a:rPr sz="1019" b="1">
                <a:solidFill>
                  <a:srgbClr val="276383"/>
                </a:solidFill>
                <a:latin typeface="Aptos"/>
                <a:ea typeface="Aptos"/>
                <a:cs typeface="Aptos"/>
                <a:hlinkClick r:id="rId5"/>
              </a:rPr>
              <a:t>REPOSITIONING</a:t>
            </a:r>
          </a:p>
        </p:txBody>
      </p:sp>
      <p:sp>
        <p:nvSpPr>
          <p:cNvPr id="46" name="Glocal explanation">
            <a:extLst>
              <a:ext uri="{FF2B5EF4-FFF2-40B4-BE49-F238E27FC236}">
                <a16:creationId xmlns:a16="http://schemas.microsoft.com/office/drawing/2014/main" id="{C28B9E82-B7DE-44A6-977A-DA71BE93BD01}"/>
              </a:ext>
            </a:extLst>
          </p:cNvPr>
          <p:cNvSpPr>
            <a:spLocks noGrp="1"/>
          </p:cNvSpPr>
          <p:nvPr/>
        </p:nvSpPr>
        <p:spPr>
          <a:xfrm>
            <a:off x="9381744" y="2834640"/>
            <a:ext cx="2121408" cy="2103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Role_bound ↔ Role_effective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Type catalogue: </a:t>
            </a:r>
            <a:r>
              <a:rPr sz="70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Type 0 · Type 1 · Type 2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Posture: </a:t>
            </a:r>
            <a:r>
              <a:rPr sz="70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P1 Normal · P2 Containment · P3 Migration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Gradient: </a:t>
            </a:r>
            <a:r>
              <a:rPr sz="70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from Role_effective to candidate roles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Output: </a:t>
            </a:r>
            <a:r>
              <a:rPr sz="700" b="0" i="0">
                <a:solidFill>
                  <a:srgbClr val="1F2C4A"/>
                </a:solidFill>
                <a:latin typeface="Aptos"/>
                <a:ea typeface="Aptos"/>
                <a:cs typeface="Aptos"/>
              </a:rPr>
              <a:t>Π_RP + RepositionIntent / escalation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buNone/>
            </a:pPr>
            <a:r>
              <a:rPr sz="66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Selects / proposes / escalates; control owners actuate.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7AB5078-B49D-4F9A-A057-D27B2DEA0F2B}"/>
              </a:ext>
            </a:extLst>
          </p:cNvPr>
          <p:cNvSpPr>
            <a:spLocks noGrp="1"/>
          </p:cNvSpPr>
          <p:nvPr/>
        </p:nvSpPr>
        <p:spPr>
          <a:xfrm>
            <a:off x="0" y="5925312"/>
            <a:ext cx="12191695" cy="932688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D8BD66-B93C-46BA-847E-F855E800B014}"/>
              </a:ext>
            </a:extLst>
          </p:cNvPr>
          <p:cNvSpPr>
            <a:spLocks noGrp="1"/>
          </p:cNvSpPr>
          <p:nvPr/>
        </p:nvSpPr>
        <p:spPr>
          <a:xfrm>
            <a:off x="640080" y="6089904"/>
            <a:ext cx="86868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Key</a:t>
            </a:r>
          </a:p>
          <a:p>
            <a:pPr algn="l">
              <a:buNone/>
            </a:pPr>
            <a:r>
              <a:rPr sz="10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boundary: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4C3C7D-1CCC-4073-9EDD-90CDC4456972}"/>
              </a:ext>
            </a:extLst>
          </p:cNvPr>
          <p:cNvSpPr>
            <a:spLocks noGrp="1"/>
          </p:cNvSpPr>
          <p:nvPr/>
        </p:nvSpPr>
        <p:spPr>
          <a:xfrm>
            <a:off x="1536192" y="6071616"/>
            <a:ext cx="9098280" cy="29260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buNone/>
            </a:pPr>
            <a:r>
              <a:rPr sz="919" b="0">
                <a:solidFill>
                  <a:srgbClr val="5D6572"/>
                </a:solidFill>
                <a:latin typeface="Aptos"/>
                <a:ea typeface="Aptos"/>
                <a:cs typeface="Aptos"/>
              </a:rPr>
              <a:t>Citizenship constrains admissibility. Role binds function. EA qualifies knowledge. Cartography maps dependencies. Repositioning selects / proposes / escalates; control owners act. Signalling crosses boundaries.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9AD239-94E7-49C4-910D-676E22A650F6}"/>
              </a:ext>
            </a:extLst>
          </p:cNvPr>
          <p:cNvSpPr>
            <a:spLocks noGrp="1"/>
          </p:cNvSpPr>
          <p:nvPr/>
        </p:nvSpPr>
        <p:spPr>
          <a:xfrm>
            <a:off x="10698480" y="6537960"/>
            <a:ext cx="502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CB1ADFE-87DA-42FD-9275-593EC56528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0D4BA8-E956-4DED-B54D-246A59331379}"/>
              </a:ext>
            </a:extLst>
          </p:cNvPr>
          <p:cNvSpPr>
            <a:spLocks noGrp="1"/>
          </p:cNvSpPr>
          <p:nvPr/>
        </p:nvSpPr>
        <p:spPr>
          <a:xfrm>
            <a:off x="566928" y="128016"/>
            <a:ext cx="2560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7A7E84"/>
                </a:solidFill>
                <a:latin typeface="Aptos"/>
                <a:ea typeface="Aptos"/>
                <a:cs typeface="Aptos"/>
              </a:rPr>
              <a:t>PROPOSED ARCHITECTURE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4DDCDF-1243-4990-9D76-1383DBF0ADA7}"/>
              </a:ext>
            </a:extLst>
          </p:cNvPr>
          <p:cNvSpPr>
            <a:spLocks noGrp="1"/>
          </p:cNvSpPr>
          <p:nvPr/>
        </p:nvSpPr>
        <p:spPr>
          <a:xfrm>
            <a:off x="10881360" y="12801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7A7E84"/>
                </a:solidFill>
                <a:latin typeface="Aptos"/>
                <a:ea typeface="Aptos"/>
                <a:cs typeface="Aptos"/>
              </a:rPr>
              <a:t>§ 05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A083B8B-4DA8-4630-A52D-7EE7478AC541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972800" cy="18288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39AF9A8-C201-4346-A618-9CF9B5A480DB}"/>
              </a:ext>
            </a:extLst>
          </p:cNvPr>
          <p:cNvSpPr>
            <a:spLocks noGrp="1"/>
          </p:cNvSpPr>
          <p:nvPr/>
        </p:nvSpPr>
        <p:spPr>
          <a:xfrm>
            <a:off x="566928" y="6492240"/>
            <a:ext cx="10972800" cy="10972"/>
          </a:xfrm>
          <a:prstGeom prst="rect">
            <a:avLst/>
          </a:prstGeom>
          <a:solidFill>
            <a:srgbClr val="1F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F82D5D-8288-4CE5-997B-954EF39A1D3C}"/>
              </a:ext>
            </a:extLst>
          </p:cNvPr>
          <p:cNvSpPr>
            <a:spLocks noGrp="1"/>
          </p:cNvSpPr>
          <p:nvPr/>
        </p:nvSpPr>
        <p:spPr>
          <a:xfrm>
            <a:off x="4114800" y="6528816"/>
            <a:ext cx="365760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800" b="0">
                <a:solidFill>
                  <a:srgbClr val="7A7E84"/>
                </a:solidFill>
                <a:latin typeface="Aptos"/>
                <a:ea typeface="Aptos"/>
                <a:cs typeface="Aptos"/>
              </a:rPr>
              <a:t>Ecosystem Awareness · Positioning architecture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E4DD3B-5680-4A27-A994-3B93BE775236}"/>
              </a:ext>
            </a:extLst>
          </p:cNvPr>
          <p:cNvSpPr>
            <a:spLocks noGrp="1"/>
          </p:cNvSpPr>
          <p:nvPr/>
        </p:nvSpPr>
        <p:spPr>
          <a:xfrm>
            <a:off x="11018520" y="6528816"/>
            <a:ext cx="36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D6775"/>
                </a:solidFill>
                <a:latin typeface="Aptos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510528"/>
            <a:ext cx="3566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1">
                <a:solidFill>
                  <a:srgbClr val="727A86"/>
                </a:solidFill>
                <a:latin typeface="Calibri"/>
              </a:rPr>
              <a:t>CORPUS ↗  </a:t>
            </a:r>
            <a:r>
              <a:rPr sz="680" b="0" u="sng">
                <a:solidFill>
                  <a:srgbClr val="2F6FB2"/>
                </a:solidFill>
                <a:latin typeface="Calibri"/>
                <a:hlinkClick r:id="rId7"/>
              </a:rPr>
              <a:t>Architecture composition</a:t>
            </a:r>
            <a:r>
              <a:rPr sz="680">
                <a:solidFill>
                  <a:srgbClr val="727A86"/>
                </a:solidFill>
                <a:latin typeface="Calibri"/>
              </a:rPr>
              <a:t>  ·  </a:t>
            </a:r>
            <a:r>
              <a:rPr sz="680" b="0" u="sng">
                <a:solidFill>
                  <a:srgbClr val="2F6FB2"/>
                </a:solidFill>
                <a:latin typeface="Calibri"/>
                <a:hlinkClick r:id="rId10"/>
              </a:rPr>
              <a:t>MSCA operation</a:t>
            </a:r>
          </a:p>
        </p:txBody>
      </p:sp>
    </p:spTree>
    <p:extLst>
      <p:ext uri="{BB962C8B-B14F-4D97-AF65-F5344CB8AC3E}">
        <p14:creationId xmlns:p14="http://schemas.microsoft.com/office/powerpoint/2010/main" val="461373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D50204C4-576C-4BD3-A27A-FE709401C4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ACC525A-693C-4C5A-9C45-85582F021DEB}"/>
              </a:ext>
            </a:extLst>
          </p:cNvPr>
          <p:cNvSpPr>
            <a:spLocks noGrp="1"/>
          </p:cNvSpPr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891FA7-9CF7-4CDC-B621-FFD7AC408EEA}"/>
              </a:ext>
            </a:extLst>
          </p:cNvPr>
          <p:cNvSpPr>
            <a:spLocks noGrp="1"/>
          </p:cNvSpPr>
          <p:nvPr/>
        </p:nvSpPr>
        <p:spPr>
          <a:xfrm>
            <a:off x="11018520" y="6547104"/>
            <a:ext cx="320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D6775"/>
                </a:solidFill>
                <a:latin typeface="Aptos"/>
              </a:rPr>
              <a:t>5</a:t>
            </a:r>
          </a:p>
        </p:txBody>
      </p:sp>
      <p:sp>
        <p:nvSpPr>
          <p:cNvPr id="51" name="Title">
            <a:extLst>
              <a:ext uri="{FF2B5EF4-FFF2-40B4-BE49-F238E27FC236}">
                <a16:creationId xmlns:a16="http://schemas.microsoft.com/office/drawing/2014/main" id="{177716D4-2D17-4599-9361-3553DFC052D8}"/>
              </a:ext>
            </a:extLst>
          </p:cNvPr>
          <p:cNvSpPr>
            <a:spLocks noGrp="1"/>
          </p:cNvSpPr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282828"/>
                </a:solidFill>
                <a:latin typeface="Aptos"/>
                <a:ea typeface="Aptos"/>
                <a:cs typeface="Aptos"/>
                <a:hlinkClick r:id="rId3"/>
              </a:rPr>
              <a:t>Ecosystem Awareness — subsystem inputs and outputs</a:t>
            </a:r>
          </a:p>
        </p:txBody>
      </p:sp>
      <p:sp>
        <p:nvSpPr>
          <p:cNvPr id="52" name="Subtitle">
            <a:extLst>
              <a:ext uri="{FF2B5EF4-FFF2-40B4-BE49-F238E27FC236}">
                <a16:creationId xmlns:a16="http://schemas.microsoft.com/office/drawing/2014/main" id="{E290C597-A0AC-42D0-850B-AB09CF17A673}"/>
              </a:ext>
            </a:extLst>
          </p:cNvPr>
          <p:cNvSpPr>
            <a:spLocks noGrp="1"/>
          </p:cNvSpPr>
          <p:nvPr/>
        </p:nvSpPr>
        <p:spPr>
          <a:xfrm>
            <a:off x="384048" y="548640"/>
            <a:ext cx="11338560" cy="35661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EA interface slice. Green = inputs to EA; orange = EA outputs / requests — never commands or authority.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i="1">
                <a:solidFill>
                  <a:srgbClr val="5D6572"/>
                </a:solidFill>
                <a:latin typeface="Aptos"/>
              </a:rPr>
              <a:t>Consumes existing identity, authorization and attestation mechanisms as inputs; does not replace them.</a:t>
            </a:r>
          </a:p>
        </p:txBody>
      </p:sp>
      <p:sp>
        <p:nvSpPr>
          <p:cNvPr id="101" name="Subsystem Human / Institutional Go">
            <a:extLst>
              <a:ext uri="{FF2B5EF4-FFF2-40B4-BE49-F238E27FC236}">
                <a16:creationId xmlns:a16="http://schemas.microsoft.com/office/drawing/2014/main" id="{3381D30E-876C-4D47-91EC-C7FF716513DE}"/>
              </a:ext>
            </a:extLst>
          </p:cNvPr>
          <p:cNvSpPr>
            <a:spLocks noGrp="1"/>
          </p:cNvSpPr>
          <p:nvPr/>
        </p:nvSpPr>
        <p:spPr>
          <a:xfrm>
            <a:off x="274320" y="987552"/>
            <a:ext cx="21488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54864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Human / Institutional Governance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Objectives, criticality, tolerated residual, deadlines and control options.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O1 Mission / Objective · IF-S13 Trust framework</a:t>
            </a:r>
          </a:p>
        </p:txBody>
      </p:sp>
      <p:sp>
        <p:nvSpPr>
          <p:cNvPr id="102" name="IN chip">
            <a:extLst>
              <a:ext uri="{FF2B5EF4-FFF2-40B4-BE49-F238E27FC236}">
                <a16:creationId xmlns:a16="http://schemas.microsoft.com/office/drawing/2014/main" id="{924F3F1F-724E-4B3A-9825-684320B39887}"/>
              </a:ext>
            </a:extLst>
          </p:cNvPr>
          <p:cNvSpPr>
            <a:spLocks noGrp="1"/>
          </p:cNvSpPr>
          <p:nvPr/>
        </p:nvSpPr>
        <p:spPr>
          <a:xfrm>
            <a:off x="2505456" y="987552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→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objective and material decision domains · criticality, deadline, tolerated residual · authority refs</a:t>
            </a:r>
          </a:p>
        </p:txBody>
      </p:sp>
      <p:sp>
        <p:nvSpPr>
          <p:cNvPr id="103" name="OUT chip">
            <a:extLst>
              <a:ext uri="{FF2B5EF4-FFF2-40B4-BE49-F238E27FC236}">
                <a16:creationId xmlns:a16="http://schemas.microsoft.com/office/drawing/2014/main" id="{4A09B22A-084D-4D94-A6C5-80A43DEE6239}"/>
              </a:ext>
            </a:extLst>
          </p:cNvPr>
          <p:cNvSpPr>
            <a:spLocks noGrp="1"/>
          </p:cNvSpPr>
          <p:nvPr/>
        </p:nvSpPr>
        <p:spPr>
          <a:xfrm>
            <a:off x="2505456" y="1600200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←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qualified affected state · requalification / escalation request</a:t>
            </a:r>
          </a:p>
        </p:txBody>
      </p:sp>
      <p:sp>
        <p:nvSpPr>
          <p:cNvPr id="104" name="Subsystem Identity &amp; Delegated Aut">
            <a:extLst>
              <a:ext uri="{FF2B5EF4-FFF2-40B4-BE49-F238E27FC236}">
                <a16:creationId xmlns:a16="http://schemas.microsoft.com/office/drawing/2014/main" id="{35A9D533-2283-4A8B-9893-C6F284A3301D}"/>
              </a:ext>
            </a:extLst>
          </p:cNvPr>
          <p:cNvSpPr>
            <a:spLocks noGrp="1"/>
          </p:cNvSpPr>
          <p:nvPr/>
        </p:nvSpPr>
        <p:spPr>
          <a:xfrm>
            <a:off x="274320" y="2404872"/>
            <a:ext cx="21488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54864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Identity &amp; Delegated Authority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Who/what is acting, on whose behalf, under which mandate and scope.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IF-S1 Identity · IF-S2 Authority / Delegation</a:t>
            </a:r>
          </a:p>
        </p:txBody>
      </p:sp>
      <p:sp>
        <p:nvSpPr>
          <p:cNvPr id="105" name="IN chip">
            <a:extLst>
              <a:ext uri="{FF2B5EF4-FFF2-40B4-BE49-F238E27FC236}">
                <a16:creationId xmlns:a16="http://schemas.microsoft.com/office/drawing/2014/main" id="{1C4A70D8-59E1-47DA-8FD2-E851B25B4792}"/>
              </a:ext>
            </a:extLst>
          </p:cNvPr>
          <p:cNvSpPr>
            <a:spLocks noGrp="1"/>
          </p:cNvSpPr>
          <p:nvPr/>
        </p:nvSpPr>
        <p:spPr>
          <a:xfrm>
            <a:off x="2505456" y="2404872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→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principal binding · grant scope and limits · validity / revocation · contested or absent state</a:t>
            </a:r>
          </a:p>
        </p:txBody>
      </p:sp>
      <p:sp>
        <p:nvSpPr>
          <p:cNvPr id="106" name="OUT chip">
            <a:extLst>
              <a:ext uri="{FF2B5EF4-FFF2-40B4-BE49-F238E27FC236}">
                <a16:creationId xmlns:a16="http://schemas.microsoft.com/office/drawing/2014/main" id="{71019615-05FC-4D9C-95A0-A53F5162DB36}"/>
              </a:ext>
            </a:extLst>
          </p:cNvPr>
          <p:cNvSpPr>
            <a:spLocks noGrp="1"/>
          </p:cNvSpPr>
          <p:nvPr/>
        </p:nvSpPr>
        <p:spPr>
          <a:xfrm>
            <a:off x="2505456" y="3017520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←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authority / binding UNKNOWN where binding · narrow to qualified mandate · refresh</a:t>
            </a:r>
          </a:p>
        </p:txBody>
      </p:sp>
      <p:sp>
        <p:nvSpPr>
          <p:cNvPr id="107" name="Subsystem Policy / Intent / Constr">
            <a:extLst>
              <a:ext uri="{FF2B5EF4-FFF2-40B4-BE49-F238E27FC236}">
                <a16:creationId xmlns:a16="http://schemas.microsoft.com/office/drawing/2014/main" id="{7BA4946F-8B87-4A45-A510-CA2FECFC2D63}"/>
              </a:ext>
            </a:extLst>
          </p:cNvPr>
          <p:cNvSpPr>
            <a:spLocks noGrp="1"/>
          </p:cNvSpPr>
          <p:nvPr/>
        </p:nvSpPr>
        <p:spPr>
          <a:xfrm>
            <a:off x="274320" y="3822192"/>
            <a:ext cx="21488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54864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Policy / Intent / Constraints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Versioned policy and intent references and their runtime conformance.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IF-S4 Policy / Intent conformance</a:t>
            </a:r>
          </a:p>
        </p:txBody>
      </p:sp>
      <p:sp>
        <p:nvSpPr>
          <p:cNvPr id="108" name="IN chip">
            <a:extLst>
              <a:ext uri="{FF2B5EF4-FFF2-40B4-BE49-F238E27FC236}">
                <a16:creationId xmlns:a16="http://schemas.microsoft.com/office/drawing/2014/main" id="{E64B7818-90E1-4D01-9FFF-45B52F270F3F}"/>
              </a:ext>
            </a:extLst>
          </p:cNvPr>
          <p:cNvSpPr>
            <a:spLocks noGrp="1"/>
          </p:cNvSpPr>
          <p:nvPr/>
        </p:nvSpPr>
        <p:spPr>
          <a:xfrm>
            <a:off x="2505456" y="3822192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→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versioned policy ref · verdict permit … indeterminate · scope examined · competing directives</a:t>
            </a:r>
          </a:p>
        </p:txBody>
      </p:sp>
      <p:sp>
        <p:nvSpPr>
          <p:cNvPr id="109" name="OUT chip">
            <a:extLst>
              <a:ext uri="{FF2B5EF4-FFF2-40B4-BE49-F238E27FC236}">
                <a16:creationId xmlns:a16="http://schemas.microsoft.com/office/drawing/2014/main" id="{92F273DA-4183-4C0A-96B5-BD2A454DF8E4}"/>
              </a:ext>
            </a:extLst>
          </p:cNvPr>
          <p:cNvSpPr>
            <a:spLocks noGrp="1"/>
          </p:cNvSpPr>
          <p:nvPr/>
        </p:nvSpPr>
        <p:spPr>
          <a:xfrm>
            <a:off x="2505456" y="4434840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←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preserve INDETERMINATE · verdict scope insufficient · re-evaluate / independent evaluator</a:t>
            </a:r>
          </a:p>
        </p:txBody>
      </p:sp>
      <p:sp>
        <p:nvSpPr>
          <p:cNvPr id="110" name="Subsystem Attestation / Runtime Ev">
            <a:extLst>
              <a:ext uri="{FF2B5EF4-FFF2-40B4-BE49-F238E27FC236}">
                <a16:creationId xmlns:a16="http://schemas.microsoft.com/office/drawing/2014/main" id="{FA268EB3-784C-40D3-B140-360BC889E1AD}"/>
              </a:ext>
            </a:extLst>
          </p:cNvPr>
          <p:cNvSpPr>
            <a:spLocks noGrp="1"/>
          </p:cNvSpPr>
          <p:nvPr/>
        </p:nvSpPr>
        <p:spPr>
          <a:xfrm>
            <a:off x="9765792" y="987552"/>
            <a:ext cx="21488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54864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Attestation / Runtime Evidence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Attestation results and verifier-side appraisal of runtime and interaction state.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IF-S3 Attestation · IF-S5 Evidence appraisal</a:t>
            </a:r>
          </a:p>
        </p:txBody>
      </p:sp>
      <p:sp>
        <p:nvSpPr>
          <p:cNvPr id="111" name="IN chip">
            <a:extLst>
              <a:ext uri="{FF2B5EF4-FFF2-40B4-BE49-F238E27FC236}">
                <a16:creationId xmlns:a16="http://schemas.microsoft.com/office/drawing/2014/main" id="{9B9A8702-314C-4B86-BBEA-A8A5F8CC0F83}"/>
              </a:ext>
            </a:extLst>
          </p:cNvPr>
          <p:cNvSpPr>
            <a:spLocks noGrp="1"/>
          </p:cNvSpPr>
          <p:nvPr/>
        </p:nvSpPr>
        <p:spPr>
          <a:xfrm>
            <a:off x="7836408" y="987552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←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Attestation Result · freshness / replay · appraisal relationship · limitations</a:t>
            </a:r>
          </a:p>
        </p:txBody>
      </p:sp>
      <p:sp>
        <p:nvSpPr>
          <p:cNvPr id="112" name="OUT chip">
            <a:extLst>
              <a:ext uri="{FF2B5EF4-FFF2-40B4-BE49-F238E27FC236}">
                <a16:creationId xmlns:a16="http://schemas.microsoft.com/office/drawing/2014/main" id="{07C35E0B-FA3E-430A-BB61-14E4E1BCDF6B}"/>
              </a:ext>
            </a:extLst>
          </p:cNvPr>
          <p:cNvSpPr>
            <a:spLocks noGrp="1"/>
          </p:cNvSpPr>
          <p:nvPr/>
        </p:nvSpPr>
        <p:spPr>
          <a:xfrm>
            <a:off x="7836408" y="1600200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→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re-attest or independently rooted attestation · reduce reliance to attested scope</a:t>
            </a:r>
          </a:p>
        </p:txBody>
      </p:sp>
      <p:sp>
        <p:nvSpPr>
          <p:cNvPr id="113" name="Subsystem Ecosystem Defense / Self">
            <a:extLst>
              <a:ext uri="{FF2B5EF4-FFF2-40B4-BE49-F238E27FC236}">
                <a16:creationId xmlns:a16="http://schemas.microsoft.com/office/drawing/2014/main" id="{99C3CA9D-73EF-4543-885B-074C607F6B26}"/>
              </a:ext>
            </a:extLst>
          </p:cNvPr>
          <p:cNvSpPr>
            <a:spLocks noGrp="1"/>
          </p:cNvSpPr>
          <p:nvPr/>
        </p:nvSpPr>
        <p:spPr>
          <a:xfrm>
            <a:off x="9765792" y="2404872"/>
            <a:ext cx="21488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54864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Ecosystem Defense / Self-Healing / Recovery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Containment, revocation, recovery and migration under legitimate authority.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IF-S12 Enforcement / Containment / Migration</a:t>
            </a:r>
          </a:p>
        </p:txBody>
      </p:sp>
      <p:sp>
        <p:nvSpPr>
          <p:cNvPr id="114" name="IN chip">
            <a:extLst>
              <a:ext uri="{FF2B5EF4-FFF2-40B4-BE49-F238E27FC236}">
                <a16:creationId xmlns:a16="http://schemas.microsoft.com/office/drawing/2014/main" id="{54FCE996-4E1C-48F6-8C2C-B3311DA0A331}"/>
              </a:ext>
            </a:extLst>
          </p:cNvPr>
          <p:cNvSpPr>
            <a:spLocks noGrp="1"/>
          </p:cNvSpPr>
          <p:nvPr/>
        </p:nvSpPr>
        <p:spPr>
          <a:xfrm>
            <a:off x="7836408" y="2404872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←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response capability and reach · actionability window · residual exposure · rollback state</a:t>
            </a:r>
          </a:p>
        </p:txBody>
      </p:sp>
      <p:sp>
        <p:nvSpPr>
          <p:cNvPr id="115" name="OUT chip">
            <a:extLst>
              <a:ext uri="{FF2B5EF4-FFF2-40B4-BE49-F238E27FC236}">
                <a16:creationId xmlns:a16="http://schemas.microsoft.com/office/drawing/2014/main" id="{3793D52C-37A8-40D2-A7C3-5ADB1ED6C47E}"/>
              </a:ext>
            </a:extLst>
          </p:cNvPr>
          <p:cNvSpPr>
            <a:spLocks noGrp="1"/>
          </p:cNvSpPr>
          <p:nvPr/>
        </p:nvSpPr>
        <p:spPr>
          <a:xfrm>
            <a:off x="7836408" y="3017520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→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affected scope · requalification / containment request</a:t>
            </a:r>
          </a:p>
        </p:txBody>
      </p:sp>
      <p:sp>
        <p:nvSpPr>
          <p:cNvPr id="116" name="Subsystem Human Oversight / Assura">
            <a:extLst>
              <a:ext uri="{FF2B5EF4-FFF2-40B4-BE49-F238E27FC236}">
                <a16:creationId xmlns:a16="http://schemas.microsoft.com/office/drawing/2014/main" id="{57DC0CDA-6427-4187-9F3C-FA5C01258B55}"/>
              </a:ext>
            </a:extLst>
          </p:cNvPr>
          <p:cNvSpPr>
            <a:spLocks noGrp="1"/>
          </p:cNvSpPr>
          <p:nvPr/>
        </p:nvSpPr>
        <p:spPr>
          <a:xfrm>
            <a:off x="9765792" y="3822192"/>
            <a:ext cx="21488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54864" rIns="73152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Human Oversight / Assurance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Review, intervention and authority beyond autonomous limits.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IF-S6 Human oversight capacity</a:t>
            </a:r>
          </a:p>
        </p:txBody>
      </p:sp>
      <p:sp>
        <p:nvSpPr>
          <p:cNvPr id="117" name="IN chip">
            <a:extLst>
              <a:ext uri="{FF2B5EF4-FFF2-40B4-BE49-F238E27FC236}">
                <a16:creationId xmlns:a16="http://schemas.microsoft.com/office/drawing/2014/main" id="{6A7965A4-E2B5-45F2-88DC-44F4C8DC5D11}"/>
              </a:ext>
            </a:extLst>
          </p:cNvPr>
          <p:cNvSpPr>
            <a:spLocks noGrp="1"/>
          </p:cNvSpPr>
          <p:nvPr/>
        </p:nvSpPr>
        <p:spPr>
          <a:xfrm>
            <a:off x="7836408" y="3822192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←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human-capacity state · reviewer role and authority · response window · intervention outcome</a:t>
            </a:r>
          </a:p>
        </p:txBody>
      </p:sp>
      <p:sp>
        <p:nvSpPr>
          <p:cNvPr id="118" name="OUT chip">
            <a:extLst>
              <a:ext uri="{FF2B5EF4-FFF2-40B4-BE49-F238E27FC236}">
                <a16:creationId xmlns:a16="http://schemas.microsoft.com/office/drawing/2014/main" id="{337DFCCB-F128-4E81-B1F9-5B312CFE658C}"/>
              </a:ext>
            </a:extLst>
          </p:cNvPr>
          <p:cNvSpPr>
            <a:spLocks noGrp="1"/>
          </p:cNvSpPr>
          <p:nvPr/>
        </p:nvSpPr>
        <p:spPr>
          <a:xfrm>
            <a:off x="7836408" y="4434840"/>
            <a:ext cx="1847088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→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targeted review for the affected domain · capacity-insufficient flag · Type 1 stop boundary</a:t>
            </a:r>
          </a:p>
        </p:txBody>
      </p:sp>
      <p:sp>
        <p:nvSpPr>
          <p:cNvPr id="119" name="Subsystem External agents">
            <a:extLst>
              <a:ext uri="{FF2B5EF4-FFF2-40B4-BE49-F238E27FC236}">
                <a16:creationId xmlns:a16="http://schemas.microsoft.com/office/drawing/2014/main" id="{BF59EAA6-FA4A-415B-894D-F2A2ACC7CFE2}"/>
              </a:ext>
            </a:extLst>
          </p:cNvPr>
          <p:cNvSpPr>
            <a:spLocks noGrp="1"/>
          </p:cNvSpPr>
          <p:nvPr/>
        </p:nvSpPr>
        <p:spPr>
          <a:xfrm>
            <a:off x="4480560" y="914400"/>
            <a:ext cx="3227832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45720" rIns="7315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External Agents / A2A / Epistemic Signaling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O2 · O6 · IF-S11 Ecosystem signalling</a:t>
            </a:r>
          </a:p>
        </p:txBody>
      </p:sp>
      <p:sp>
        <p:nvSpPr>
          <p:cNvPr id="120" name="IN chip">
            <a:extLst>
              <a:ext uri="{FF2B5EF4-FFF2-40B4-BE49-F238E27FC236}">
                <a16:creationId xmlns:a16="http://schemas.microsoft.com/office/drawing/2014/main" id="{DCD3542C-6C15-4964-9694-BC2DBA46948C}"/>
              </a:ext>
            </a:extLst>
          </p:cNvPr>
          <p:cNvSpPr>
            <a:spLocks noGrp="1"/>
          </p:cNvSpPr>
          <p:nvPr/>
        </p:nvSpPr>
        <p:spPr>
          <a:xfrm>
            <a:off x="4480560" y="1572768"/>
            <a:ext cx="1581912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↓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EHD / envelope · source and provenance · freshness · corroboration history</a:t>
            </a:r>
          </a:p>
        </p:txBody>
      </p:sp>
      <p:sp>
        <p:nvSpPr>
          <p:cNvPr id="121" name="OUT chip">
            <a:extLst>
              <a:ext uri="{FF2B5EF4-FFF2-40B4-BE49-F238E27FC236}">
                <a16:creationId xmlns:a16="http://schemas.microsoft.com/office/drawing/2014/main" id="{4C0C9ADD-4F2A-491E-80FB-CDF89FBE9F1D}"/>
              </a:ext>
            </a:extLst>
          </p:cNvPr>
          <p:cNvSpPr>
            <a:spLocks noGrp="1"/>
          </p:cNvSpPr>
          <p:nvPr/>
        </p:nvSpPr>
        <p:spPr>
          <a:xfrm>
            <a:off x="6126480" y="1572768"/>
            <a:ext cx="1581912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↑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External Epistemic Envelope (F8) · targeted corroboration · source-dependence mark</a:t>
            </a:r>
          </a:p>
        </p:txBody>
      </p:sp>
      <p:sp>
        <p:nvSpPr>
          <p:cNvPr id="122" name="Hub Ecosystem Positioning">
            <a:extLst>
              <a:ext uri="{FF2B5EF4-FFF2-40B4-BE49-F238E27FC236}">
                <a16:creationId xmlns:a16="http://schemas.microsoft.com/office/drawing/2014/main" id="{AE6207F6-C505-4B0E-A4F3-BCCA05D5DC07}"/>
              </a:ext>
            </a:extLst>
          </p:cNvPr>
          <p:cNvSpPr>
            <a:spLocks noGrp="1"/>
          </p:cNvSpPr>
          <p:nvPr/>
        </p:nvSpPr>
        <p:spPr>
          <a:xfrm>
            <a:off x="4480560" y="2240280"/>
            <a:ext cx="3227832" cy="2084832"/>
          </a:xfrm>
          <a:prstGeom prst="roundRect">
            <a:avLst>
              <a:gd name="adj" fmla="val 12000"/>
            </a:avLst>
          </a:prstGeom>
          <a:solidFill>
            <a:srgbClr val="EEF5FA"/>
          </a:solidFill>
          <a:ln w="25400">
            <a:solidFill>
              <a:srgbClr val="4682DC"/>
            </a:solidFill>
          </a:ln>
        </p:spPr>
        <p:txBody>
          <a:bodyPr wrap="square" lIns="164592" tIns="73152" rIns="109728" bIns="5486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ECOSYSTEM AWARENESS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78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participant-local qualification layer</a:t>
            </a:r>
          </a:p>
          <a:p>
            <a:pPr>
              <a:spcBef>
                <a:spcPts val="200"/>
              </a:spcBef>
              <a:buNone/>
            </a:pPr>
            <a:r>
              <a:rPr sz="100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Π_EA = </a:t>
            </a:r>
            <a:r>
              <a:rPr sz="10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[A,B,C,D]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W(d,t) · provenance · residual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ReceivedSignals qualification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Cart_i / Δ_RA inputs where material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requalification / evidence requests</a:t>
            </a:r>
          </a:p>
          <a:p>
            <a:pPr algn="ctr">
              <a:spcBef>
                <a:spcPts val="60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4682DC"/>
                </a:solidFill>
                <a:latin typeface="Aptos"/>
                <a:ea typeface="Aptos"/>
                <a:cs typeface="Aptos"/>
              </a:rPr>
              <a:t>→ MSCA Operation / Repositioning</a:t>
            </a:r>
          </a:p>
        </p:txBody>
      </p:sp>
      <p:sp>
        <p:nvSpPr>
          <p:cNvPr id="123" name="IN chip">
            <a:extLst>
              <a:ext uri="{FF2B5EF4-FFF2-40B4-BE49-F238E27FC236}">
                <a16:creationId xmlns:a16="http://schemas.microsoft.com/office/drawing/2014/main" id="{99EE24C0-A186-48C1-AEF6-4A9F6F792651}"/>
              </a:ext>
            </a:extLst>
          </p:cNvPr>
          <p:cNvSpPr>
            <a:spLocks noGrp="1"/>
          </p:cNvSpPr>
          <p:nvPr/>
        </p:nvSpPr>
        <p:spPr>
          <a:xfrm>
            <a:off x="4480560" y="4389120"/>
            <a:ext cx="1581912" cy="576072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3970">
            <a:solidFill>
              <a:srgbClr val="007B82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↑  to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result and execution status · drift / telemetry · verifiable action record</a:t>
            </a:r>
          </a:p>
        </p:txBody>
      </p:sp>
      <p:sp>
        <p:nvSpPr>
          <p:cNvPr id="124" name="OUT chip">
            <a:extLst>
              <a:ext uri="{FF2B5EF4-FFF2-40B4-BE49-F238E27FC236}">
                <a16:creationId xmlns:a16="http://schemas.microsoft.com/office/drawing/2014/main" id="{96C0D077-DEB6-40B0-B202-88A66C21A6CC}"/>
              </a:ext>
            </a:extLst>
          </p:cNvPr>
          <p:cNvSpPr>
            <a:spLocks noGrp="1"/>
          </p:cNvSpPr>
          <p:nvPr/>
        </p:nvSpPr>
        <p:spPr>
          <a:xfrm>
            <a:off x="6126480" y="4389120"/>
            <a:ext cx="1581912" cy="576072"/>
          </a:xfrm>
          <a:prstGeom prst="roundRect">
            <a:avLst>
              <a:gd name="adj" fmla="val 12000"/>
            </a:avLst>
          </a:prstGeom>
          <a:solidFill>
            <a:srgbClr val="FFF8F2"/>
          </a:solidFill>
          <a:ln w="13970">
            <a:solidFill>
              <a:srgbClr val="C17629"/>
            </a:solidFill>
          </a:ln>
        </p:spPr>
        <p:txBody>
          <a:bodyPr wrap="square" lIns="54864" tIns="27432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↓  from EA</a:t>
            </a:r>
          </a:p>
          <a:p>
            <a:pPr algn="l">
              <a:spcBef>
                <a:spcPts val="5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outcome reconciliation · qualified effect state · F8 statement for record</a:t>
            </a:r>
          </a:p>
        </p:txBody>
      </p:sp>
      <p:sp>
        <p:nvSpPr>
          <p:cNvPr id="125" name="Subsystem Execution">
            <a:extLst>
              <a:ext uri="{FF2B5EF4-FFF2-40B4-BE49-F238E27FC236}">
                <a16:creationId xmlns:a16="http://schemas.microsoft.com/office/drawing/2014/main" id="{6C9C90C6-3E2D-4860-B845-E79DB595E5B5}"/>
              </a:ext>
            </a:extLst>
          </p:cNvPr>
          <p:cNvSpPr>
            <a:spLocks noGrp="1"/>
          </p:cNvSpPr>
          <p:nvPr/>
        </p:nvSpPr>
        <p:spPr>
          <a:xfrm>
            <a:off x="4480560" y="5029200"/>
            <a:ext cx="3227832" cy="731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A8B4C4"/>
            </a:solidFill>
          </a:ln>
        </p:spPr>
        <p:txBody>
          <a:bodyPr wrap="square" lIns="82296" tIns="45720" rIns="7315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282828"/>
                </a:solidFill>
                <a:latin typeface="Aptos"/>
                <a:ea typeface="Aptos"/>
                <a:cs typeface="Aptos"/>
              </a:rPr>
              <a:t>Execution / Outcome / Audit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Tools, outcomes, telemetry and action records.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72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O3 · O5 · IF-S7 · IF-S8</a:t>
            </a:r>
          </a:p>
        </p:txBody>
      </p:sp>
      <p:sp>
        <p:nvSpPr>
          <p:cNvPr id="126" name="Legend frame">
            <a:extLst>
              <a:ext uri="{FF2B5EF4-FFF2-40B4-BE49-F238E27FC236}">
                <a16:creationId xmlns:a16="http://schemas.microsoft.com/office/drawing/2014/main" id="{4A3AF2E9-6040-40A0-B5D1-5AF21C9EB34C}"/>
              </a:ext>
            </a:extLst>
          </p:cNvPr>
          <p:cNvSpPr>
            <a:spLocks noGrp="1"/>
          </p:cNvSpPr>
          <p:nvPr/>
        </p:nvSpPr>
        <p:spPr>
          <a:xfrm>
            <a:off x="384048" y="6035040"/>
            <a:ext cx="10332720" cy="384048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9525">
            <a:solidFill>
              <a:srgbClr val="D7DCE4"/>
            </a:solidFill>
          </a:ln>
        </p:spPr>
        <p:txBody>
          <a:bodyPr wrap="square" lIns="64008" tIns="45720" rIns="64008" bIns="45720" anchor="t">
            <a:noAutofit/>
          </a:bodyPr>
          <a:lstStyle/>
          <a:p>
            <a:endParaRPr sz="800"/>
          </a:p>
        </p:txBody>
      </p:sp>
      <p:sp>
        <p:nvSpPr>
          <p:cNvPr id="58" name="Legend">
            <a:extLst>
              <a:ext uri="{FF2B5EF4-FFF2-40B4-BE49-F238E27FC236}">
                <a16:creationId xmlns:a16="http://schemas.microsoft.com/office/drawing/2014/main" id="{53AB5A43-4F6B-4F25-AB8D-D17A480A5F0F}"/>
              </a:ext>
            </a:extLst>
          </p:cNvPr>
          <p:cNvSpPr>
            <a:spLocks noGrp="1"/>
          </p:cNvSpPr>
          <p:nvPr/>
        </p:nvSpPr>
        <p:spPr>
          <a:xfrm>
            <a:off x="502920" y="6062472"/>
            <a:ext cx="1014984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IN · to EA </a:t>
            </a:r>
            <a:r>
              <a:rPr sz="74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inputs listed in doc 04 for that interface   </a:t>
            </a:r>
            <a:r>
              <a:rPr sz="780" b="1" i="0">
                <a:solidFill>
                  <a:srgbClr val="C17629"/>
                </a:solidFill>
                <a:latin typeface="Aptos"/>
                <a:ea typeface="Aptos"/>
                <a:cs typeface="Aptos"/>
              </a:rPr>
              <a:t>OUT · from EA </a:t>
            </a:r>
            <a:r>
              <a:rPr sz="74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EA outputs to that function   </a:t>
            </a:r>
            <a:r>
              <a:rPr sz="780" b="1" i="0">
                <a:solidFill>
                  <a:srgbClr val="007B82"/>
                </a:solidFill>
                <a:latin typeface="Aptos"/>
                <a:ea typeface="Aptos"/>
                <a:cs typeface="Aptos"/>
              </a:rPr>
              <a:t>04 · codes </a:t>
            </a:r>
            <a:r>
              <a:rPr sz="74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interface IDs O1–O6 / IF-S1–S13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5D6572"/>
                </a:solidFill>
                <a:latin typeface="Aptos"/>
                <a:ea typeface="Aptos"/>
                <a:cs typeface="Aptos"/>
              </a:rPr>
              <a:t>Not shown: O4 context / memory / retrieval, IF-S9 evaluation, IF-S10 privacy. Final P1/P2/P3 closure belongs to MSCA Operation/Repositioning.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66928" y="6510528"/>
            <a:ext cx="3566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1">
                <a:solidFill>
                  <a:srgbClr val="727A86"/>
                </a:solidFill>
                <a:latin typeface="Calibri"/>
              </a:rPr>
              <a:t>CORPUS ↗  </a:t>
            </a:r>
            <a:r>
              <a:rPr sz="680" b="0" u="sng">
                <a:solidFill>
                  <a:srgbClr val="2F6FB2"/>
                </a:solidFill>
                <a:latin typeface="Calibri"/>
                <a:hlinkClick r:id="rId3"/>
              </a:rPr>
              <a:t>04 · General Functional Interfaces</a:t>
            </a:r>
          </a:p>
        </p:txBody>
      </p:sp>
    </p:spTree>
    <p:extLst>
      <p:ext uri="{BB962C8B-B14F-4D97-AF65-F5344CB8AC3E}">
        <p14:creationId xmlns:p14="http://schemas.microsoft.com/office/powerpoint/2010/main" val="1939009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92E6A4-C223-47D6-BF38-597BE3D3CC91}"/>
              </a:ext>
            </a:extLst>
          </p:cNvPr>
          <p:cNvSpPr>
            <a:spLocks noGrp="1"/>
          </p:cNvSpPr>
          <p:nvPr/>
        </p:nvSpPr>
        <p:spPr>
          <a:xfrm>
            <a:off x="256032" y="182880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A7F391-D7B8-4F08-9D36-37209015C9FD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B9B8E4-91EB-4996-82AC-EE2FA4D39513}"/>
              </a:ext>
            </a:extLst>
          </p:cNvPr>
          <p:cNvSpPr>
            <a:spLocks noGrp="1"/>
          </p:cNvSpPr>
          <p:nvPr/>
        </p:nvSpPr>
        <p:spPr>
          <a:xfrm>
            <a:off x="320040" y="822960"/>
            <a:ext cx="2176272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A4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103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Human / Institutional</a:t>
            </a:r>
          </a:p>
          <a:p>
            <a:pPr algn="l">
              <a:buNone/>
            </a:pPr>
            <a:r>
              <a:rPr sz="7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Governance</a:t>
            </a:r>
          </a:p>
          <a:p>
            <a:pPr algn="l">
              <a:spcBef>
                <a:spcPts val="300"/>
              </a:spcBef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Objectives, rights, legitimacy, accountability,</a:t>
            </a:r>
          </a:p>
          <a:p>
            <a:pPr algn="l"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legal / organizational constraints.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C733EF-43AC-4659-BB45-FE9CEA980B5E}"/>
              </a:ext>
            </a:extLst>
          </p:cNvPr>
          <p:cNvSpPr>
            <a:spLocks noGrp="1"/>
          </p:cNvSpPr>
          <p:nvPr/>
        </p:nvSpPr>
        <p:spPr>
          <a:xfrm>
            <a:off x="2862072" y="822960"/>
            <a:ext cx="2176272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103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Privacy / Data</a:t>
            </a:r>
          </a:p>
          <a:p>
            <a:pPr algn="l">
              <a:buNone/>
            </a:pPr>
            <a:r>
              <a:rPr sz="7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Governance</a:t>
            </a:r>
          </a:p>
          <a:p>
            <a:pPr algn="l">
              <a:spcBef>
                <a:spcPts val="300"/>
              </a:spcBef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Consent, disclosure limits, data minimization,</a:t>
            </a:r>
          </a:p>
          <a:p>
            <a:pPr algn="l"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correlation and privacy boundaries.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346905-C103-46BF-A7DC-C7A5379190EC}"/>
              </a:ext>
            </a:extLst>
          </p:cNvPr>
          <p:cNvSpPr>
            <a:spLocks noGrp="1"/>
          </p:cNvSpPr>
          <p:nvPr/>
        </p:nvSpPr>
        <p:spPr>
          <a:xfrm>
            <a:off x="5413248" y="822960"/>
            <a:ext cx="2176272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A4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103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Organization / Roles /</a:t>
            </a:r>
          </a:p>
          <a:p>
            <a:pPr algn="l">
              <a:buNone/>
            </a:pPr>
            <a:r>
              <a:rPr sz="7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Membership</a:t>
            </a:r>
          </a:p>
          <a:p>
            <a:pPr algn="l">
              <a:spcBef>
                <a:spcPts val="300"/>
              </a:spcBef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Organizational role models, membership,</a:t>
            </a:r>
          </a:p>
          <a:p>
            <a:pPr algn="l"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ownership and participation context.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6E32366-8414-40E6-AC2B-5E2670C0CA68}"/>
              </a:ext>
            </a:extLst>
          </p:cNvPr>
          <p:cNvSpPr>
            <a:spLocks noGrp="1"/>
          </p:cNvSpPr>
          <p:nvPr/>
        </p:nvSpPr>
        <p:spPr>
          <a:xfrm>
            <a:off x="7955279" y="822960"/>
            <a:ext cx="2176272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103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Standards / Profiles /</a:t>
            </a:r>
          </a:p>
          <a:p>
            <a:pPr algn="l">
              <a:buNone/>
            </a:pPr>
            <a:r>
              <a:rPr sz="7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Conformance</a:t>
            </a:r>
          </a:p>
          <a:p>
            <a:pPr algn="l">
              <a:spcBef>
                <a:spcPts val="300"/>
              </a:spcBef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Versioned profiles, schemas, interoperability</a:t>
            </a:r>
          </a:p>
          <a:p>
            <a:pPr algn="l">
              <a:buNone/>
            </a:pPr>
            <a:r>
              <a:rPr sz="780">
                <a:solidFill>
                  <a:srgbClr val="5D6572"/>
                </a:solidFill>
                <a:latin typeface="Aptos"/>
                <a:ea typeface="Aptos"/>
                <a:cs typeface="Aptos"/>
              </a:rPr>
              <a:t>mappings and conformance fixtures.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0C6A0BE-F613-4A87-8E10-170B5526BA7F}"/>
              </a:ext>
            </a:extLst>
          </p:cNvPr>
          <p:cNvSpPr>
            <a:spLocks noGrp="1"/>
          </p:cNvSpPr>
          <p:nvPr/>
        </p:nvSpPr>
        <p:spPr>
          <a:xfrm>
            <a:off x="310896" y="1810512"/>
            <a:ext cx="2084831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Identity / Principal Binding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A57CD3A-EF42-40EE-8F66-AA4080EF7077}"/>
              </a:ext>
            </a:extLst>
          </p:cNvPr>
          <p:cNvSpPr>
            <a:spLocks noGrp="1"/>
          </p:cNvSpPr>
          <p:nvPr/>
        </p:nvSpPr>
        <p:spPr>
          <a:xfrm>
            <a:off x="310896" y="2587752"/>
            <a:ext cx="2084831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Delegated Authority / Capability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6E39C68-3AEF-45DF-A433-ED7D48E872FA}"/>
              </a:ext>
            </a:extLst>
          </p:cNvPr>
          <p:cNvSpPr>
            <a:spLocks noGrp="1"/>
          </p:cNvSpPr>
          <p:nvPr/>
        </p:nvSpPr>
        <p:spPr>
          <a:xfrm>
            <a:off x="310896" y="3364992"/>
            <a:ext cx="2084831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Policy / Intent / Authorization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ED343FD-B334-42B7-902F-89BB24921EF4}"/>
              </a:ext>
            </a:extLst>
          </p:cNvPr>
          <p:cNvSpPr>
            <a:spLocks noGrp="1"/>
          </p:cNvSpPr>
          <p:nvPr/>
        </p:nvSpPr>
        <p:spPr>
          <a:xfrm>
            <a:off x="310896" y="4142232"/>
            <a:ext cx="2084831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17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Remote Attestation / Runtime Integrity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DB27AEF-1C20-41EF-B049-F5B0D28B0629}"/>
              </a:ext>
            </a:extLst>
          </p:cNvPr>
          <p:cNvSpPr>
            <a:spLocks noGrp="1"/>
          </p:cNvSpPr>
          <p:nvPr/>
        </p:nvSpPr>
        <p:spPr>
          <a:xfrm>
            <a:off x="310896" y="4919472"/>
            <a:ext cx="2084831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Agent Discovery / Capabilities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DD08544-774F-4A0B-A390-671FD32B00CE}"/>
              </a:ext>
            </a:extLst>
          </p:cNvPr>
          <p:cNvSpPr>
            <a:spLocks noGrp="1"/>
          </p:cNvSpPr>
          <p:nvPr/>
        </p:nvSpPr>
        <p:spPr>
          <a:xfrm>
            <a:off x="310896" y="5696712"/>
            <a:ext cx="2084831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Memory / Context Provenance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2D554E7-12B8-48D7-AD51-6B22E2340716}"/>
              </a:ext>
            </a:extLst>
          </p:cNvPr>
          <p:cNvSpPr>
            <a:spLocks noGrp="1"/>
          </p:cNvSpPr>
          <p:nvPr/>
        </p:nvSpPr>
        <p:spPr>
          <a:xfrm>
            <a:off x="9555480" y="1810512"/>
            <a:ext cx="2240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D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A2A / Messaging / Interoperability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DD466A7-5C37-4469-927A-6CD06BDCDE00}"/>
              </a:ext>
            </a:extLst>
          </p:cNvPr>
          <p:cNvSpPr>
            <a:spLocks noGrp="1"/>
          </p:cNvSpPr>
          <p:nvPr/>
        </p:nvSpPr>
        <p:spPr>
          <a:xfrm>
            <a:off x="9555480" y="2587752"/>
            <a:ext cx="2240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17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Trust / Reputation / Corroboration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8AE9B10-69CC-4C51-9933-B1CEBDFB23A8}"/>
              </a:ext>
            </a:extLst>
          </p:cNvPr>
          <p:cNvSpPr>
            <a:spLocks noGrp="1"/>
          </p:cNvSpPr>
          <p:nvPr/>
        </p:nvSpPr>
        <p:spPr>
          <a:xfrm>
            <a:off x="9555480" y="3364992"/>
            <a:ext cx="2240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17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Shared Signals / Warnings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99288BB-C11C-471F-A31C-1D259469C166}"/>
              </a:ext>
            </a:extLst>
          </p:cNvPr>
          <p:cNvSpPr>
            <a:spLocks noGrp="1"/>
          </p:cNvSpPr>
          <p:nvPr/>
        </p:nvSpPr>
        <p:spPr>
          <a:xfrm>
            <a:off x="9555480" y="4142232"/>
            <a:ext cx="2240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17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Defense / Blast Radius / Containment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1981E61-D988-40CC-BDDD-0FB68638B280}"/>
              </a:ext>
            </a:extLst>
          </p:cNvPr>
          <p:cNvSpPr>
            <a:spLocks noGrp="1"/>
          </p:cNvSpPr>
          <p:nvPr/>
        </p:nvSpPr>
        <p:spPr>
          <a:xfrm>
            <a:off x="9555480" y="4919472"/>
            <a:ext cx="2240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17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Incentives / Accountability / Inspection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616CFA2-3D76-4EBA-B7C0-7DBB4495C462}"/>
              </a:ext>
            </a:extLst>
          </p:cNvPr>
          <p:cNvSpPr>
            <a:spLocks noGrp="1"/>
          </p:cNvSpPr>
          <p:nvPr/>
        </p:nvSpPr>
        <p:spPr>
          <a:xfrm>
            <a:off x="9555480" y="5696712"/>
            <a:ext cx="2240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Lifecycle / Session / Resolution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D7ACA73-78C5-4DA4-9230-03732A2BF911}"/>
              </a:ext>
            </a:extLst>
          </p:cNvPr>
          <p:cNvSpPr>
            <a:spLocks noGrp="1"/>
          </p:cNvSpPr>
          <p:nvPr/>
        </p:nvSpPr>
        <p:spPr>
          <a:xfrm>
            <a:off x="2761488" y="5687568"/>
            <a:ext cx="132588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6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Tool &amp; Action</a:t>
            </a:r>
          </a:p>
          <a:p>
            <a:pPr algn="l">
              <a:buNone/>
            </a:pPr>
            <a:r>
              <a:rPr sz="8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9866764-FF1A-41FA-B4CD-6076BEE85889}"/>
              </a:ext>
            </a:extLst>
          </p:cNvPr>
          <p:cNvSpPr>
            <a:spLocks noGrp="1"/>
          </p:cNvSpPr>
          <p:nvPr/>
        </p:nvSpPr>
        <p:spPr>
          <a:xfrm>
            <a:off x="4315968" y="5687568"/>
            <a:ext cx="132588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6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Human</a:t>
            </a:r>
          </a:p>
          <a:p>
            <a:pPr algn="l">
              <a:buNone/>
            </a:pPr>
            <a:r>
              <a:rPr sz="8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Oversight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F592D59-8754-47FF-A51C-145587FEC31A}"/>
              </a:ext>
            </a:extLst>
          </p:cNvPr>
          <p:cNvSpPr>
            <a:spLocks noGrp="1"/>
          </p:cNvSpPr>
          <p:nvPr/>
        </p:nvSpPr>
        <p:spPr>
          <a:xfrm>
            <a:off x="5907024" y="5687568"/>
            <a:ext cx="132588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17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Observability /</a:t>
            </a:r>
          </a:p>
          <a:p>
            <a:pPr algn="l">
              <a:buNone/>
            </a:pPr>
            <a:r>
              <a:rPr sz="8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Telemetry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ED2D0A6-8B69-4209-A953-84099DF96232}"/>
              </a:ext>
            </a:extLst>
          </p:cNvPr>
          <p:cNvSpPr>
            <a:spLocks noGrp="1"/>
          </p:cNvSpPr>
          <p:nvPr/>
        </p:nvSpPr>
        <p:spPr>
          <a:xfrm>
            <a:off x="7525512" y="5687568"/>
            <a:ext cx="132588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6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t"/>
          <a:lstStyle/>
          <a:p>
            <a:pPr algn="l">
              <a:buNone/>
            </a:pPr>
            <a:r>
              <a:rPr sz="98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Execution</a:t>
            </a:r>
          </a:p>
          <a:p>
            <a:pPr algn="l">
              <a:buNone/>
            </a:pPr>
            <a:r>
              <a:rPr sz="800" b="1">
                <a:solidFill>
                  <a:srgbClr val="282828"/>
                </a:solidFill>
                <a:latin typeface="Aptos"/>
                <a:ea typeface="Aptos"/>
                <a:cs typeface="Aptos"/>
              </a:rPr>
              <a:t>Outcome / Receipts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230E1E-F3E2-4A2E-AF13-D38B9C0795E8}"/>
              </a:ext>
            </a:extLst>
          </p:cNvPr>
          <p:cNvSpPr>
            <a:spLocks noGrp="1"/>
          </p:cNvSpPr>
          <p:nvPr/>
        </p:nvSpPr>
        <p:spPr>
          <a:xfrm>
            <a:off x="2724912" y="6400800"/>
            <a:ext cx="6903720" cy="146304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2BD233C-1719-47C3-BFDD-CED09062B0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814F5A-9F02-4AE0-AF83-79EC5E849B56}"/>
              </a:ext>
            </a:extLst>
          </p:cNvPr>
          <p:cNvSpPr>
            <a:spLocks noGrp="1"/>
          </p:cNvSpPr>
          <p:nvPr/>
        </p:nvSpPr>
        <p:spPr>
          <a:xfrm>
            <a:off x="292608" y="237744"/>
            <a:ext cx="10972800" cy="359073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282828"/>
                </a:solidFill>
                <a:latin typeface="Aptos"/>
                <a:ea typeface="Aptos"/>
                <a:cs typeface="Aptos"/>
                <a:hlinkClick r:id="rId3"/>
              </a:rPr>
              <a:t>Ecosystem Positioning Architecture — Extended Situational Core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309E72-8CFB-4008-AFEB-1B37340134A5}"/>
              </a:ext>
            </a:extLst>
          </p:cNvPr>
          <p:cNvSpPr>
            <a:spLocks noGrp="1"/>
          </p:cNvSpPr>
          <p:nvPr/>
        </p:nvSpPr>
        <p:spPr>
          <a:xfrm>
            <a:off x="292608" y="530352"/>
            <a:ext cx="10972800" cy="1371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buNone/>
            </a:pPr>
            <a:r>
              <a:rPr sz="1019" b="0">
                <a:solidFill>
                  <a:srgbClr val="5D6572"/>
                </a:solidFill>
                <a:latin typeface="Aptos"/>
                <a:ea typeface="Aptos"/>
                <a:cs typeface="Aptos"/>
              </a:rPr>
              <a:t>Agentic-AI, decentralized-identity (DIF) and ecosystem-defense components around one core: Ecosystem Positioning.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BB55AFC-8860-4DC4-82F0-CE43981B1332}"/>
              </a:ext>
            </a:extLst>
          </p:cNvPr>
          <p:cNvSpPr>
            <a:spLocks noGrp="1"/>
          </p:cNvSpPr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4DBB4B-5E31-44A6-A694-AA9AE44FF6A3}"/>
              </a:ext>
            </a:extLst>
          </p:cNvPr>
          <p:cNvSpPr>
            <a:spLocks noGrp="1"/>
          </p:cNvSpPr>
          <p:nvPr/>
        </p:nvSpPr>
        <p:spPr>
          <a:xfrm>
            <a:off x="2834640" y="6382512"/>
            <a:ext cx="6537960" cy="16459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buNone/>
            </a:pPr>
            <a:r>
              <a:rPr sz="880" b="0">
                <a:solidFill>
                  <a:srgbClr val="5D6572"/>
                </a:solidFill>
                <a:latin typeface="Aptos"/>
                <a:ea typeface="Aptos"/>
                <a:cs typeface="Aptos"/>
              </a:rPr>
              <a:t>Reading rule: outer boxes are familiar agentic-AI capabilities. Positioning composes their decision-relevant state into a participant-local frame and requests requalification; owners decide.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815D9E-1456-4348-B01B-9AB03858B678}"/>
              </a:ext>
            </a:extLst>
          </p:cNvPr>
          <p:cNvSpPr>
            <a:spLocks noGrp="1"/>
          </p:cNvSpPr>
          <p:nvPr/>
        </p:nvSpPr>
        <p:spPr>
          <a:xfrm>
            <a:off x="11018520" y="6547104"/>
            <a:ext cx="320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>
                <a:solidFill>
                  <a:srgbClr val="5D6775"/>
                </a:solidFill>
                <a:latin typeface="Aptos"/>
              </a:rPr>
              <a:t>6</a:t>
            </a:r>
          </a:p>
        </p:txBody>
      </p:sp>
      <p:sp>
        <p:nvSpPr>
          <p:cNvPr id="101" name="Spoke L">
            <a:extLst>
              <a:ext uri="{FF2B5EF4-FFF2-40B4-BE49-F238E27FC236}">
                <a16:creationId xmlns:a16="http://schemas.microsoft.com/office/drawing/2014/main" id="{6DEF5231-E5AB-48AA-A904-ABD7C227E67C}"/>
              </a:ext>
            </a:extLst>
          </p:cNvPr>
          <p:cNvSpPr>
            <a:spLocks noGrp="1"/>
          </p:cNvSpPr>
          <p:nvPr/>
        </p:nvSpPr>
        <p:spPr>
          <a:xfrm>
            <a:off x="2395728" y="2093976"/>
            <a:ext cx="1975104" cy="329184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Spoke R">
            <a:extLst>
              <a:ext uri="{FF2B5EF4-FFF2-40B4-BE49-F238E27FC236}">
                <a16:creationId xmlns:a16="http://schemas.microsoft.com/office/drawing/2014/main" id="{685027F5-76F7-48A5-9861-E3A82B4A6526}"/>
              </a:ext>
            </a:extLst>
          </p:cNvPr>
          <p:cNvSpPr>
            <a:spLocks noGrp="1"/>
          </p:cNvSpPr>
          <p:nvPr/>
        </p:nvSpPr>
        <p:spPr>
          <a:xfrm flipH="1">
            <a:off x="7571232" y="2093976"/>
            <a:ext cx="1984248" cy="329184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Spoke L">
            <a:extLst>
              <a:ext uri="{FF2B5EF4-FFF2-40B4-BE49-F238E27FC236}">
                <a16:creationId xmlns:a16="http://schemas.microsoft.com/office/drawing/2014/main" id="{BDF05B2C-0FF4-463B-B787-5279F2983550}"/>
              </a:ext>
            </a:extLst>
          </p:cNvPr>
          <p:cNvSpPr>
            <a:spLocks noGrp="1"/>
          </p:cNvSpPr>
          <p:nvPr/>
        </p:nvSpPr>
        <p:spPr>
          <a:xfrm>
            <a:off x="2395728" y="2871216"/>
            <a:ext cx="1975104" cy="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Spoke R">
            <a:extLst>
              <a:ext uri="{FF2B5EF4-FFF2-40B4-BE49-F238E27FC236}">
                <a16:creationId xmlns:a16="http://schemas.microsoft.com/office/drawing/2014/main" id="{C1ECA60C-3210-48A9-84B8-7A5AC1129D03}"/>
              </a:ext>
            </a:extLst>
          </p:cNvPr>
          <p:cNvSpPr>
            <a:spLocks noGrp="1"/>
          </p:cNvSpPr>
          <p:nvPr/>
        </p:nvSpPr>
        <p:spPr>
          <a:xfrm flipH="1">
            <a:off x="7571232" y="2871216"/>
            <a:ext cx="1984248" cy="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Spoke L">
            <a:extLst>
              <a:ext uri="{FF2B5EF4-FFF2-40B4-BE49-F238E27FC236}">
                <a16:creationId xmlns:a16="http://schemas.microsoft.com/office/drawing/2014/main" id="{073DA238-C45A-49B7-8E71-859139C65523}"/>
              </a:ext>
            </a:extLst>
          </p:cNvPr>
          <p:cNvSpPr>
            <a:spLocks noGrp="1"/>
          </p:cNvSpPr>
          <p:nvPr/>
        </p:nvSpPr>
        <p:spPr>
          <a:xfrm>
            <a:off x="2395728" y="3648456"/>
            <a:ext cx="1975104" cy="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Spoke R">
            <a:extLst>
              <a:ext uri="{FF2B5EF4-FFF2-40B4-BE49-F238E27FC236}">
                <a16:creationId xmlns:a16="http://schemas.microsoft.com/office/drawing/2014/main" id="{0837DA7B-397B-4589-AB1D-6D79D45F8E8F}"/>
              </a:ext>
            </a:extLst>
          </p:cNvPr>
          <p:cNvSpPr>
            <a:spLocks noGrp="1"/>
          </p:cNvSpPr>
          <p:nvPr/>
        </p:nvSpPr>
        <p:spPr>
          <a:xfrm flipH="1">
            <a:off x="7571232" y="3648456"/>
            <a:ext cx="1984248" cy="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poke L">
            <a:extLst>
              <a:ext uri="{FF2B5EF4-FFF2-40B4-BE49-F238E27FC236}">
                <a16:creationId xmlns:a16="http://schemas.microsoft.com/office/drawing/2014/main" id="{CC3F3DA9-7138-41D8-8205-C5855399DA42}"/>
              </a:ext>
            </a:extLst>
          </p:cNvPr>
          <p:cNvSpPr>
            <a:spLocks noGrp="1"/>
          </p:cNvSpPr>
          <p:nvPr/>
        </p:nvSpPr>
        <p:spPr>
          <a:xfrm>
            <a:off x="2395728" y="4425696"/>
            <a:ext cx="1975104" cy="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Spoke R">
            <a:extLst>
              <a:ext uri="{FF2B5EF4-FFF2-40B4-BE49-F238E27FC236}">
                <a16:creationId xmlns:a16="http://schemas.microsoft.com/office/drawing/2014/main" id="{B2380F46-4E89-4032-98E4-9C171DFC2D55}"/>
              </a:ext>
            </a:extLst>
          </p:cNvPr>
          <p:cNvSpPr>
            <a:spLocks noGrp="1"/>
          </p:cNvSpPr>
          <p:nvPr/>
        </p:nvSpPr>
        <p:spPr>
          <a:xfrm flipH="1">
            <a:off x="7571232" y="4425696"/>
            <a:ext cx="1984248" cy="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Spoke L">
            <a:extLst>
              <a:ext uri="{FF2B5EF4-FFF2-40B4-BE49-F238E27FC236}">
                <a16:creationId xmlns:a16="http://schemas.microsoft.com/office/drawing/2014/main" id="{4F788A74-0BDD-4767-8268-1135FB9D99AD}"/>
              </a:ext>
            </a:extLst>
          </p:cNvPr>
          <p:cNvSpPr>
            <a:spLocks noGrp="1"/>
          </p:cNvSpPr>
          <p:nvPr/>
        </p:nvSpPr>
        <p:spPr>
          <a:xfrm flipV="1">
            <a:off x="2395728" y="4636008"/>
            <a:ext cx="1975104" cy="566928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poke R">
            <a:extLst>
              <a:ext uri="{FF2B5EF4-FFF2-40B4-BE49-F238E27FC236}">
                <a16:creationId xmlns:a16="http://schemas.microsoft.com/office/drawing/2014/main" id="{69893DC1-F0F3-4F99-A871-9AB6BDC06177}"/>
              </a:ext>
            </a:extLst>
          </p:cNvPr>
          <p:cNvSpPr>
            <a:spLocks noGrp="1"/>
          </p:cNvSpPr>
          <p:nvPr/>
        </p:nvSpPr>
        <p:spPr>
          <a:xfrm flipH="1" flipV="1">
            <a:off x="7571232" y="4636008"/>
            <a:ext cx="1984248" cy="566928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Spoke L">
            <a:extLst>
              <a:ext uri="{FF2B5EF4-FFF2-40B4-BE49-F238E27FC236}">
                <a16:creationId xmlns:a16="http://schemas.microsoft.com/office/drawing/2014/main" id="{82F661A7-D742-46D3-8DCB-3BFC5BD6ED70}"/>
              </a:ext>
            </a:extLst>
          </p:cNvPr>
          <p:cNvSpPr>
            <a:spLocks noGrp="1"/>
          </p:cNvSpPr>
          <p:nvPr/>
        </p:nvSpPr>
        <p:spPr>
          <a:xfrm flipV="1">
            <a:off x="2395728" y="4636008"/>
            <a:ext cx="1975104" cy="1344168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poke R">
            <a:extLst>
              <a:ext uri="{FF2B5EF4-FFF2-40B4-BE49-F238E27FC236}">
                <a16:creationId xmlns:a16="http://schemas.microsoft.com/office/drawing/2014/main" id="{7A4D5E6E-126A-49AE-A82C-64D91941C743}"/>
              </a:ext>
            </a:extLst>
          </p:cNvPr>
          <p:cNvSpPr>
            <a:spLocks noGrp="1"/>
          </p:cNvSpPr>
          <p:nvPr/>
        </p:nvSpPr>
        <p:spPr>
          <a:xfrm flipH="1" flipV="1">
            <a:off x="7571232" y="4636008"/>
            <a:ext cx="1984248" cy="1344168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Spoke T">
            <a:extLst>
              <a:ext uri="{FF2B5EF4-FFF2-40B4-BE49-F238E27FC236}">
                <a16:creationId xmlns:a16="http://schemas.microsoft.com/office/drawing/2014/main" id="{3933FA16-3DF4-4A12-BC2F-678C4A4F378C}"/>
              </a:ext>
            </a:extLst>
          </p:cNvPr>
          <p:cNvSpPr>
            <a:spLocks noGrp="1"/>
          </p:cNvSpPr>
          <p:nvPr/>
        </p:nvSpPr>
        <p:spPr>
          <a:xfrm>
            <a:off x="1408176" y="1499616"/>
            <a:ext cx="3328416" cy="603504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Spoke T">
            <a:extLst>
              <a:ext uri="{FF2B5EF4-FFF2-40B4-BE49-F238E27FC236}">
                <a16:creationId xmlns:a16="http://schemas.microsoft.com/office/drawing/2014/main" id="{147A7F0B-FF2F-4851-A3D4-0B049360EF6C}"/>
              </a:ext>
            </a:extLst>
          </p:cNvPr>
          <p:cNvSpPr>
            <a:spLocks noGrp="1"/>
          </p:cNvSpPr>
          <p:nvPr/>
        </p:nvSpPr>
        <p:spPr>
          <a:xfrm>
            <a:off x="3950208" y="1499616"/>
            <a:ext cx="786384" cy="603504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Spoke T">
            <a:extLst>
              <a:ext uri="{FF2B5EF4-FFF2-40B4-BE49-F238E27FC236}">
                <a16:creationId xmlns:a16="http://schemas.microsoft.com/office/drawing/2014/main" id="{E3D6500A-28F7-4948-976E-CD38EFB83646}"/>
              </a:ext>
            </a:extLst>
          </p:cNvPr>
          <p:cNvSpPr>
            <a:spLocks noGrp="1"/>
          </p:cNvSpPr>
          <p:nvPr/>
        </p:nvSpPr>
        <p:spPr>
          <a:xfrm>
            <a:off x="6501384" y="1499616"/>
            <a:ext cx="0" cy="603504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poke T">
            <a:extLst>
              <a:ext uri="{FF2B5EF4-FFF2-40B4-BE49-F238E27FC236}">
                <a16:creationId xmlns:a16="http://schemas.microsoft.com/office/drawing/2014/main" id="{4F82C2EC-7585-4C4E-9F52-86A81149630E}"/>
              </a:ext>
            </a:extLst>
          </p:cNvPr>
          <p:cNvSpPr>
            <a:spLocks noGrp="1"/>
          </p:cNvSpPr>
          <p:nvPr/>
        </p:nvSpPr>
        <p:spPr>
          <a:xfrm flipH="1">
            <a:off x="7205472" y="1499616"/>
            <a:ext cx="1837944" cy="603504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poke B">
            <a:extLst>
              <a:ext uri="{FF2B5EF4-FFF2-40B4-BE49-F238E27FC236}">
                <a16:creationId xmlns:a16="http://schemas.microsoft.com/office/drawing/2014/main" id="{52A1FD36-6D8B-48E5-A251-C3458542D7A2}"/>
              </a:ext>
            </a:extLst>
          </p:cNvPr>
          <p:cNvSpPr>
            <a:spLocks noGrp="1"/>
          </p:cNvSpPr>
          <p:nvPr/>
        </p:nvSpPr>
        <p:spPr>
          <a:xfrm flipV="1">
            <a:off x="3424428" y="4956048"/>
            <a:ext cx="1312164" cy="73152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poke B">
            <a:extLst>
              <a:ext uri="{FF2B5EF4-FFF2-40B4-BE49-F238E27FC236}">
                <a16:creationId xmlns:a16="http://schemas.microsoft.com/office/drawing/2014/main" id="{4B77709C-4E23-413A-AEE6-75C6928AE127}"/>
              </a:ext>
            </a:extLst>
          </p:cNvPr>
          <p:cNvSpPr>
            <a:spLocks noGrp="1"/>
          </p:cNvSpPr>
          <p:nvPr/>
        </p:nvSpPr>
        <p:spPr>
          <a:xfrm flipV="1">
            <a:off x="4978908" y="4956048"/>
            <a:ext cx="0" cy="73152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poke B">
            <a:extLst>
              <a:ext uri="{FF2B5EF4-FFF2-40B4-BE49-F238E27FC236}">
                <a16:creationId xmlns:a16="http://schemas.microsoft.com/office/drawing/2014/main" id="{C61F39E2-F436-4E8B-A846-F6088ABC77D4}"/>
              </a:ext>
            </a:extLst>
          </p:cNvPr>
          <p:cNvSpPr>
            <a:spLocks noGrp="1"/>
          </p:cNvSpPr>
          <p:nvPr/>
        </p:nvSpPr>
        <p:spPr>
          <a:xfrm flipV="1">
            <a:off x="6569964" y="4956048"/>
            <a:ext cx="0" cy="73152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poke B">
            <a:extLst>
              <a:ext uri="{FF2B5EF4-FFF2-40B4-BE49-F238E27FC236}">
                <a16:creationId xmlns:a16="http://schemas.microsoft.com/office/drawing/2014/main" id="{9275322F-5162-457F-8F7B-85FE11BA9BB8}"/>
              </a:ext>
            </a:extLst>
          </p:cNvPr>
          <p:cNvSpPr>
            <a:spLocks noGrp="1"/>
          </p:cNvSpPr>
          <p:nvPr/>
        </p:nvSpPr>
        <p:spPr>
          <a:xfrm flipH="1" flipV="1">
            <a:off x="7205472" y="4956048"/>
            <a:ext cx="982980" cy="731520"/>
          </a:xfrm>
          <a:prstGeom prst="line">
            <a:avLst/>
          </a:prstGeom>
          <a:ln w="12700">
            <a:solidFill>
              <a:srgbClr val="A0A8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Hub Ecosystem Positioning">
            <a:extLst>
              <a:ext uri="{FF2B5EF4-FFF2-40B4-BE49-F238E27FC236}">
                <a16:creationId xmlns:a16="http://schemas.microsoft.com/office/drawing/2014/main" id="{41D40484-C4DC-4CBB-8242-83EE6BF6B9D2}"/>
              </a:ext>
            </a:extLst>
          </p:cNvPr>
          <p:cNvSpPr>
            <a:spLocks noGrp="1"/>
          </p:cNvSpPr>
          <p:nvPr/>
        </p:nvSpPr>
        <p:spPr>
          <a:xfrm>
            <a:off x="4370832" y="2103120"/>
            <a:ext cx="3200400" cy="2852928"/>
          </a:xfrm>
          <a:prstGeom prst="roundRect">
            <a:avLst>
              <a:gd name="adj" fmla="val 10000"/>
            </a:avLst>
          </a:prstGeom>
          <a:solidFill>
            <a:srgbClr val="ECF4F9"/>
          </a:solidFill>
          <a:ln w="27940">
            <a:solidFill>
              <a:srgbClr val="4682DC"/>
            </a:solidFill>
          </a:ln>
        </p:spPr>
        <p:txBody>
          <a:bodyPr wrap="square" lIns="64008" tIns="45720" rIns="64008" bIns="45720" anchor="t">
            <a:noAutofit/>
          </a:bodyPr>
          <a:lstStyle/>
          <a:p>
            <a:endParaRPr sz="800"/>
          </a:p>
        </p:txBody>
      </p:sp>
      <p:sp>
        <p:nvSpPr>
          <p:cNvPr id="53" name="Hub title">
            <a:extLst>
              <a:ext uri="{FF2B5EF4-FFF2-40B4-BE49-F238E27FC236}">
                <a16:creationId xmlns:a16="http://schemas.microsoft.com/office/drawing/2014/main" id="{64C5EBA2-3938-4FBB-B72F-999F6E38CCAC}"/>
              </a:ext>
            </a:extLst>
          </p:cNvPr>
          <p:cNvSpPr>
            <a:spLocks noGrp="1"/>
          </p:cNvSpPr>
          <p:nvPr/>
        </p:nvSpPr>
        <p:spPr>
          <a:xfrm>
            <a:off x="4462272" y="21945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82828"/>
                </a:solidFill>
                <a:latin typeface="Aptos"/>
                <a:ea typeface="Aptos"/>
                <a:cs typeface="Aptos"/>
                <a:hlinkClick r:id="rId4"/>
              </a:rPr>
              <a:t>Ecosystem Positioning</a:t>
            </a:r>
          </a:p>
        </p:txBody>
      </p:sp>
      <p:sp>
        <p:nvSpPr>
          <p:cNvPr id="122" name="Hub description">
            <a:extLst>
              <a:ext uri="{FF2B5EF4-FFF2-40B4-BE49-F238E27FC236}">
                <a16:creationId xmlns:a16="http://schemas.microsoft.com/office/drawing/2014/main" id="{8DF46EAF-E97E-4FBE-8D6F-AC6A10FE0E3C}"/>
              </a:ext>
            </a:extLst>
          </p:cNvPr>
          <p:cNvSpPr>
            <a:spLocks noGrp="1"/>
          </p:cNvSpPr>
          <p:nvPr/>
        </p:nvSpPr>
        <p:spPr>
          <a:xfrm>
            <a:off x="4535424" y="2505456"/>
            <a:ext cx="2871216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 i="0">
                <a:solidFill>
                  <a:srgbClr val="5D6572"/>
                </a:solidFill>
                <a:latin typeface="Aptos"/>
                <a:ea typeface="Aptos"/>
                <a:cs typeface="Aptos"/>
              </a:rPr>
              <a:t>Participant-local core: qualifies state, maps opportunity, requests transition; owners decide / act.</a:t>
            </a:r>
          </a:p>
        </p:txBody>
      </p:sp>
      <p:sp>
        <p:nvSpPr>
          <p:cNvPr id="123" name="Cycle arc 1">
            <a:extLst>
              <a:ext uri="{FF2B5EF4-FFF2-40B4-BE49-F238E27FC236}">
                <a16:creationId xmlns:a16="http://schemas.microsoft.com/office/drawing/2014/main" id="{1FE34E99-D956-4862-B5A9-F12EC2BF3699}"/>
              </a:ext>
            </a:extLst>
          </p:cNvPr>
          <p:cNvSpPr>
            <a:spLocks noGrp="1"/>
          </p:cNvSpPr>
          <p:nvPr/>
        </p:nvSpPr>
        <p:spPr>
          <a:xfrm>
            <a:off x="5422392" y="3172968"/>
            <a:ext cx="1097280" cy="1097280"/>
          </a:xfrm>
          <a:prstGeom prst="arc">
            <a:avLst>
              <a:gd name="adj1" fmla="val 16920000"/>
              <a:gd name="adj2" fmla="val 20880000"/>
            </a:avLst>
          </a:prstGeom>
          <a:noFill/>
          <a:ln w="44450">
            <a:solidFill>
              <a:srgbClr val="007B82"/>
            </a:solidFill>
            <a:tailEnd type="triangle" w="med" len="sm"/>
          </a:ln>
        </p:spPr>
        <p:txBody>
          <a:bodyPr/>
          <a:lstStyle/>
          <a:p>
            <a:endParaRPr/>
          </a:p>
        </p:txBody>
      </p:sp>
      <p:sp>
        <p:nvSpPr>
          <p:cNvPr id="124" name="Cycle arc 2">
            <a:extLst>
              <a:ext uri="{FF2B5EF4-FFF2-40B4-BE49-F238E27FC236}">
                <a16:creationId xmlns:a16="http://schemas.microsoft.com/office/drawing/2014/main" id="{B5BC55CB-6200-4FAD-9AFD-F15EAC6EE72A}"/>
              </a:ext>
            </a:extLst>
          </p:cNvPr>
          <p:cNvSpPr>
            <a:spLocks noGrp="1"/>
          </p:cNvSpPr>
          <p:nvPr/>
        </p:nvSpPr>
        <p:spPr>
          <a:xfrm>
            <a:off x="5422392" y="3172968"/>
            <a:ext cx="1097280" cy="1097280"/>
          </a:xfrm>
          <a:prstGeom prst="arc">
            <a:avLst>
              <a:gd name="adj1" fmla="val 720000"/>
              <a:gd name="adj2" fmla="val 4680000"/>
            </a:avLst>
          </a:prstGeom>
          <a:noFill/>
          <a:ln w="44450">
            <a:solidFill>
              <a:srgbClr val="4682DC"/>
            </a:solidFill>
            <a:tailEnd type="triangle" w="med" len="sm"/>
          </a:ln>
        </p:spPr>
        <p:txBody>
          <a:bodyPr/>
          <a:lstStyle/>
          <a:p>
            <a:endParaRPr/>
          </a:p>
        </p:txBody>
      </p:sp>
      <p:sp>
        <p:nvSpPr>
          <p:cNvPr id="125" name="Cycle arc 3">
            <a:extLst>
              <a:ext uri="{FF2B5EF4-FFF2-40B4-BE49-F238E27FC236}">
                <a16:creationId xmlns:a16="http://schemas.microsoft.com/office/drawing/2014/main" id="{0D5999F2-30A4-429D-A146-A2940D4A8D64}"/>
              </a:ext>
            </a:extLst>
          </p:cNvPr>
          <p:cNvSpPr>
            <a:spLocks noGrp="1"/>
          </p:cNvSpPr>
          <p:nvPr/>
        </p:nvSpPr>
        <p:spPr>
          <a:xfrm>
            <a:off x="5422392" y="3172968"/>
            <a:ext cx="1097280" cy="1097280"/>
          </a:xfrm>
          <a:prstGeom prst="arc">
            <a:avLst>
              <a:gd name="adj1" fmla="val 6120000"/>
              <a:gd name="adj2" fmla="val 10080000"/>
            </a:avLst>
          </a:prstGeom>
          <a:noFill/>
          <a:ln w="44450">
            <a:solidFill>
              <a:srgbClr val="C17629"/>
            </a:solidFill>
            <a:tailEnd type="triangle" w="med" len="sm"/>
          </a:ln>
        </p:spPr>
        <p:txBody>
          <a:bodyPr/>
          <a:lstStyle/>
          <a:p>
            <a:endParaRPr/>
          </a:p>
        </p:txBody>
      </p:sp>
      <p:sp>
        <p:nvSpPr>
          <p:cNvPr id="126" name="Cycle arc 4">
            <a:extLst>
              <a:ext uri="{FF2B5EF4-FFF2-40B4-BE49-F238E27FC236}">
                <a16:creationId xmlns:a16="http://schemas.microsoft.com/office/drawing/2014/main" id="{4808004D-831C-4D3E-9567-6599A44D4E7B}"/>
              </a:ext>
            </a:extLst>
          </p:cNvPr>
          <p:cNvSpPr>
            <a:spLocks noGrp="1"/>
          </p:cNvSpPr>
          <p:nvPr/>
        </p:nvSpPr>
        <p:spPr>
          <a:xfrm>
            <a:off x="5422392" y="3172968"/>
            <a:ext cx="1097280" cy="1097280"/>
          </a:xfrm>
          <a:prstGeom prst="arc">
            <a:avLst>
              <a:gd name="adj1" fmla="val 11520000"/>
              <a:gd name="adj2" fmla="val 15480000"/>
            </a:avLst>
          </a:prstGeom>
          <a:noFill/>
          <a:ln w="44450">
            <a:solidFill>
              <a:srgbClr val="1F2C4A"/>
            </a:solidFill>
            <a:tailEnd type="triangle" w="med" len="sm"/>
          </a:ln>
        </p:spPr>
        <p:txBody>
          <a:bodyPr/>
          <a:lstStyle/>
          <a:p>
            <a:endParaRPr/>
          </a:p>
        </p:txBody>
      </p:sp>
      <p:sp>
        <p:nvSpPr>
          <p:cNvPr id="128" name="Cycle centre">
            <a:extLst>
              <a:ext uri="{FF2B5EF4-FFF2-40B4-BE49-F238E27FC236}">
                <a16:creationId xmlns:a16="http://schemas.microsoft.com/office/drawing/2014/main" id="{2205A0E7-7B50-456E-B89A-F16931530039}"/>
              </a:ext>
            </a:extLst>
          </p:cNvPr>
          <p:cNvSpPr>
            <a:spLocks noGrp="1"/>
          </p:cNvSpPr>
          <p:nvPr/>
        </p:nvSpPr>
        <p:spPr>
          <a:xfrm>
            <a:off x="5513832" y="356616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4682DC"/>
                </a:solidFill>
                <a:latin typeface="Aptos"/>
                <a:ea typeface="Aptos"/>
                <a:cs typeface="Aptos"/>
              </a:rPr>
              <a:t>↻</a:t>
            </a:r>
          </a:p>
        </p:txBody>
      </p:sp>
      <p:sp>
        <p:nvSpPr>
          <p:cNvPr id="129" name="Stage Requalify">
            <a:extLst>
              <a:ext uri="{FF2B5EF4-FFF2-40B4-BE49-F238E27FC236}">
                <a16:creationId xmlns:a16="http://schemas.microsoft.com/office/drawing/2014/main" id="{ED2ECC73-D76D-46AC-AA78-A59A6EE20647}"/>
              </a:ext>
            </a:extLst>
          </p:cNvPr>
          <p:cNvSpPr>
            <a:spLocks noGrp="1"/>
          </p:cNvSpPr>
          <p:nvPr/>
        </p:nvSpPr>
        <p:spPr>
          <a:xfrm>
            <a:off x="5577840" y="2880360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007B82"/>
          </a:solidFill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Requalify</a:t>
            </a:r>
          </a:p>
        </p:txBody>
      </p:sp>
      <p:sp>
        <p:nvSpPr>
          <p:cNvPr id="130" name="Stage Reposition">
            <a:extLst>
              <a:ext uri="{FF2B5EF4-FFF2-40B4-BE49-F238E27FC236}">
                <a16:creationId xmlns:a16="http://schemas.microsoft.com/office/drawing/2014/main" id="{28BB7222-74C8-46F0-AD40-B2A32DCF61B7}"/>
              </a:ext>
            </a:extLst>
          </p:cNvPr>
          <p:cNvSpPr>
            <a:spLocks noGrp="1"/>
          </p:cNvSpPr>
          <p:nvPr/>
        </p:nvSpPr>
        <p:spPr>
          <a:xfrm>
            <a:off x="6601968" y="3611880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4682DC"/>
          </a:solidFill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31" name="Stage Act">
            <a:extLst>
              <a:ext uri="{FF2B5EF4-FFF2-40B4-BE49-F238E27FC236}">
                <a16:creationId xmlns:a16="http://schemas.microsoft.com/office/drawing/2014/main" id="{67F4247A-1603-4EC3-BAB0-8E5585B9E610}"/>
              </a:ext>
            </a:extLst>
          </p:cNvPr>
          <p:cNvSpPr>
            <a:spLocks noGrp="1"/>
          </p:cNvSpPr>
          <p:nvPr/>
        </p:nvSpPr>
        <p:spPr>
          <a:xfrm>
            <a:off x="5719572" y="4343400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C17629"/>
          </a:solidFill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132" name="Stage Observe">
            <a:extLst>
              <a:ext uri="{FF2B5EF4-FFF2-40B4-BE49-F238E27FC236}">
                <a16:creationId xmlns:a16="http://schemas.microsoft.com/office/drawing/2014/main" id="{9E2D046F-F60C-4BFD-8C26-E47FB1948038}"/>
              </a:ext>
            </a:extLst>
          </p:cNvPr>
          <p:cNvSpPr>
            <a:spLocks noGrp="1"/>
          </p:cNvSpPr>
          <p:nvPr/>
        </p:nvSpPr>
        <p:spPr>
          <a:xfrm>
            <a:off x="4553712" y="3611880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1F2C4A"/>
          </a:solidFill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133" name="Cycle caption">
            <a:extLst>
              <a:ext uri="{FF2B5EF4-FFF2-40B4-BE49-F238E27FC236}">
                <a16:creationId xmlns:a16="http://schemas.microsoft.com/office/drawing/2014/main" id="{494ABEAE-5239-4CE7-AC89-3B625F7F5809}"/>
              </a:ext>
            </a:extLst>
          </p:cNvPr>
          <p:cNvSpPr>
            <a:spLocks noGrp="1"/>
          </p:cNvSpPr>
          <p:nvPr/>
        </p:nvSpPr>
        <p:spPr>
          <a:xfrm>
            <a:off x="4507992" y="4663440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40" b="0" i="1">
                <a:solidFill>
                  <a:srgbClr val="4682DC"/>
                </a:solidFill>
                <a:latin typeface="Aptos"/>
                <a:ea typeface="Aptos"/>
                <a:cs typeface="Aptos"/>
              </a:rPr>
              <a:t>event / threshold / schedule driven · no global controller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6928" y="6510528"/>
            <a:ext cx="3566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1">
                <a:solidFill>
                  <a:srgbClr val="727A86"/>
                </a:solidFill>
                <a:latin typeface="Calibri"/>
              </a:rPr>
              <a:t>CORPUS ↗  </a:t>
            </a:r>
            <a:r>
              <a:rPr sz="680" b="0" u="sng">
                <a:solidFill>
                  <a:srgbClr val="2F6FB2"/>
                </a:solidFill>
                <a:latin typeface="Calibri"/>
                <a:hlinkClick r:id="rId3"/>
              </a:rPr>
              <a:t>Canonical topology</a:t>
            </a:r>
            <a:r>
              <a:rPr sz="680">
                <a:solidFill>
                  <a:srgbClr val="727A86"/>
                </a:solidFill>
                <a:latin typeface="Calibri"/>
              </a:rPr>
              <a:t>  ·  </a:t>
            </a:r>
            <a:r>
              <a:rPr sz="680" b="0" u="sng">
                <a:solidFill>
                  <a:srgbClr val="2F6FB2"/>
                </a:solidFill>
                <a:latin typeface="Calibri"/>
                <a:hlinkClick r:id="rId4"/>
              </a:rPr>
              <a:t>Ecosystem Positioning</a:t>
            </a:r>
          </a:p>
        </p:txBody>
      </p:sp>
    </p:spTree>
    <p:extLst>
      <p:ext uri="{BB962C8B-B14F-4D97-AF65-F5344CB8AC3E}">
        <p14:creationId xmlns:p14="http://schemas.microsoft.com/office/powerpoint/2010/main" val="266539471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1F2D3D"/>
                </a:solidFill>
                <a:latin typeface="Consolas"/>
              </a:rPr>
              <a:t>FG-TIDA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164592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F2D3D"/>
                </a:solidFill>
                <a:latin typeface="Consolas"/>
              </a:rPr>
              <a:t>§ 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57200"/>
            <a:ext cx="10835640" cy="10972"/>
          </a:xfrm>
          <a:prstGeom prst="rect">
            <a:avLst/>
          </a:prstGeom>
          <a:solidFill>
            <a:srgbClr val="24355B"/>
          </a:solidFill>
          <a:ln>
            <a:solidFill>
              <a:srgbClr val="24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0515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50" b="1">
                <a:solidFill>
                  <a:srgbClr val="24355B"/>
                </a:solidFill>
                <a:latin typeface="Cambria"/>
                <a:hlinkClick r:id="rId20"/>
              </a:rPr>
              <a:t>FG-TIDA — bounded application of the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0">
                <a:solidFill>
                  <a:srgbClr val="5D6775"/>
                </a:solidFill>
                <a:latin typeface="Calibri"/>
              </a:rPr>
              <a:t>The architecture is being projected into FG-TIDA as an explicit, evidence-bounded application route — without turning the general corpus into an FG-TIDA-specific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653796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50292" cy="3401568"/>
          </a:xfrm>
          <a:prstGeom prst="rect">
            <a:avLst/>
          </a:prstGeom>
          <a:solidFill>
            <a:srgbClr val="00848A"/>
          </a:solidFill>
          <a:ln>
            <a:solidFill>
              <a:srgbClr val="00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62087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4355B"/>
                </a:solidFill>
                <a:latin typeface="Cambria"/>
              </a:rPr>
              <a:t>What is being applied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39696"/>
            <a:ext cx="6208776" cy="2779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Calibri"/>
              </a:rPr>
              <a:t>Ecosystem Positioning supplies the participant-local architecture: awareness, positioning, signalling and bounded repositioning.
Ecosystem Awareness supplies the canonical requirements, epistemic qualification and programme-independent interface layer.
The FG-TIDA package then projects that general layer into a standards-facing application: charter/specification preparation, cross-Theme interfaces, cases, tests and provenance.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187952"/>
            <a:ext cx="1664208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70248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4355B"/>
                </a:solidFill>
                <a:latin typeface="Consolas"/>
              </a:rPr>
              <a:t>ECOSYSTEM
POSITIONING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53712"/>
            <a:ext cx="15179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0">
                <a:solidFill>
                  <a:srgbClr val="5D6775"/>
                </a:solidFill>
                <a:latin typeface="Calibri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4389120"/>
            <a:ext cx="228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4355B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4187952"/>
            <a:ext cx="1664208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2" y="4270248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0848A"/>
                </a:solidFill>
                <a:latin typeface="Consolas"/>
              </a:rPr>
              <a:t>ECOSYSTEM
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4553712"/>
            <a:ext cx="15179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0">
                <a:solidFill>
                  <a:srgbClr val="5D6775"/>
                </a:solidFill>
                <a:latin typeface="Calibri"/>
              </a:rPr>
              <a:t>requirements + 04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4389120"/>
            <a:ext cx="228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4355B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8032" y="4187952"/>
            <a:ext cx="1664208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1184" y="4270248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07800"/>
                </a:solidFill>
                <a:latin typeface="Consolas"/>
              </a:rPr>
              <a:t>FG-TIDA
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1184" y="4553712"/>
            <a:ext cx="15179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0">
                <a:solidFill>
                  <a:srgbClr val="5D6775"/>
                </a:solidFill>
                <a:latin typeface="Calibri"/>
              </a:rPr>
              <a:t>bounded projection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3488" y="1664208"/>
            <a:ext cx="406908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33488" y="1664208"/>
            <a:ext cx="50292" cy="3401568"/>
          </a:xfrm>
          <a:prstGeom prst="rect">
            <a:avLst/>
          </a:prstGeom>
          <a:solidFill>
            <a:srgbClr val="D07800"/>
          </a:solidFill>
          <a:ln>
            <a:solidFill>
              <a:srgbClr val="D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1810512"/>
            <a:ext cx="3739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4355B"/>
                </a:solidFill>
                <a:latin typeface="Cambria"/>
              </a:rPr>
              <a:t>Bounded by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139696"/>
            <a:ext cx="3739896" cy="2779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Calibri"/>
              </a:rPr>
              <a:t>• 04 remains programme-independent.
• 05 is the ideal FG-TIDA projection: the maximum coherent target mapping.
• 05A is the current-state bridge: only what the public / contributor-confirmed record presently supports; the rest remains candidate, test-only or not established.
• Charter and specification preparation do not imply FG-TIDA adoption, an established Working Group, an ITU-T deliverable or institutional endorsement.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321808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24355B"/>
                </a:solidFill>
                <a:latin typeface="Consolas"/>
              </a:rPr>
              <a:t>THREE DIRECT ROUTES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59552"/>
            <a:ext cx="3383280" cy="4206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623560"/>
            <a:ext cx="32735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>
                <a:solidFill>
                  <a:srgbClr val="24355B"/>
                </a:solidFill>
                <a:latin typeface="Calibri"/>
                <a:hlinkClick r:id="rId18"/>
              </a:rPr>
              <a:t>Ecosystem Positioning 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5559552"/>
            <a:ext cx="3383280" cy="4206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8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5623560"/>
            <a:ext cx="32735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>
                <a:solidFill>
                  <a:srgbClr val="00848A"/>
                </a:solidFill>
                <a:latin typeface="Calibri"/>
                <a:hlinkClick r:id="rId19"/>
              </a:rPr>
              <a:t>Ecosystem Awareness 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5559552"/>
            <a:ext cx="3154680" cy="4206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5623560"/>
            <a:ext cx="30449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>
                <a:solidFill>
                  <a:srgbClr val="D07800"/>
                </a:solidFill>
                <a:latin typeface="Calibri"/>
                <a:hlinkClick r:id="rId20"/>
              </a:rPr>
              <a:t>FG-TIDA application package 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236208"/>
            <a:ext cx="10835640" cy="10972"/>
          </a:xfrm>
          <a:prstGeom prst="rect">
            <a:avLst/>
          </a:prstGeom>
          <a:solidFill>
            <a:srgbClr val="24355B"/>
          </a:solidFill>
          <a:ln>
            <a:solidFill>
              <a:srgbClr val="24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6355080"/>
            <a:ext cx="3931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" b="0">
                <a:solidFill>
                  <a:srgbClr val="5D6775"/>
                </a:solidFill>
                <a:latin typeface="Consolas"/>
              </a:rPr>
              <a:t>Ecosystem Positioning · bounded FG-TIDA application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5952" y="6355080"/>
            <a:ext cx="2743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>
                <a:solidFill>
                  <a:srgbClr val="5D6775"/>
                </a:solidFill>
                <a:latin typeface="Aptos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3566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1">
                <a:solidFill>
                  <a:srgbClr val="727A86"/>
                </a:solidFill>
                <a:latin typeface="Calibri"/>
              </a:rPr>
              <a:t>CORPUS ↗  </a:t>
            </a:r>
            <a:r>
              <a:rPr sz="680" b="0" u="sng">
                <a:solidFill>
                  <a:srgbClr val="2F6FB2"/>
                </a:solidFill>
                <a:latin typeface="Calibri"/>
                <a:hlinkClick r:id="rId20"/>
              </a:rPr>
              <a:t>FG-TIDA application package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2727</Words>
  <Application>Microsoft Office PowerPoint</Application>
  <DocSecurity>0</DocSecurity>
  <PresentationFormat>Widescreen</PresentationFormat>
  <Paragraphs>377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Ecosystem Positioning for Agentic Systems — Canonical v1.0</dc:title>
  <dc:subject>Canonical visual router for Ecosystem Positioning</dc:subject>
  <dc:creator>Iván Abril Palma</dc:creator>
  <cp:keywords>Ecosystem Positioning; Ecosystem Awareness; Regime Awareness; MSCA; Structural Awareness; pre-standardization</cp:keywords>
  <dc:description>Canonical working proposal v1.0 — 23 September 2026</dc:description>
  <cp:lastModifiedBy>Ivan Abril Palma</cp:lastModifiedBy>
  <cp:revision>3</cp:revision>
  <dcterms:created xsi:type="dcterms:W3CDTF">2026-09-22T14:53:32Z</dcterms:created>
  <dcterms:modified xsi:type="dcterms:W3CDTF">2026-09-24T15:24:36Z</dcterms:modified>
</cp:coreProperties>
</file>