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8_3206139C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D4D544-A292-4829-B32B-F321090D9532}" name="Codex" initials="CX" userId="" providerId=""/>
  <p188:author id="{A1367D4F-5962-5773-E0CE-22E838CB07E5}" name="Ivan Abril Palma" initials="IA" userId="1518fb449b47511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9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2" y="4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comments/modernComment_108_320613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4C15A2-ECDF-4B3D-80AC-C9538538D0B9}" authorId="{A1367D4F-5962-5773-E0CE-22E838CB07E5}" created="2026-09-22T15:01:41.2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39259036" sldId="264"/>
      <ac:spMk id="24" creationId="{BC51F1D6-94A3-4910-949F-F7CF5EA7EA78}"/>
    </ac:deMkLst>
    <p188:txBody>
      <a:bodyPr/>
      <a:lstStyle/>
      <a:p>
        <a:r>
          <a:rPr lang="en-US"/>
          <a:t>Aquí debes explicar qué es FG TIDA en primer lugar que es de ITU, que es un focus group, etc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4AC05A-A514-42F8-9016-2E5D147A1C0F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1045952" cy="0"/>
          </a:xfrm>
          <a:prstGeom prst="line">
            <a:avLst/>
          </a:prstGeom>
          <a:noFill/>
          <a:ln w="19050">
            <a:solidFill>
              <a:srgbClr val="1B2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A3AA8-903F-4A9F-BD7E-F197175788E2}"/>
              </a:ext>
            </a:extLst>
          </p:cNvPr>
          <p:cNvSpPr>
            <a:spLocks noGrp="1"/>
          </p:cNvSpPr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8890">
            <a:solidFill>
              <a:srgbClr val="1B2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D5C33F-27A7-4571-BF55-2281985972E4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1045952" cy="0"/>
          </a:xfrm>
          <a:prstGeom prst="line">
            <a:avLst/>
          </a:prstGeom>
          <a:noFill/>
          <a:ln w="10160">
            <a:solidFill>
              <a:srgbClr val="1B2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7C5CD3-1C90-4DE4-AC10-83A6A6D3A474}"/>
              </a:ext>
            </a:extLst>
          </p:cNvPr>
          <p:cNvSpPr>
            <a:spLocks noGrp="1"/>
          </p:cNvSpPr>
          <p:nvPr/>
        </p:nvSpPr>
        <p:spPr>
          <a:xfrm>
            <a:off x="566928" y="6547104"/>
            <a:ext cx="32461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7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Tegrity.AI, part of The Integral Management Society</a:t>
            </a:r>
            <a:endParaRPr sz="67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0B3E1A-A271-4DB8-96AC-80B94A660E23}"/>
              </a:ext>
            </a:extLst>
          </p:cNvPr>
          <p:cNvSpPr>
            <a:spLocks noGrp="1"/>
          </p:cNvSpPr>
          <p:nvPr/>
        </p:nvSpPr>
        <p:spPr>
          <a:xfrm>
            <a:off x="4187952" y="6547104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7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Ecosystem Awareness · Positioning architecture</a:t>
            </a:r>
            <a:endParaRPr sz="67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58AFA47-6D7A-4B0F-8606-AF5E073936E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7F9CD0A-AACD-49F3-918C-789F249C6D5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dakleyer/structural-awareness-contributions/blob/main/research/ecosystem-awareness/baseline/00E_FAILURE_MODES_100M_TOKEN_COMPOUNDING_v0.1.md" TargetMode="External"/><Relationship Id="rId4" Type="http://schemas.openxmlformats.org/officeDocument/2006/relationships/hyperlink" Target="https://github.com/dakleyer/structural-awareness-contributions/blob/main/research/ecosystem-awareness/baseline/00F_FAILURE_MODE_SMART_CITY_MOBILITY_SYSTEMIC_DIVERGENCE_v0.1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microsoft.com/office/2018/10/relationships/comments" Target="../comments/modernComment_108_3206139C.xml"/></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10.xml" /><ns0:Relationship Id="rId3" Type="http://schemas.openxmlformats.org/officeDocument/2006/relationships/hyperlink" Target="https://github.com/dakleyer/structural-awareness-contributions/blob/main/README.md" TargetMode="External" /><ns0:Relationship Id="rId4" Type="http://schemas.openxmlformats.org/officeDocument/2006/relationships/hyperlink" Target="https://github.com/dakleyer/structural-awareness-contributions/blob/main/research/ecosystem-awareness/README.md" TargetMode="External" /><ns0:Relationship Id="rId5" Type="http://schemas.openxmlformats.org/officeDocument/2006/relationships/hyperlink" Target="https://github.com/dakleyer/structural-awareness-contributions/blob/main/standards/minimum-sufficient-control/README.md" TargetMode="External" /><ns0:Relationship Id="rId6" Type="http://schemas.openxmlformats.org/officeDocument/2006/relationships/hyperlink" Target="https://github.com/dakleyer/structural-awareness-contributions/blob/main/research/regime-awareness/README.md" TargetMode="External" /><ns0:Relationship Id="rId7" Type="http://schemas.openxmlformats.org/officeDocument/2006/relationships/hyperlink" Target="https://github.com/dakleyer/structural-awareness-contributions/blob/main/research/ecosystem-awareness/baseline/00D_CANONICAL_ARCHITECTURE_BENCHMARK_AND_REFERENCE_SCENARIO_EVIDENCE_v0.2.md" TargetMode="External" /><ns0:Relationship Id="rId8" Type="http://schemas.openxmlformats.org/officeDocument/2006/relationships/hyperlink" Target="https://github.com/FG-TIDA/themes" TargetMode="External" /><ns0:Relationship Id="rId9" Type="http://schemas.openxmlformats.org/officeDocument/2006/relationships/hyperlink" Target="https://github.com/dakleyer/structural-awareness-contributions/blob/main/README.md" TargetMode="Externa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45320-8569-4603-9390-6A9BA45F65C8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spc="16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THE INTEGRAL MANAGEMENT SOCIETY · GENEVA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4C1FD-9BE7-4172-8EB3-B600C9604AC5}"/>
              </a:ext>
            </a:extLst>
          </p:cNvPr>
          <p:cNvSpPr>
            <a:spLocks noGrp="1"/>
          </p:cNvSpPr>
          <p:nvPr/>
        </p:nvSpPr>
        <p:spPr>
          <a:xfrm>
            <a:off x="9795967" y="365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88B86075-DCCC-4A44-AD37-7FBEBF0D2087}"/>
              </a:ext>
            </a:extLst>
          </p:cNvPr>
          <p:cNvSpPr>
            <a:spLocks noGrp="1"/>
          </p:cNvSpPr>
          <p:nvPr/>
        </p:nvSpPr>
        <p:spPr>
          <a:xfrm>
            <a:off x="566928" y="713232"/>
            <a:ext cx="11057839" cy="0"/>
          </a:xfrm>
          <a:prstGeom prst="line">
            <a:avLst/>
          </a:prstGeom>
          <a:ln w="19050">
            <a:solidFill>
              <a:srgbClr val="D3D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CB3F87A0-9B7F-4CC6-AEBA-4ADB2ED68A79}"/>
              </a:ext>
            </a:extLst>
          </p:cNvPr>
          <p:cNvSpPr>
            <a:spLocks noGrp="1"/>
          </p:cNvSpPr>
          <p:nvPr/>
        </p:nvSpPr>
        <p:spPr>
          <a:xfrm>
            <a:off x="566928" y="763524"/>
            <a:ext cx="11057839" cy="0"/>
          </a:xfrm>
          <a:prstGeom prst="line">
            <a:avLst/>
          </a:prstGeom>
          <a:ln w="7620">
            <a:solidFill>
              <a:srgbClr val="D3D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3EE63B-CBBB-4CB1-AB43-C81ACB910CA5}"/>
              </a:ext>
            </a:extLst>
          </p:cNvPr>
          <p:cNvSpPr>
            <a:spLocks noGrp="1"/>
          </p:cNvSpPr>
          <p:nvPr/>
        </p:nvSpPr>
        <p:spPr>
          <a:xfrm>
            <a:off x="566928" y="1234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 spc="-30">
                <a:solidFill>
                  <a:srgbClr val="FCFCFD"/>
                </a:solidFill>
                <a:latin typeface="Cambria"/>
                <a:ea typeface="Cambria"/>
                <a:cs typeface="Cambria"/>
              </a:rPr>
              <a:t>Tegrity</a:t>
            </a:r>
            <a:r>
              <a:rPr sz="2100" b="1" i="0" spc="-30">
                <a:solidFill>
                  <a:srgbClr val="7FB2DE"/>
                </a:solidFill>
                <a:latin typeface="Cambria"/>
                <a:ea typeface="Cambria"/>
                <a:cs typeface="Cambria"/>
              </a:rPr>
              <a:t>.AI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B8D62-E8BB-4E19-A69A-7C23C3E24251}"/>
              </a:ext>
            </a:extLst>
          </p:cNvPr>
          <p:cNvSpPr>
            <a:spLocks noGrp="1"/>
          </p:cNvSpPr>
          <p:nvPr/>
        </p:nvSpPr>
        <p:spPr>
          <a:xfrm>
            <a:off x="566928" y="1783080"/>
            <a:ext cx="7040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4600" b="1" i="0" spc="-100">
                <a:solidFill>
                  <a:srgbClr val="FCFCFD"/>
                </a:solidFill>
                <a:latin typeface="Cambria"/>
                <a:ea typeface="Cambria"/>
                <a:cs typeface="Cambria"/>
              </a:rPr>
              <a:t>Ecosystem Positioning</a:t>
            </a:r>
          </a:p>
          <a:p>
            <a:pPr algn="l">
              <a:lnSpc>
                <a:spcPct val="95000"/>
              </a:lnSpc>
              <a:buNone/>
            </a:pPr>
            <a:r>
              <a:rPr sz="4600" b="1" i="0" spc="-100">
                <a:solidFill>
                  <a:srgbClr val="FCFCFD"/>
                </a:solidFill>
                <a:latin typeface="Cambria"/>
                <a:ea typeface="Cambria"/>
                <a:cs typeface="Cambria"/>
              </a:rPr>
              <a:t>for Agentic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FFF38-AB10-4A8D-82EC-580B75F79819}"/>
              </a:ext>
            </a:extLst>
          </p:cNvPr>
          <p:cNvSpPr>
            <a:spLocks noGrp="1"/>
          </p:cNvSpPr>
          <p:nvPr/>
        </p:nvSpPr>
        <p:spPr>
          <a:xfrm>
            <a:off x="566928" y="33832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 i="0">
                <a:solidFill>
                  <a:srgbClr val="CACDD3"/>
                </a:solidFill>
                <a:latin typeface="Calibri"/>
                <a:ea typeface="Calibri"/>
                <a:cs typeface="Calibri"/>
              </a:rPr>
              <a:t>A proposed architecture for participants that must stay situated, and requalify, as authority, evidence, roles and the ecosystem itself change.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D80915-4B47-4AED-B24B-784257D0C6FA}"/>
              </a:ext>
            </a:extLst>
          </p:cNvPr>
          <p:cNvSpPr>
            <a:spLocks noGrp="1"/>
          </p:cNvSpPr>
          <p:nvPr/>
        </p:nvSpPr>
        <p:spPr>
          <a:xfrm>
            <a:off x="630936" y="4928616"/>
            <a:ext cx="292608" cy="292608"/>
          </a:xfrm>
          <a:prstGeom prst="ellipse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16341C-B92E-4F9B-B4CA-A2BD3CF1B83C}"/>
              </a:ext>
            </a:extLst>
          </p:cNvPr>
          <p:cNvSpPr>
            <a:spLocks noGrp="1"/>
          </p:cNvSpPr>
          <p:nvPr/>
        </p:nvSpPr>
        <p:spPr>
          <a:xfrm>
            <a:off x="2560320" y="4937759"/>
            <a:ext cx="274320" cy="274320"/>
          </a:xfrm>
          <a:prstGeom prst="rect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407DF-E482-4DAA-8190-BCBEF679B05D}"/>
              </a:ext>
            </a:extLst>
          </p:cNvPr>
          <p:cNvSpPr>
            <a:spLocks noGrp="1"/>
          </p:cNvSpPr>
          <p:nvPr/>
        </p:nvSpPr>
        <p:spPr>
          <a:xfrm>
            <a:off x="4480559" y="4937759"/>
            <a:ext cx="274320" cy="274320"/>
          </a:xfrm>
          <a:prstGeom prst="rect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E96F78-EE96-491B-86E3-289BE64F5D29}"/>
              </a:ext>
            </a:extLst>
          </p:cNvPr>
          <p:cNvSpPr>
            <a:spLocks noGrp="1"/>
          </p:cNvSpPr>
          <p:nvPr/>
        </p:nvSpPr>
        <p:spPr>
          <a:xfrm>
            <a:off x="6400800" y="4937759"/>
            <a:ext cx="274320" cy="274320"/>
          </a:xfrm>
          <a:prstGeom prst="rect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C8EFA27D-7367-4FDD-8492-2D7BFD38E59C}"/>
              </a:ext>
            </a:extLst>
          </p:cNvPr>
          <p:cNvSpPr>
            <a:spLocks noGrp="1"/>
          </p:cNvSpPr>
          <p:nvPr/>
        </p:nvSpPr>
        <p:spPr>
          <a:xfrm>
            <a:off x="978408" y="5074920"/>
            <a:ext cx="1517904" cy="0"/>
          </a:xfrm>
          <a:prstGeom prst="line">
            <a:avLst/>
          </a:prstGeom>
          <a:ln w="12700">
            <a:solidFill>
              <a:srgbClr val="7FB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52460077-9A01-4EB7-8E4D-B20BEED93C72}"/>
              </a:ext>
            </a:extLst>
          </p:cNvPr>
          <p:cNvSpPr>
            <a:spLocks noGrp="1"/>
          </p:cNvSpPr>
          <p:nvPr/>
        </p:nvSpPr>
        <p:spPr>
          <a:xfrm>
            <a:off x="2898648" y="5074920"/>
            <a:ext cx="1517904" cy="0"/>
          </a:xfrm>
          <a:prstGeom prst="line">
            <a:avLst/>
          </a:prstGeom>
          <a:ln w="12700">
            <a:solidFill>
              <a:srgbClr val="7FB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A33DCA61-C02F-4ECB-836D-01059D11CA72}"/>
              </a:ext>
            </a:extLst>
          </p:cNvPr>
          <p:cNvSpPr>
            <a:spLocks noGrp="1"/>
          </p:cNvSpPr>
          <p:nvPr/>
        </p:nvSpPr>
        <p:spPr>
          <a:xfrm>
            <a:off x="4818888" y="5074920"/>
            <a:ext cx="1517904" cy="0"/>
          </a:xfrm>
          <a:prstGeom prst="line">
            <a:avLst/>
          </a:prstGeom>
          <a:ln w="12700">
            <a:solidFill>
              <a:srgbClr val="7FB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8AB46-338A-41D8-9072-2B79785B1B9F}"/>
              </a:ext>
            </a:extLst>
          </p:cNvPr>
          <p:cNvSpPr>
            <a:spLocks noGrp="1"/>
          </p:cNvSpPr>
          <p:nvPr/>
        </p:nvSpPr>
        <p:spPr>
          <a:xfrm>
            <a:off x="1188720" y="4782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triggers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E9A3CA-6531-4F27-B60A-D8193F71AF48}"/>
              </a:ext>
            </a:extLst>
          </p:cNvPr>
          <p:cNvSpPr>
            <a:spLocks noGrp="1"/>
          </p:cNvSpPr>
          <p:nvPr/>
        </p:nvSpPr>
        <p:spPr>
          <a:xfrm>
            <a:off x="3108960" y="4782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informs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604AD-BA4A-4398-BCC2-5B233B20FCAC}"/>
              </a:ext>
            </a:extLst>
          </p:cNvPr>
          <p:cNvSpPr>
            <a:spLocks noGrp="1"/>
          </p:cNvSpPr>
          <p:nvPr/>
        </p:nvSpPr>
        <p:spPr>
          <a:xfrm>
            <a:off x="5029200" y="4782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guides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24855-CA76-4EC6-A838-59A192F22622}"/>
              </a:ext>
            </a:extLst>
          </p:cNvPr>
          <p:cNvSpPr>
            <a:spLocks noGrp="1"/>
          </p:cNvSpPr>
          <p:nvPr/>
        </p:nvSpPr>
        <p:spPr>
          <a:xfrm>
            <a:off x="137160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CHANGE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FE189-58C0-40C4-9878-C5C5E1C230A6}"/>
              </a:ext>
            </a:extLst>
          </p:cNvPr>
          <p:cNvSpPr>
            <a:spLocks noGrp="1"/>
          </p:cNvSpPr>
          <p:nvPr/>
        </p:nvSpPr>
        <p:spPr>
          <a:xfrm>
            <a:off x="2057400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AWARENESS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CC274B-1102-4ED1-9240-F522FA0A70E4}"/>
              </a:ext>
            </a:extLst>
          </p:cNvPr>
          <p:cNvSpPr>
            <a:spLocks noGrp="1"/>
          </p:cNvSpPr>
          <p:nvPr/>
        </p:nvSpPr>
        <p:spPr>
          <a:xfrm>
            <a:off x="3977639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GRADIENT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849B5E-791B-46D2-B407-98F8694A420A}"/>
              </a:ext>
            </a:extLst>
          </p:cNvPr>
          <p:cNvSpPr>
            <a:spLocks noGrp="1"/>
          </p:cNvSpPr>
          <p:nvPr/>
        </p:nvSpPr>
        <p:spPr>
          <a:xfrm>
            <a:off x="5897880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REPOSITIONING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C8ED7C-AF29-45CC-94C6-AD5C455D53DF}"/>
              </a:ext>
            </a:extLst>
          </p:cNvPr>
          <p:cNvSpPr>
            <a:spLocks noGrp="1"/>
          </p:cNvSpPr>
          <p:nvPr/>
        </p:nvSpPr>
        <p:spPr>
          <a:xfrm>
            <a:off x="5440680" y="555040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signal ≠ command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39579E-1223-4732-A566-50EA4B906736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3621024" cy="3429000"/>
          </a:xfrm>
          <a:prstGeom prst="rect">
            <a:avLst/>
          </a:prstGeom>
          <a:solidFill>
            <a:srgbClr val="27324A"/>
          </a:solidFill>
          <a:ln w="7620">
            <a:solidFill>
              <a:srgbClr val="3F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077071-B7F3-409A-9E21-C4A07FC8B413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41148" cy="3429000"/>
          </a:xfrm>
          <a:prstGeom prst="rect">
            <a:avLst/>
          </a:prstGeom>
          <a:solidFill>
            <a:srgbClr val="7FB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7BBAD8-8C10-41B7-A960-401218E4901A}"/>
              </a:ext>
            </a:extLst>
          </p:cNvPr>
          <p:cNvSpPr>
            <a:spLocks noGrp="1"/>
          </p:cNvSpPr>
          <p:nvPr/>
        </p:nvSpPr>
        <p:spPr>
          <a:xfrm>
            <a:off x="8275320" y="162763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 spc="120">
                <a:solidFill>
                  <a:srgbClr val="9EC6E8"/>
                </a:solidFill>
                <a:latin typeface="Consolas"/>
                <a:ea typeface="Consolas"/>
                <a:cs typeface="Consolas"/>
              </a:rPr>
              <a:t>WORKING ARCHITECTURE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30DBCA-C598-4CBC-A2F8-927CD883B311}"/>
              </a:ext>
            </a:extLst>
          </p:cNvPr>
          <p:cNvSpPr>
            <a:spLocks noGrp="1"/>
          </p:cNvSpPr>
          <p:nvPr/>
        </p:nvSpPr>
        <p:spPr>
          <a:xfrm>
            <a:off x="8275320" y="1938528"/>
            <a:ext cx="316382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2000" b="1" i="0" spc="-20">
                <a:solidFill>
                  <a:srgbClr val="FCFCFD"/>
                </a:solidFill>
                <a:latin typeface="Cambria"/>
                <a:ea typeface="Cambria"/>
                <a:cs typeface="Cambria"/>
              </a:rPr>
              <a:t>Proposal stage.</a:t>
            </a:r>
          </a:p>
          <a:p>
            <a:pPr algn="l">
              <a:lnSpc>
                <a:spcPct val="98000"/>
              </a:lnSpc>
              <a:buNone/>
            </a:pPr>
            <a:r>
              <a:rPr sz="2000" b="1" i="0" spc="-20">
                <a:solidFill>
                  <a:srgbClr val="FCFCFD"/>
                </a:solidFill>
                <a:latin typeface="Cambria"/>
                <a:ea typeface="Cambria"/>
                <a:cs typeface="Cambria"/>
              </a:rPr>
              <a:t>Open for review.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0098D-5598-4259-9996-0A3CB712FBB0}"/>
              </a:ext>
            </a:extLst>
          </p:cNvPr>
          <p:cNvSpPr>
            <a:spLocks noGrp="1"/>
          </p:cNvSpPr>
          <p:nvPr/>
        </p:nvSpPr>
        <p:spPr>
          <a:xfrm>
            <a:off x="8275320" y="2788920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CACDD3"/>
                </a:solidFill>
                <a:latin typeface="Calibri"/>
                <a:ea typeface="Calibri"/>
                <a:cs typeface="Calibri"/>
              </a:rPr>
              <a:t>Ecosystem Awareness, Agentic Citizenship, Minimum Sufficient Control and Regime Change Detection coordinated around one participant-local situational core.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C1FE84-E727-4E00-89B0-AE684AE870BE}"/>
              </a:ext>
            </a:extLst>
          </p:cNvPr>
          <p:cNvSpPr>
            <a:spLocks noGrp="1"/>
          </p:cNvSpPr>
          <p:nvPr/>
        </p:nvSpPr>
        <p:spPr>
          <a:xfrm>
            <a:off x="8275320" y="4114800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850" b="0" i="0" spc="11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TEGRITY.AI / ECOSYSTEM AWARENESS</a:t>
            </a:r>
          </a:p>
          <a:p>
            <a:pPr algn="l">
              <a:lnSpc>
                <a:spcPct val="150000"/>
              </a:lnSpc>
              <a:buNone/>
            </a:pPr>
            <a:r>
              <a:rPr sz="850" b="0" i="0" spc="11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SEPTEMBER 2026 · WORKING PROPOSAL</a:t>
            </a:r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6E104162-6C42-4DC6-8D59-85A25DD63B37}"/>
              </a:ext>
            </a:extLst>
          </p:cNvPr>
          <p:cNvSpPr>
            <a:spLocks noGrp="1"/>
          </p:cNvSpPr>
          <p:nvPr/>
        </p:nvSpPr>
        <p:spPr>
          <a:xfrm>
            <a:off x="566928" y="6217920"/>
            <a:ext cx="11057839" cy="0"/>
          </a:xfrm>
          <a:prstGeom prst="line">
            <a:avLst/>
          </a:prstGeom>
          <a:ln w="6350">
            <a:solidFill>
              <a:srgbClr val="3A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88335A-EACF-4869-AAFE-DDC180BBBBBE}"/>
              </a:ext>
            </a:extLst>
          </p:cNvPr>
          <p:cNvSpPr>
            <a:spLocks noGrp="1"/>
          </p:cNvSpPr>
          <p:nvPr/>
        </p:nvSpPr>
        <p:spPr>
          <a:xfrm>
            <a:off x="566928" y="62910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800" b="0" i="0" spc="5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Ecosystem Awareness · Positioning architecture · Tegrity.AI, part of The Integral Management Society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16A0F1-7C69-469B-93BA-5C85695950E2}"/>
              </a:ext>
            </a:extLst>
          </p:cNvPr>
          <p:cNvSpPr>
            <a:spLocks noGrp="1"/>
          </p:cNvSpPr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71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9E3BDE-1284-4B1B-9B10-BFDC278B1E25}"/>
              </a:ext>
            </a:extLst>
          </p:cNvPr>
          <p:cNvSpPr>
            <a:spLocks noGrp="1"/>
          </p:cNvSpPr>
          <p:nvPr/>
        </p:nvSpPr>
        <p:spPr>
          <a:xfrm>
            <a:off x="566928" y="16459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SYSTEM BASELINE</a:t>
            </a:r>
            <a:endParaRPr sz="82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51A636-F99F-46F8-930F-3473466EB27B}"/>
              </a:ext>
            </a:extLst>
          </p:cNvPr>
          <p:cNvSpPr>
            <a:spLocks noGrp="1"/>
          </p:cNvSpPr>
          <p:nvPr/>
        </p:nvSpPr>
        <p:spPr>
          <a:xfrm>
            <a:off x="10927080" y="16459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§ 01</a:t>
            </a:r>
            <a:endParaRPr sz="82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B24B58-671A-4E32-9998-DD545763B10B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Current Reference Architecture for Agentic AI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145A4B-6146-4384-A88B-A42157ADB836}"/>
              </a:ext>
            </a:extLst>
          </p:cNvPr>
          <p:cNvSpPr>
            <a:spLocks noGrp="1"/>
          </p:cNvSpPr>
          <p:nvPr/>
        </p:nvSpPr>
        <p:spPr>
          <a:xfrm>
            <a:off x="566928" y="111556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A composite of current practice: the strong baseline EA is benchmarked against (arms B1/B2), not a strawman.</a:t>
            </a:r>
            <a:endParaRPr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FF3C8C-AFD8-4864-84BB-796E30E103A3}"/>
              </a:ext>
            </a:extLst>
          </p:cNvPr>
          <p:cNvSpPr>
            <a:spLocks noGrp="1"/>
          </p:cNvSpPr>
          <p:nvPr/>
        </p:nvSpPr>
        <p:spPr>
          <a:xfrm>
            <a:off x="594360" y="159105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CONTROL RAILS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324F58C-AF02-4F62-8960-424C461E88CB}"/>
              </a:ext>
            </a:extLst>
          </p:cNvPr>
          <p:cNvSpPr>
            <a:spLocks noGrp="1"/>
          </p:cNvSpPr>
          <p:nvPr/>
        </p:nvSpPr>
        <p:spPr>
          <a:xfrm>
            <a:off x="1965960" y="1517904"/>
            <a:ext cx="214884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4D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AD43A0B-101C-4F50-A9E7-FD1640987A91}"/>
              </a:ext>
            </a:extLst>
          </p:cNvPr>
          <p:cNvSpPr>
            <a:spLocks noGrp="1"/>
          </p:cNvSpPr>
          <p:nvPr/>
        </p:nvSpPr>
        <p:spPr>
          <a:xfrm>
            <a:off x="2039112" y="1609344"/>
            <a:ext cx="2002536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B273F"/>
                </a:solidFill>
                <a:latin typeface="Calibri"/>
                <a:ea typeface="Calibri"/>
                <a:cs typeface="Calibri"/>
              </a:rPr>
              <a:t>Identity and delegated authority</a:t>
            </a:r>
            <a:endParaRPr sz="9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C1AE034-87A2-411C-B227-1FFF92E497DF}"/>
              </a:ext>
            </a:extLst>
          </p:cNvPr>
          <p:cNvSpPr>
            <a:spLocks noGrp="1"/>
          </p:cNvSpPr>
          <p:nvPr/>
        </p:nvSpPr>
        <p:spPr>
          <a:xfrm>
            <a:off x="4233672" y="1517904"/>
            <a:ext cx="15087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9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F4C507-4A1B-465A-9191-0CEA11BDECA8}"/>
              </a:ext>
            </a:extLst>
          </p:cNvPr>
          <p:cNvSpPr>
            <a:spLocks noGrp="1"/>
          </p:cNvSpPr>
          <p:nvPr/>
        </p:nvSpPr>
        <p:spPr>
          <a:xfrm>
            <a:off x="4306824" y="1609344"/>
            <a:ext cx="1362456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B273F"/>
                </a:solidFill>
                <a:latin typeface="Calibri"/>
                <a:ea typeface="Calibri"/>
                <a:cs typeface="Calibri"/>
              </a:rPr>
              <a:t>Policy and intent</a:t>
            </a:r>
            <a:endParaRPr sz="9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D45423-8BF9-48C6-A747-20A3F6498C64}"/>
              </a:ext>
            </a:extLst>
          </p:cNvPr>
          <p:cNvSpPr>
            <a:spLocks noGrp="1"/>
          </p:cNvSpPr>
          <p:nvPr/>
        </p:nvSpPr>
        <p:spPr>
          <a:xfrm>
            <a:off x="5861304" y="1517904"/>
            <a:ext cx="157276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6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744DA7-C476-44F4-A951-A93436EB81D0}"/>
              </a:ext>
            </a:extLst>
          </p:cNvPr>
          <p:cNvSpPr>
            <a:spLocks noGrp="1"/>
          </p:cNvSpPr>
          <p:nvPr/>
        </p:nvSpPr>
        <p:spPr>
          <a:xfrm>
            <a:off x="5934456" y="1609344"/>
            <a:ext cx="1426464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B273F"/>
                </a:solidFill>
                <a:latin typeface="Calibri"/>
                <a:ea typeface="Calibri"/>
                <a:cs typeface="Calibri"/>
              </a:rPr>
              <a:t>Runtime evidence</a:t>
            </a:r>
            <a:endParaRPr sz="9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98E576-7BA2-4AF3-B970-0AAA03631EC6}"/>
              </a:ext>
            </a:extLst>
          </p:cNvPr>
          <p:cNvSpPr>
            <a:spLocks noGrp="1"/>
          </p:cNvSpPr>
          <p:nvPr/>
        </p:nvSpPr>
        <p:spPr>
          <a:xfrm>
            <a:off x="7552944" y="1517904"/>
            <a:ext cx="141732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D6D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532CB07-03D9-4292-AF09-9B9B56B7BA79}"/>
              </a:ext>
            </a:extLst>
          </p:cNvPr>
          <p:cNvSpPr>
            <a:spLocks noGrp="1"/>
          </p:cNvSpPr>
          <p:nvPr/>
        </p:nvSpPr>
        <p:spPr>
          <a:xfrm>
            <a:off x="7626096" y="1609344"/>
            <a:ext cx="1271016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B273F"/>
                </a:solidFill>
                <a:latin typeface="Calibri"/>
                <a:ea typeface="Calibri"/>
                <a:cs typeface="Calibri"/>
              </a:rPr>
              <a:t>Human oversight</a:t>
            </a:r>
            <a:endParaRPr sz="9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4F19D25-4A4A-4E39-9C67-5AA8367E3668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559022-5BD7-4331-918B-52080413839C}"/>
              </a:ext>
            </a:extLst>
          </p:cNvPr>
          <p:cNvSpPr>
            <a:spLocks noGrp="1"/>
          </p:cNvSpPr>
          <p:nvPr/>
        </p:nvSpPr>
        <p:spPr>
          <a:xfrm>
            <a:off x="795528" y="271576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Objective and request</a:t>
            </a:r>
            <a:endParaRPr sz="14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2CE9AC7-6608-4A98-A86A-D19A2A9E4D1F}"/>
              </a:ext>
            </a:extLst>
          </p:cNvPr>
          <p:cNvSpPr>
            <a:spLocks noGrp="1"/>
          </p:cNvSpPr>
          <p:nvPr/>
        </p:nvSpPr>
        <p:spPr>
          <a:xfrm>
            <a:off x="795528" y="310896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Goal, context and initial constraints</a:t>
            </a:r>
            <a:endParaRPr sz="98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A6D307D-81D1-4B35-AFD2-AA99E8FDE8F4}"/>
              </a:ext>
            </a:extLst>
          </p:cNvPr>
          <p:cNvSpPr>
            <a:spLocks noGrp="1"/>
          </p:cNvSpPr>
          <p:nvPr/>
        </p:nvSpPr>
        <p:spPr>
          <a:xfrm>
            <a:off x="2423160" y="3136392"/>
            <a:ext cx="384048" cy="0"/>
          </a:xfrm>
          <a:prstGeom prst="line">
            <a:avLst/>
          </a:prstGeom>
          <a:noFill/>
          <a:ln w="19050">
            <a:solidFill>
              <a:srgbClr val="7A7E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013E1D3-71F6-49C6-81C6-74EB8DED56BF}"/>
              </a:ext>
            </a:extLst>
          </p:cNvPr>
          <p:cNvSpPr>
            <a:spLocks noGrp="1"/>
          </p:cNvSpPr>
          <p:nvPr/>
        </p:nvSpPr>
        <p:spPr>
          <a:xfrm>
            <a:off x="2880360" y="251460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1AB9883-DBA5-4D6A-98A3-C628870DAF79}"/>
              </a:ext>
            </a:extLst>
          </p:cNvPr>
          <p:cNvSpPr>
            <a:spLocks noGrp="1"/>
          </p:cNvSpPr>
          <p:nvPr/>
        </p:nvSpPr>
        <p:spPr>
          <a:xfrm>
            <a:off x="2990088" y="271576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Orchestration</a:t>
            </a:r>
            <a:endParaRPr sz="14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3F7FC89-F31F-4B71-9D0F-10965013B790}"/>
              </a:ext>
            </a:extLst>
          </p:cNvPr>
          <p:cNvSpPr>
            <a:spLocks noGrp="1"/>
          </p:cNvSpPr>
          <p:nvPr/>
        </p:nvSpPr>
        <p:spPr>
          <a:xfrm>
            <a:off x="2990088" y="310896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Plan, route and allocate work</a:t>
            </a:r>
            <a:endParaRPr sz="98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B0F7C25-E2FB-49F8-91D8-D76D2FBC592E}"/>
              </a:ext>
            </a:extLst>
          </p:cNvPr>
          <p:cNvSpPr>
            <a:spLocks noGrp="1"/>
          </p:cNvSpPr>
          <p:nvPr/>
        </p:nvSpPr>
        <p:spPr>
          <a:xfrm>
            <a:off x="4617720" y="3136392"/>
            <a:ext cx="475488" cy="0"/>
          </a:xfrm>
          <a:prstGeom prst="line">
            <a:avLst/>
          </a:prstGeom>
          <a:noFill/>
          <a:ln w="19050">
            <a:solidFill>
              <a:srgbClr val="7A7E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D1D8DC5-8B07-4EA4-B6C2-AEC1779BA936}"/>
              </a:ext>
            </a:extLst>
          </p:cNvPr>
          <p:cNvSpPr>
            <a:spLocks noGrp="1"/>
          </p:cNvSpPr>
          <p:nvPr/>
        </p:nvSpPr>
        <p:spPr>
          <a:xfrm>
            <a:off x="5166360" y="251460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6652E29-F8DD-436E-9026-61FDB704EF4D}"/>
              </a:ext>
            </a:extLst>
          </p:cNvPr>
          <p:cNvSpPr>
            <a:spLocks noGrp="1"/>
          </p:cNvSpPr>
          <p:nvPr/>
        </p:nvSpPr>
        <p:spPr>
          <a:xfrm>
            <a:off x="5276088" y="271576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Agents and tools</a:t>
            </a:r>
            <a:endParaRPr sz="14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A739B8C-1CA7-4840-900B-C7D321A1C279}"/>
              </a:ext>
            </a:extLst>
          </p:cNvPr>
          <p:cNvSpPr>
            <a:spLocks noGrp="1"/>
          </p:cNvSpPr>
          <p:nvPr/>
        </p:nvSpPr>
        <p:spPr>
          <a:xfrm>
            <a:off x="5276088" y="310896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Reason, retrieve, call services and collaborate</a:t>
            </a:r>
            <a:endParaRPr sz="98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573924C-1EB2-4DAE-B123-E2FC2D9D6F55}"/>
              </a:ext>
            </a:extLst>
          </p:cNvPr>
          <p:cNvSpPr>
            <a:spLocks noGrp="1"/>
          </p:cNvSpPr>
          <p:nvPr/>
        </p:nvSpPr>
        <p:spPr>
          <a:xfrm>
            <a:off x="6903720" y="3136392"/>
            <a:ext cx="475488" cy="0"/>
          </a:xfrm>
          <a:prstGeom prst="line">
            <a:avLst/>
          </a:prstGeom>
          <a:noFill/>
          <a:ln w="19050">
            <a:solidFill>
              <a:srgbClr val="7A7E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891F411-FF2B-4568-9687-4B33227364EC}"/>
              </a:ext>
            </a:extLst>
          </p:cNvPr>
          <p:cNvSpPr>
            <a:spLocks noGrp="1"/>
          </p:cNvSpPr>
          <p:nvPr/>
        </p:nvSpPr>
        <p:spPr>
          <a:xfrm>
            <a:off x="7452360" y="251460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714D90F-F0CC-452D-A28E-C6543BB204AA}"/>
              </a:ext>
            </a:extLst>
          </p:cNvPr>
          <p:cNvSpPr>
            <a:spLocks noGrp="1"/>
          </p:cNvSpPr>
          <p:nvPr/>
        </p:nvSpPr>
        <p:spPr>
          <a:xfrm>
            <a:off x="7562088" y="271576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Authorized action</a:t>
            </a:r>
            <a:endParaRPr sz="14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16A347C-971C-48E2-B047-879B491C5E2B}"/>
              </a:ext>
            </a:extLst>
          </p:cNvPr>
          <p:cNvSpPr>
            <a:spLocks noGrp="1"/>
          </p:cNvSpPr>
          <p:nvPr/>
        </p:nvSpPr>
        <p:spPr>
          <a:xfrm>
            <a:off x="7562088" y="310896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Execute within policy and capability</a:t>
            </a:r>
            <a:endParaRPr sz="98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43AB24C-043F-49D7-92CB-7FF378588210}"/>
              </a:ext>
            </a:extLst>
          </p:cNvPr>
          <p:cNvSpPr>
            <a:spLocks noGrp="1"/>
          </p:cNvSpPr>
          <p:nvPr/>
        </p:nvSpPr>
        <p:spPr>
          <a:xfrm>
            <a:off x="9189720" y="3136392"/>
            <a:ext cx="384048" cy="0"/>
          </a:xfrm>
          <a:prstGeom prst="line">
            <a:avLst/>
          </a:prstGeom>
          <a:noFill/>
          <a:ln w="19050">
            <a:solidFill>
              <a:srgbClr val="7A7E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1B22575-7F60-4AE4-9CD4-3C0A93BCBD1B}"/>
              </a:ext>
            </a:extLst>
          </p:cNvPr>
          <p:cNvSpPr>
            <a:spLocks noGrp="1"/>
          </p:cNvSpPr>
          <p:nvPr/>
        </p:nvSpPr>
        <p:spPr>
          <a:xfrm>
            <a:off x="9646920" y="251460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B2D2675-D103-4C7D-910D-1E496EA2E6FE}"/>
              </a:ext>
            </a:extLst>
          </p:cNvPr>
          <p:cNvSpPr>
            <a:spLocks noGrp="1"/>
          </p:cNvSpPr>
          <p:nvPr/>
        </p:nvSpPr>
        <p:spPr>
          <a:xfrm>
            <a:off x="9756648" y="271576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Outcome</a:t>
            </a:r>
            <a:endParaRPr sz="145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4A72514-8F45-40AD-95B0-F5FD612110E0}"/>
              </a:ext>
            </a:extLst>
          </p:cNvPr>
          <p:cNvSpPr>
            <a:spLocks noGrp="1"/>
          </p:cNvSpPr>
          <p:nvPr/>
        </p:nvSpPr>
        <p:spPr>
          <a:xfrm>
            <a:off x="9756648" y="310896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Telemetry, receipts and review</a:t>
            </a:r>
            <a:endParaRPr sz="98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87BEA24-A8D7-4CA6-8EE9-E32DC1EFDAD9}"/>
              </a:ext>
            </a:extLst>
          </p:cNvPr>
          <p:cNvSpPr>
            <a:spLocks noGrp="1"/>
          </p:cNvSpPr>
          <p:nvPr/>
        </p:nvSpPr>
        <p:spPr>
          <a:xfrm>
            <a:off x="2423160" y="4315968"/>
            <a:ext cx="7360920" cy="1115568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03A990C-05EB-4B20-9F42-BE842320EAB2}"/>
              </a:ext>
            </a:extLst>
          </p:cNvPr>
          <p:cNvSpPr>
            <a:spLocks noGrp="1"/>
          </p:cNvSpPr>
          <p:nvPr/>
        </p:nvSpPr>
        <p:spPr>
          <a:xfrm>
            <a:off x="2651760" y="4553712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Typical operating loop</a:t>
            </a:r>
            <a:endParaRPr sz="155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ABEC168-034E-48FF-BCF8-B89F75369B50}"/>
              </a:ext>
            </a:extLst>
          </p:cNvPr>
          <p:cNvSpPr>
            <a:spLocks noGrp="1"/>
          </p:cNvSpPr>
          <p:nvPr/>
        </p:nvSpPr>
        <p:spPr>
          <a:xfrm>
            <a:off x="2651760" y="501091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Observe outcomes, update the plan and repeat while the local control model remains valid.</a:t>
            </a:r>
            <a:endParaRPr sz="11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E61A8B4-35A3-4061-AABC-CD7404604085}"/>
              </a:ext>
            </a:extLst>
          </p:cNvPr>
          <p:cNvSpPr>
            <a:spLocks noGrp="1"/>
          </p:cNvSpPr>
          <p:nvPr/>
        </p:nvSpPr>
        <p:spPr>
          <a:xfrm>
            <a:off x="8028431" y="464515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9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1647D3F-7B44-4B49-9DA1-69EC04DDE576}"/>
              </a:ext>
            </a:extLst>
          </p:cNvPr>
          <p:cNvSpPr>
            <a:spLocks noGrp="1"/>
          </p:cNvSpPr>
          <p:nvPr/>
        </p:nvSpPr>
        <p:spPr>
          <a:xfrm>
            <a:off x="8321040" y="4773168"/>
            <a:ext cx="0" cy="301752"/>
          </a:xfrm>
          <a:prstGeom prst="line">
            <a:avLst/>
          </a:prstGeom>
          <a:noFill/>
          <a:ln w="20320">
            <a:solidFill>
              <a:srgbClr val="0069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8D9EFC7-476D-48F5-BB28-7DC548EBE337}"/>
              </a:ext>
            </a:extLst>
          </p:cNvPr>
          <p:cNvSpPr>
            <a:spLocks noGrp="1"/>
          </p:cNvSpPr>
          <p:nvPr/>
        </p:nvSpPr>
        <p:spPr>
          <a:xfrm>
            <a:off x="8796528" y="464515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9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7CF55E3-5A38-4595-8D76-0A862B6E910B}"/>
              </a:ext>
            </a:extLst>
          </p:cNvPr>
          <p:cNvSpPr>
            <a:spLocks noGrp="1"/>
          </p:cNvSpPr>
          <p:nvPr/>
        </p:nvSpPr>
        <p:spPr>
          <a:xfrm>
            <a:off x="749808" y="5760720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30" i="1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The model works while roles, boundaries and the surrounding ecosystem remain legible to the controls that govern the workflow.</a:t>
            </a:r>
            <a:endParaRPr sz="1130"/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87E8E321-49A0-4E39-BF3E-1973392909B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2</a:t>
            </a:fld>
            <a:endParaRPr/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FAE0C6FC-7B96-4DDB-B261-9683711AE2DC}"/>
              </a:ext>
            </a:extLst>
          </p:cNvPr>
          <p:cNvSpPr>
            <a:spLocks noGrp="1"/>
          </p:cNvSpPr>
          <p:nvPr/>
        </p:nvSpPr>
        <p:spPr>
          <a:xfrm>
            <a:off x="8293608" y="4855464"/>
            <a:ext cx="0" cy="320040"/>
          </a:xfrm>
          <a:prstGeom prst="line">
            <a:avLst/>
          </a:prstGeom>
          <a:ln w="19050">
            <a:solidFill>
              <a:srgbClr val="00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Connector 41">
            <a:extLst>
              <a:ext uri="{FF2B5EF4-FFF2-40B4-BE49-F238E27FC236}">
                <a16:creationId xmlns:a16="http://schemas.microsoft.com/office/drawing/2014/main" id="{BC3B3E16-A7A1-4092-A608-3264FD9536C4}"/>
              </a:ext>
            </a:extLst>
          </p:cNvPr>
          <p:cNvSpPr>
            <a:spLocks noGrp="1"/>
          </p:cNvSpPr>
          <p:nvPr/>
        </p:nvSpPr>
        <p:spPr>
          <a:xfrm>
            <a:off x="9070848" y="4855464"/>
            <a:ext cx="0" cy="320040"/>
          </a:xfrm>
          <a:prstGeom prst="line">
            <a:avLst/>
          </a:prstGeom>
          <a:ln w="19050">
            <a:solidFill>
              <a:srgbClr val="00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713040-46F9-417E-AC71-F03F27242112}"/>
              </a:ext>
            </a:extLst>
          </p:cNvPr>
          <p:cNvSpPr>
            <a:spLocks noGrp="1"/>
          </p:cNvSpPr>
          <p:nvPr/>
        </p:nvSpPr>
        <p:spPr>
          <a:xfrm>
            <a:off x="7818120" y="4462272"/>
            <a:ext cx="1965960" cy="8686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D21C60-FB7B-4366-BE2D-412813F4F0D5}"/>
              </a:ext>
            </a:extLst>
          </p:cNvPr>
          <p:cNvSpPr>
            <a:spLocks noGrp="1"/>
          </p:cNvSpPr>
          <p:nvPr/>
        </p:nvSpPr>
        <p:spPr>
          <a:xfrm>
            <a:off x="8001000" y="4617720"/>
            <a:ext cx="777240" cy="164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007B82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7A18EC-ABFE-4345-9916-104CB8285E0E}"/>
              </a:ext>
            </a:extLst>
          </p:cNvPr>
          <p:cNvSpPr>
            <a:spLocks noGrp="1"/>
          </p:cNvSpPr>
          <p:nvPr/>
        </p:nvSpPr>
        <p:spPr>
          <a:xfrm>
            <a:off x="8778240" y="4617720"/>
            <a:ext cx="822960" cy="164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007B82"/>
                </a:solidFill>
                <a:latin typeface="Aptos"/>
                <a:ea typeface="Aptos"/>
                <a:cs typeface="Aptos"/>
              </a:rPr>
              <a:t>Replan</a:t>
            </a:r>
          </a:p>
        </p:txBody>
      </p:sp>
      <p:sp>
        <p:nvSpPr>
          <p:cNvPr id="50" name="Down Arrow 49">
            <a:extLst>
              <a:ext uri="{FF2B5EF4-FFF2-40B4-BE49-F238E27FC236}">
                <a16:creationId xmlns:a16="http://schemas.microsoft.com/office/drawing/2014/main" id="{EC81908B-2343-49E1-A794-D74CFA5D68CB}"/>
              </a:ext>
            </a:extLst>
          </p:cNvPr>
          <p:cNvSpPr>
            <a:spLocks noGrp="1"/>
          </p:cNvSpPr>
          <p:nvPr/>
        </p:nvSpPr>
        <p:spPr>
          <a:xfrm>
            <a:off x="8321040" y="4873752"/>
            <a:ext cx="109728" cy="219456"/>
          </a:xfrm>
          <a:prstGeom prst="downArrow">
            <a:avLst/>
          </a:prstGeom>
          <a:solidFill>
            <a:srgbClr val="007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A152080C-7C0E-433F-A4A3-264D9F576F64}"/>
              </a:ext>
            </a:extLst>
          </p:cNvPr>
          <p:cNvSpPr>
            <a:spLocks noGrp="1"/>
          </p:cNvSpPr>
          <p:nvPr/>
        </p:nvSpPr>
        <p:spPr>
          <a:xfrm rot="10800000">
            <a:off x="9098280" y="4873752"/>
            <a:ext cx="109728" cy="219456"/>
          </a:xfrm>
          <a:prstGeom prst="downArrow">
            <a:avLst/>
          </a:prstGeom>
          <a:solidFill>
            <a:srgbClr val="007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84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8734D9-38FA-44F5-8FAC-13375A52143F}"/>
              </a:ext>
            </a:extLst>
          </p:cNvPr>
          <p:cNvSpPr>
            <a:spLocks noGrp="1"/>
          </p:cNvSpPr>
          <p:nvPr/>
        </p:nvSpPr>
        <p:spPr>
          <a:xfrm>
            <a:off x="566928" y="16459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STRUCTURAL LIMITS</a:t>
            </a:r>
            <a:endParaRPr sz="82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38425C-E6E9-4B72-A033-F3EC4F3CA3F1}"/>
              </a:ext>
            </a:extLst>
          </p:cNvPr>
          <p:cNvSpPr>
            <a:spLocks noGrp="1"/>
          </p:cNvSpPr>
          <p:nvPr/>
        </p:nvSpPr>
        <p:spPr>
          <a:xfrm>
            <a:off x="10927080" y="16459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§ 02</a:t>
            </a:r>
            <a:endParaRPr sz="82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A876FF-4C56-423D-BAC8-5A6571D81FE8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Structural problems and current limits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1D962A-BA82-4E14-9132-D09CD18F8586}"/>
              </a:ext>
            </a:extLst>
          </p:cNvPr>
          <p:cNvSpPr>
            <a:spLocks noGrp="1"/>
          </p:cNvSpPr>
          <p:nvPr/>
        </p:nvSpPr>
        <p:spPr>
          <a:xfrm>
            <a:off x="566928" y="111556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Direct rules and local checks lose explanatory power when participants, roles and dependencies change faster than the control model.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570C1C4-B82A-4DB0-9DC5-2E298E4B561D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31546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3FCC51-D948-4C23-B3BB-608330577F1D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50292" cy="1261872"/>
          </a:xfrm>
          <a:prstGeom prst="rect">
            <a:avLst/>
          </a:prstGeom>
          <a:solidFill>
            <a:srgbClr val="1B4D8E"/>
          </a:solidFill>
          <a:ln w="12700">
            <a:solidFill>
              <a:srgbClr val="1B4D8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FF4B9C-F2EF-476B-A061-A9106729991D}"/>
              </a:ext>
            </a:extLst>
          </p:cNvPr>
          <p:cNvSpPr>
            <a:spLocks noGrp="1"/>
          </p:cNvSpPr>
          <p:nvPr/>
        </p:nvSpPr>
        <p:spPr>
          <a:xfrm>
            <a:off x="804672" y="181051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Agent multiplication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68C276-9E60-4A6C-995E-01413FB546B5}"/>
              </a:ext>
            </a:extLst>
          </p:cNvPr>
          <p:cNvSpPr>
            <a:spLocks noGrp="1"/>
          </p:cNvSpPr>
          <p:nvPr/>
        </p:nvSpPr>
        <p:spPr>
          <a:xfrm>
            <a:off x="804672" y="2121408"/>
            <a:ext cx="2880360" cy="7315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102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More agents, tools and temporary delegates create interaction paths that no operator can review one by one.</a:t>
            </a:r>
            <a:endParaRPr sz="102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923880E-893F-4D84-8850-5C7D5BE6AB83}"/>
              </a:ext>
            </a:extLst>
          </p:cNvPr>
          <p:cNvSpPr>
            <a:spLocks noGrp="1"/>
          </p:cNvSpPr>
          <p:nvPr/>
        </p:nvSpPr>
        <p:spPr>
          <a:xfrm>
            <a:off x="4178808" y="1700784"/>
            <a:ext cx="31546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6100C4E-015E-461E-BD30-2645141BA0EB}"/>
              </a:ext>
            </a:extLst>
          </p:cNvPr>
          <p:cNvSpPr>
            <a:spLocks noGrp="1"/>
          </p:cNvSpPr>
          <p:nvPr/>
        </p:nvSpPr>
        <p:spPr>
          <a:xfrm>
            <a:off x="4160520" y="1691640"/>
            <a:ext cx="50292" cy="1261872"/>
          </a:xfrm>
          <a:prstGeom prst="rect">
            <a:avLst/>
          </a:prstGeom>
          <a:solidFill>
            <a:srgbClr val="006970"/>
          </a:solidFill>
          <a:ln w="12700">
            <a:solidFill>
              <a:srgbClr val="00697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1D059C8-E8BE-4909-980A-D4B1ADA1D608}"/>
              </a:ext>
            </a:extLst>
          </p:cNvPr>
          <p:cNvSpPr>
            <a:spLocks noGrp="1"/>
          </p:cNvSpPr>
          <p:nvPr/>
        </p:nvSpPr>
        <p:spPr>
          <a:xfrm>
            <a:off x="4325112" y="181051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Role and identity drift</a:t>
            </a:r>
            <a:endParaRPr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52FAFD-ECE6-444A-B2B2-3428BF8503ED}"/>
              </a:ext>
            </a:extLst>
          </p:cNvPr>
          <p:cNvSpPr>
            <a:spLocks noGrp="1"/>
          </p:cNvSpPr>
          <p:nvPr/>
        </p:nvSpPr>
        <p:spPr>
          <a:xfrm>
            <a:off x="4325112" y="2121408"/>
            <a:ext cx="2880360" cy="7315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102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One participant can hold hybrid roles, change memberships or act under a different authority across interactions.</a:t>
            </a:r>
            <a:endParaRPr sz="102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665E16E-BA29-4283-A4E5-995CDE15D8A1}"/>
              </a:ext>
            </a:extLst>
          </p:cNvPr>
          <p:cNvSpPr>
            <a:spLocks noGrp="1"/>
          </p:cNvSpPr>
          <p:nvPr/>
        </p:nvSpPr>
        <p:spPr>
          <a:xfrm>
            <a:off x="7680960" y="1691640"/>
            <a:ext cx="31546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E6BF31D-7B0F-4E19-9D1E-72F54936C56F}"/>
              </a:ext>
            </a:extLst>
          </p:cNvPr>
          <p:cNvSpPr>
            <a:spLocks noGrp="1"/>
          </p:cNvSpPr>
          <p:nvPr/>
        </p:nvSpPr>
        <p:spPr>
          <a:xfrm>
            <a:off x="7680960" y="1691640"/>
            <a:ext cx="50292" cy="1261872"/>
          </a:xfrm>
          <a:prstGeom prst="rect">
            <a:avLst/>
          </a:prstGeom>
          <a:solidFill>
            <a:srgbClr val="A8642A"/>
          </a:solidFill>
          <a:ln w="12700">
            <a:solidFill>
              <a:srgbClr val="A8642A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872E4E4-33DC-4EA0-8357-8D6C2F27690C}"/>
              </a:ext>
            </a:extLst>
          </p:cNvPr>
          <p:cNvSpPr>
            <a:spLocks noGrp="1"/>
          </p:cNvSpPr>
          <p:nvPr/>
        </p:nvSpPr>
        <p:spPr>
          <a:xfrm>
            <a:off x="7845552" y="181051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Ecosystem change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C579E83-7D39-4934-BA77-818C0404A5F5}"/>
              </a:ext>
            </a:extLst>
          </p:cNvPr>
          <p:cNvSpPr>
            <a:spLocks noGrp="1"/>
          </p:cNvSpPr>
          <p:nvPr/>
        </p:nvSpPr>
        <p:spPr>
          <a:xfrm>
            <a:off x="7845552" y="2121408"/>
            <a:ext cx="2880360" cy="7315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102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Organizations, dependencies, service availability and external conditions evolve while the system is operating.</a:t>
            </a:r>
            <a:endParaRPr sz="102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8850DE6-713C-4A9F-948E-53A8EB65A52C}"/>
              </a:ext>
            </a:extLst>
          </p:cNvPr>
          <p:cNvSpPr>
            <a:spLocks noGrp="1"/>
          </p:cNvSpPr>
          <p:nvPr/>
        </p:nvSpPr>
        <p:spPr>
          <a:xfrm>
            <a:off x="640080" y="3246120"/>
            <a:ext cx="31546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D5D498D-A479-4851-9F45-D86D536B66E5}"/>
              </a:ext>
            </a:extLst>
          </p:cNvPr>
          <p:cNvSpPr>
            <a:spLocks noGrp="1"/>
          </p:cNvSpPr>
          <p:nvPr/>
        </p:nvSpPr>
        <p:spPr>
          <a:xfrm>
            <a:off x="640080" y="3246120"/>
            <a:ext cx="50292" cy="1261872"/>
          </a:xfrm>
          <a:prstGeom prst="rect">
            <a:avLst/>
          </a:prstGeom>
          <a:solidFill>
            <a:srgbClr val="9A4C48"/>
          </a:solidFill>
          <a:ln w="12700">
            <a:solidFill>
              <a:srgbClr val="9A4C4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9FDE740-5A54-481E-9684-C9AECDB284AC}"/>
              </a:ext>
            </a:extLst>
          </p:cNvPr>
          <p:cNvSpPr>
            <a:spLocks noGrp="1"/>
          </p:cNvSpPr>
          <p:nvPr/>
        </p:nvSpPr>
        <p:spPr>
          <a:xfrm>
            <a:off x="804672" y="336499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Indeterminacy</a:t>
            </a:r>
            <a:endParaRPr sz="14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FC4B1AB-9199-4371-9C83-F2797CDFFC7F}"/>
              </a:ext>
            </a:extLst>
          </p:cNvPr>
          <p:cNvSpPr>
            <a:spLocks noGrp="1"/>
          </p:cNvSpPr>
          <p:nvPr/>
        </p:nvSpPr>
        <p:spPr>
          <a:xfrm>
            <a:off x="804672" y="3675888"/>
            <a:ext cx="2880360" cy="7315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102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A local result may be valid but insufficient for the wider decision. Missing scope, provenance or dependency state must remain explicit.</a:t>
            </a:r>
            <a:endParaRPr sz="102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6D64945-EA12-4BD5-BCB2-E5F8E71F19AE}"/>
              </a:ext>
            </a:extLst>
          </p:cNvPr>
          <p:cNvSpPr>
            <a:spLocks noGrp="1"/>
          </p:cNvSpPr>
          <p:nvPr/>
        </p:nvSpPr>
        <p:spPr>
          <a:xfrm>
            <a:off x="4160520" y="3246120"/>
            <a:ext cx="31546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B77CAE3-0E4D-40AA-B394-FE1EBEE9C787}"/>
              </a:ext>
            </a:extLst>
          </p:cNvPr>
          <p:cNvSpPr>
            <a:spLocks noGrp="1"/>
          </p:cNvSpPr>
          <p:nvPr/>
        </p:nvSpPr>
        <p:spPr>
          <a:xfrm>
            <a:off x="4160520" y="3246120"/>
            <a:ext cx="50292" cy="1261872"/>
          </a:xfrm>
          <a:prstGeom prst="rect">
            <a:avLst/>
          </a:prstGeom>
          <a:solidFill>
            <a:srgbClr val="3D6D65"/>
          </a:solidFill>
          <a:ln w="12700">
            <a:solidFill>
              <a:srgbClr val="3D6D65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CDB4833-2605-4AE6-AC61-AD3643445699}"/>
              </a:ext>
            </a:extLst>
          </p:cNvPr>
          <p:cNvSpPr>
            <a:spLocks noGrp="1"/>
          </p:cNvSpPr>
          <p:nvPr/>
        </p:nvSpPr>
        <p:spPr>
          <a:xfrm>
            <a:off x="4325112" y="336499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Interpretation gap</a:t>
            </a:r>
            <a:endParaRPr sz="1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594C41D-6A6E-478E-AE1E-44561BAE94D3}"/>
              </a:ext>
            </a:extLst>
          </p:cNvPr>
          <p:cNvSpPr>
            <a:spLocks noGrp="1"/>
          </p:cNvSpPr>
          <p:nvPr/>
        </p:nvSpPr>
        <p:spPr>
          <a:xfrm>
            <a:off x="4325112" y="3675888"/>
            <a:ext cx="2880360" cy="7315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102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Identity, policy and attestation can remain technically valid while their practical meaning changes in the active ecosystem.</a:t>
            </a:r>
            <a:endParaRPr sz="102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CC735E0-3248-4E81-919C-7F57334155AC}"/>
              </a:ext>
            </a:extLst>
          </p:cNvPr>
          <p:cNvSpPr>
            <a:spLocks noGrp="1"/>
          </p:cNvSpPr>
          <p:nvPr/>
        </p:nvSpPr>
        <p:spPr>
          <a:xfrm>
            <a:off x="7680960" y="3246120"/>
            <a:ext cx="31546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B7610B9-981A-4108-B60E-FDA6BA09050A}"/>
              </a:ext>
            </a:extLst>
          </p:cNvPr>
          <p:cNvSpPr>
            <a:spLocks noGrp="1"/>
          </p:cNvSpPr>
          <p:nvPr/>
        </p:nvSpPr>
        <p:spPr>
          <a:xfrm>
            <a:off x="7680960" y="3246120"/>
            <a:ext cx="50292" cy="1261872"/>
          </a:xfrm>
          <a:prstGeom prst="rect">
            <a:avLst/>
          </a:prstGeom>
          <a:solidFill>
            <a:srgbClr val="1B4D8E"/>
          </a:solidFill>
          <a:ln w="12700">
            <a:solidFill>
              <a:srgbClr val="1B4D8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C3DD785-2449-4324-8177-5993EA96D29B}"/>
              </a:ext>
            </a:extLst>
          </p:cNvPr>
          <p:cNvSpPr>
            <a:spLocks noGrp="1"/>
          </p:cNvSpPr>
          <p:nvPr/>
        </p:nvSpPr>
        <p:spPr>
          <a:xfrm>
            <a:off x="7845552" y="336499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Limits of AI oversight</a:t>
            </a:r>
            <a:endParaRPr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CEDFAE5-69EE-4A87-B4D6-222393396CF6}"/>
              </a:ext>
            </a:extLst>
          </p:cNvPr>
          <p:cNvSpPr>
            <a:spLocks noGrp="1"/>
          </p:cNvSpPr>
          <p:nvPr/>
        </p:nvSpPr>
        <p:spPr>
          <a:xfrm>
            <a:off x="7845552" y="3675888"/>
            <a:ext cx="2880360" cy="7315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102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Automated review often inherits the same observation window. Human review adds authority and judgment, but attention, time and context remain finite.</a:t>
            </a:r>
            <a:endParaRPr sz="102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318078F-683F-47F5-9A02-B197829A5B66}"/>
              </a:ext>
            </a:extLst>
          </p:cNvPr>
          <p:cNvSpPr>
            <a:spLocks noGrp="1"/>
          </p:cNvSpPr>
          <p:nvPr/>
        </p:nvSpPr>
        <p:spPr>
          <a:xfrm>
            <a:off x="658368" y="5074920"/>
            <a:ext cx="10652760" cy="804672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5C0DA6F-2F38-42E9-A07D-93D873F5E585}"/>
              </a:ext>
            </a:extLst>
          </p:cNvPr>
          <p:cNvSpPr>
            <a:spLocks noGrp="1"/>
          </p:cNvSpPr>
          <p:nvPr/>
        </p:nvSpPr>
        <p:spPr>
          <a:xfrm>
            <a:off x="896112" y="5266944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A8642A"/>
                </a:solidFill>
                <a:latin typeface="Consolas"/>
                <a:ea typeface="Consolas"/>
                <a:cs typeface="Consolas"/>
              </a:rPr>
              <a:t>STRUCTURAL CONSEQUENCE</a:t>
            </a:r>
            <a:endParaRPr sz="9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C479A7C-3A25-4A82-BAF7-FBB108DA3294}"/>
              </a:ext>
            </a:extLst>
          </p:cNvPr>
          <p:cNvSpPr>
            <a:spLocks noGrp="1"/>
          </p:cNvSpPr>
          <p:nvPr/>
        </p:nvSpPr>
        <p:spPr>
          <a:xfrm>
            <a:off x="2743200" y="519379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40">
                <a:solidFill>
                  <a:srgbClr val="1B273F"/>
                </a:solidFill>
                <a:latin typeface="Calibri"/>
                <a:ea typeface="Calibri"/>
                <a:cs typeface="Calibri"/>
              </a:rPr>
              <a:t>Local correctness and local compliance do not by themselves establish that the composed system is situated correctly for the current decision.</a:t>
            </a:r>
            <a:endParaRPr sz="1240"/>
          </a:p>
        </p:txBody>
      </p:sp>
      <p:sp>
        <p:nvSpPr>
          <p:cNvPr id="33" name="Slide Number Placeholder 0">
            <a:extLst>
              <a:ext uri="{FF2B5EF4-FFF2-40B4-BE49-F238E27FC236}">
                <a16:creationId xmlns:a16="http://schemas.microsoft.com/office/drawing/2014/main" id="{68D2D729-1DF8-47C3-BAB8-714B3737502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 wrap="square"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63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6C9B07-B95E-4155-9DE9-D747491A4813}"/>
              </a:ext>
            </a:extLst>
          </p:cNvPr>
          <p:cNvSpPr>
            <a:spLocks noGrp="1"/>
          </p:cNvSpPr>
          <p:nvPr/>
        </p:nvSpPr>
        <p:spPr>
          <a:xfrm>
            <a:off x="566928" y="16459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FAILURE PROGRESSION</a:t>
            </a:r>
            <a:endParaRPr sz="82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AF32F8-8798-4F01-8A78-08D7745DCA52}"/>
              </a:ext>
            </a:extLst>
          </p:cNvPr>
          <p:cNvSpPr>
            <a:spLocks noGrp="1"/>
          </p:cNvSpPr>
          <p:nvPr/>
        </p:nvSpPr>
        <p:spPr>
          <a:xfrm>
            <a:off x="10927080" y="16459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§ 03</a:t>
            </a:r>
            <a:endParaRPr sz="82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07E07F-B9A1-4E10-B9B8-60B487E97D70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Failure progression: mechanisms and failure types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2FCA48-FF4B-4B28-83CD-7B981144FB1F}"/>
              </a:ext>
            </a:extLst>
          </p:cNvPr>
          <p:cNvSpPr>
            <a:spLocks noGrp="1"/>
          </p:cNvSpPr>
          <p:nvPr/>
        </p:nvSpPr>
        <p:spPr>
          <a:xfrm>
            <a:off x="566928" y="111556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The ecosystem can drift while local controls keep returning valid-looking answers. The key question is whether uncertainty remains visible or is converted into unsupported closure.</a:t>
            </a:r>
            <a:endParaRPr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BBDB95-8F1D-40CA-9EEF-82FC684C9B3F}"/>
              </a:ext>
            </a:extLst>
          </p:cNvPr>
          <p:cNvSpPr>
            <a:spLocks noGrp="1"/>
          </p:cNvSpPr>
          <p:nvPr/>
        </p:nvSpPr>
        <p:spPr>
          <a:xfrm>
            <a:off x="685800" y="157276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INITIAL STATE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F52260-FA80-43CE-83DC-DEA9968E4EC9}"/>
              </a:ext>
            </a:extLst>
          </p:cNvPr>
          <p:cNvSpPr>
            <a:spLocks noGrp="1"/>
          </p:cNvSpPr>
          <p:nvPr/>
        </p:nvSpPr>
        <p:spPr>
          <a:xfrm>
            <a:off x="685800" y="1847088"/>
            <a:ext cx="29260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887344-2E94-471C-AB23-E81CE030420B}"/>
              </a:ext>
            </a:extLst>
          </p:cNvPr>
          <p:cNvSpPr>
            <a:spLocks noGrp="1"/>
          </p:cNvSpPr>
          <p:nvPr/>
        </p:nvSpPr>
        <p:spPr>
          <a:xfrm>
            <a:off x="832104" y="2011680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Legible roles and boundaries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E8F57D7-D072-4872-8B57-228E15129837}"/>
              </a:ext>
            </a:extLst>
          </p:cNvPr>
          <p:cNvSpPr>
            <a:spLocks noGrp="1"/>
          </p:cNvSpPr>
          <p:nvPr/>
        </p:nvSpPr>
        <p:spPr>
          <a:xfrm>
            <a:off x="832104" y="2404872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Identity and authority are current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Policies match the operating context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Oversight can follow the material paths</a:t>
            </a:r>
            <a:endParaRPr sz="98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7DAFE2-69ED-40FB-BE60-B29EEAC683D2}"/>
              </a:ext>
            </a:extLst>
          </p:cNvPr>
          <p:cNvSpPr>
            <a:spLocks noGrp="1"/>
          </p:cNvSpPr>
          <p:nvPr/>
        </p:nvSpPr>
        <p:spPr>
          <a:xfrm>
            <a:off x="3611880" y="2496312"/>
            <a:ext cx="438912" cy="0"/>
          </a:xfrm>
          <a:prstGeom prst="line">
            <a:avLst/>
          </a:prstGeom>
          <a:noFill/>
          <a:ln w="20320">
            <a:solidFill>
              <a:srgbClr val="7A7E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7CB44C-9E74-40AF-B9FA-D68E135D7451}"/>
              </a:ext>
            </a:extLst>
          </p:cNvPr>
          <p:cNvSpPr>
            <a:spLocks noGrp="1"/>
          </p:cNvSpPr>
          <p:nvPr/>
        </p:nvSpPr>
        <p:spPr>
          <a:xfrm>
            <a:off x="4160520" y="157276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DRIFT</a:t>
            </a:r>
            <a:endParaRPr sz="9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6E75C4E-4FA7-44F4-88F5-640F7A7D7234}"/>
              </a:ext>
            </a:extLst>
          </p:cNvPr>
          <p:cNvSpPr>
            <a:spLocks noGrp="1"/>
          </p:cNvSpPr>
          <p:nvPr/>
        </p:nvSpPr>
        <p:spPr>
          <a:xfrm>
            <a:off x="4160520" y="1847088"/>
            <a:ext cx="29260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9EF545C-8CD3-46D7-A8A5-4E9B6AA5F2A4}"/>
              </a:ext>
            </a:extLst>
          </p:cNvPr>
          <p:cNvSpPr>
            <a:spLocks noGrp="1"/>
          </p:cNvSpPr>
          <p:nvPr/>
        </p:nvSpPr>
        <p:spPr>
          <a:xfrm>
            <a:off x="4306824" y="2011680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The ecosystem changes</a:t>
            </a:r>
            <a:endParaRPr sz="14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F5F651-7C55-4D3D-9BE1-43B0EE85A7E0}"/>
              </a:ext>
            </a:extLst>
          </p:cNvPr>
          <p:cNvSpPr>
            <a:spLocks noGrp="1"/>
          </p:cNvSpPr>
          <p:nvPr/>
        </p:nvSpPr>
        <p:spPr>
          <a:xfrm>
            <a:off x="4306824" y="2404872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Agents multiply and change roles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Boundaries and memberships shift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Signals inherit hidden dependencies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Rules and reviews lag behind</a:t>
            </a:r>
            <a:endParaRPr sz="9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382187D-3D9E-4187-ACD7-8BFACE225A5F}"/>
              </a:ext>
            </a:extLst>
          </p:cNvPr>
          <p:cNvSpPr>
            <a:spLocks noGrp="1"/>
          </p:cNvSpPr>
          <p:nvPr/>
        </p:nvSpPr>
        <p:spPr>
          <a:xfrm>
            <a:off x="7086600" y="2496312"/>
            <a:ext cx="438912" cy="0"/>
          </a:xfrm>
          <a:prstGeom prst="line">
            <a:avLst/>
          </a:prstGeom>
          <a:noFill/>
          <a:ln w="20320">
            <a:solidFill>
              <a:srgbClr val="7A7E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C2897D1-16B0-4EC9-856C-4440F78C3DA4}"/>
              </a:ext>
            </a:extLst>
          </p:cNvPr>
          <p:cNvSpPr>
            <a:spLocks noGrp="1"/>
          </p:cNvSpPr>
          <p:nvPr/>
        </p:nvSpPr>
        <p:spPr>
          <a:xfrm>
            <a:off x="7635240" y="157276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A8642A"/>
                </a:solidFill>
                <a:latin typeface="Consolas"/>
                <a:ea typeface="Consolas"/>
                <a:cs typeface="Consolas"/>
              </a:rPr>
              <a:t>FAILURE</a:t>
            </a:r>
            <a:endParaRPr sz="9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8A5FA3-5672-4BCF-AC7D-BDF9ABC213DC}"/>
              </a:ext>
            </a:extLst>
          </p:cNvPr>
          <p:cNvSpPr>
            <a:spLocks noGrp="1"/>
          </p:cNvSpPr>
          <p:nvPr/>
        </p:nvSpPr>
        <p:spPr>
          <a:xfrm>
            <a:off x="7635240" y="1847088"/>
            <a:ext cx="2926080" cy="12984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42A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140F37-9877-4E0A-BAE8-2807F6414E08}"/>
              </a:ext>
            </a:extLst>
          </p:cNvPr>
          <p:cNvSpPr>
            <a:spLocks noGrp="1"/>
          </p:cNvSpPr>
          <p:nvPr/>
        </p:nvSpPr>
        <p:spPr>
          <a:xfrm>
            <a:off x="7781544" y="2011680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Local closure, systemic indeterminacy</a:t>
            </a:r>
            <a:endParaRPr sz="14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07D115-6941-42D1-9ED6-FA06B64BD5FF}"/>
              </a:ext>
            </a:extLst>
          </p:cNvPr>
          <p:cNvSpPr>
            <a:spLocks noGrp="1"/>
          </p:cNvSpPr>
          <p:nvPr/>
        </p:nvSpPr>
        <p:spPr>
          <a:xfrm>
            <a:off x="7781544" y="2404872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A local PASS travels beyond its scope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Uncertainty and lineage disappear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AI review can repeat the same frame</a:t>
            </a:r>
            <a:endParaRPr sz="980"/>
          </a:p>
          <a:p>
            <a:pPr marL="0" indent="0">
              <a:buNone/>
            </a:pPr>
            <a:r>
              <a:rPr sz="980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Human attention saturates</a:t>
            </a:r>
            <a:endParaRPr sz="98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F93350A-399E-48EA-A795-E0DD032FE9B1}"/>
              </a:ext>
            </a:extLst>
          </p:cNvPr>
          <p:cNvSpPr>
            <a:spLocks noGrp="1"/>
          </p:cNvSpPr>
          <p:nvPr/>
        </p:nvSpPr>
        <p:spPr>
          <a:xfrm>
            <a:off x="713232" y="338328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CONDITION AND FAILURE TYPES</a:t>
            </a:r>
            <a:endParaRPr sz="9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6EFDF7A-E6CC-43B1-9605-5C64CF043147}"/>
              </a:ext>
            </a:extLst>
          </p:cNvPr>
          <p:cNvSpPr>
            <a:spLocks noGrp="1"/>
          </p:cNvSpPr>
          <p:nvPr/>
        </p:nvSpPr>
        <p:spPr>
          <a:xfrm>
            <a:off x="685800" y="3675888"/>
            <a:ext cx="3410712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1195E53-301E-4CF0-9038-23D4B98AB76D}"/>
              </a:ext>
            </a:extLst>
          </p:cNvPr>
          <p:cNvSpPr>
            <a:spLocks noGrp="1"/>
          </p:cNvSpPr>
          <p:nvPr/>
        </p:nvSpPr>
        <p:spPr>
          <a:xfrm>
            <a:off x="685800" y="3675888"/>
            <a:ext cx="50292" cy="1490472"/>
          </a:xfrm>
          <a:prstGeom prst="rect">
            <a:avLst/>
          </a:prstGeom>
          <a:solidFill>
            <a:srgbClr val="7A7E84"/>
          </a:solidFill>
          <a:ln w="12700">
            <a:solidFill>
              <a:srgbClr val="7A7E8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E2B2334-3C50-4B0F-B676-60A2519C0662}"/>
              </a:ext>
            </a:extLst>
          </p:cNvPr>
          <p:cNvSpPr>
            <a:spLocks noGrp="1"/>
          </p:cNvSpPr>
          <p:nvPr/>
        </p:nvSpPr>
        <p:spPr>
          <a:xfrm>
            <a:off x="850392" y="3749039"/>
            <a:ext cx="3154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TYPE 0 · Structural non-determination</a:t>
            </a:r>
            <a:endParaRPr sz="1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423F21-4F91-4AC1-B163-1C8F965FFD34}"/>
              </a:ext>
            </a:extLst>
          </p:cNvPr>
          <p:cNvSpPr>
            <a:spLocks noGrp="1"/>
          </p:cNvSpPr>
          <p:nvPr/>
        </p:nvSpPr>
        <p:spPr>
          <a:xfrm>
            <a:off x="850392" y="4206240"/>
            <a:ext cx="3136392" cy="9601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955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Residual indeterminacy is not removable inside the current representation / capability boundary. More processing of the same evidence cannot manufacture the missing distinction.</a:t>
            </a:r>
            <a:endParaRPr sz="955"/>
          </a:p>
          <a:p>
            <a:pPr marL="0" indent="0">
              <a:buNone/>
            </a:pPr>
            <a:endParaRPr sz="955"/>
          </a:p>
          <a:p>
            <a:pPr marL="0" indent="0">
              <a:buNone/>
            </a:pPr>
            <a:r>
              <a:rPr sz="955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Response: preserve the residual, narrow the claim, add a genuinely new information channel or redesign the boundary.</a:t>
            </a:r>
            <a:endParaRPr sz="955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6277FD8-A400-44A9-9F6D-F8EDEF6B9C57}"/>
              </a:ext>
            </a:extLst>
          </p:cNvPr>
          <p:cNvSpPr>
            <a:spLocks noGrp="1"/>
          </p:cNvSpPr>
          <p:nvPr/>
        </p:nvSpPr>
        <p:spPr>
          <a:xfrm>
            <a:off x="4379976" y="3675888"/>
            <a:ext cx="3410712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1C42B79-50FF-4A59-B598-2768C4E8F3E9}"/>
              </a:ext>
            </a:extLst>
          </p:cNvPr>
          <p:cNvSpPr>
            <a:spLocks noGrp="1"/>
          </p:cNvSpPr>
          <p:nvPr/>
        </p:nvSpPr>
        <p:spPr>
          <a:xfrm>
            <a:off x="4379976" y="3675888"/>
            <a:ext cx="50292" cy="1490472"/>
          </a:xfrm>
          <a:prstGeom prst="rect">
            <a:avLst/>
          </a:prstGeom>
          <a:solidFill>
            <a:srgbClr val="006970"/>
          </a:solidFill>
          <a:ln w="12700">
            <a:solidFill>
              <a:srgbClr val="00697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632754F-B960-45CD-B248-014981244278}"/>
              </a:ext>
            </a:extLst>
          </p:cNvPr>
          <p:cNvSpPr>
            <a:spLocks noGrp="1"/>
          </p:cNvSpPr>
          <p:nvPr/>
        </p:nvSpPr>
        <p:spPr>
          <a:xfrm>
            <a:off x="4544568" y="3749039"/>
            <a:ext cx="3154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TYPE 1 · Unbounded unresolved uncertainty</a:t>
            </a:r>
            <a:endParaRPr sz="14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396708-B59E-4CD6-BB64-4093148F2252}"/>
              </a:ext>
            </a:extLst>
          </p:cNvPr>
          <p:cNvSpPr>
            <a:spLocks noGrp="1"/>
          </p:cNvSpPr>
          <p:nvPr/>
        </p:nvSpPr>
        <p:spPr>
          <a:xfrm>
            <a:off x="4544568" y="4206240"/>
            <a:ext cx="3136392" cy="932688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955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Uncertainty is recognized, but no legitimate bounded closure is reached: the system keeps waiting, searching or escalating without an escape condition (indefinite HOLD, paralysis). HOLD is not a safe terminal state.</a:t>
            </a:r>
            <a:endParaRPr sz="955"/>
          </a:p>
          <a:p>
            <a:pPr marL="0" indent="0">
              <a:spcBef>
                <a:spcPts val="500"/>
              </a:spcBef>
              <a:buNone/>
            </a:pPr>
            <a:r>
              <a:rPr sz="955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Response: establish bounded closure: a stop condition plus a qualified posture that keeps the residual explicit.</a:t>
            </a:r>
            <a:endParaRPr sz="955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0424DEA-8C6D-45BF-80EB-BB570125B300}"/>
              </a:ext>
            </a:extLst>
          </p:cNvPr>
          <p:cNvSpPr>
            <a:spLocks noGrp="1"/>
          </p:cNvSpPr>
          <p:nvPr/>
        </p:nvSpPr>
        <p:spPr>
          <a:xfrm>
            <a:off x="8074152" y="3675888"/>
            <a:ext cx="3410712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BE3AF5A-3697-40CB-AF49-57D36F0E36A1}"/>
              </a:ext>
            </a:extLst>
          </p:cNvPr>
          <p:cNvSpPr>
            <a:spLocks noGrp="1"/>
          </p:cNvSpPr>
          <p:nvPr/>
        </p:nvSpPr>
        <p:spPr>
          <a:xfrm>
            <a:off x="8074152" y="3675888"/>
            <a:ext cx="50292" cy="1490472"/>
          </a:xfrm>
          <a:prstGeom prst="rect">
            <a:avLst/>
          </a:prstGeom>
          <a:solidFill>
            <a:srgbClr val="A8642A"/>
          </a:solidFill>
          <a:ln w="12700">
            <a:solidFill>
              <a:srgbClr val="A8642A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B6322E4-033D-47F6-9C31-E080DA689187}"/>
              </a:ext>
            </a:extLst>
          </p:cNvPr>
          <p:cNvSpPr>
            <a:spLocks noGrp="1"/>
          </p:cNvSpPr>
          <p:nvPr/>
        </p:nvSpPr>
        <p:spPr>
          <a:xfrm>
            <a:off x="8238744" y="379476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273F"/>
                </a:solidFill>
                <a:latin typeface="Cambria"/>
                <a:ea typeface="Cambria"/>
                <a:cs typeface="Cambria"/>
              </a:rPr>
              <a:t>TYPE 2 · False certainty</a:t>
            </a:r>
            <a:endParaRPr sz="14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F0B721B-E7D2-4DBD-8C70-24842EE91264}"/>
              </a:ext>
            </a:extLst>
          </p:cNvPr>
          <p:cNvSpPr>
            <a:spLocks noGrp="1"/>
          </p:cNvSpPr>
          <p:nvPr/>
        </p:nvSpPr>
        <p:spPr>
          <a:xfrm>
            <a:off x="8238744" y="4105656"/>
            <a:ext cx="3136392" cy="960120"/>
          </a:xfrm>
          <a:prstGeom prst="rect">
            <a:avLst/>
          </a:prstGeom>
          <a:noFill/>
        </p:spPr>
        <p:txBody>
          <a:bodyPr wrap="square" lIns="254" tIns="254" rIns="254" bIns="254" anchor="t"/>
          <a:lstStyle/>
          <a:p>
            <a:pPr marL="0" indent="0">
              <a:buNone/>
            </a:pPr>
            <a:r>
              <a:rPr sz="955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The system closes by discarding what it does not know: missing input treated as present, low confidence promoted to certainty, a local result treated as globally valid (forced PASS/FAIL, false closure).</a:t>
            </a:r>
            <a:endParaRPr sz="955"/>
          </a:p>
          <a:p>
            <a:pPr marL="0" indent="0">
              <a:spcBef>
                <a:spcPts val="500"/>
              </a:spcBef>
              <a:buNone/>
            </a:pPr>
            <a:r>
              <a:rPr sz="955">
                <a:solidFill>
                  <a:srgbClr val="55595F"/>
                </a:solidFill>
                <a:latin typeface="Calibri"/>
                <a:ea typeface="Calibri"/>
                <a:cs typeface="Calibri"/>
              </a:rPr>
              <a:t>Response: restore uncertainty, scope and provenance, then re-enter the affected scope.</a:t>
            </a:r>
            <a:endParaRPr sz="955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7C4BA65-621E-4BC8-9663-B8CBB5521DF6}"/>
              </a:ext>
            </a:extLst>
          </p:cNvPr>
          <p:cNvSpPr>
            <a:spLocks noGrp="1"/>
          </p:cNvSpPr>
          <p:nvPr/>
        </p:nvSpPr>
        <p:spPr>
          <a:xfrm>
            <a:off x="868680" y="5413248"/>
            <a:ext cx="101498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 i="0">
                <a:solidFill>
                  <a:srgbClr val="585C66"/>
                </a:solidFill>
                <a:latin typeface="Calibri"/>
                <a:ea typeface="Calibri"/>
                <a:cs typeface="Calibri"/>
              </a:rPr>
              <a:t>Ilustrative failure scenarios</a:t>
            </a:r>
            <a:endParaRPr sz="108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6D87A14C-B23D-49E3-885A-DFA30E75B1E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 wrap="square"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4</a:t>
            </a:fld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32DBE09-5E61-48B1-ACCB-FBF486DB74D9}"/>
              </a:ext>
            </a:extLst>
          </p:cNvPr>
          <p:cNvSpPr>
            <a:spLocks noGrp="1"/>
          </p:cNvSpPr>
          <p:nvPr/>
        </p:nvSpPr>
        <p:spPr>
          <a:xfrm>
            <a:off x="685800" y="5769864"/>
            <a:ext cx="5303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50800" anchor="ctr"/>
          <a:lstStyle/>
          <a:p>
            <a:pPr algn="l">
              <a:buNone/>
            </a:pPr>
            <a:r>
              <a:rPr sz="1100" b="1">
                <a:solidFill>
                  <a:srgbClr val="212E4D"/>
                </a:solidFill>
              </a:rPr>
              <a:t>100 Million Tokens — </a:t>
            </a:r>
            <a:r>
              <a:rPr sz="950">
                <a:solidFill>
                  <a:srgbClr val="585C66"/>
                </a:solidFill>
              </a:rPr>
              <a:t>Enterprise evidence compression and false closure under scale. </a:t>
            </a:r>
            <a:r>
              <a:rPr sz="950" b="1">
                <a:solidFill>
                  <a:srgbClr val="0066CC"/>
                </a:solidFill>
                <a:hlinkClick r:id="rId3"/>
              </a:rPr>
              <a:t>GitHub reference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2E3BE96-29AC-4E96-98F7-1ADF5040FC55}"/>
              </a:ext>
            </a:extLst>
          </p:cNvPr>
          <p:cNvSpPr>
            <a:spLocks noGrp="1"/>
          </p:cNvSpPr>
          <p:nvPr/>
        </p:nvSpPr>
        <p:spPr>
          <a:xfrm>
            <a:off x="6121908" y="5769864"/>
            <a:ext cx="5303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50800" anchor="ctr"/>
          <a:lstStyle/>
          <a:p>
            <a:pPr algn="l">
              <a:buNone/>
            </a:pPr>
            <a:r>
              <a:rPr sz="1100" b="1">
                <a:solidFill>
                  <a:srgbClr val="212E4D"/>
                </a:solidFill>
              </a:rPr>
              <a:t>Smart-City Mobility Chaos — </a:t>
            </a:r>
            <a:r>
              <a:rPr sz="950">
                <a:solidFill>
                  <a:srgbClr val="585C66"/>
                </a:solidFill>
              </a:rPr>
              <a:t>Distributed mobility drift and cross-actor systemic divergence. </a:t>
            </a:r>
            <a:r>
              <a:rPr sz="950" b="1">
                <a:solidFill>
                  <a:srgbClr val="0066CC"/>
                </a:solidFill>
                <a:hlinkClick r:id="rId4"/>
              </a:rPr>
              <a:t>GitHub reference</a:t>
            </a:r>
          </a:p>
        </p:txBody>
      </p:sp>
    </p:spTree>
    <p:extLst>
      <p:ext uri="{BB962C8B-B14F-4D97-AF65-F5344CB8AC3E}">
        <p14:creationId xmlns:p14="http://schemas.microsoft.com/office/powerpoint/2010/main" val="157511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03C2A-EDE6-4F29-A34B-C5ADE34E02AE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PROPOSED PROCESS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1A6EEE-EF09-4EAB-9991-53413BC29016}"/>
              </a:ext>
            </a:extLst>
          </p:cNvPr>
          <p:cNvSpPr>
            <a:spLocks noGrp="1"/>
          </p:cNvSpPr>
          <p:nvPr/>
        </p:nvSpPr>
        <p:spPr>
          <a:xfrm>
            <a:off x="566928" y="329184"/>
            <a:ext cx="10972800" cy="16459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11BA3-C90C-4EAC-89FB-AF2D210BC2C2}"/>
              </a:ext>
            </a:extLst>
          </p:cNvPr>
          <p:cNvSpPr>
            <a:spLocks noGrp="1"/>
          </p:cNvSpPr>
          <p:nvPr/>
        </p:nvSpPr>
        <p:spPr>
          <a:xfrm>
            <a:off x="10881360" y="14630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§ 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22ADA-7F11-4646-AC5D-53A8C74E0CED}"/>
              </a:ext>
            </a:extLst>
          </p:cNvPr>
          <p:cNvSpPr>
            <a:spLocks noGrp="1"/>
          </p:cNvSpPr>
          <p:nvPr/>
        </p:nvSpPr>
        <p:spPr>
          <a:xfrm>
            <a:off x="566928" y="676656"/>
            <a:ext cx="10789920" cy="518091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From unresolved ecosystem change to qualified repositioning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BD1609-1773-4E81-A4D0-CFAAD5DA3C30}"/>
              </a:ext>
            </a:extLst>
          </p:cNvPr>
          <p:cNvSpPr>
            <a:spLocks noGrp="1"/>
          </p:cNvSpPr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E6288D-530F-4430-A549-73DD0F71610D}"/>
              </a:ext>
            </a:extLst>
          </p:cNvPr>
          <p:cNvSpPr>
            <a:spLocks noGrp="1"/>
          </p:cNvSpPr>
          <p:nvPr/>
        </p:nvSpPr>
        <p:spPr>
          <a:xfrm>
            <a:off x="566928" y="6492240"/>
            <a:ext cx="10972800" cy="13716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057082-5716-4BCB-A367-75B8CA8609FE}"/>
              </a:ext>
            </a:extLst>
          </p:cNvPr>
          <p:cNvSpPr>
            <a:spLocks noGrp="1"/>
          </p:cNvSpPr>
          <p:nvPr/>
        </p:nvSpPr>
        <p:spPr>
          <a:xfrm>
            <a:off x="566928" y="6528816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Tegrity.AI, part of The Integral Management Society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172088-50EC-4488-A3BA-69A5D8844DBE}"/>
              </a:ext>
            </a:extLst>
          </p:cNvPr>
          <p:cNvSpPr>
            <a:spLocks noGrp="1"/>
          </p:cNvSpPr>
          <p:nvPr/>
        </p:nvSpPr>
        <p:spPr>
          <a:xfrm>
            <a:off x="4114800" y="6528816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Ecosystem Awareness · Positioning architecture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193EA4-CB24-47D0-A4F3-21E636B3F5A0}"/>
              </a:ext>
            </a:extLst>
          </p:cNvPr>
          <p:cNvSpPr>
            <a:spLocks noGrp="1"/>
          </p:cNvSpPr>
          <p:nvPr/>
        </p:nvSpPr>
        <p:spPr>
          <a:xfrm>
            <a:off x="11018520" y="652881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483E7DE4-BD57-4DAE-964E-616105439335}"/>
              </a:ext>
            </a:extLst>
          </p:cNvPr>
          <p:cNvSpPr>
            <a:spLocks noGrp="1"/>
          </p:cNvSpPr>
          <p:nvPr/>
        </p:nvSpPr>
        <p:spPr>
          <a:xfrm>
            <a:off x="566928" y="1133856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Working proposal, not an adopted standard. Top row: the process sequence. Panels below: expansion of selected phases.</a:t>
            </a:r>
          </a:p>
        </p:txBody>
      </p:sp>
      <p:sp>
        <p:nvSpPr>
          <p:cNvPr id="101" name="Badge proposal">
            <a:extLst>
              <a:ext uri="{FF2B5EF4-FFF2-40B4-BE49-F238E27FC236}">
                <a16:creationId xmlns:a16="http://schemas.microsoft.com/office/drawing/2014/main" id="{76673D47-3A06-4329-B8DA-59ED66B1A4B7}"/>
              </a:ext>
            </a:extLst>
          </p:cNvPr>
          <p:cNvSpPr>
            <a:spLocks noGrp="1"/>
          </p:cNvSpPr>
          <p:nvPr/>
        </p:nvSpPr>
        <p:spPr>
          <a:xfrm>
            <a:off x="9052560" y="91440"/>
            <a:ext cx="1463040" cy="219456"/>
          </a:xfrm>
          <a:prstGeom prst="roundRect">
            <a:avLst/>
          </a:prstGeom>
          <a:solidFill>
            <a:srgbClr val="007B8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PROPOSAL PROCESS</a:t>
            </a:r>
          </a:p>
        </p:txBody>
      </p:sp>
      <p:sp>
        <p:nvSpPr>
          <p:cNvPr id="102" name="Process step 0">
            <a:extLst>
              <a:ext uri="{FF2B5EF4-FFF2-40B4-BE49-F238E27FC236}">
                <a16:creationId xmlns:a16="http://schemas.microsoft.com/office/drawing/2014/main" id="{517B6355-DB34-405C-9938-4D1D746CFEC8}"/>
              </a:ext>
            </a:extLst>
          </p:cNvPr>
          <p:cNvSpPr>
            <a:spLocks noGrp="1"/>
          </p:cNvSpPr>
          <p:nvPr/>
        </p:nvSpPr>
        <p:spPr>
          <a:xfrm>
            <a:off x="566928" y="1627632"/>
            <a:ext cx="137160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7629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0 · </a:t>
            </a:r>
            <a:r>
              <a:rPr sz="900" b="1">
                <a:solidFill>
                  <a:srgbClr val="C17629"/>
                </a:solidFill>
                <a:latin typeface="Aptos"/>
                <a:ea typeface="Aptos"/>
                <a:cs typeface="Aptos"/>
              </a:rPr>
              <a:t>Regime Change</a:t>
            </a: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Early Warning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Detect or consume change; identify affected scope</a:t>
            </a:r>
          </a:p>
        </p:txBody>
      </p:sp>
      <p:sp>
        <p:nvSpPr>
          <p:cNvPr id="103" name="Process step 1">
            <a:extLst>
              <a:ext uri="{FF2B5EF4-FFF2-40B4-BE49-F238E27FC236}">
                <a16:creationId xmlns:a16="http://schemas.microsoft.com/office/drawing/2014/main" id="{16B9117A-4BCA-491C-9F68-6B8C032AE91F}"/>
              </a:ext>
            </a:extLst>
          </p:cNvPr>
          <p:cNvSpPr>
            <a:spLocks noGrp="1"/>
          </p:cNvSpPr>
          <p:nvPr/>
        </p:nvSpPr>
        <p:spPr>
          <a:xfrm>
            <a:off x="2180844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1 · Epistemic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Awareness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Qualify participant-local epistemic state</a:t>
            </a:r>
          </a:p>
        </p:txBody>
      </p:sp>
      <p:sp>
        <p:nvSpPr>
          <p:cNvPr id="104" name="Process step 2">
            <a:extLst>
              <a:ext uri="{FF2B5EF4-FFF2-40B4-BE49-F238E27FC236}">
                <a16:creationId xmlns:a16="http://schemas.microsoft.com/office/drawing/2014/main" id="{6164AB89-51DB-4AF3-80CB-5BA82DB74782}"/>
              </a:ext>
            </a:extLst>
          </p:cNvPr>
          <p:cNvSpPr>
            <a:spLocks noGrp="1"/>
          </p:cNvSpPr>
          <p:nvPr/>
        </p:nvSpPr>
        <p:spPr>
          <a:xfrm>
            <a:off x="3794760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2 · Agentic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Citizenship Contract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Apply admissible participation constraints</a:t>
            </a:r>
          </a:p>
        </p:txBody>
      </p:sp>
      <p:sp>
        <p:nvSpPr>
          <p:cNvPr id="105" name="Process step 3">
            <a:extLst>
              <a:ext uri="{FF2B5EF4-FFF2-40B4-BE49-F238E27FC236}">
                <a16:creationId xmlns:a16="http://schemas.microsoft.com/office/drawing/2014/main" id="{8F158232-38E7-4B2F-AEEE-4A1EEAB56986}"/>
              </a:ext>
            </a:extLst>
          </p:cNvPr>
          <p:cNvSpPr>
            <a:spLocks noGrp="1"/>
          </p:cNvSpPr>
          <p:nvPr/>
        </p:nvSpPr>
        <p:spPr>
          <a:xfrm>
            <a:off x="5408676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3 · Ecosystem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Signaling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Exchange bounded qualified state (optional)</a:t>
            </a:r>
          </a:p>
        </p:txBody>
      </p:sp>
      <p:sp>
        <p:nvSpPr>
          <p:cNvPr id="106" name="Process step 4">
            <a:extLst>
              <a:ext uri="{FF2B5EF4-FFF2-40B4-BE49-F238E27FC236}">
                <a16:creationId xmlns:a16="http://schemas.microsoft.com/office/drawing/2014/main" id="{4329262A-0C2C-42B2-BB72-41EC113BD493}"/>
              </a:ext>
            </a:extLst>
          </p:cNvPr>
          <p:cNvSpPr>
            <a:spLocks noGrp="1"/>
          </p:cNvSpPr>
          <p:nvPr/>
        </p:nvSpPr>
        <p:spPr>
          <a:xfrm>
            <a:off x="7022592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4 · Gradient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determination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Rank where more determination still pays</a:t>
            </a:r>
          </a:p>
        </p:txBody>
      </p:sp>
      <p:sp>
        <p:nvSpPr>
          <p:cNvPr id="22" name="Process step 5">
            <a:extLst>
              <a:ext uri="{FF2B5EF4-FFF2-40B4-BE49-F238E27FC236}">
                <a16:creationId xmlns:a16="http://schemas.microsoft.com/office/drawing/2014/main" id="{706D606C-E386-4F91-98D7-A34A3755215C}"/>
              </a:ext>
            </a:extLst>
          </p:cNvPr>
          <p:cNvSpPr>
            <a:spLocks noGrp="1"/>
          </p:cNvSpPr>
          <p:nvPr/>
        </p:nvSpPr>
        <p:spPr>
          <a:xfrm>
            <a:off x="8636508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5 · Ecosystem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Repositioning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Adapt locally; compose globally, without orchestration</a:t>
            </a:r>
          </a:p>
        </p:txBody>
      </p:sp>
      <p:sp>
        <p:nvSpPr>
          <p:cNvPr id="107" name="Process step 6">
            <a:extLst>
              <a:ext uri="{FF2B5EF4-FFF2-40B4-BE49-F238E27FC236}">
                <a16:creationId xmlns:a16="http://schemas.microsoft.com/office/drawing/2014/main" id="{AF72C7D0-9333-4194-A4D4-8F31D7038FBC}"/>
              </a:ext>
            </a:extLst>
          </p:cNvPr>
          <p:cNvSpPr>
            <a:spLocks noGrp="1"/>
          </p:cNvSpPr>
          <p:nvPr/>
        </p:nvSpPr>
        <p:spPr>
          <a:xfrm>
            <a:off x="10250424" y="1627632"/>
            <a:ext cx="137160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2C4A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Human Governance authority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&amp; control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Legitimate owners act; signals ≠ commands</a:t>
            </a:r>
          </a:p>
        </p:txBody>
      </p:sp>
      <p:cxnSp>
        <p:nvCxnSpPr>
          <p:cNvPr id="159" name="Flow 0-1"/>
          <p:cNvCxnSpPr>
            <a:stCxn id="102" idx="3"/>
            <a:endCxn id="103" idx="1"/>
          </p:cNvCxnSpPr>
          <p:nvPr/>
        </p:nvCxnSpPr>
        <p:spPr>
          <a:xfrm>
            <a:off x="1938528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0" name="Flow 1-2"/>
          <p:cNvCxnSpPr>
            <a:stCxn id="103" idx="3"/>
            <a:endCxn id="104" idx="1"/>
          </p:cNvCxnSpPr>
          <p:nvPr/>
        </p:nvCxnSpPr>
        <p:spPr>
          <a:xfrm>
            <a:off x="3552444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1" name="Flow 2-3"/>
          <p:cNvCxnSpPr>
            <a:stCxn id="104" idx="3"/>
            <a:endCxn id="105" idx="1"/>
          </p:cNvCxnSpPr>
          <p:nvPr/>
        </p:nvCxnSpPr>
        <p:spPr>
          <a:xfrm>
            <a:off x="5166360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2" name="Flow 3-4"/>
          <p:cNvCxnSpPr>
            <a:stCxn id="105" idx="3"/>
            <a:endCxn id="106" idx="1"/>
          </p:cNvCxnSpPr>
          <p:nvPr/>
        </p:nvCxnSpPr>
        <p:spPr>
          <a:xfrm>
            <a:off x="6780276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3" name="Flow 4-5"/>
          <p:cNvCxnSpPr>
            <a:stCxn id="106" idx="3"/>
            <a:endCxn id="22" idx="1"/>
          </p:cNvCxnSpPr>
          <p:nvPr/>
        </p:nvCxnSpPr>
        <p:spPr>
          <a:xfrm>
            <a:off x="8394192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4" name="Flow 5-6"/>
          <p:cNvCxnSpPr>
            <a:stCxn id="22" idx="3"/>
            <a:endCxn id="107" idx="1"/>
          </p:cNvCxnSpPr>
          <p:nvPr/>
        </p:nvCxnSpPr>
        <p:spPr>
          <a:xfrm>
            <a:off x="10008108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prstDash val="dash"/>
            <a:tailEnd type="triangle" w="med" len="med"/>
          </a:ln>
        </p:spPr>
      </p:cxnSp>
      <p:sp>
        <p:nvSpPr>
          <p:cNvPr id="114" name="Participant boundary">
            <a:extLst>
              <a:ext uri="{FF2B5EF4-FFF2-40B4-BE49-F238E27FC236}">
                <a16:creationId xmlns:a16="http://schemas.microsoft.com/office/drawing/2014/main" id="{4BA6BC61-0BF4-4712-A4FD-E11266E7ED38}"/>
              </a:ext>
            </a:extLst>
          </p:cNvPr>
          <p:cNvSpPr>
            <a:spLocks noGrp="1"/>
          </p:cNvSpPr>
          <p:nvPr/>
        </p:nvSpPr>
        <p:spPr>
          <a:xfrm>
            <a:off x="10129266" y="1581912"/>
            <a:ext cx="0" cy="859536"/>
          </a:xfrm>
          <a:prstGeom prst="line">
            <a:avLst/>
          </a:prstGeom>
          <a:ln w="12700">
            <a:solidFill>
              <a:srgbClr val="C4CAD4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15" name="Loop up">
            <a:extLst>
              <a:ext uri="{FF2B5EF4-FFF2-40B4-BE49-F238E27FC236}">
                <a16:creationId xmlns:a16="http://schemas.microsoft.com/office/drawing/2014/main" id="{0AB932F0-B549-4108-AEB3-0C81134AA9AC}"/>
              </a:ext>
            </a:extLst>
          </p:cNvPr>
          <p:cNvSpPr>
            <a:spLocks noGrp="1"/>
          </p:cNvSpPr>
          <p:nvPr/>
        </p:nvSpPr>
        <p:spPr>
          <a:xfrm flipV="1">
            <a:off x="10936224" y="1435608"/>
            <a:ext cx="0" cy="192024"/>
          </a:xfrm>
          <a:prstGeom prst="line">
            <a:avLst/>
          </a:prstGeom>
          <a:ln w="13970">
            <a:solidFill>
              <a:srgbClr val="C1762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Loop across">
            <a:extLst>
              <a:ext uri="{FF2B5EF4-FFF2-40B4-BE49-F238E27FC236}">
                <a16:creationId xmlns:a16="http://schemas.microsoft.com/office/drawing/2014/main" id="{06A65A58-BB32-4A44-B23B-C36B1CA075D8}"/>
              </a:ext>
            </a:extLst>
          </p:cNvPr>
          <p:cNvSpPr>
            <a:spLocks noGrp="1"/>
          </p:cNvSpPr>
          <p:nvPr/>
        </p:nvSpPr>
        <p:spPr>
          <a:xfrm flipH="1">
            <a:off x="1252728" y="1435608"/>
            <a:ext cx="9683496" cy="0"/>
          </a:xfrm>
          <a:prstGeom prst="line">
            <a:avLst/>
          </a:prstGeom>
          <a:ln w="13970">
            <a:solidFill>
              <a:srgbClr val="C1762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Loop down">
            <a:extLst>
              <a:ext uri="{FF2B5EF4-FFF2-40B4-BE49-F238E27FC236}">
                <a16:creationId xmlns:a16="http://schemas.microsoft.com/office/drawing/2014/main" id="{C44B0C9F-E4A3-45DF-B1D0-4473CC2C10D2}"/>
              </a:ext>
            </a:extLst>
          </p:cNvPr>
          <p:cNvSpPr>
            <a:spLocks noGrp="1"/>
          </p:cNvSpPr>
          <p:nvPr/>
        </p:nvSpPr>
        <p:spPr>
          <a:xfrm>
            <a:off x="1252728" y="1435608"/>
            <a:ext cx="0" cy="192024"/>
          </a:xfrm>
          <a:prstGeom prst="line">
            <a:avLst/>
          </a:prstGeom>
          <a:ln w="13970">
            <a:solidFill>
              <a:srgbClr val="C1762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Loop label">
            <a:extLst>
              <a:ext uri="{FF2B5EF4-FFF2-40B4-BE49-F238E27FC236}">
                <a16:creationId xmlns:a16="http://schemas.microsoft.com/office/drawing/2014/main" id="{5EF6659A-4EAA-43B5-988F-49F1E38B2165}"/>
              </a:ext>
            </a:extLst>
          </p:cNvPr>
          <p:cNvSpPr>
            <a:spLocks noGrp="1"/>
          </p:cNvSpPr>
          <p:nvPr/>
        </p:nvSpPr>
        <p:spPr>
          <a:xfrm>
            <a:off x="3291840" y="1344168"/>
            <a:ext cx="5577840" cy="1828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C17629"/>
                </a:solidFill>
                <a:latin typeface="Aptos"/>
                <a:ea typeface="Aptos"/>
                <a:cs typeface="Aptos"/>
              </a:rPr>
              <a:t>↺  changed authority, envelope or control configuration re-enters as new ecosystem state</a:t>
            </a:r>
          </a:p>
        </p:txBody>
      </p:sp>
      <p:sp>
        <p:nvSpPr>
          <p:cNvPr id="37" name="Panel Regime change detect">
            <a:extLst>
              <a:ext uri="{FF2B5EF4-FFF2-40B4-BE49-F238E27FC236}">
                <a16:creationId xmlns:a16="http://schemas.microsoft.com/office/drawing/2014/main" id="{8A7CD422-9742-4E90-B80B-8D3B855CBBE1}"/>
              </a:ext>
            </a:extLst>
          </p:cNvPr>
          <p:cNvSpPr>
            <a:spLocks noGrp="1"/>
          </p:cNvSpPr>
          <p:nvPr/>
        </p:nvSpPr>
        <p:spPr>
          <a:xfrm>
            <a:off x="566928" y="2697480"/>
            <a:ext cx="1847088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17629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Regime change detector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three operating states</a:t>
            </a:r>
          </a:p>
        </p:txBody>
      </p:sp>
      <p:sp>
        <p:nvSpPr>
          <p:cNvPr id="119" name="Expand step 0">
            <a:extLst>
              <a:ext uri="{FF2B5EF4-FFF2-40B4-BE49-F238E27FC236}">
                <a16:creationId xmlns:a16="http://schemas.microsoft.com/office/drawing/2014/main" id="{39078E69-0FBE-4F75-9CB1-C702572C56F0}"/>
              </a:ext>
            </a:extLst>
          </p:cNvPr>
          <p:cNvSpPr>
            <a:spLocks noGrp="1"/>
          </p:cNvSpPr>
          <p:nvPr/>
        </p:nvSpPr>
        <p:spPr>
          <a:xfrm>
            <a:off x="1252728" y="2395728"/>
            <a:ext cx="0" cy="301752"/>
          </a:xfrm>
          <a:prstGeom prst="line">
            <a:avLst/>
          </a:prstGeom>
          <a:ln w="12700">
            <a:solidFill>
              <a:srgbClr val="A0A8B6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tate 1 · Normal operation">
            <a:extLst>
              <a:ext uri="{FF2B5EF4-FFF2-40B4-BE49-F238E27FC236}">
                <a16:creationId xmlns:a16="http://schemas.microsoft.com/office/drawing/2014/main" id="{491654FA-69EB-4BE3-833E-FA1F2459861D}"/>
              </a:ext>
            </a:extLst>
          </p:cNvPr>
          <p:cNvSpPr>
            <a:spLocks noGrp="1"/>
          </p:cNvSpPr>
          <p:nvPr/>
        </p:nvSpPr>
        <p:spPr>
          <a:xfrm>
            <a:off x="640080" y="3383280"/>
            <a:ext cx="1700784" cy="566928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1 · Normal operation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Inside the known regime; the current frame holds.</a:t>
            </a:r>
          </a:p>
        </p:txBody>
      </p:sp>
      <p:sp>
        <p:nvSpPr>
          <p:cNvPr id="121" name="State 2 · Containment mode">
            <a:extLst>
              <a:ext uri="{FF2B5EF4-FFF2-40B4-BE49-F238E27FC236}">
                <a16:creationId xmlns:a16="http://schemas.microsoft.com/office/drawing/2014/main" id="{C0321FCE-250A-4341-B7E0-E492D7C7E896}"/>
              </a:ext>
            </a:extLst>
          </p:cNvPr>
          <p:cNvSpPr>
            <a:spLocks noGrp="1"/>
          </p:cNvSpPr>
          <p:nvPr/>
        </p:nvSpPr>
        <p:spPr>
          <a:xfrm>
            <a:off x="640080" y="3986784"/>
            <a:ext cx="1700784" cy="566928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 w="9525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2 · Containment mode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Near known regime limits: reduce exposure, keep a workable frame.</a:t>
            </a:r>
          </a:p>
        </p:txBody>
      </p:sp>
      <p:sp>
        <p:nvSpPr>
          <p:cNvPr id="122" name="State 3 · Transition/Migration">
            <a:extLst>
              <a:ext uri="{FF2B5EF4-FFF2-40B4-BE49-F238E27FC236}">
                <a16:creationId xmlns:a16="http://schemas.microsoft.com/office/drawing/2014/main" id="{86593AE9-ED2B-47E7-90D4-F876FF121026}"/>
              </a:ext>
            </a:extLst>
          </p:cNvPr>
          <p:cNvSpPr>
            <a:spLocks noGrp="1"/>
          </p:cNvSpPr>
          <p:nvPr/>
        </p:nvSpPr>
        <p:spPr>
          <a:xfrm>
            <a:off x="640080" y="4590288"/>
            <a:ext cx="1700784" cy="566928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9525">
            <a:solidFill>
              <a:srgbClr val="C65D4E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C65D4E"/>
                </a:solidFill>
                <a:latin typeface="Aptos"/>
                <a:ea typeface="Aptos"/>
                <a:cs typeface="Aptos"/>
              </a:rPr>
              <a:t>3 · Transition/Migration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Out of the known regime: qualify a new frame.</a:t>
            </a:r>
          </a:p>
        </p:txBody>
      </p:sp>
      <p:sp>
        <p:nvSpPr>
          <p:cNvPr id="27" name="Panel Epistemic state — 4 ">
            <a:extLst>
              <a:ext uri="{FF2B5EF4-FFF2-40B4-BE49-F238E27FC236}">
                <a16:creationId xmlns:a16="http://schemas.microsoft.com/office/drawing/2014/main" id="{BA84E12A-5615-46D2-A4D1-4BA250EEF7FA}"/>
              </a:ext>
            </a:extLst>
          </p:cNvPr>
          <p:cNvSpPr>
            <a:spLocks noGrp="1"/>
          </p:cNvSpPr>
          <p:nvPr/>
        </p:nvSpPr>
        <p:spPr>
          <a:xfrm>
            <a:off x="2532888" y="2697480"/>
            <a:ext cx="2788920" cy="2542032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9050">
            <a:solidFill>
              <a:srgbClr val="007B82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Epistemic state — 4 components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A / B / C / D, relative to the active decision window</a:t>
            </a:r>
          </a:p>
        </p:txBody>
      </p:sp>
      <p:sp>
        <p:nvSpPr>
          <p:cNvPr id="123" name="Epistemic state label">
            <a:extLst>
              <a:ext uri="{FF2B5EF4-FFF2-40B4-BE49-F238E27FC236}">
                <a16:creationId xmlns:a16="http://schemas.microsoft.com/office/drawing/2014/main" id="{6F986745-2163-4481-B181-186ED3ECF9F3}"/>
              </a:ext>
            </a:extLst>
          </p:cNvPr>
          <p:cNvSpPr>
            <a:spLocks noGrp="1"/>
          </p:cNvSpPr>
          <p:nvPr/>
        </p:nvSpPr>
        <p:spPr>
          <a:xfrm>
            <a:off x="2615184" y="5038344"/>
            <a:ext cx="2624328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Not equal quadrants; the balance is decision-specific.</a:t>
            </a:r>
          </a:p>
        </p:txBody>
      </p:sp>
      <p:sp>
        <p:nvSpPr>
          <p:cNvPr id="124" name="Expand step 1">
            <a:extLst>
              <a:ext uri="{FF2B5EF4-FFF2-40B4-BE49-F238E27FC236}">
                <a16:creationId xmlns:a16="http://schemas.microsoft.com/office/drawing/2014/main" id="{4F519B35-5DAA-42B4-9A11-59DF5A73D1B9}"/>
              </a:ext>
            </a:extLst>
          </p:cNvPr>
          <p:cNvSpPr>
            <a:spLocks noGrp="1"/>
          </p:cNvSpPr>
          <p:nvPr/>
        </p:nvSpPr>
        <p:spPr>
          <a:xfrm>
            <a:off x="2866644" y="2395728"/>
            <a:ext cx="0" cy="301752"/>
          </a:xfrm>
          <a:prstGeom prst="line">
            <a:avLst/>
          </a:prstGeom>
          <a:ln w="12700">
            <a:solidFill>
              <a:srgbClr val="A0A8B6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Component A">
            <a:extLst>
              <a:ext uri="{FF2B5EF4-FFF2-40B4-BE49-F238E27FC236}">
                <a16:creationId xmlns:a16="http://schemas.microsoft.com/office/drawing/2014/main" id="{833A6830-8B62-4F91-B47F-11ED6B796CE0}"/>
              </a:ext>
            </a:extLst>
          </p:cNvPr>
          <p:cNvSpPr>
            <a:spLocks noGrp="1"/>
          </p:cNvSpPr>
          <p:nvPr/>
        </p:nvSpPr>
        <p:spPr>
          <a:xfrm>
            <a:off x="2624328" y="3383280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A · Sufficiently determined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Inside the window; sufficient for the relying decision, within scope and freshness.</a:t>
            </a:r>
          </a:p>
        </p:txBody>
      </p:sp>
      <p:sp>
        <p:nvSpPr>
          <p:cNvPr id="126" name="Component B">
            <a:extLst>
              <a:ext uri="{FF2B5EF4-FFF2-40B4-BE49-F238E27FC236}">
                <a16:creationId xmlns:a16="http://schemas.microsoft.com/office/drawing/2014/main" id="{B471F6DB-7FAB-44B0-9932-1B8F632B5DF0}"/>
              </a:ext>
            </a:extLst>
          </p:cNvPr>
          <p:cNvSpPr>
            <a:spLocks noGrp="1"/>
          </p:cNvSpPr>
          <p:nvPr/>
        </p:nvSpPr>
        <p:spPr>
          <a:xfrm>
            <a:off x="3977640" y="3383280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B · Recognized, unresolved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Inside the window; kept explicit as unresolved, never promoted to certainty.</a:t>
            </a:r>
          </a:p>
        </p:txBody>
      </p:sp>
      <p:sp>
        <p:nvSpPr>
          <p:cNvPr id="127" name="Component C">
            <a:extLst>
              <a:ext uri="{FF2B5EF4-FFF2-40B4-BE49-F238E27FC236}">
                <a16:creationId xmlns:a16="http://schemas.microsoft.com/office/drawing/2014/main" id="{1856D2F8-FED5-4A8D-940B-B9B719769030}"/>
              </a:ext>
            </a:extLst>
          </p:cNvPr>
          <p:cNvSpPr>
            <a:spLocks noGrp="1"/>
          </p:cNvSpPr>
          <p:nvPr/>
        </p:nvSpPr>
        <p:spPr>
          <a:xfrm>
            <a:off x="2624328" y="4215384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C · Potentially obtainable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Outside the window; expand only if decision value justifies cost and time.</a:t>
            </a:r>
          </a:p>
        </p:txBody>
      </p:sp>
      <p:sp>
        <p:nvSpPr>
          <p:cNvPr id="128" name="Component D">
            <a:extLst>
              <a:ext uri="{FF2B5EF4-FFF2-40B4-BE49-F238E27FC236}">
                <a16:creationId xmlns:a16="http://schemas.microsoft.com/office/drawing/2014/main" id="{8F66D00B-A29A-488D-87CE-ED6AB2C9527E}"/>
              </a:ext>
            </a:extLst>
          </p:cNvPr>
          <p:cNvSpPr>
            <a:spLocks noGrp="1"/>
          </p:cNvSpPr>
          <p:nvPr/>
        </p:nvSpPr>
        <p:spPr>
          <a:xfrm>
            <a:off x="3977640" y="4215384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D · Structural residual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Beyond the window; not presumed discoverable. Preserved, not ignored.</a:t>
            </a:r>
          </a:p>
        </p:txBody>
      </p:sp>
      <p:sp>
        <p:nvSpPr>
          <p:cNvPr id="129" name="Panel EHD · Epistemic Hand">
            <a:extLst>
              <a:ext uri="{FF2B5EF4-FFF2-40B4-BE49-F238E27FC236}">
                <a16:creationId xmlns:a16="http://schemas.microsoft.com/office/drawing/2014/main" id="{118B7937-6006-4DF1-8153-C10F2E214264}"/>
              </a:ext>
            </a:extLst>
          </p:cNvPr>
          <p:cNvSpPr>
            <a:spLocks noGrp="1"/>
          </p:cNvSpPr>
          <p:nvPr/>
        </p:nvSpPr>
        <p:spPr>
          <a:xfrm>
            <a:off x="5458968" y="2697480"/>
            <a:ext cx="1828800" cy="2542032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9050">
            <a:solidFill>
              <a:srgbClr val="007B82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EHD · Epistemic Handoff Descriptor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what crosses a boundary</a:t>
            </a:r>
          </a:p>
        </p:txBody>
      </p:sp>
      <p:sp>
        <p:nvSpPr>
          <p:cNvPr id="130" name="Expand step 3">
            <a:extLst>
              <a:ext uri="{FF2B5EF4-FFF2-40B4-BE49-F238E27FC236}">
                <a16:creationId xmlns:a16="http://schemas.microsoft.com/office/drawing/2014/main" id="{36020603-C6C6-4995-8317-C357EEC6A01D}"/>
              </a:ext>
            </a:extLst>
          </p:cNvPr>
          <p:cNvSpPr>
            <a:spLocks noGrp="1"/>
          </p:cNvSpPr>
          <p:nvPr/>
        </p:nvSpPr>
        <p:spPr>
          <a:xfrm>
            <a:off x="6094476" y="2395728"/>
            <a:ext cx="0" cy="301752"/>
          </a:xfrm>
          <a:prstGeom prst="line">
            <a:avLst/>
          </a:prstGeom>
          <a:ln w="12700">
            <a:solidFill>
              <a:srgbClr val="A0A8B6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EHD fields">
            <a:extLst>
              <a:ext uri="{FF2B5EF4-FFF2-40B4-BE49-F238E27FC236}">
                <a16:creationId xmlns:a16="http://schemas.microsoft.com/office/drawing/2014/main" id="{CDDED5F8-8DDE-4A09-9F01-50140C86581C}"/>
              </a:ext>
            </a:extLst>
          </p:cNvPr>
          <p:cNvSpPr>
            <a:spLocks noGrp="1"/>
          </p:cNvSpPr>
          <p:nvPr/>
        </p:nvSpPr>
        <p:spPr>
          <a:xfrm>
            <a:off x="5541264" y="3383280"/>
            <a:ext cx="1664208" cy="181051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MSCA reference or delta (where material)</a:t>
            </a:r>
          </a:p>
          <a:p>
            <a:pPr>
              <a:spcBef>
                <a:spcPts val="200"/>
              </a:spcBef>
              <a:buNone/>
            </a:pPr>
            <a:r>
              <a:rPr sz="78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</a:t>
            </a: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scope and receiving decision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provenance / source dependence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epistemic state composition (A–D)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revalidation conditions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Bounded semantic handoff: not a bus, not consensus, not authority. Upstream lineage stays reconstructible on re-emission.</a:t>
            </a:r>
          </a:p>
        </p:txBody>
      </p:sp>
      <p:sp>
        <p:nvSpPr>
          <p:cNvPr id="132" name="Panel Positioning opportun">
            <a:extLst>
              <a:ext uri="{FF2B5EF4-FFF2-40B4-BE49-F238E27FC236}">
                <a16:creationId xmlns:a16="http://schemas.microsoft.com/office/drawing/2014/main" id="{0FFD818B-517B-4AFE-A5EB-B3617E21EF38}"/>
              </a:ext>
            </a:extLst>
          </p:cNvPr>
          <p:cNvSpPr>
            <a:spLocks noGrp="1"/>
          </p:cNvSpPr>
          <p:nvPr/>
        </p:nvSpPr>
        <p:spPr>
          <a:xfrm>
            <a:off x="7424928" y="2697480"/>
            <a:ext cx="2331720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17629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Positioning opportunity gradient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decision-scoped epistemic opportunity</a:t>
            </a:r>
          </a:p>
        </p:txBody>
      </p:sp>
      <p:sp>
        <p:nvSpPr>
          <p:cNvPr id="133" name="Expand step 4">
            <a:extLst>
              <a:ext uri="{FF2B5EF4-FFF2-40B4-BE49-F238E27FC236}">
                <a16:creationId xmlns:a16="http://schemas.microsoft.com/office/drawing/2014/main" id="{73C1ACEF-3203-42E3-824F-37215C7CCAD3}"/>
              </a:ext>
            </a:extLst>
          </p:cNvPr>
          <p:cNvSpPr>
            <a:spLocks noGrp="1"/>
          </p:cNvSpPr>
          <p:nvPr/>
        </p:nvSpPr>
        <p:spPr>
          <a:xfrm>
            <a:off x="7708392" y="2395728"/>
            <a:ext cx="0" cy="301752"/>
          </a:xfrm>
          <a:prstGeom prst="line">
            <a:avLst/>
          </a:prstGeom>
          <a:ln w="12700">
            <a:solidFill>
              <a:srgbClr val="A0A8B6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Gradient body">
            <a:extLst>
              <a:ext uri="{FF2B5EF4-FFF2-40B4-BE49-F238E27FC236}">
                <a16:creationId xmlns:a16="http://schemas.microsoft.com/office/drawing/2014/main" id="{EF4C3839-235A-4590-B94E-6E6F6B1C7A5A}"/>
              </a:ext>
            </a:extLst>
          </p:cNvPr>
          <p:cNvSpPr>
            <a:spLocks noGrp="1"/>
          </p:cNvSpPr>
          <p:nvPr/>
        </p:nvSpPr>
        <p:spPr>
          <a:xfrm>
            <a:off x="7507224" y="3346704"/>
            <a:ext cx="2167128" cy="186537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Where can additional determination still change the decision before cost, privacy, capacity or time remove the option to act?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74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Context goal / risk optimization: </a:t>
            </a:r>
            <a:r>
              <a:rPr sz="72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weighed against the owner’s goal (Objective Envelope), mission risk / tolerated residual, burden and response horizon.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Ranks admissible epistemic actions: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observe or re-observe a source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request or verify a handoff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redirect the Semantic Window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request requalification from an owner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680" b="0" i="1">
                <a:solidFill>
                  <a:srgbClr val="C17629"/>
                </a:solidFill>
                <a:latin typeface="Aptos"/>
                <a:ea typeface="Aptos"/>
                <a:cs typeface="Aptos"/>
              </a:rPr>
              <a:t>Advisory, not a mathematical gradient · signal ≠ command.</a:t>
            </a:r>
          </a:p>
        </p:txBody>
      </p:sp>
      <p:sp>
        <p:nvSpPr>
          <p:cNvPr id="135" name="Panel Choreography">
            <a:extLst>
              <a:ext uri="{FF2B5EF4-FFF2-40B4-BE49-F238E27FC236}">
                <a16:creationId xmlns:a16="http://schemas.microsoft.com/office/drawing/2014/main" id="{D78CD6A8-B52D-4E47-8140-3BE710D28140}"/>
              </a:ext>
            </a:extLst>
          </p:cNvPr>
          <p:cNvSpPr>
            <a:spLocks noGrp="1"/>
          </p:cNvSpPr>
          <p:nvPr/>
        </p:nvSpPr>
        <p:spPr>
          <a:xfrm>
            <a:off x="9893808" y="2697480"/>
            <a:ext cx="1728216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C4A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Choreography, not orchestration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Article II · 01H · 01I</a:t>
            </a:r>
          </a:p>
        </p:txBody>
      </p:sp>
      <p:sp>
        <p:nvSpPr>
          <p:cNvPr id="136" name="Expand step 6">
            <a:extLst>
              <a:ext uri="{FF2B5EF4-FFF2-40B4-BE49-F238E27FC236}">
                <a16:creationId xmlns:a16="http://schemas.microsoft.com/office/drawing/2014/main" id="{5472D921-AA56-42CC-BBEF-C16DCAB0AD25}"/>
              </a:ext>
            </a:extLst>
          </p:cNvPr>
          <p:cNvSpPr>
            <a:spLocks noGrp="1"/>
          </p:cNvSpPr>
          <p:nvPr/>
        </p:nvSpPr>
        <p:spPr>
          <a:xfrm>
            <a:off x="10936224" y="2395728"/>
            <a:ext cx="0" cy="301752"/>
          </a:xfrm>
          <a:prstGeom prst="line">
            <a:avLst/>
          </a:prstGeom>
          <a:ln w="12700">
            <a:solidFill>
              <a:srgbClr val="A0A8B6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Choreography body">
            <a:extLst>
              <a:ext uri="{FF2B5EF4-FFF2-40B4-BE49-F238E27FC236}">
                <a16:creationId xmlns:a16="http://schemas.microsoft.com/office/drawing/2014/main" id="{E88C962F-3417-4135-9127-8C46CEC58BDE}"/>
              </a:ext>
            </a:extLst>
          </p:cNvPr>
          <p:cNvSpPr>
            <a:spLocks noGrp="1"/>
          </p:cNvSpPr>
          <p:nvPr/>
        </p:nvSpPr>
        <p:spPr>
          <a:xfrm>
            <a:off x="9966960" y="3218688"/>
            <a:ext cx="1591056" cy="19933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Autonomy kept: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each agent repositions locally (Level 1).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Partial </a:t>
            </a:r>
            <a:r>
              <a:rPr sz="710" b="1" i="0" dirty="0" err="1">
                <a:solidFill>
                  <a:srgbClr val="1F2C4A"/>
                </a:solidFill>
                <a:latin typeface="Aptos"/>
                <a:ea typeface="Aptos"/>
                <a:cs typeface="Aptos"/>
              </a:rPr>
              <a:t>signalling</a:t>
            </a: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none, bilateral or a small set, never required ecosystem-wide.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Level 2: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qualified signals and the MSCA gradient shape local choices.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Yes: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risk/objective optimization; clear contract and governance.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Not required: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a central orchestrator or global state.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670" b="0" i="1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Convergence to local–global optima is a hypothesis under test, not a guarantee.</a:t>
            </a:r>
          </a:p>
        </p:txBody>
      </p:sp>
      <p:sp>
        <p:nvSpPr>
          <p:cNvPr id="138" name="MSCA bar">
            <a:extLst>
              <a:ext uri="{FF2B5EF4-FFF2-40B4-BE49-F238E27FC236}">
                <a16:creationId xmlns:a16="http://schemas.microsoft.com/office/drawing/2014/main" id="{B198B108-1D9D-462C-A455-5219D41C3615}"/>
              </a:ext>
            </a:extLst>
          </p:cNvPr>
          <p:cNvSpPr>
            <a:spLocks noGrp="1"/>
          </p:cNvSpPr>
          <p:nvPr/>
        </p:nvSpPr>
        <p:spPr>
          <a:xfrm>
            <a:off x="566928" y="5376672"/>
            <a:ext cx="11055096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1F2C4A"/>
            </a:solidFill>
          </a:ln>
        </p:spPr>
        <p:txBody>
          <a:bodyPr wrap="square" lIns="64008" tIns="45720" rIns="64008" bIns="45720" anchor="t">
            <a:noAutofit/>
          </a:bodyPr>
          <a:lstStyle/>
          <a:p>
            <a:endParaRPr sz="800"/>
          </a:p>
        </p:txBody>
      </p:sp>
      <p:sp>
        <p:nvSpPr>
          <p:cNvPr id="139" name="MSCA tag">
            <a:extLst>
              <a:ext uri="{FF2B5EF4-FFF2-40B4-BE49-F238E27FC236}">
                <a16:creationId xmlns:a16="http://schemas.microsoft.com/office/drawing/2014/main" id="{F3A04202-8946-404C-BC47-3A68AEB8FA61}"/>
              </a:ext>
            </a:extLst>
          </p:cNvPr>
          <p:cNvSpPr>
            <a:spLocks noGrp="1"/>
          </p:cNvSpPr>
          <p:nvPr/>
        </p:nvSpPr>
        <p:spPr>
          <a:xfrm>
            <a:off x="658368" y="5468112"/>
            <a:ext cx="2103120" cy="384048"/>
          </a:xfrm>
          <a:prstGeom prst="roundRect">
            <a:avLst/>
          </a:prstGeom>
          <a:solidFill>
            <a:srgbClr val="1F2C4A"/>
          </a:solidFill>
          <a:ln>
            <a:noFill/>
          </a:ln>
        </p:spPr>
        <p:txBody>
          <a:bodyPr wrap="square" lIns="36576" tIns="9144" rIns="36576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MSCA · Minimum Sufficient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Architecture</a:t>
            </a:r>
          </a:p>
        </p:txBody>
      </p:sp>
      <p:sp>
        <p:nvSpPr>
          <p:cNvPr id="140" name="MSCA text">
            <a:extLst>
              <a:ext uri="{FF2B5EF4-FFF2-40B4-BE49-F238E27FC236}">
                <a16:creationId xmlns:a16="http://schemas.microsoft.com/office/drawing/2014/main" id="{C54DD751-B187-453E-93D0-0922A0767893}"/>
              </a:ext>
            </a:extLst>
          </p:cNvPr>
          <p:cNvSpPr>
            <a:spLocks noGrp="1"/>
          </p:cNvSpPr>
          <p:nvPr/>
        </p:nvSpPr>
        <p:spPr>
          <a:xfrm>
            <a:off x="2880360" y="5431536"/>
            <a:ext cx="86410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Cross-cutting control-sufficiency check — </a:t>
            </a:r>
            <a:r>
              <a:rPr sz="8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S Objective Envelope · E operating environment · C coordination scope · P intervention mechanisms · M enabling means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Re-assessed whenever the frame, envelope or authority is requalified. May change observation or coordination means; never creates authority and does not own the Semantic Window.</a:t>
            </a:r>
          </a:p>
        </p:txBody>
      </p:sp>
    </p:spTree>
    <p:extLst>
      <p:ext uri="{BB962C8B-B14F-4D97-AF65-F5344CB8AC3E}">
        <p14:creationId xmlns:p14="http://schemas.microsoft.com/office/powerpoint/2010/main" val="90558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EFC53-9073-4DE9-A48D-6BDBD37096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E31B5-AB1F-4603-AE7A-2A86A2870DCF}"/>
              </a:ext>
            </a:extLst>
          </p:cNvPr>
          <p:cNvSpPr>
            <a:spLocks noGrp="1"/>
          </p:cNvSpPr>
          <p:nvPr/>
        </p:nvSpPr>
        <p:spPr>
          <a:xfrm>
            <a:off x="475488" y="310896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0FDF9-FD96-429B-BB51-0D74DEF72F23}"/>
              </a:ext>
            </a:extLst>
          </p:cNvPr>
          <p:cNvSpPr>
            <a:spLocks noGrp="1"/>
          </p:cNvSpPr>
          <p:nvPr/>
        </p:nvSpPr>
        <p:spPr>
          <a:xfrm>
            <a:off x="475488" y="676656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92129B-C475-40D7-A75D-EA495681FBFE}"/>
              </a:ext>
            </a:extLst>
          </p:cNvPr>
          <p:cNvSpPr>
            <a:spLocks noGrp="1"/>
          </p:cNvSpPr>
          <p:nvPr/>
        </p:nvSpPr>
        <p:spPr>
          <a:xfrm>
            <a:off x="658368" y="1062281"/>
            <a:ext cx="2880360" cy="411480"/>
          </a:xfrm>
          <a:prstGeom prst="roundRect">
            <a:avLst/>
          </a:prstGeom>
          <a:solidFill>
            <a:srgbClr val="808EA0"/>
          </a:solidFill>
          <a:ln w="17780">
            <a:solidFill>
              <a:srgbClr val="808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/ INSTITUTIONAL GOVERNANCE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A42936-C2A6-421F-9DAC-A5597C11CE5C}"/>
              </a:ext>
            </a:extLst>
          </p:cNvPr>
          <p:cNvSpPr>
            <a:spLocks noGrp="1"/>
          </p:cNvSpPr>
          <p:nvPr/>
        </p:nvSpPr>
        <p:spPr>
          <a:xfrm>
            <a:off x="2670048" y="1554480"/>
            <a:ext cx="7498079" cy="4443984"/>
          </a:xfrm>
          <a:prstGeom prst="roundRect">
            <a:avLst/>
          </a:prstGeom>
          <a:solidFill>
            <a:srgbClr val="ECF4F9"/>
          </a:solidFill>
          <a:ln w="27940">
            <a:solidFill>
              <a:srgbClr val="4E9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0C7AD-5330-4BC1-8FAF-CD6FC1CF04A4}"/>
              </a:ext>
            </a:extLst>
          </p:cNvPr>
          <p:cNvSpPr>
            <a:spLocks noGrp="1"/>
          </p:cNvSpPr>
          <p:nvPr/>
        </p:nvSpPr>
        <p:spPr>
          <a:xfrm>
            <a:off x="6537960" y="171907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0706E-9615-4273-9CD5-414364AFE968}"/>
              </a:ext>
            </a:extLst>
          </p:cNvPr>
          <p:cNvSpPr>
            <a:spLocks noGrp="1"/>
          </p:cNvSpPr>
          <p:nvPr/>
        </p:nvSpPr>
        <p:spPr>
          <a:xfrm>
            <a:off x="6675120" y="1993392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26AC2E-4808-4D73-B342-F351381FD169}"/>
              </a:ext>
            </a:extLst>
          </p:cNvPr>
          <p:cNvSpPr>
            <a:spLocks noGrp="1"/>
          </p:cNvSpPr>
          <p:nvPr/>
        </p:nvSpPr>
        <p:spPr>
          <a:xfrm>
            <a:off x="566928" y="1847088"/>
            <a:ext cx="4389120" cy="1207008"/>
          </a:xfrm>
          <a:prstGeom prst="roundRect">
            <a:avLst/>
          </a:prstGeom>
          <a:solidFill>
            <a:srgbClr val="F3E9DF"/>
          </a:solidFill>
          <a:ln w="25400">
            <a:solidFill>
              <a:srgbClr val="E29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67FA9-743F-4637-95A4-91A67D36A5E1}"/>
              </a:ext>
            </a:extLst>
          </p:cNvPr>
          <p:cNvSpPr>
            <a:spLocks noGrp="1"/>
          </p:cNvSpPr>
          <p:nvPr/>
        </p:nvSpPr>
        <p:spPr>
          <a:xfrm>
            <a:off x="1005840" y="2066543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A8681F"/>
                </a:solidFill>
                <a:latin typeface="Aptos"/>
                <a:ea typeface="Aptos"/>
                <a:cs typeface="Aptos"/>
              </a:rPr>
              <a:t>AGENTIC CITIZENSHIP CONTRACT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58525-C2DC-4CA7-A1D6-97A5F5EA3B5D}"/>
              </a:ext>
            </a:extLst>
          </p:cNvPr>
          <p:cNvSpPr>
            <a:spLocks noGrp="1"/>
          </p:cNvSpPr>
          <p:nvPr/>
        </p:nvSpPr>
        <p:spPr>
          <a:xfrm>
            <a:off x="914400" y="235915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4542F"/>
                </a:solidFill>
                <a:latin typeface="Aptos"/>
                <a:ea typeface="Aptos"/>
                <a:cs typeface="Aptos"/>
              </a:rPr>
              <a:t>membership · admissible roles · obligations · prohibitions</a:t>
            </a:r>
          </a:p>
          <a:p>
            <a:pPr algn="ctr">
              <a:buNone/>
            </a:pPr>
            <a:r>
              <a:rPr sz="950" b="0" i="0">
                <a:solidFill>
                  <a:srgbClr val="74542F"/>
                </a:solidFill>
                <a:latin typeface="Aptos"/>
                <a:ea typeface="Aptos"/>
                <a:cs typeface="Aptos"/>
              </a:rPr>
              <a:t>autonomy bounds · hard constraints · revocation / exit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DA38B-41F7-4205-A853-7969686D980C}"/>
              </a:ext>
            </a:extLst>
          </p:cNvPr>
          <p:cNvSpPr>
            <a:spLocks noGrp="1"/>
          </p:cNvSpPr>
          <p:nvPr/>
        </p:nvSpPr>
        <p:spPr>
          <a:xfrm>
            <a:off x="987552" y="2852928"/>
            <a:ext cx="3520440" cy="13716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850" b="0" i="1">
                <a:solidFill>
                  <a:srgbClr val="74542F"/>
                </a:solidFill>
                <a:latin typeface="Aptos"/>
                <a:ea typeface="Aptos"/>
                <a:cs typeface="Aptos"/>
              </a:rPr>
              <a:t>Defines admissible conditions — not each trajectory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C3CA6D39-B042-4AC8-97B1-009C086FBC26}"/>
              </a:ext>
            </a:extLst>
          </p:cNvPr>
          <p:cNvSpPr>
            <a:spLocks noGrp="1"/>
          </p:cNvSpPr>
          <p:nvPr/>
        </p:nvSpPr>
        <p:spPr>
          <a:xfrm>
            <a:off x="2057400" y="1490472"/>
            <a:ext cx="0" cy="356616"/>
          </a:xfrm>
          <a:prstGeom prst="line">
            <a:avLst/>
          </a:prstGeom>
          <a:ln w="12700">
            <a:solidFill>
              <a:srgbClr val="5D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5ACE021-547F-4D5F-B4FE-9634D001F503}"/>
              </a:ext>
            </a:extLst>
          </p:cNvPr>
          <p:cNvSpPr>
            <a:spLocks noGrp="1"/>
          </p:cNvSpPr>
          <p:nvPr/>
        </p:nvSpPr>
        <p:spPr>
          <a:xfrm>
            <a:off x="3886200" y="2331720"/>
            <a:ext cx="4754880" cy="2011680"/>
          </a:xfrm>
          <a:prstGeom prst="roundRect">
            <a:avLst/>
          </a:prstGeom>
          <a:solidFill>
            <a:srgbClr val="D3E3EC"/>
          </a:solidFill>
          <a:ln w="27940">
            <a:solidFill>
              <a:srgbClr val="00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97B1B-9FE3-4DA4-AEA6-328C3066E9C8}"/>
              </a:ext>
            </a:extLst>
          </p:cNvPr>
          <p:cNvSpPr>
            <a:spLocks noGrp="1"/>
          </p:cNvSpPr>
          <p:nvPr/>
        </p:nvSpPr>
        <p:spPr>
          <a:xfrm>
            <a:off x="5577840" y="25420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E9485-0F69-4AB6-BE4A-C6BBEF1921A3}"/>
              </a:ext>
            </a:extLst>
          </p:cNvPr>
          <p:cNvSpPr>
            <a:spLocks noGrp="1"/>
          </p:cNvSpPr>
          <p:nvPr/>
        </p:nvSpPr>
        <p:spPr>
          <a:xfrm>
            <a:off x="4800600" y="2907792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FF82214-7A61-4999-B98B-708F7CCC7C44}"/>
              </a:ext>
            </a:extLst>
          </p:cNvPr>
          <p:cNvSpPr>
            <a:spLocks noGrp="1"/>
          </p:cNvSpPr>
          <p:nvPr/>
        </p:nvSpPr>
        <p:spPr>
          <a:xfrm>
            <a:off x="4572000" y="3218688"/>
            <a:ext cx="16916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5A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ctr">
              <a:buNone/>
            </a:pPr>
            <a:r>
              <a:rPr sz="94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Current epistemic position</a:t>
            </a:r>
          </a:p>
          <a:p>
            <a:pPr algn="ctr">
              <a:spcBef>
                <a:spcPts val="300"/>
              </a:spcBef>
              <a:buNone/>
            </a:pPr>
            <a:r>
              <a:rPr sz="840">
                <a:solidFill>
                  <a:srgbClr val="5D6572"/>
                </a:solidFill>
                <a:latin typeface="Aptos"/>
                <a:ea typeface="Aptos"/>
                <a:cs typeface="Aptos"/>
              </a:rPr>
              <a:t>Uᵢ · Wᵢ(d,t) · A/B/C/D · residual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93C5A4-C2D0-4493-B57A-9D46D3C31721}"/>
              </a:ext>
            </a:extLst>
          </p:cNvPr>
          <p:cNvSpPr>
            <a:spLocks noGrp="1"/>
          </p:cNvSpPr>
          <p:nvPr/>
        </p:nvSpPr>
        <p:spPr>
          <a:xfrm>
            <a:off x="6473952" y="3218688"/>
            <a:ext cx="1901952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5A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ctr">
              <a:buNone/>
            </a:pPr>
            <a:r>
              <a:rPr sz="94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Opportunity “gradient”</a:t>
            </a:r>
          </a:p>
          <a:p>
            <a:pPr algn="ctr">
              <a:spcBef>
                <a:spcPts val="300"/>
              </a:spcBef>
              <a:buNone/>
            </a:pPr>
            <a:r>
              <a:rPr sz="840">
                <a:solidFill>
                  <a:srgbClr val="5D6572"/>
                </a:solidFill>
                <a:latin typeface="Aptos"/>
                <a:ea typeface="Aptos"/>
                <a:cs typeface="Aptos"/>
              </a:rPr>
              <a:t>where is the next epistemic effort</a:t>
            </a:r>
          </a:p>
          <a:p>
            <a:pPr algn="ctr">
              <a:buNone/>
            </a:pPr>
            <a:r>
              <a:rPr sz="840">
                <a:solidFill>
                  <a:srgbClr val="5D6572"/>
                </a:solidFill>
                <a:latin typeface="Aptos"/>
                <a:ea typeface="Aptos"/>
                <a:cs typeface="Aptos"/>
              </a:rPr>
              <a:t>most valuable?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6FF86B4-2E1E-42DB-805D-F620693D2B1F}"/>
              </a:ext>
            </a:extLst>
          </p:cNvPr>
          <p:cNvSpPr>
            <a:spLocks noGrp="1"/>
          </p:cNvSpPr>
          <p:nvPr/>
        </p:nvSpPr>
        <p:spPr>
          <a:xfrm>
            <a:off x="9253728" y="2377440"/>
            <a:ext cx="2359152" cy="23957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9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ctr">
              <a:buNone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5323079-6281-4574-86E7-99278830EA5D}"/>
              </a:ext>
            </a:extLst>
          </p:cNvPr>
          <p:cNvSpPr>
            <a:spLocks noGrp="1"/>
          </p:cNvSpPr>
          <p:nvPr/>
        </p:nvSpPr>
        <p:spPr>
          <a:xfrm>
            <a:off x="5440680" y="4142232"/>
            <a:ext cx="2560320" cy="402336"/>
          </a:xfrm>
          <a:prstGeom prst="roundRect">
            <a:avLst/>
          </a:prstGeom>
          <a:solidFill>
            <a:srgbClr val="C65D4E"/>
          </a:solidFill>
          <a:ln w="17780">
            <a:solidFill>
              <a:srgbClr val="C6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anchor="t"/>
          <a:lstStyle/>
          <a:p>
            <a:pPr algn="ctr">
              <a:buNone/>
            </a:pPr>
            <a:r>
              <a:rPr sz="11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REGIME AWARENESS · frame</a:t>
            </a:r>
          </a:p>
          <a:p>
            <a:pPr algn="ctr">
              <a:buNone/>
            </a:pPr>
            <a:r>
              <a:rPr sz="11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requalification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43D23B-F84B-4266-A3DB-E4A0D7070420}"/>
              </a:ext>
            </a:extLst>
          </p:cNvPr>
          <p:cNvSpPr>
            <a:spLocks noGrp="1"/>
          </p:cNvSpPr>
          <p:nvPr/>
        </p:nvSpPr>
        <p:spPr>
          <a:xfrm>
            <a:off x="3401568" y="2816352"/>
            <a:ext cx="932688" cy="932688"/>
          </a:xfrm>
          <a:prstGeom prst="ellipse">
            <a:avLst/>
          </a:prstGeom>
          <a:solidFill>
            <a:srgbClr val="7A4FBA"/>
          </a:solidFill>
          <a:ln w="25400">
            <a:solidFill>
              <a:srgbClr val="6037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4D58A-2883-4E62-8713-599C24EDF177}"/>
              </a:ext>
            </a:extLst>
          </p:cNvPr>
          <p:cNvSpPr>
            <a:spLocks noGrp="1"/>
          </p:cNvSpPr>
          <p:nvPr/>
        </p:nvSpPr>
        <p:spPr>
          <a:xfrm>
            <a:off x="3538728" y="307238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MSCA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607570-3FDA-4F8A-A654-D02AA5288725}"/>
              </a:ext>
            </a:extLst>
          </p:cNvPr>
          <p:cNvSpPr>
            <a:spLocks noGrp="1"/>
          </p:cNvSpPr>
          <p:nvPr/>
        </p:nvSpPr>
        <p:spPr>
          <a:xfrm>
            <a:off x="3502152" y="3355848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3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sufficiency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C100CA-4531-4A80-BD9B-78B7F0476B95}"/>
              </a:ext>
            </a:extLst>
          </p:cNvPr>
          <p:cNvSpPr>
            <a:spLocks noGrp="1"/>
          </p:cNvSpPr>
          <p:nvPr/>
        </p:nvSpPr>
        <p:spPr>
          <a:xfrm>
            <a:off x="2761488" y="3844857"/>
            <a:ext cx="2697480" cy="146304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900" b="1" i="0">
                <a:solidFill>
                  <a:srgbClr val="7A4FBA"/>
                </a:solidFill>
                <a:latin typeface="Aptos"/>
                <a:ea typeface="Aptos"/>
                <a:cs typeface="Aptos"/>
              </a:rPr>
              <a:t>Bridge across Citizenship · Positioning · EA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98C8BA0-FC13-46D2-AD35-60AC1FB4AD73}"/>
              </a:ext>
            </a:extLst>
          </p:cNvPr>
          <p:cNvSpPr>
            <a:spLocks noGrp="1"/>
          </p:cNvSpPr>
          <p:nvPr/>
        </p:nvSpPr>
        <p:spPr>
          <a:xfrm>
            <a:off x="960120" y="5102352"/>
            <a:ext cx="8641080" cy="457200"/>
          </a:xfrm>
          <a:prstGeom prst="roundRect">
            <a:avLst/>
          </a:prstGeom>
          <a:solidFill>
            <a:srgbClr val="44A784"/>
          </a:solidFill>
          <a:ln w="17780">
            <a:solidFill>
              <a:srgbClr val="3B9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AEE390-E08C-4AA2-90C8-9958AD0523E3}"/>
              </a:ext>
            </a:extLst>
          </p:cNvPr>
          <p:cNvSpPr>
            <a:spLocks noGrp="1"/>
          </p:cNvSpPr>
          <p:nvPr/>
        </p:nvSpPr>
        <p:spPr>
          <a:xfrm>
            <a:off x="1298448" y="5212080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EHD / EPISTEMIC SIGNALING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54B870-D2E2-4E41-85BE-20253473E08A}"/>
              </a:ext>
            </a:extLst>
          </p:cNvPr>
          <p:cNvSpPr>
            <a:spLocks noGrp="1"/>
          </p:cNvSpPr>
          <p:nvPr/>
        </p:nvSpPr>
        <p:spPr>
          <a:xfrm>
            <a:off x="3840480" y="5175504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inside EA: semantic qualification &amp; UNKNOWN</a:t>
            </a:r>
          </a:p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lineage preservation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40CBF6-7BCE-4D9E-906D-14A997D5ABA2}"/>
              </a:ext>
            </a:extLst>
          </p:cNvPr>
          <p:cNvSpPr>
            <a:spLocks noGrp="1"/>
          </p:cNvSpPr>
          <p:nvPr/>
        </p:nvSpPr>
        <p:spPr>
          <a:xfrm>
            <a:off x="6492240" y="5175504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outside EA: transport · peers · channels</a:t>
            </a:r>
          </a:p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membership may vary</a:t>
            </a:r>
          </a:p>
        </p:txBody>
      </p:sp>
      <p:sp>
        <p:nvSpPr>
          <p:cNvPr id="29" name="Connector 28">
            <a:extLst>
              <a:ext uri="{FF2B5EF4-FFF2-40B4-BE49-F238E27FC236}">
                <a16:creationId xmlns:a16="http://schemas.microsoft.com/office/drawing/2014/main" id="{CE891D4B-53FE-4B3E-9FD3-B4FE6B06C6B1}"/>
              </a:ext>
            </a:extLst>
          </p:cNvPr>
          <p:cNvSpPr>
            <a:spLocks noGrp="1"/>
          </p:cNvSpPr>
          <p:nvPr/>
        </p:nvSpPr>
        <p:spPr>
          <a:xfrm>
            <a:off x="8375904" y="3675887"/>
            <a:ext cx="859536" cy="0"/>
          </a:xfrm>
          <a:prstGeom prst="line">
            <a:avLst/>
          </a:prstGeom>
          <a:ln w="20320">
            <a:solidFill>
              <a:srgbClr val="569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4374D3B3-5ACE-4C83-97F1-6FC673A17A84}"/>
              </a:ext>
            </a:extLst>
          </p:cNvPr>
          <p:cNvSpPr>
            <a:spLocks noGrp="1"/>
          </p:cNvSpPr>
          <p:nvPr/>
        </p:nvSpPr>
        <p:spPr>
          <a:xfrm flipH="1">
            <a:off x="7360920" y="4233672"/>
            <a:ext cx="640080" cy="0"/>
          </a:xfrm>
          <a:prstGeom prst="line">
            <a:avLst/>
          </a:prstGeom>
          <a:ln w="17780">
            <a:solidFill>
              <a:srgbClr val="C65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9F1C3F-93E6-4272-88D8-F9010F8B1D5E}"/>
              </a:ext>
            </a:extLst>
          </p:cNvPr>
          <p:cNvSpPr>
            <a:spLocks noGrp="1"/>
          </p:cNvSpPr>
          <p:nvPr/>
        </p:nvSpPr>
        <p:spPr>
          <a:xfrm>
            <a:off x="640080" y="61447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09D18D-63C9-4E71-998A-CED41D0948E6}"/>
              </a:ext>
            </a:extLst>
          </p:cNvPr>
          <p:cNvSpPr>
            <a:spLocks noGrp="1"/>
          </p:cNvSpPr>
          <p:nvPr/>
        </p:nvSpPr>
        <p:spPr>
          <a:xfrm>
            <a:off x="1481328" y="6126480"/>
            <a:ext cx="909828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A16D1-17CB-4BBF-BFC9-D204F15B68C9}"/>
              </a:ext>
            </a:extLst>
          </p:cNvPr>
          <p:cNvSpPr>
            <a:spLocks noGrp="1"/>
          </p:cNvSpPr>
          <p:nvPr/>
        </p:nvSpPr>
        <p:spPr>
          <a:xfrm>
            <a:off x="9966960" y="6446520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F2CA30-2655-4EEF-8477-4BFFECA76B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42A9A3-CF03-41FF-B96D-3A225E1489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DFC85F-082D-4C0D-9043-7378B3AA0D6C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0332720" cy="436017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Architecture map — where each mechanism lives - boundaries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809FCC-0C0A-4038-AE3C-64BA47DA6B76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0607040" cy="1828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Citizenship defines admissible space; Positioning contains the participant’s situated state; EA qualifies what is known and where epistemic effort has value.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9BD89F-487D-4AEC-A085-1176F3A27885}"/>
              </a:ext>
            </a:extLst>
          </p:cNvPr>
          <p:cNvSpPr>
            <a:spLocks noGrp="1"/>
          </p:cNvSpPr>
          <p:nvPr/>
        </p:nvSpPr>
        <p:spPr>
          <a:xfrm>
            <a:off x="5897880" y="1664208"/>
            <a:ext cx="3977639" cy="566928"/>
          </a:xfrm>
          <a:prstGeom prst="rect">
            <a:avLst/>
          </a:prstGeom>
          <a:solidFill>
            <a:srgbClr val="EC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A0DF8-C38C-4A43-A094-D37724FE7BC3}"/>
              </a:ext>
            </a:extLst>
          </p:cNvPr>
          <p:cNvSpPr>
            <a:spLocks noGrp="1"/>
          </p:cNvSpPr>
          <p:nvPr/>
        </p:nvSpPr>
        <p:spPr>
          <a:xfrm>
            <a:off x="5989320" y="1700784"/>
            <a:ext cx="3749039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1520" b="1">
                <a:solidFill>
                  <a:srgbClr val="276383"/>
                </a:solidFill>
                <a:latin typeface="Aptos"/>
                <a:ea typeface="Aptos"/>
                <a:cs typeface="Aptos"/>
              </a:rPr>
              <a:t>AGENT / ECOSYSTEM</a:t>
            </a:r>
          </a:p>
          <a:p>
            <a:pPr algn="ctr">
              <a:buNone/>
            </a:pPr>
            <a:r>
              <a:rPr sz="1520" b="1">
                <a:solidFill>
                  <a:srgbClr val="276383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C89A54-0964-4375-B132-EC52C37D9F86}"/>
              </a:ext>
            </a:extLst>
          </p:cNvPr>
          <p:cNvSpPr>
            <a:spLocks noGrp="1"/>
          </p:cNvSpPr>
          <p:nvPr/>
        </p:nvSpPr>
        <p:spPr>
          <a:xfrm>
            <a:off x="6080760" y="2139696"/>
            <a:ext cx="3566160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919" b="0">
                <a:solidFill>
                  <a:srgbClr val="4A7084"/>
                </a:solidFill>
                <a:latin typeface="Aptos"/>
                <a:ea typeface="Aptos"/>
                <a:cs typeface="Aptos"/>
              </a:rPr>
              <a:t>Where the participant is situated — and how it can adapt / reposition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437DC2-473A-425F-BE36-18879211388F}"/>
              </a:ext>
            </a:extLst>
          </p:cNvPr>
          <p:cNvSpPr>
            <a:spLocks noGrp="1"/>
          </p:cNvSpPr>
          <p:nvPr/>
        </p:nvSpPr>
        <p:spPr>
          <a:xfrm>
            <a:off x="4663440" y="2432304"/>
            <a:ext cx="3246120" cy="658368"/>
          </a:xfrm>
          <a:prstGeom prst="rect">
            <a:avLst/>
          </a:prstGeom>
          <a:solidFill>
            <a:srgbClr val="D3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75B6D-46BA-48C3-80DC-5E8ED22424C1}"/>
              </a:ext>
            </a:extLst>
          </p:cNvPr>
          <p:cNvSpPr>
            <a:spLocks noGrp="1"/>
          </p:cNvSpPr>
          <p:nvPr/>
        </p:nvSpPr>
        <p:spPr>
          <a:xfrm>
            <a:off x="5166360" y="2496312"/>
            <a:ext cx="22402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1420" b="1">
                <a:solidFill>
                  <a:srgbClr val="1E5B75"/>
                </a:solidFill>
                <a:latin typeface="Aptos"/>
                <a:ea typeface="Aptos"/>
                <a:cs typeface="Aptos"/>
              </a:rPr>
              <a:t>ECOSYSTEM AWARENESS</a:t>
            </a:r>
          </a:p>
          <a:p>
            <a:pPr algn="ctr">
              <a:buNone/>
            </a:pPr>
            <a:r>
              <a:rPr sz="1420" b="1">
                <a:solidFill>
                  <a:srgbClr val="1E5B75"/>
                </a:solidFill>
                <a:latin typeface="Aptos"/>
                <a:ea typeface="Aptos"/>
                <a:cs typeface="Aptos"/>
              </a:rPr>
              <a:t>(EA)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0B3D16-03FC-4774-B011-A97E57220771}"/>
              </a:ext>
            </a:extLst>
          </p:cNvPr>
          <p:cNvSpPr>
            <a:spLocks noGrp="1"/>
          </p:cNvSpPr>
          <p:nvPr/>
        </p:nvSpPr>
        <p:spPr>
          <a:xfrm>
            <a:off x="4754880" y="2980944"/>
            <a:ext cx="3063240" cy="14630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919" b="0">
                <a:solidFill>
                  <a:srgbClr val="34677E"/>
                </a:solidFill>
                <a:latin typeface="Aptos"/>
                <a:ea typeface="Aptos"/>
                <a:cs typeface="Aptos"/>
              </a:rPr>
              <a:t>Qualifies the participant-local epistemic position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CCA962-68F8-4E47-B6FF-451954D649FE}"/>
              </a:ext>
            </a:extLst>
          </p:cNvPr>
          <p:cNvSpPr>
            <a:spLocks noGrp="1"/>
          </p:cNvSpPr>
          <p:nvPr/>
        </p:nvSpPr>
        <p:spPr>
          <a:xfrm>
            <a:off x="9308592" y="2432304"/>
            <a:ext cx="2249424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92EAA-E346-4E3A-9A84-D40C7F6BD849}"/>
              </a:ext>
            </a:extLst>
          </p:cNvPr>
          <p:cNvSpPr>
            <a:spLocks noGrp="1"/>
          </p:cNvSpPr>
          <p:nvPr/>
        </p:nvSpPr>
        <p:spPr>
          <a:xfrm>
            <a:off x="9345168" y="2468880"/>
            <a:ext cx="2176272" cy="329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276383"/>
                </a:solidFill>
                <a:latin typeface="Aptos"/>
                <a:ea typeface="Aptos"/>
                <a:cs typeface="Aptos"/>
              </a:rPr>
              <a:t>REPOSITIONING /</a:t>
            </a:r>
          </a:p>
          <a:p>
            <a:pPr algn="ctr">
              <a:buNone/>
            </a:pPr>
            <a:r>
              <a:rPr sz="1019" b="1">
                <a:solidFill>
                  <a:srgbClr val="276383"/>
                </a:solidFill>
                <a:latin typeface="Aptos"/>
                <a:ea typeface="Aptos"/>
                <a:cs typeface="Aptos"/>
              </a:rPr>
              <a:t>ADAPTATION</a:t>
            </a:r>
          </a:p>
        </p:txBody>
      </p:sp>
      <p:sp>
        <p:nvSpPr>
          <p:cNvPr id="46" name="Glocal explanation">
            <a:extLst>
              <a:ext uri="{FF2B5EF4-FFF2-40B4-BE49-F238E27FC236}">
                <a16:creationId xmlns:a16="http://schemas.microsoft.com/office/drawing/2014/main" id="{C28B9E82-B7DE-44A6-977A-DA71BE93BD01}"/>
              </a:ext>
            </a:extLst>
          </p:cNvPr>
          <p:cNvSpPr>
            <a:spLocks noGrp="1"/>
          </p:cNvSpPr>
          <p:nvPr/>
        </p:nvSpPr>
        <p:spPr>
          <a:xfrm>
            <a:off x="9381744" y="2834640"/>
            <a:ext cx="2121408" cy="2103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Local → global (“glocal”)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Choreographed, not orchestrated: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each participant repositions itself; no conductor issues moves.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Level 1 · local: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a locally sufficient position under its own objective, authority and MSCA.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Level 2 · ecosystem-informed: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qualified signals change the evidence others use, not their commands.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Glocal epistemic balance: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positions sufficient for each local decision and compatible across participants.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66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Working hypothesis: no equilibrium or convergence is claimed.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AB5078-B49D-4F9A-A057-D27B2DEA0F2B}"/>
              </a:ext>
            </a:extLst>
          </p:cNvPr>
          <p:cNvSpPr>
            <a:spLocks noGrp="1"/>
          </p:cNvSpPr>
          <p:nvPr/>
        </p:nvSpPr>
        <p:spPr>
          <a:xfrm>
            <a:off x="0" y="5925312"/>
            <a:ext cx="12191695" cy="932688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D8BD66-B93C-46BA-847E-F855E800B014}"/>
              </a:ext>
            </a:extLst>
          </p:cNvPr>
          <p:cNvSpPr>
            <a:spLocks noGrp="1"/>
          </p:cNvSpPr>
          <p:nvPr/>
        </p:nvSpPr>
        <p:spPr>
          <a:xfrm>
            <a:off x="640080" y="6089904"/>
            <a:ext cx="86868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Key</a:t>
            </a:r>
          </a:p>
          <a:p>
            <a:pPr algn="l">
              <a:buNone/>
            </a:pPr>
            <a:r>
              <a:rPr sz="1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boundary: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4C3C7D-1CCC-4073-9EDD-90CDC4456972}"/>
              </a:ext>
            </a:extLst>
          </p:cNvPr>
          <p:cNvSpPr>
            <a:spLocks noGrp="1"/>
          </p:cNvSpPr>
          <p:nvPr/>
        </p:nvSpPr>
        <p:spPr>
          <a:xfrm>
            <a:off x="1536192" y="6071616"/>
            <a:ext cx="9098280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919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Citizenship constrains admissible participation. EA qualifies situated knowledge and opportunity. Positioning includes the actual repositioning. MSCA bridges requirements, knowledge and controllability. EHD crosses boundaries without requiring shared citizenship or a global state.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9AD239-94E7-49C4-910D-676E22A650F6}"/>
              </a:ext>
            </a:extLst>
          </p:cNvPr>
          <p:cNvSpPr>
            <a:spLocks noGrp="1"/>
          </p:cNvSpPr>
          <p:nvPr/>
        </p:nvSpPr>
        <p:spPr>
          <a:xfrm>
            <a:off x="10698480" y="6537960"/>
            <a:ext cx="502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B1ADFE-87DA-42FD-9275-593EC56528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0D4BA8-E956-4DED-B54D-246A59331379}"/>
              </a:ext>
            </a:extLst>
          </p:cNvPr>
          <p:cNvSpPr>
            <a:spLocks noGrp="1"/>
          </p:cNvSpPr>
          <p:nvPr/>
        </p:nvSpPr>
        <p:spPr>
          <a:xfrm>
            <a:off x="566928" y="128016"/>
            <a:ext cx="2560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PROPOSED ARCHITECTURE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4DDCDF-1243-4990-9D76-1383DBF0ADA7}"/>
              </a:ext>
            </a:extLst>
          </p:cNvPr>
          <p:cNvSpPr>
            <a:spLocks noGrp="1"/>
          </p:cNvSpPr>
          <p:nvPr/>
        </p:nvSpPr>
        <p:spPr>
          <a:xfrm>
            <a:off x="10881360" y="12801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§ 05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083B8B-4DA8-4630-A52D-7EE7478AC541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972800" cy="18288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39AF9A8-C201-4346-A618-9CF9B5A480DB}"/>
              </a:ext>
            </a:extLst>
          </p:cNvPr>
          <p:cNvSpPr>
            <a:spLocks noGrp="1"/>
          </p:cNvSpPr>
          <p:nvPr/>
        </p:nvSpPr>
        <p:spPr>
          <a:xfrm>
            <a:off x="566928" y="6492240"/>
            <a:ext cx="10972800" cy="10972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1C88A0-111A-42D6-9D8C-9748F1E53A72}"/>
              </a:ext>
            </a:extLst>
          </p:cNvPr>
          <p:cNvSpPr>
            <a:spLocks noGrp="1"/>
          </p:cNvSpPr>
          <p:nvPr/>
        </p:nvSpPr>
        <p:spPr>
          <a:xfrm>
            <a:off x="566928" y="6528816"/>
            <a:ext cx="31089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Tegrity.AI, part of The Integral Management Society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F82D5D-8288-4CE5-997B-954EF39A1D3C}"/>
              </a:ext>
            </a:extLst>
          </p:cNvPr>
          <p:cNvSpPr>
            <a:spLocks noGrp="1"/>
          </p:cNvSpPr>
          <p:nvPr/>
        </p:nvSpPr>
        <p:spPr>
          <a:xfrm>
            <a:off x="4114800" y="6528816"/>
            <a:ext cx="36576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8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Ecosystem Awareness · Positioning architecture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E4DD3B-5680-4A27-A994-3B93BE775236}"/>
              </a:ext>
            </a:extLst>
          </p:cNvPr>
          <p:cNvSpPr>
            <a:spLocks noGrp="1"/>
          </p:cNvSpPr>
          <p:nvPr/>
        </p:nvSpPr>
        <p:spPr>
          <a:xfrm>
            <a:off x="11018520" y="6528816"/>
            <a:ext cx="36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61373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50204C4-576C-4BD3-A27A-FE709401C4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CC525A-693C-4C5A-9C45-85582F021DEB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891FA7-9CF7-4CDC-B621-FFD7AC408EEA}"/>
              </a:ext>
            </a:extLst>
          </p:cNvPr>
          <p:cNvSpPr>
            <a:spLocks noGrp="1"/>
          </p:cNvSpPr>
          <p:nvPr/>
        </p:nvSpPr>
        <p:spPr>
          <a:xfrm>
            <a:off x="11018520" y="6547104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1" name="Title">
            <a:extLst>
              <a:ext uri="{FF2B5EF4-FFF2-40B4-BE49-F238E27FC236}">
                <a16:creationId xmlns:a16="http://schemas.microsoft.com/office/drawing/2014/main" id="{177716D4-2D17-4599-9361-3553DFC052D8}"/>
              </a:ext>
            </a:extLst>
          </p:cNvPr>
          <p:cNvSpPr>
            <a:spLocks noGrp="1"/>
          </p:cNvSpPr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Positioning / Awareness — subsystem inputs and outputs</a:t>
            </a:r>
          </a:p>
        </p:txBody>
      </p:sp>
      <p:sp>
        <p:nvSpPr>
          <p:cNvPr id="52" name="Subtitle">
            <a:extLst>
              <a:ext uri="{FF2B5EF4-FFF2-40B4-BE49-F238E27FC236}">
                <a16:creationId xmlns:a16="http://schemas.microsoft.com/office/drawing/2014/main" id="{E290C597-A0AC-42D0-850B-AB09CF17A673}"/>
              </a:ext>
            </a:extLst>
          </p:cNvPr>
          <p:cNvSpPr>
            <a:spLocks noGrp="1"/>
          </p:cNvSpPr>
          <p:nvPr/>
        </p:nvSpPr>
        <p:spPr>
          <a:xfrm>
            <a:off x="384048" y="548640"/>
            <a:ext cx="113385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Interfaces as defined in corpus doc 04. Green = inputs to EA; orange = EA outputs to that function — requests or qualified state, never commands or authority.</a:t>
            </a:r>
          </a:p>
        </p:txBody>
      </p:sp>
      <p:sp>
        <p:nvSpPr>
          <p:cNvPr id="101" name="Subsystem Human / Institutional Go">
            <a:extLst>
              <a:ext uri="{FF2B5EF4-FFF2-40B4-BE49-F238E27FC236}">
                <a16:creationId xmlns:a16="http://schemas.microsoft.com/office/drawing/2014/main" id="{3381D30E-876C-4D47-91EC-C7FF716513DE}"/>
              </a:ext>
            </a:extLst>
          </p:cNvPr>
          <p:cNvSpPr>
            <a:spLocks noGrp="1"/>
          </p:cNvSpPr>
          <p:nvPr/>
        </p:nvSpPr>
        <p:spPr>
          <a:xfrm>
            <a:off x="274320" y="98755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 / Institutional Governance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Objectives, criticality, tolerated residual, deadlines and control options.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O1 Mission / Objective · IF-S13 Trust framework</a:t>
            </a:r>
          </a:p>
        </p:txBody>
      </p:sp>
      <p:sp>
        <p:nvSpPr>
          <p:cNvPr id="102" name="IN chip">
            <a:extLst>
              <a:ext uri="{FF2B5EF4-FFF2-40B4-BE49-F238E27FC236}">
                <a16:creationId xmlns:a16="http://schemas.microsoft.com/office/drawing/2014/main" id="{924F3F1F-724E-4B3A-9825-684320B39887}"/>
              </a:ext>
            </a:extLst>
          </p:cNvPr>
          <p:cNvSpPr>
            <a:spLocks noGrp="1"/>
          </p:cNvSpPr>
          <p:nvPr/>
        </p:nvSpPr>
        <p:spPr>
          <a:xfrm>
            <a:off x="2505456" y="98755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→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objective and material decision domains · criticality, deadline, tolerated residual · authority refs</a:t>
            </a:r>
          </a:p>
        </p:txBody>
      </p:sp>
      <p:sp>
        <p:nvSpPr>
          <p:cNvPr id="103" name="OUT chip">
            <a:extLst>
              <a:ext uri="{FF2B5EF4-FFF2-40B4-BE49-F238E27FC236}">
                <a16:creationId xmlns:a16="http://schemas.microsoft.com/office/drawing/2014/main" id="{4A09B22A-084D-4D94-A6C5-80A43DEE6239}"/>
              </a:ext>
            </a:extLst>
          </p:cNvPr>
          <p:cNvSpPr>
            <a:spLocks noGrp="1"/>
          </p:cNvSpPr>
          <p:nvPr/>
        </p:nvSpPr>
        <p:spPr>
          <a:xfrm>
            <a:off x="2505456" y="160020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←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F6 qualified posture · affected domains · F7 domain-targeted requalification</a:t>
            </a:r>
          </a:p>
        </p:txBody>
      </p:sp>
      <p:sp>
        <p:nvSpPr>
          <p:cNvPr id="104" name="Subsystem Identity &amp; Delegated Aut">
            <a:extLst>
              <a:ext uri="{FF2B5EF4-FFF2-40B4-BE49-F238E27FC236}">
                <a16:creationId xmlns:a16="http://schemas.microsoft.com/office/drawing/2014/main" id="{35A9D533-2283-4A8B-9893-C6F284A3301D}"/>
              </a:ext>
            </a:extLst>
          </p:cNvPr>
          <p:cNvSpPr>
            <a:spLocks noGrp="1"/>
          </p:cNvSpPr>
          <p:nvPr/>
        </p:nvSpPr>
        <p:spPr>
          <a:xfrm>
            <a:off x="274320" y="240487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Identity &amp; Delegated Authority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Who/what is acting, on whose behalf, under which mandate and scope.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IF-S1 Identity · IF-S2 Authority / Delegation</a:t>
            </a:r>
          </a:p>
        </p:txBody>
      </p:sp>
      <p:sp>
        <p:nvSpPr>
          <p:cNvPr id="105" name="IN chip">
            <a:extLst>
              <a:ext uri="{FF2B5EF4-FFF2-40B4-BE49-F238E27FC236}">
                <a16:creationId xmlns:a16="http://schemas.microsoft.com/office/drawing/2014/main" id="{1C4A70D8-59E1-47DA-8FD2-E851B25B4792}"/>
              </a:ext>
            </a:extLst>
          </p:cNvPr>
          <p:cNvSpPr>
            <a:spLocks noGrp="1"/>
          </p:cNvSpPr>
          <p:nvPr/>
        </p:nvSpPr>
        <p:spPr>
          <a:xfrm>
            <a:off x="2505456" y="240487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→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principal binding · grant scope and limits · validity / revocation · contested or absent state</a:t>
            </a:r>
          </a:p>
        </p:txBody>
      </p:sp>
      <p:sp>
        <p:nvSpPr>
          <p:cNvPr id="106" name="OUT chip">
            <a:extLst>
              <a:ext uri="{FF2B5EF4-FFF2-40B4-BE49-F238E27FC236}">
                <a16:creationId xmlns:a16="http://schemas.microsoft.com/office/drawing/2014/main" id="{71019615-05FC-4D9C-95A0-A53F5162DB36}"/>
              </a:ext>
            </a:extLst>
          </p:cNvPr>
          <p:cNvSpPr>
            <a:spLocks noGrp="1"/>
          </p:cNvSpPr>
          <p:nvPr/>
        </p:nvSpPr>
        <p:spPr>
          <a:xfrm>
            <a:off x="2505456" y="301752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←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authority / binding UNKNOWN where binding · narrow to qualified mandate · refresh</a:t>
            </a:r>
          </a:p>
        </p:txBody>
      </p:sp>
      <p:sp>
        <p:nvSpPr>
          <p:cNvPr id="107" name="Subsystem Policy / Intent / Constr">
            <a:extLst>
              <a:ext uri="{FF2B5EF4-FFF2-40B4-BE49-F238E27FC236}">
                <a16:creationId xmlns:a16="http://schemas.microsoft.com/office/drawing/2014/main" id="{7BA4946F-8B87-4A45-A510-CA2FECFC2D63}"/>
              </a:ext>
            </a:extLst>
          </p:cNvPr>
          <p:cNvSpPr>
            <a:spLocks noGrp="1"/>
          </p:cNvSpPr>
          <p:nvPr/>
        </p:nvSpPr>
        <p:spPr>
          <a:xfrm>
            <a:off x="274320" y="382219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Policy / Intent / Constraints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Versioned policy and intent references and their runtime conformance.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IF-S4 Policy / Intent conformance</a:t>
            </a:r>
          </a:p>
        </p:txBody>
      </p:sp>
      <p:sp>
        <p:nvSpPr>
          <p:cNvPr id="108" name="IN chip">
            <a:extLst>
              <a:ext uri="{FF2B5EF4-FFF2-40B4-BE49-F238E27FC236}">
                <a16:creationId xmlns:a16="http://schemas.microsoft.com/office/drawing/2014/main" id="{E64B7818-90E1-4D01-9FFF-45B52F270F3F}"/>
              </a:ext>
            </a:extLst>
          </p:cNvPr>
          <p:cNvSpPr>
            <a:spLocks noGrp="1"/>
          </p:cNvSpPr>
          <p:nvPr/>
        </p:nvSpPr>
        <p:spPr>
          <a:xfrm>
            <a:off x="2505456" y="382219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→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versioned policy ref · verdict permit … indeterminate · scope examined · competing directives</a:t>
            </a:r>
          </a:p>
        </p:txBody>
      </p:sp>
      <p:sp>
        <p:nvSpPr>
          <p:cNvPr id="109" name="OUT chip">
            <a:extLst>
              <a:ext uri="{FF2B5EF4-FFF2-40B4-BE49-F238E27FC236}">
                <a16:creationId xmlns:a16="http://schemas.microsoft.com/office/drawing/2014/main" id="{92F273DA-4183-4C0A-96B5-BD2A454DF8E4}"/>
              </a:ext>
            </a:extLst>
          </p:cNvPr>
          <p:cNvSpPr>
            <a:spLocks noGrp="1"/>
          </p:cNvSpPr>
          <p:nvPr/>
        </p:nvSpPr>
        <p:spPr>
          <a:xfrm>
            <a:off x="2505456" y="443484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←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preserve INDETERMINATE · verdict scope insufficient · re-evaluate / independent evaluator</a:t>
            </a:r>
          </a:p>
        </p:txBody>
      </p:sp>
      <p:sp>
        <p:nvSpPr>
          <p:cNvPr id="110" name="Subsystem Attestation / Runtime Ev">
            <a:extLst>
              <a:ext uri="{FF2B5EF4-FFF2-40B4-BE49-F238E27FC236}">
                <a16:creationId xmlns:a16="http://schemas.microsoft.com/office/drawing/2014/main" id="{FA268EB3-784C-40D3-B140-360BC889E1AD}"/>
              </a:ext>
            </a:extLst>
          </p:cNvPr>
          <p:cNvSpPr>
            <a:spLocks noGrp="1"/>
          </p:cNvSpPr>
          <p:nvPr/>
        </p:nvSpPr>
        <p:spPr>
          <a:xfrm>
            <a:off x="9765792" y="98755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Attestation / Runtime Evidence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Attestation results and verifier-side appraisal of runtime and interaction state.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IF-S3 Attestation · IF-S5 Evidence appraisal</a:t>
            </a:r>
          </a:p>
        </p:txBody>
      </p:sp>
      <p:sp>
        <p:nvSpPr>
          <p:cNvPr id="111" name="IN chip">
            <a:extLst>
              <a:ext uri="{FF2B5EF4-FFF2-40B4-BE49-F238E27FC236}">
                <a16:creationId xmlns:a16="http://schemas.microsoft.com/office/drawing/2014/main" id="{9B9A8702-314C-4B86-BBEA-A8A5F8CC0F83}"/>
              </a:ext>
            </a:extLst>
          </p:cNvPr>
          <p:cNvSpPr>
            <a:spLocks noGrp="1"/>
          </p:cNvSpPr>
          <p:nvPr/>
        </p:nvSpPr>
        <p:spPr>
          <a:xfrm>
            <a:off x="7836408" y="98755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←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Attestation Result · freshness / replay · appraisal relationship · limitations</a:t>
            </a:r>
          </a:p>
        </p:txBody>
      </p:sp>
      <p:sp>
        <p:nvSpPr>
          <p:cNvPr id="112" name="OUT chip">
            <a:extLst>
              <a:ext uri="{FF2B5EF4-FFF2-40B4-BE49-F238E27FC236}">
                <a16:creationId xmlns:a16="http://schemas.microsoft.com/office/drawing/2014/main" id="{07C35E0B-FA3E-430A-BB61-14E4E1BCDF6B}"/>
              </a:ext>
            </a:extLst>
          </p:cNvPr>
          <p:cNvSpPr>
            <a:spLocks noGrp="1"/>
          </p:cNvSpPr>
          <p:nvPr/>
        </p:nvSpPr>
        <p:spPr>
          <a:xfrm>
            <a:off x="7836408" y="160020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→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re-attest or independently rooted attestation · reduce reliance to attested scope</a:t>
            </a:r>
          </a:p>
        </p:txBody>
      </p:sp>
      <p:sp>
        <p:nvSpPr>
          <p:cNvPr id="113" name="Subsystem Ecosystem Defense / Self">
            <a:extLst>
              <a:ext uri="{FF2B5EF4-FFF2-40B4-BE49-F238E27FC236}">
                <a16:creationId xmlns:a16="http://schemas.microsoft.com/office/drawing/2014/main" id="{99C3CA9D-73EF-4543-885B-074C607F6B26}"/>
              </a:ext>
            </a:extLst>
          </p:cNvPr>
          <p:cNvSpPr>
            <a:spLocks noGrp="1"/>
          </p:cNvSpPr>
          <p:nvPr/>
        </p:nvSpPr>
        <p:spPr>
          <a:xfrm>
            <a:off x="9765792" y="240487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Defense / Self-Healing / Recovery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Containment, revocation, recovery and migration under legitimate authority.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IF-S12 Enforcement / Containment / Migration</a:t>
            </a:r>
          </a:p>
        </p:txBody>
      </p:sp>
      <p:sp>
        <p:nvSpPr>
          <p:cNvPr id="114" name="IN chip">
            <a:extLst>
              <a:ext uri="{FF2B5EF4-FFF2-40B4-BE49-F238E27FC236}">
                <a16:creationId xmlns:a16="http://schemas.microsoft.com/office/drawing/2014/main" id="{54FCE996-4E1C-48F6-8C2C-B3311DA0A331}"/>
              </a:ext>
            </a:extLst>
          </p:cNvPr>
          <p:cNvSpPr>
            <a:spLocks noGrp="1"/>
          </p:cNvSpPr>
          <p:nvPr/>
        </p:nvSpPr>
        <p:spPr>
          <a:xfrm>
            <a:off x="7836408" y="240487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←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response capability and reach · actionability window · residual exposure · rollback state</a:t>
            </a:r>
          </a:p>
        </p:txBody>
      </p:sp>
      <p:sp>
        <p:nvSpPr>
          <p:cNvPr id="115" name="OUT chip">
            <a:extLst>
              <a:ext uri="{FF2B5EF4-FFF2-40B4-BE49-F238E27FC236}">
                <a16:creationId xmlns:a16="http://schemas.microsoft.com/office/drawing/2014/main" id="{3793D52C-37A8-40D2-A7C3-5ADB1ED6C47E}"/>
              </a:ext>
            </a:extLst>
          </p:cNvPr>
          <p:cNvSpPr>
            <a:spLocks noGrp="1"/>
          </p:cNvSpPr>
          <p:nvPr/>
        </p:nvSpPr>
        <p:spPr>
          <a:xfrm>
            <a:off x="7836408" y="301752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→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scope-indexed Normal / Containment / Migration (F6) · targeted containment request</a:t>
            </a:r>
          </a:p>
        </p:txBody>
      </p:sp>
      <p:sp>
        <p:nvSpPr>
          <p:cNvPr id="116" name="Subsystem Human Oversight / Assura">
            <a:extLst>
              <a:ext uri="{FF2B5EF4-FFF2-40B4-BE49-F238E27FC236}">
                <a16:creationId xmlns:a16="http://schemas.microsoft.com/office/drawing/2014/main" id="{57DC0CDA-6427-4187-9F3C-FA5C01258B55}"/>
              </a:ext>
            </a:extLst>
          </p:cNvPr>
          <p:cNvSpPr>
            <a:spLocks noGrp="1"/>
          </p:cNvSpPr>
          <p:nvPr/>
        </p:nvSpPr>
        <p:spPr>
          <a:xfrm>
            <a:off x="9765792" y="382219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 Oversight / Assurance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Review, intervention and authority beyond autonomous limits.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IF-S6 Human oversight capacity</a:t>
            </a:r>
          </a:p>
        </p:txBody>
      </p:sp>
      <p:sp>
        <p:nvSpPr>
          <p:cNvPr id="117" name="IN chip">
            <a:extLst>
              <a:ext uri="{FF2B5EF4-FFF2-40B4-BE49-F238E27FC236}">
                <a16:creationId xmlns:a16="http://schemas.microsoft.com/office/drawing/2014/main" id="{6A7965A4-E2B5-45F2-88DC-44F4C8DC5D11}"/>
              </a:ext>
            </a:extLst>
          </p:cNvPr>
          <p:cNvSpPr>
            <a:spLocks noGrp="1"/>
          </p:cNvSpPr>
          <p:nvPr/>
        </p:nvSpPr>
        <p:spPr>
          <a:xfrm>
            <a:off x="7836408" y="382219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←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human-capacity state · reviewer role and authority · response window · intervention outcome</a:t>
            </a:r>
          </a:p>
        </p:txBody>
      </p:sp>
      <p:sp>
        <p:nvSpPr>
          <p:cNvPr id="118" name="OUT chip">
            <a:extLst>
              <a:ext uri="{FF2B5EF4-FFF2-40B4-BE49-F238E27FC236}">
                <a16:creationId xmlns:a16="http://schemas.microsoft.com/office/drawing/2014/main" id="{337DFCCB-F128-4E81-B1F9-5B312CFE658C}"/>
              </a:ext>
            </a:extLst>
          </p:cNvPr>
          <p:cNvSpPr>
            <a:spLocks noGrp="1"/>
          </p:cNvSpPr>
          <p:nvPr/>
        </p:nvSpPr>
        <p:spPr>
          <a:xfrm>
            <a:off x="7836408" y="443484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→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targeted review for the affected domain · capacity-insufficient flag · Type 1 stop boundary</a:t>
            </a:r>
          </a:p>
        </p:txBody>
      </p:sp>
      <p:sp>
        <p:nvSpPr>
          <p:cNvPr id="119" name="Subsystem External agents">
            <a:extLst>
              <a:ext uri="{FF2B5EF4-FFF2-40B4-BE49-F238E27FC236}">
                <a16:creationId xmlns:a16="http://schemas.microsoft.com/office/drawing/2014/main" id="{BF59EAA6-FA4A-415B-894D-F2A2ACC7CFE2}"/>
              </a:ext>
            </a:extLst>
          </p:cNvPr>
          <p:cNvSpPr>
            <a:spLocks noGrp="1"/>
          </p:cNvSpPr>
          <p:nvPr/>
        </p:nvSpPr>
        <p:spPr>
          <a:xfrm>
            <a:off x="4480560" y="914400"/>
            <a:ext cx="3227832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45720" rIns="7315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External Agents / A2A / Epistemic Signaling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O2 · O6 · IF-S11 Ecosystem signalling</a:t>
            </a:r>
          </a:p>
        </p:txBody>
      </p:sp>
      <p:sp>
        <p:nvSpPr>
          <p:cNvPr id="120" name="IN chip">
            <a:extLst>
              <a:ext uri="{FF2B5EF4-FFF2-40B4-BE49-F238E27FC236}">
                <a16:creationId xmlns:a16="http://schemas.microsoft.com/office/drawing/2014/main" id="{DCD3542C-6C15-4964-9694-BC2DBA46948C}"/>
              </a:ext>
            </a:extLst>
          </p:cNvPr>
          <p:cNvSpPr>
            <a:spLocks noGrp="1"/>
          </p:cNvSpPr>
          <p:nvPr/>
        </p:nvSpPr>
        <p:spPr>
          <a:xfrm>
            <a:off x="4480560" y="1572768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↓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EHD / envelope · source and provenance · freshness · corroboration history</a:t>
            </a:r>
          </a:p>
        </p:txBody>
      </p:sp>
      <p:sp>
        <p:nvSpPr>
          <p:cNvPr id="121" name="OUT chip">
            <a:extLst>
              <a:ext uri="{FF2B5EF4-FFF2-40B4-BE49-F238E27FC236}">
                <a16:creationId xmlns:a16="http://schemas.microsoft.com/office/drawing/2014/main" id="{4C0C9ADD-4F2A-491E-80FB-CDF89FBE9F1D}"/>
              </a:ext>
            </a:extLst>
          </p:cNvPr>
          <p:cNvSpPr>
            <a:spLocks noGrp="1"/>
          </p:cNvSpPr>
          <p:nvPr/>
        </p:nvSpPr>
        <p:spPr>
          <a:xfrm>
            <a:off x="6126480" y="1572768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↑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External Epistemic Envelope (F8) · targeted corroboration · source-dependence mark</a:t>
            </a:r>
          </a:p>
        </p:txBody>
      </p:sp>
      <p:sp>
        <p:nvSpPr>
          <p:cNvPr id="122" name="Hub Ecosystem Positioning">
            <a:extLst>
              <a:ext uri="{FF2B5EF4-FFF2-40B4-BE49-F238E27FC236}">
                <a16:creationId xmlns:a16="http://schemas.microsoft.com/office/drawing/2014/main" id="{AE6207F6-C505-4B0E-A4F3-BCCA05D5DC07}"/>
              </a:ext>
            </a:extLst>
          </p:cNvPr>
          <p:cNvSpPr>
            <a:spLocks noGrp="1"/>
          </p:cNvSpPr>
          <p:nvPr/>
        </p:nvSpPr>
        <p:spPr>
          <a:xfrm>
            <a:off x="4480560" y="2240280"/>
            <a:ext cx="3227832" cy="2084832"/>
          </a:xfrm>
          <a:prstGeom prst="roundRect">
            <a:avLst>
              <a:gd name="adj" fmla="val 12000"/>
            </a:avLst>
          </a:prstGeom>
          <a:solidFill>
            <a:srgbClr val="EEF5FA"/>
          </a:solidFill>
          <a:ln w="25400">
            <a:solidFill>
              <a:srgbClr val="4682DC"/>
            </a:solidFill>
          </a:ln>
        </p:spPr>
        <p:txBody>
          <a:bodyPr wrap="square" lIns="164592" tIns="73152" rIns="109728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POSITIONING / AWARENESS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78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participant-local situational cycle</a:t>
            </a:r>
          </a:p>
          <a:p>
            <a:pPr>
              <a:spcBef>
                <a:spcPts val="200"/>
              </a:spcBef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1. </a:t>
            </a:r>
            <a:r>
              <a:rPr sz="1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Agentic Citizenship Contract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2. Ecosystem Awareness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EHD signalling · framing · opportunity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3. Minimum Sufficient Control (MSCA)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0. Regime Change Detection</a:t>
            </a:r>
          </a:p>
          <a:p>
            <a:pPr algn="ctr">
              <a:spcBef>
                <a:spcPts val="60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4682DC"/>
                </a:solidFill>
                <a:latin typeface="Aptos"/>
                <a:ea typeface="Aptos"/>
                <a:cs typeface="Aptos"/>
              </a:rPr>
              <a:t>requalify → reposition → act → observe → repeat</a:t>
            </a:r>
          </a:p>
        </p:txBody>
      </p:sp>
      <p:sp>
        <p:nvSpPr>
          <p:cNvPr id="123" name="IN chip">
            <a:extLst>
              <a:ext uri="{FF2B5EF4-FFF2-40B4-BE49-F238E27FC236}">
                <a16:creationId xmlns:a16="http://schemas.microsoft.com/office/drawing/2014/main" id="{99EE24C0-A186-48C1-AEF6-4A9F6F792651}"/>
              </a:ext>
            </a:extLst>
          </p:cNvPr>
          <p:cNvSpPr>
            <a:spLocks noGrp="1"/>
          </p:cNvSpPr>
          <p:nvPr/>
        </p:nvSpPr>
        <p:spPr>
          <a:xfrm>
            <a:off x="4480560" y="4389120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↑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result and execution status · drift / telemetry · verifiable action record</a:t>
            </a:r>
          </a:p>
        </p:txBody>
      </p:sp>
      <p:sp>
        <p:nvSpPr>
          <p:cNvPr id="124" name="OUT chip">
            <a:extLst>
              <a:ext uri="{FF2B5EF4-FFF2-40B4-BE49-F238E27FC236}">
                <a16:creationId xmlns:a16="http://schemas.microsoft.com/office/drawing/2014/main" id="{96C0D077-DEB6-40B0-B202-88A66C21A6CC}"/>
              </a:ext>
            </a:extLst>
          </p:cNvPr>
          <p:cNvSpPr>
            <a:spLocks noGrp="1"/>
          </p:cNvSpPr>
          <p:nvPr/>
        </p:nvSpPr>
        <p:spPr>
          <a:xfrm>
            <a:off x="6126480" y="4389120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↓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restrict / reversible mode · outcome reconciliation · F8 statement for the record</a:t>
            </a:r>
          </a:p>
        </p:txBody>
      </p:sp>
      <p:sp>
        <p:nvSpPr>
          <p:cNvPr id="125" name="Subsystem Execution">
            <a:extLst>
              <a:ext uri="{FF2B5EF4-FFF2-40B4-BE49-F238E27FC236}">
                <a16:creationId xmlns:a16="http://schemas.microsoft.com/office/drawing/2014/main" id="{6C9C90C6-3E2D-4860-B845-E79DB595E5B5}"/>
              </a:ext>
            </a:extLst>
          </p:cNvPr>
          <p:cNvSpPr>
            <a:spLocks noGrp="1"/>
          </p:cNvSpPr>
          <p:nvPr/>
        </p:nvSpPr>
        <p:spPr>
          <a:xfrm>
            <a:off x="4480560" y="5029200"/>
            <a:ext cx="3227832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45720" rIns="7315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Execution / Outcome / Audit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Tools, outcomes, telemetry and action records.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O3 · O5 · IF-S7 · IF-S8</a:t>
            </a:r>
          </a:p>
        </p:txBody>
      </p:sp>
      <p:sp>
        <p:nvSpPr>
          <p:cNvPr id="126" name="Legend frame">
            <a:extLst>
              <a:ext uri="{FF2B5EF4-FFF2-40B4-BE49-F238E27FC236}">
                <a16:creationId xmlns:a16="http://schemas.microsoft.com/office/drawing/2014/main" id="{4A3AF2E9-6040-40A0-B5D1-5AF21C9EB34C}"/>
              </a:ext>
            </a:extLst>
          </p:cNvPr>
          <p:cNvSpPr>
            <a:spLocks noGrp="1"/>
          </p:cNvSpPr>
          <p:nvPr/>
        </p:nvSpPr>
        <p:spPr>
          <a:xfrm>
            <a:off x="384048" y="6035040"/>
            <a:ext cx="10332720" cy="38404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9525">
            <a:solidFill>
              <a:srgbClr val="D7DCE4"/>
            </a:solidFill>
          </a:ln>
        </p:spPr>
        <p:txBody>
          <a:bodyPr wrap="square" lIns="64008" tIns="45720" rIns="64008" bIns="45720" anchor="t">
            <a:noAutofit/>
          </a:bodyPr>
          <a:lstStyle/>
          <a:p>
            <a:endParaRPr sz="800"/>
          </a:p>
        </p:txBody>
      </p:sp>
      <p:sp>
        <p:nvSpPr>
          <p:cNvPr id="58" name="Legend">
            <a:extLst>
              <a:ext uri="{FF2B5EF4-FFF2-40B4-BE49-F238E27FC236}">
                <a16:creationId xmlns:a16="http://schemas.microsoft.com/office/drawing/2014/main" id="{53AB5A43-4F6B-4F25-AB8D-D17A480A5F0F}"/>
              </a:ext>
            </a:extLst>
          </p:cNvPr>
          <p:cNvSpPr>
            <a:spLocks noGrp="1"/>
          </p:cNvSpPr>
          <p:nvPr/>
        </p:nvSpPr>
        <p:spPr>
          <a:xfrm>
            <a:off x="502920" y="606247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· to EA </a:t>
            </a:r>
            <a:r>
              <a:rPr sz="74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inputs listed in doc 04 for that interface   </a:t>
            </a:r>
            <a:r>
              <a:rPr sz="7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· from EA </a:t>
            </a:r>
            <a:r>
              <a:rPr sz="74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EA outputs to that function   </a:t>
            </a: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codes </a:t>
            </a:r>
            <a:r>
              <a:rPr sz="74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interface IDs O1–O6 / IF-S1–S13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Not shown: O4 context / memory / retrieval, IF-S9 population-level evaluation, IF-S10 privacy and minimum disclosure. F6/F7/F8 = EA functions (posture, requalification, epistemic statement).</a:t>
            </a:r>
          </a:p>
        </p:txBody>
      </p:sp>
    </p:spTree>
    <p:extLst>
      <p:ext uri="{BB962C8B-B14F-4D97-AF65-F5344CB8AC3E}">
        <p14:creationId xmlns:p14="http://schemas.microsoft.com/office/powerpoint/2010/main" val="193900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2E6A4-C223-47D6-BF38-597BE3D3CC91}"/>
              </a:ext>
            </a:extLst>
          </p:cNvPr>
          <p:cNvSpPr>
            <a:spLocks noGrp="1"/>
          </p:cNvSpPr>
          <p:nvPr/>
        </p:nvSpPr>
        <p:spPr>
          <a:xfrm>
            <a:off x="256032" y="18288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7F391-D7B8-4F08-9D36-37209015C9FD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B9B8E4-91EB-4996-82AC-EE2FA4D39513}"/>
              </a:ext>
            </a:extLst>
          </p:cNvPr>
          <p:cNvSpPr>
            <a:spLocks noGrp="1"/>
          </p:cNvSpPr>
          <p:nvPr/>
        </p:nvSpPr>
        <p:spPr>
          <a:xfrm>
            <a:off x="320040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A4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 / Institutional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Governance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Objectives, rights, legitimacy, accountability,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legal / organizational constraints.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C733EF-43AC-4659-BB45-FE9CEA980B5E}"/>
              </a:ext>
            </a:extLst>
          </p:cNvPr>
          <p:cNvSpPr>
            <a:spLocks noGrp="1"/>
          </p:cNvSpPr>
          <p:nvPr/>
        </p:nvSpPr>
        <p:spPr>
          <a:xfrm>
            <a:off x="2862072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Privacy / Data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Governance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Consent, disclosure limits, data minimization,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correlation and privacy boundaries.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346905-C103-46BF-A7DC-C7A5379190EC}"/>
              </a:ext>
            </a:extLst>
          </p:cNvPr>
          <p:cNvSpPr>
            <a:spLocks noGrp="1"/>
          </p:cNvSpPr>
          <p:nvPr/>
        </p:nvSpPr>
        <p:spPr>
          <a:xfrm>
            <a:off x="5413248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A4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Organization / Roles /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Membership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Organizational role models, membership,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ownership and participation context.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E32366-8414-40E6-AC2B-5E2670C0CA68}"/>
              </a:ext>
            </a:extLst>
          </p:cNvPr>
          <p:cNvSpPr>
            <a:spLocks noGrp="1"/>
          </p:cNvSpPr>
          <p:nvPr/>
        </p:nvSpPr>
        <p:spPr>
          <a:xfrm>
            <a:off x="7955279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Standards / Profiles /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Conformance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Versioned profiles, schemas, interoperability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mappings and conformance fixtures.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0C6A0BE-F613-4A87-8E10-170B5526BA7F}"/>
              </a:ext>
            </a:extLst>
          </p:cNvPr>
          <p:cNvSpPr>
            <a:spLocks noGrp="1"/>
          </p:cNvSpPr>
          <p:nvPr/>
        </p:nvSpPr>
        <p:spPr>
          <a:xfrm>
            <a:off x="310896" y="181051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Identity / Principal Binding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A57CD3A-EF42-40EE-8F66-AA4080EF7077}"/>
              </a:ext>
            </a:extLst>
          </p:cNvPr>
          <p:cNvSpPr>
            <a:spLocks noGrp="1"/>
          </p:cNvSpPr>
          <p:nvPr/>
        </p:nvSpPr>
        <p:spPr>
          <a:xfrm>
            <a:off x="310896" y="258775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Delegated Authority / Capability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6E39C68-3AEF-45DF-A433-ED7D48E872FA}"/>
              </a:ext>
            </a:extLst>
          </p:cNvPr>
          <p:cNvSpPr>
            <a:spLocks noGrp="1"/>
          </p:cNvSpPr>
          <p:nvPr/>
        </p:nvSpPr>
        <p:spPr>
          <a:xfrm>
            <a:off x="310896" y="336499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Policy / Intent / Authorization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ED343FD-B334-42B7-902F-89BB24921EF4}"/>
              </a:ext>
            </a:extLst>
          </p:cNvPr>
          <p:cNvSpPr>
            <a:spLocks noGrp="1"/>
          </p:cNvSpPr>
          <p:nvPr/>
        </p:nvSpPr>
        <p:spPr>
          <a:xfrm>
            <a:off x="310896" y="414223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Remote Attestation / Runtime Integrity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DB27AEF-1C20-41EF-B049-F5B0D28B0629}"/>
              </a:ext>
            </a:extLst>
          </p:cNvPr>
          <p:cNvSpPr>
            <a:spLocks noGrp="1"/>
          </p:cNvSpPr>
          <p:nvPr/>
        </p:nvSpPr>
        <p:spPr>
          <a:xfrm>
            <a:off x="310896" y="491947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Agent Discovery / Capabilities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DD08544-774F-4A0B-A390-671FD32B00CE}"/>
              </a:ext>
            </a:extLst>
          </p:cNvPr>
          <p:cNvSpPr>
            <a:spLocks noGrp="1"/>
          </p:cNvSpPr>
          <p:nvPr/>
        </p:nvSpPr>
        <p:spPr>
          <a:xfrm>
            <a:off x="310896" y="569671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Memory / Context Provenance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2D554E7-12B8-48D7-AD51-6B22E2340716}"/>
              </a:ext>
            </a:extLst>
          </p:cNvPr>
          <p:cNvSpPr>
            <a:spLocks noGrp="1"/>
          </p:cNvSpPr>
          <p:nvPr/>
        </p:nvSpPr>
        <p:spPr>
          <a:xfrm>
            <a:off x="9555480" y="181051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A2A / Messaging / Interoperability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DD466A7-5C37-4469-927A-6CD06BDCDE00}"/>
              </a:ext>
            </a:extLst>
          </p:cNvPr>
          <p:cNvSpPr>
            <a:spLocks noGrp="1"/>
          </p:cNvSpPr>
          <p:nvPr/>
        </p:nvSpPr>
        <p:spPr>
          <a:xfrm>
            <a:off x="9555480" y="258775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Trust / Reputation / Corroboration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8AE9B10-69CC-4C51-9933-B1CEBDFB23A8}"/>
              </a:ext>
            </a:extLst>
          </p:cNvPr>
          <p:cNvSpPr>
            <a:spLocks noGrp="1"/>
          </p:cNvSpPr>
          <p:nvPr/>
        </p:nvSpPr>
        <p:spPr>
          <a:xfrm>
            <a:off x="9555480" y="336499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Shared Signals / Warnings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9288BB-C11C-471F-A31C-1D259469C166}"/>
              </a:ext>
            </a:extLst>
          </p:cNvPr>
          <p:cNvSpPr>
            <a:spLocks noGrp="1"/>
          </p:cNvSpPr>
          <p:nvPr/>
        </p:nvSpPr>
        <p:spPr>
          <a:xfrm>
            <a:off x="9555480" y="414223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Defense / Blast Radius / Containment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1981E61-D988-40CC-BDDD-0FB68638B280}"/>
              </a:ext>
            </a:extLst>
          </p:cNvPr>
          <p:cNvSpPr>
            <a:spLocks noGrp="1"/>
          </p:cNvSpPr>
          <p:nvPr/>
        </p:nvSpPr>
        <p:spPr>
          <a:xfrm>
            <a:off x="9555480" y="491947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Incentives / Accountability / Inspection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616CFA2-3D76-4EBA-B7C0-7DBB4495C462}"/>
              </a:ext>
            </a:extLst>
          </p:cNvPr>
          <p:cNvSpPr>
            <a:spLocks noGrp="1"/>
          </p:cNvSpPr>
          <p:nvPr/>
        </p:nvSpPr>
        <p:spPr>
          <a:xfrm>
            <a:off x="9555480" y="569671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Lifecycle / Session / Resolution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D7ACA73-78C5-4DA4-9230-03732A2BF911}"/>
              </a:ext>
            </a:extLst>
          </p:cNvPr>
          <p:cNvSpPr>
            <a:spLocks noGrp="1"/>
          </p:cNvSpPr>
          <p:nvPr/>
        </p:nvSpPr>
        <p:spPr>
          <a:xfrm>
            <a:off x="2761488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Tool &amp; Action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9866764-FF1A-41FA-B4CD-6076BEE85889}"/>
              </a:ext>
            </a:extLst>
          </p:cNvPr>
          <p:cNvSpPr>
            <a:spLocks noGrp="1"/>
          </p:cNvSpPr>
          <p:nvPr/>
        </p:nvSpPr>
        <p:spPr>
          <a:xfrm>
            <a:off x="4315968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Oversight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F592D59-8754-47FF-A51C-145587FEC31A}"/>
              </a:ext>
            </a:extLst>
          </p:cNvPr>
          <p:cNvSpPr>
            <a:spLocks noGrp="1"/>
          </p:cNvSpPr>
          <p:nvPr/>
        </p:nvSpPr>
        <p:spPr>
          <a:xfrm>
            <a:off x="5907024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Observability /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Telemetry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ED2D0A6-8B69-4209-A953-84099DF96232}"/>
              </a:ext>
            </a:extLst>
          </p:cNvPr>
          <p:cNvSpPr>
            <a:spLocks noGrp="1"/>
          </p:cNvSpPr>
          <p:nvPr/>
        </p:nvSpPr>
        <p:spPr>
          <a:xfrm>
            <a:off x="7525512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Execution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Outcome / Receipts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30E1E-F3E2-4A2E-AF13-D38B9C0795E8}"/>
              </a:ext>
            </a:extLst>
          </p:cNvPr>
          <p:cNvSpPr>
            <a:spLocks noGrp="1"/>
          </p:cNvSpPr>
          <p:nvPr/>
        </p:nvSpPr>
        <p:spPr>
          <a:xfrm>
            <a:off x="2724912" y="6400800"/>
            <a:ext cx="6903720" cy="146304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BD233C-1719-47C3-BFDD-CED09062B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814F5A-9F02-4AE0-AF83-79EC5E849B56}"/>
              </a:ext>
            </a:extLst>
          </p:cNvPr>
          <p:cNvSpPr>
            <a:spLocks noGrp="1"/>
          </p:cNvSpPr>
          <p:nvPr/>
        </p:nvSpPr>
        <p:spPr>
          <a:xfrm>
            <a:off x="292608" y="237744"/>
            <a:ext cx="10972800" cy="359073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Positioning Architecture — Extended Situational Core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309E72-8CFB-4008-AFEB-1B37340134A5}"/>
              </a:ext>
            </a:extLst>
          </p:cNvPr>
          <p:cNvSpPr>
            <a:spLocks noGrp="1"/>
          </p:cNvSpPr>
          <p:nvPr/>
        </p:nvSpPr>
        <p:spPr>
          <a:xfrm>
            <a:off x="292608" y="530352"/>
            <a:ext cx="10972800" cy="1371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Agentic-AI, decentralized-identity (DIF) and ecosystem-defense components around one core: Ecosystem Positioning.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B55AFC-8860-4DC4-82F0-CE43981B1332}"/>
              </a:ext>
            </a:extLst>
          </p:cNvPr>
          <p:cNvSpPr>
            <a:spLocks noGrp="1"/>
          </p:cNvSpPr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4DBB4B-5E31-44A6-A694-AA9AE44FF6A3}"/>
              </a:ext>
            </a:extLst>
          </p:cNvPr>
          <p:cNvSpPr>
            <a:spLocks noGrp="1"/>
          </p:cNvSpPr>
          <p:nvPr/>
        </p:nvSpPr>
        <p:spPr>
          <a:xfrm>
            <a:off x="2834640" y="6382512"/>
            <a:ext cx="6537960" cy="164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buNone/>
            </a:pPr>
            <a:r>
              <a:rPr sz="880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Reading rule: outer boxes are familiar agentic-AI capabilities. Positioning composes their decision-relevant state into a participant-local frame and requests requalification; owners decide.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815D9E-1456-4348-B01B-9AB03858B678}"/>
              </a:ext>
            </a:extLst>
          </p:cNvPr>
          <p:cNvSpPr>
            <a:spLocks noGrp="1"/>
          </p:cNvSpPr>
          <p:nvPr/>
        </p:nvSpPr>
        <p:spPr>
          <a:xfrm>
            <a:off x="11018520" y="6547104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1" name="Spoke L">
            <a:extLst>
              <a:ext uri="{FF2B5EF4-FFF2-40B4-BE49-F238E27FC236}">
                <a16:creationId xmlns:a16="http://schemas.microsoft.com/office/drawing/2014/main" id="{6DEF5231-E5AB-48AA-A904-ABD7C227E67C}"/>
              </a:ext>
            </a:extLst>
          </p:cNvPr>
          <p:cNvSpPr>
            <a:spLocks noGrp="1"/>
          </p:cNvSpPr>
          <p:nvPr/>
        </p:nvSpPr>
        <p:spPr>
          <a:xfrm>
            <a:off x="2395728" y="2093976"/>
            <a:ext cx="1975104" cy="32918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Spoke R">
            <a:extLst>
              <a:ext uri="{FF2B5EF4-FFF2-40B4-BE49-F238E27FC236}">
                <a16:creationId xmlns:a16="http://schemas.microsoft.com/office/drawing/2014/main" id="{685027F5-76F7-48A5-9861-E3A82B4A6526}"/>
              </a:ext>
            </a:extLst>
          </p:cNvPr>
          <p:cNvSpPr>
            <a:spLocks noGrp="1"/>
          </p:cNvSpPr>
          <p:nvPr/>
        </p:nvSpPr>
        <p:spPr>
          <a:xfrm flipH="1">
            <a:off x="7571232" y="2093976"/>
            <a:ext cx="1984248" cy="32918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Spoke L">
            <a:extLst>
              <a:ext uri="{FF2B5EF4-FFF2-40B4-BE49-F238E27FC236}">
                <a16:creationId xmlns:a16="http://schemas.microsoft.com/office/drawing/2014/main" id="{BDF05B2C-0FF4-463B-B787-5279F2983550}"/>
              </a:ext>
            </a:extLst>
          </p:cNvPr>
          <p:cNvSpPr>
            <a:spLocks noGrp="1"/>
          </p:cNvSpPr>
          <p:nvPr/>
        </p:nvSpPr>
        <p:spPr>
          <a:xfrm>
            <a:off x="2395728" y="2871216"/>
            <a:ext cx="1975104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Spoke R">
            <a:extLst>
              <a:ext uri="{FF2B5EF4-FFF2-40B4-BE49-F238E27FC236}">
                <a16:creationId xmlns:a16="http://schemas.microsoft.com/office/drawing/2014/main" id="{C1ECA60C-3210-48A9-84B8-7A5AC1129D03}"/>
              </a:ext>
            </a:extLst>
          </p:cNvPr>
          <p:cNvSpPr>
            <a:spLocks noGrp="1"/>
          </p:cNvSpPr>
          <p:nvPr/>
        </p:nvSpPr>
        <p:spPr>
          <a:xfrm flipH="1">
            <a:off x="7571232" y="2871216"/>
            <a:ext cx="1984248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Spoke L">
            <a:extLst>
              <a:ext uri="{FF2B5EF4-FFF2-40B4-BE49-F238E27FC236}">
                <a16:creationId xmlns:a16="http://schemas.microsoft.com/office/drawing/2014/main" id="{073DA238-C45A-49B7-8E71-859139C65523}"/>
              </a:ext>
            </a:extLst>
          </p:cNvPr>
          <p:cNvSpPr>
            <a:spLocks noGrp="1"/>
          </p:cNvSpPr>
          <p:nvPr/>
        </p:nvSpPr>
        <p:spPr>
          <a:xfrm>
            <a:off x="2395728" y="3648456"/>
            <a:ext cx="1975104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Spoke R">
            <a:extLst>
              <a:ext uri="{FF2B5EF4-FFF2-40B4-BE49-F238E27FC236}">
                <a16:creationId xmlns:a16="http://schemas.microsoft.com/office/drawing/2014/main" id="{0837DA7B-397B-4589-AB1D-6D79D45F8E8F}"/>
              </a:ext>
            </a:extLst>
          </p:cNvPr>
          <p:cNvSpPr>
            <a:spLocks noGrp="1"/>
          </p:cNvSpPr>
          <p:nvPr/>
        </p:nvSpPr>
        <p:spPr>
          <a:xfrm flipH="1">
            <a:off x="7571232" y="3648456"/>
            <a:ext cx="1984248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poke L">
            <a:extLst>
              <a:ext uri="{FF2B5EF4-FFF2-40B4-BE49-F238E27FC236}">
                <a16:creationId xmlns:a16="http://schemas.microsoft.com/office/drawing/2014/main" id="{CC3F3DA9-7138-41D8-8205-C5855399DA42}"/>
              </a:ext>
            </a:extLst>
          </p:cNvPr>
          <p:cNvSpPr>
            <a:spLocks noGrp="1"/>
          </p:cNvSpPr>
          <p:nvPr/>
        </p:nvSpPr>
        <p:spPr>
          <a:xfrm>
            <a:off x="2395728" y="4425696"/>
            <a:ext cx="1975104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Spoke R">
            <a:extLst>
              <a:ext uri="{FF2B5EF4-FFF2-40B4-BE49-F238E27FC236}">
                <a16:creationId xmlns:a16="http://schemas.microsoft.com/office/drawing/2014/main" id="{B2380F46-4E89-4032-98E4-9C171DFC2D55}"/>
              </a:ext>
            </a:extLst>
          </p:cNvPr>
          <p:cNvSpPr>
            <a:spLocks noGrp="1"/>
          </p:cNvSpPr>
          <p:nvPr/>
        </p:nvSpPr>
        <p:spPr>
          <a:xfrm flipH="1">
            <a:off x="7571232" y="4425696"/>
            <a:ext cx="1984248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Spoke L">
            <a:extLst>
              <a:ext uri="{FF2B5EF4-FFF2-40B4-BE49-F238E27FC236}">
                <a16:creationId xmlns:a16="http://schemas.microsoft.com/office/drawing/2014/main" id="{4F788A74-0BDD-4767-8268-1135FB9D99AD}"/>
              </a:ext>
            </a:extLst>
          </p:cNvPr>
          <p:cNvSpPr>
            <a:spLocks noGrp="1"/>
          </p:cNvSpPr>
          <p:nvPr/>
        </p:nvSpPr>
        <p:spPr>
          <a:xfrm flipV="1">
            <a:off x="2395728" y="4636008"/>
            <a:ext cx="1975104" cy="56692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poke R">
            <a:extLst>
              <a:ext uri="{FF2B5EF4-FFF2-40B4-BE49-F238E27FC236}">
                <a16:creationId xmlns:a16="http://schemas.microsoft.com/office/drawing/2014/main" id="{69893DC1-F0F3-4F99-A871-9AB6BDC06177}"/>
              </a:ext>
            </a:extLst>
          </p:cNvPr>
          <p:cNvSpPr>
            <a:spLocks noGrp="1"/>
          </p:cNvSpPr>
          <p:nvPr/>
        </p:nvSpPr>
        <p:spPr>
          <a:xfrm flipH="1" flipV="1">
            <a:off x="7571232" y="4636008"/>
            <a:ext cx="1984248" cy="56692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Spoke L">
            <a:extLst>
              <a:ext uri="{FF2B5EF4-FFF2-40B4-BE49-F238E27FC236}">
                <a16:creationId xmlns:a16="http://schemas.microsoft.com/office/drawing/2014/main" id="{82F661A7-D742-46D3-8DCB-3BFC5BD6ED70}"/>
              </a:ext>
            </a:extLst>
          </p:cNvPr>
          <p:cNvSpPr>
            <a:spLocks noGrp="1"/>
          </p:cNvSpPr>
          <p:nvPr/>
        </p:nvSpPr>
        <p:spPr>
          <a:xfrm flipV="1">
            <a:off x="2395728" y="4636008"/>
            <a:ext cx="1975104" cy="134416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poke R">
            <a:extLst>
              <a:ext uri="{FF2B5EF4-FFF2-40B4-BE49-F238E27FC236}">
                <a16:creationId xmlns:a16="http://schemas.microsoft.com/office/drawing/2014/main" id="{7A4D5E6E-126A-49AE-A82C-64D91941C743}"/>
              </a:ext>
            </a:extLst>
          </p:cNvPr>
          <p:cNvSpPr>
            <a:spLocks noGrp="1"/>
          </p:cNvSpPr>
          <p:nvPr/>
        </p:nvSpPr>
        <p:spPr>
          <a:xfrm flipH="1" flipV="1">
            <a:off x="7571232" y="4636008"/>
            <a:ext cx="1984248" cy="134416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Spoke T">
            <a:extLst>
              <a:ext uri="{FF2B5EF4-FFF2-40B4-BE49-F238E27FC236}">
                <a16:creationId xmlns:a16="http://schemas.microsoft.com/office/drawing/2014/main" id="{3933FA16-3DF4-4A12-BC2F-678C4A4F378C}"/>
              </a:ext>
            </a:extLst>
          </p:cNvPr>
          <p:cNvSpPr>
            <a:spLocks noGrp="1"/>
          </p:cNvSpPr>
          <p:nvPr/>
        </p:nvSpPr>
        <p:spPr>
          <a:xfrm>
            <a:off x="1408176" y="1499616"/>
            <a:ext cx="3328416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Spoke T">
            <a:extLst>
              <a:ext uri="{FF2B5EF4-FFF2-40B4-BE49-F238E27FC236}">
                <a16:creationId xmlns:a16="http://schemas.microsoft.com/office/drawing/2014/main" id="{147A7F0B-FF2F-4851-A3D4-0B049360EF6C}"/>
              </a:ext>
            </a:extLst>
          </p:cNvPr>
          <p:cNvSpPr>
            <a:spLocks noGrp="1"/>
          </p:cNvSpPr>
          <p:nvPr/>
        </p:nvSpPr>
        <p:spPr>
          <a:xfrm>
            <a:off x="3950208" y="1499616"/>
            <a:ext cx="786384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Spoke T">
            <a:extLst>
              <a:ext uri="{FF2B5EF4-FFF2-40B4-BE49-F238E27FC236}">
                <a16:creationId xmlns:a16="http://schemas.microsoft.com/office/drawing/2014/main" id="{E3D6500A-28F7-4948-976E-CD38EFB83646}"/>
              </a:ext>
            </a:extLst>
          </p:cNvPr>
          <p:cNvSpPr>
            <a:spLocks noGrp="1"/>
          </p:cNvSpPr>
          <p:nvPr/>
        </p:nvSpPr>
        <p:spPr>
          <a:xfrm>
            <a:off x="6501384" y="1499616"/>
            <a:ext cx="0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poke T">
            <a:extLst>
              <a:ext uri="{FF2B5EF4-FFF2-40B4-BE49-F238E27FC236}">
                <a16:creationId xmlns:a16="http://schemas.microsoft.com/office/drawing/2014/main" id="{4F82C2EC-7585-4C4E-9F52-86A81149630E}"/>
              </a:ext>
            </a:extLst>
          </p:cNvPr>
          <p:cNvSpPr>
            <a:spLocks noGrp="1"/>
          </p:cNvSpPr>
          <p:nvPr/>
        </p:nvSpPr>
        <p:spPr>
          <a:xfrm flipH="1">
            <a:off x="7205472" y="1499616"/>
            <a:ext cx="1837944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poke B">
            <a:extLst>
              <a:ext uri="{FF2B5EF4-FFF2-40B4-BE49-F238E27FC236}">
                <a16:creationId xmlns:a16="http://schemas.microsoft.com/office/drawing/2014/main" id="{52A1FD36-6D8B-48E5-A251-C3458542D7A2}"/>
              </a:ext>
            </a:extLst>
          </p:cNvPr>
          <p:cNvSpPr>
            <a:spLocks noGrp="1"/>
          </p:cNvSpPr>
          <p:nvPr/>
        </p:nvSpPr>
        <p:spPr>
          <a:xfrm flipV="1">
            <a:off x="3424428" y="4956048"/>
            <a:ext cx="1312164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poke B">
            <a:extLst>
              <a:ext uri="{FF2B5EF4-FFF2-40B4-BE49-F238E27FC236}">
                <a16:creationId xmlns:a16="http://schemas.microsoft.com/office/drawing/2014/main" id="{4B77709C-4E23-413A-AEE6-75C6928AE127}"/>
              </a:ext>
            </a:extLst>
          </p:cNvPr>
          <p:cNvSpPr>
            <a:spLocks noGrp="1"/>
          </p:cNvSpPr>
          <p:nvPr/>
        </p:nvSpPr>
        <p:spPr>
          <a:xfrm flipV="1">
            <a:off x="4978908" y="4956048"/>
            <a:ext cx="0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poke B">
            <a:extLst>
              <a:ext uri="{FF2B5EF4-FFF2-40B4-BE49-F238E27FC236}">
                <a16:creationId xmlns:a16="http://schemas.microsoft.com/office/drawing/2014/main" id="{C61F39E2-F436-4E8B-A846-F6088ABC77D4}"/>
              </a:ext>
            </a:extLst>
          </p:cNvPr>
          <p:cNvSpPr>
            <a:spLocks noGrp="1"/>
          </p:cNvSpPr>
          <p:nvPr/>
        </p:nvSpPr>
        <p:spPr>
          <a:xfrm flipV="1">
            <a:off x="6569964" y="4956048"/>
            <a:ext cx="0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poke B">
            <a:extLst>
              <a:ext uri="{FF2B5EF4-FFF2-40B4-BE49-F238E27FC236}">
                <a16:creationId xmlns:a16="http://schemas.microsoft.com/office/drawing/2014/main" id="{9275322F-5162-457F-8F7B-85FE11BA9BB8}"/>
              </a:ext>
            </a:extLst>
          </p:cNvPr>
          <p:cNvSpPr>
            <a:spLocks noGrp="1"/>
          </p:cNvSpPr>
          <p:nvPr/>
        </p:nvSpPr>
        <p:spPr>
          <a:xfrm flipH="1" flipV="1">
            <a:off x="7205472" y="4956048"/>
            <a:ext cx="982980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Hub Ecosystem Positioning">
            <a:extLst>
              <a:ext uri="{FF2B5EF4-FFF2-40B4-BE49-F238E27FC236}">
                <a16:creationId xmlns:a16="http://schemas.microsoft.com/office/drawing/2014/main" id="{41D40484-C4DC-4CBB-8242-83EE6BF6B9D2}"/>
              </a:ext>
            </a:extLst>
          </p:cNvPr>
          <p:cNvSpPr>
            <a:spLocks noGrp="1"/>
          </p:cNvSpPr>
          <p:nvPr/>
        </p:nvSpPr>
        <p:spPr>
          <a:xfrm>
            <a:off x="4370832" y="2103120"/>
            <a:ext cx="3200400" cy="2852928"/>
          </a:xfrm>
          <a:prstGeom prst="roundRect">
            <a:avLst>
              <a:gd name="adj" fmla="val 10000"/>
            </a:avLst>
          </a:prstGeom>
          <a:solidFill>
            <a:srgbClr val="ECF4F9"/>
          </a:solidFill>
          <a:ln w="27940">
            <a:solidFill>
              <a:srgbClr val="4682DC"/>
            </a:solidFill>
          </a:ln>
        </p:spPr>
        <p:txBody>
          <a:bodyPr wrap="square" lIns="64008" tIns="45720" rIns="64008" bIns="45720" anchor="t">
            <a:noAutofit/>
          </a:bodyPr>
          <a:lstStyle/>
          <a:p>
            <a:endParaRPr sz="800"/>
          </a:p>
        </p:txBody>
      </p:sp>
      <p:sp>
        <p:nvSpPr>
          <p:cNvPr id="53" name="Hub title">
            <a:extLst>
              <a:ext uri="{FF2B5EF4-FFF2-40B4-BE49-F238E27FC236}">
                <a16:creationId xmlns:a16="http://schemas.microsoft.com/office/drawing/2014/main" id="{64C5EBA2-3938-4FBB-B72F-999F6E38CCAC}"/>
              </a:ext>
            </a:extLst>
          </p:cNvPr>
          <p:cNvSpPr>
            <a:spLocks noGrp="1"/>
          </p:cNvSpPr>
          <p:nvPr/>
        </p:nvSpPr>
        <p:spPr>
          <a:xfrm>
            <a:off x="4462272" y="21945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Positioning</a:t>
            </a:r>
          </a:p>
        </p:txBody>
      </p:sp>
      <p:sp>
        <p:nvSpPr>
          <p:cNvPr id="122" name="Hub description">
            <a:extLst>
              <a:ext uri="{FF2B5EF4-FFF2-40B4-BE49-F238E27FC236}">
                <a16:creationId xmlns:a16="http://schemas.microsoft.com/office/drawing/2014/main" id="{8DF46EAF-E97E-4FBE-8D6F-AC6A10FE0E3C}"/>
              </a:ext>
            </a:extLst>
          </p:cNvPr>
          <p:cNvSpPr>
            <a:spLocks noGrp="1"/>
          </p:cNvSpPr>
          <p:nvPr/>
        </p:nvSpPr>
        <p:spPr>
          <a:xfrm>
            <a:off x="4535424" y="2505456"/>
            <a:ext cx="2871216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Participant-local situational core: qualifies where the agent is, what applies, what it can rely on and when to reframe.</a:t>
            </a:r>
          </a:p>
        </p:txBody>
      </p:sp>
      <p:sp>
        <p:nvSpPr>
          <p:cNvPr id="123" name="Cycle arc 1">
            <a:extLst>
              <a:ext uri="{FF2B5EF4-FFF2-40B4-BE49-F238E27FC236}">
                <a16:creationId xmlns:a16="http://schemas.microsoft.com/office/drawing/2014/main" id="{1FE34E99-D956-4862-B5A9-F12EC2BF3699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16920000"/>
              <a:gd name="adj2" fmla="val 20880000"/>
            </a:avLst>
          </a:prstGeom>
          <a:noFill/>
          <a:ln w="44450">
            <a:solidFill>
              <a:srgbClr val="007B82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4" name="Cycle arc 2">
            <a:extLst>
              <a:ext uri="{FF2B5EF4-FFF2-40B4-BE49-F238E27FC236}">
                <a16:creationId xmlns:a16="http://schemas.microsoft.com/office/drawing/2014/main" id="{B5BC55CB-6200-4FAD-9AFD-F15EAC6EE72A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720000"/>
              <a:gd name="adj2" fmla="val 4680000"/>
            </a:avLst>
          </a:prstGeom>
          <a:noFill/>
          <a:ln w="44450">
            <a:solidFill>
              <a:srgbClr val="4682DC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5" name="Cycle arc 3">
            <a:extLst>
              <a:ext uri="{FF2B5EF4-FFF2-40B4-BE49-F238E27FC236}">
                <a16:creationId xmlns:a16="http://schemas.microsoft.com/office/drawing/2014/main" id="{0D5999F2-30A4-429D-A146-A2940D4A8D64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6120000"/>
              <a:gd name="adj2" fmla="val 10080000"/>
            </a:avLst>
          </a:prstGeom>
          <a:noFill/>
          <a:ln w="44450">
            <a:solidFill>
              <a:srgbClr val="C17629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6" name="Cycle arc 4">
            <a:extLst>
              <a:ext uri="{FF2B5EF4-FFF2-40B4-BE49-F238E27FC236}">
                <a16:creationId xmlns:a16="http://schemas.microsoft.com/office/drawing/2014/main" id="{4808004D-831C-4D3E-9567-6599A44D4E7B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11520000"/>
              <a:gd name="adj2" fmla="val 15480000"/>
            </a:avLst>
          </a:prstGeom>
          <a:noFill/>
          <a:ln w="44450">
            <a:solidFill>
              <a:srgbClr val="1F2C4A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8" name="Cycle centre">
            <a:extLst>
              <a:ext uri="{FF2B5EF4-FFF2-40B4-BE49-F238E27FC236}">
                <a16:creationId xmlns:a16="http://schemas.microsoft.com/office/drawing/2014/main" id="{2205A0E7-7B50-456E-B89A-F16931530039}"/>
              </a:ext>
            </a:extLst>
          </p:cNvPr>
          <p:cNvSpPr>
            <a:spLocks noGrp="1"/>
          </p:cNvSpPr>
          <p:nvPr/>
        </p:nvSpPr>
        <p:spPr>
          <a:xfrm>
            <a:off x="5513832" y="356616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4682DC"/>
                </a:solidFill>
                <a:latin typeface="Aptos"/>
                <a:ea typeface="Aptos"/>
                <a:cs typeface="Aptos"/>
              </a:rPr>
              <a:t>↻</a:t>
            </a:r>
          </a:p>
        </p:txBody>
      </p:sp>
      <p:sp>
        <p:nvSpPr>
          <p:cNvPr id="129" name="Stage Requalify">
            <a:extLst>
              <a:ext uri="{FF2B5EF4-FFF2-40B4-BE49-F238E27FC236}">
                <a16:creationId xmlns:a16="http://schemas.microsoft.com/office/drawing/2014/main" id="{ED2ECC73-D76D-46AC-AA78-A59A6EE20647}"/>
              </a:ext>
            </a:extLst>
          </p:cNvPr>
          <p:cNvSpPr>
            <a:spLocks noGrp="1"/>
          </p:cNvSpPr>
          <p:nvPr/>
        </p:nvSpPr>
        <p:spPr>
          <a:xfrm>
            <a:off x="5577840" y="288036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007B82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Requalify</a:t>
            </a:r>
          </a:p>
        </p:txBody>
      </p:sp>
      <p:sp>
        <p:nvSpPr>
          <p:cNvPr id="130" name="Stage Reposition">
            <a:extLst>
              <a:ext uri="{FF2B5EF4-FFF2-40B4-BE49-F238E27FC236}">
                <a16:creationId xmlns:a16="http://schemas.microsoft.com/office/drawing/2014/main" id="{28BB7222-74C8-46F0-AD40-B2A32DCF61B7}"/>
              </a:ext>
            </a:extLst>
          </p:cNvPr>
          <p:cNvSpPr>
            <a:spLocks noGrp="1"/>
          </p:cNvSpPr>
          <p:nvPr/>
        </p:nvSpPr>
        <p:spPr>
          <a:xfrm>
            <a:off x="6601968" y="361188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4682DC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Reposition</a:t>
            </a:r>
          </a:p>
        </p:txBody>
      </p:sp>
      <p:sp>
        <p:nvSpPr>
          <p:cNvPr id="131" name="Stage Act">
            <a:extLst>
              <a:ext uri="{FF2B5EF4-FFF2-40B4-BE49-F238E27FC236}">
                <a16:creationId xmlns:a16="http://schemas.microsoft.com/office/drawing/2014/main" id="{67F4247A-1603-4EC3-BAB0-8E5585B9E610}"/>
              </a:ext>
            </a:extLst>
          </p:cNvPr>
          <p:cNvSpPr>
            <a:spLocks noGrp="1"/>
          </p:cNvSpPr>
          <p:nvPr/>
        </p:nvSpPr>
        <p:spPr>
          <a:xfrm>
            <a:off x="5719572" y="4343400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C17629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32" name="Stage Observe">
            <a:extLst>
              <a:ext uri="{FF2B5EF4-FFF2-40B4-BE49-F238E27FC236}">
                <a16:creationId xmlns:a16="http://schemas.microsoft.com/office/drawing/2014/main" id="{9E2D046F-F60C-4BFD-8C26-E47FB1948038}"/>
              </a:ext>
            </a:extLst>
          </p:cNvPr>
          <p:cNvSpPr>
            <a:spLocks noGrp="1"/>
          </p:cNvSpPr>
          <p:nvPr/>
        </p:nvSpPr>
        <p:spPr>
          <a:xfrm>
            <a:off x="4553712" y="361188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1F2C4A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33" name="Cycle caption">
            <a:extLst>
              <a:ext uri="{FF2B5EF4-FFF2-40B4-BE49-F238E27FC236}">
                <a16:creationId xmlns:a16="http://schemas.microsoft.com/office/drawing/2014/main" id="{494ABEAE-5239-4CE7-AC89-3B625F7F5809}"/>
              </a:ext>
            </a:extLst>
          </p:cNvPr>
          <p:cNvSpPr>
            <a:spLocks noGrp="1"/>
          </p:cNvSpPr>
          <p:nvPr/>
        </p:nvSpPr>
        <p:spPr>
          <a:xfrm>
            <a:off x="4507992" y="4663440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40" b="0" i="1">
                <a:solidFill>
                  <a:srgbClr val="4682DC"/>
                </a:solidFill>
                <a:latin typeface="Aptos"/>
                <a:ea typeface="Aptos"/>
                <a:cs typeface="Aptos"/>
              </a:rPr>
              <a:t>continuous, participant-local — no global controller</a:t>
            </a:r>
          </a:p>
        </p:txBody>
      </p:sp>
    </p:spTree>
    <p:extLst>
      <p:ext uri="{BB962C8B-B14F-4D97-AF65-F5344CB8AC3E}">
        <p14:creationId xmlns:p14="http://schemas.microsoft.com/office/powerpoint/2010/main" val="26653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DAA0C-4CA2-4671-98DF-766EC201065C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spc="16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FLAGSHIP RESEARCH · FG-TIDA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2A105-AC29-40AF-8AC2-05926701AAC5}"/>
              </a:ext>
            </a:extLst>
          </p:cNvPr>
          <p:cNvSpPr>
            <a:spLocks noGrp="1"/>
          </p:cNvSpPr>
          <p:nvPr/>
        </p:nvSpPr>
        <p:spPr>
          <a:xfrm>
            <a:off x="9795967" y="365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900" b="0" i="0" spc="12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§ 08</a:t>
            </a:r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EDC039B2-89A9-403C-803E-6D114EC20F69}"/>
              </a:ext>
            </a:extLst>
          </p:cNvPr>
          <p:cNvSpPr>
            <a:spLocks noGrp="1"/>
          </p:cNvSpPr>
          <p:nvPr/>
        </p:nvSpPr>
        <p:spPr>
          <a:xfrm>
            <a:off x="566928" y="713232"/>
            <a:ext cx="11057839" cy="0"/>
          </a:xfrm>
          <a:prstGeom prst="line">
            <a:avLst/>
          </a:prstGeom>
          <a:ln w="19050">
            <a:solidFill>
              <a:srgbClr val="1B2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2779CA76-F48B-498E-AED9-EEE2477B0916}"/>
              </a:ext>
            </a:extLst>
          </p:cNvPr>
          <p:cNvSpPr>
            <a:spLocks noGrp="1"/>
          </p:cNvSpPr>
          <p:nvPr/>
        </p:nvSpPr>
        <p:spPr>
          <a:xfrm>
            <a:off x="566928" y="763524"/>
            <a:ext cx="11057839" cy="0"/>
          </a:xfrm>
          <a:prstGeom prst="line">
            <a:avLst/>
          </a:prstGeom>
          <a:ln w="7620">
            <a:solidFill>
              <a:srgbClr val="1B2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9238E-89EB-4323-A1C5-1D40477F89FA}"/>
              </a:ext>
            </a:extLst>
          </p:cNvPr>
          <p:cNvSpPr>
            <a:spLocks noGrp="1"/>
          </p:cNvSpPr>
          <p:nvPr/>
        </p:nvSpPr>
        <p:spPr>
          <a:xfrm>
            <a:off x="566928" y="9601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s-ES" sz="3000" b="1" i="0" spc="-40" dirty="0">
                <a:solidFill>
                  <a:srgbClr val="1B2740"/>
                </a:solidFill>
                <a:latin typeface="Cambria"/>
                <a:ea typeface="Cambria"/>
                <a:cs typeface="Cambria"/>
              </a:rPr>
              <a:t>TIDA </a:t>
            </a:r>
            <a:r>
              <a:rPr lang="es-ES" sz="3000" b="1" i="0" spc="-40" dirty="0" err="1">
                <a:solidFill>
                  <a:srgbClr val="1B2740"/>
                </a:solidFill>
                <a:latin typeface="Cambria"/>
                <a:ea typeface="Cambria"/>
                <a:cs typeface="Cambria"/>
              </a:rPr>
              <a:t>Component</a:t>
            </a:r>
            <a:r>
              <a:rPr lang="es-ES" sz="3000" b="1" i="0" spc="-40" dirty="0">
                <a:solidFill>
                  <a:srgbClr val="1B2740"/>
                </a:solidFill>
                <a:latin typeface="Cambria"/>
                <a:ea typeface="Cambria"/>
                <a:cs typeface="Cambria"/>
              </a:rPr>
              <a:t>: </a:t>
            </a:r>
            <a:r>
              <a:rPr sz="3000" b="1" i="0" spc="-40" dirty="0">
                <a:solidFill>
                  <a:srgbClr val="1B2740"/>
                </a:solidFill>
                <a:latin typeface="Cambria"/>
                <a:ea typeface="Cambria"/>
                <a:cs typeface="Cambria"/>
              </a:rPr>
              <a:t>Ecosystem Awareness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E103F-2604-471C-BD2F-641694002E07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78638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350" b="0" i="0">
                <a:solidFill>
                  <a:srgbClr val="555960"/>
                </a:solidFill>
                <a:latin typeface="Calibri"/>
                <a:ea typeface="Calibri"/>
                <a:cs typeface="Calibri"/>
              </a:rPr>
              <a:t>A candidate system-level epistemic architecture for independently governed human and agentic components.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64B78-4256-4A74-B2B9-5B6907A4625E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2627299" cy="1783080"/>
          </a:xfrm>
          <a:prstGeom prst="rect">
            <a:avLst/>
          </a:prstGeom>
          <a:solidFill>
            <a:srgbClr val="F4F4F3"/>
          </a:solidFill>
          <a:ln w="7620">
            <a:solidFill>
              <a:srgbClr val="E4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4D8AE-BDF5-4ED4-A5B9-98346A766CDF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2627299" cy="32004"/>
          </a:xfrm>
          <a:prstGeom prst="rect">
            <a:avLst/>
          </a:prstGeom>
          <a:solidFill>
            <a:srgbClr val="01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9D9AA-A6FC-4C08-9330-876769FDBB76}"/>
              </a:ext>
            </a:extLst>
          </p:cNvPr>
          <p:cNvSpPr>
            <a:spLocks noGrp="1"/>
          </p:cNvSpPr>
          <p:nvPr/>
        </p:nvSpPr>
        <p:spPr>
          <a:xfrm>
            <a:off x="749808" y="2459736"/>
            <a:ext cx="22615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 spc="120">
                <a:solidFill>
                  <a:srgbClr val="01696F"/>
                </a:solidFill>
                <a:latin typeface="Consolas"/>
                <a:ea typeface="Consolas"/>
                <a:cs typeface="Consolas"/>
              </a:rPr>
              <a:t>SCOPED EPISTEMIC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6AE05A-E3DE-4820-B1EA-629D18900F88}"/>
              </a:ext>
            </a:extLst>
          </p:cNvPr>
          <p:cNvSpPr>
            <a:spLocks noGrp="1"/>
          </p:cNvSpPr>
          <p:nvPr/>
        </p:nvSpPr>
        <p:spPr>
          <a:xfrm>
            <a:off x="749808" y="2734056"/>
            <a:ext cx="2261539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55960"/>
                </a:solidFill>
                <a:latin typeface="Calibri"/>
                <a:ea typeface="Calibri"/>
                <a:cs typeface="Calibri"/>
              </a:rPr>
              <a:t>What is determined, unresolved, potentially knowable and structurally residual.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1135BC-7C63-49E3-B8F7-BA37E51E666F}"/>
              </a:ext>
            </a:extLst>
          </p:cNvPr>
          <p:cNvSpPr>
            <a:spLocks noGrp="1"/>
          </p:cNvSpPr>
          <p:nvPr/>
        </p:nvSpPr>
        <p:spPr>
          <a:xfrm>
            <a:off x="3377107" y="2276856"/>
            <a:ext cx="2627299" cy="1783080"/>
          </a:xfrm>
          <a:prstGeom prst="rect">
            <a:avLst/>
          </a:prstGeom>
          <a:solidFill>
            <a:srgbClr val="F4F4F3"/>
          </a:solidFill>
          <a:ln w="7620">
            <a:solidFill>
              <a:srgbClr val="E4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8A1FC7-316F-4BFC-A60D-0F6645810D96}"/>
              </a:ext>
            </a:extLst>
          </p:cNvPr>
          <p:cNvSpPr>
            <a:spLocks noGrp="1"/>
          </p:cNvSpPr>
          <p:nvPr/>
        </p:nvSpPr>
        <p:spPr>
          <a:xfrm>
            <a:off x="3377107" y="2276856"/>
            <a:ext cx="2627299" cy="32004"/>
          </a:xfrm>
          <a:prstGeom prst="rect">
            <a:avLst/>
          </a:prstGeom>
          <a:solidFill>
            <a:srgbClr val="01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840A6E-7170-4852-8803-3D423F3297D2}"/>
              </a:ext>
            </a:extLst>
          </p:cNvPr>
          <p:cNvSpPr>
            <a:spLocks noGrp="1"/>
          </p:cNvSpPr>
          <p:nvPr/>
        </p:nvSpPr>
        <p:spPr>
          <a:xfrm>
            <a:off x="3559987" y="2459736"/>
            <a:ext cx="22615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 spc="120">
                <a:solidFill>
                  <a:srgbClr val="01696F"/>
                </a:solidFill>
                <a:latin typeface="Consolas"/>
                <a:ea typeface="Consolas"/>
                <a:cs typeface="Consolas"/>
              </a:rPr>
              <a:t>NON-FUNGIBLE COMPOSITION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DE189-CA0F-4C3B-ADC3-B188B3D93F6F}"/>
              </a:ext>
            </a:extLst>
          </p:cNvPr>
          <p:cNvSpPr>
            <a:spLocks noGrp="1"/>
          </p:cNvSpPr>
          <p:nvPr/>
        </p:nvSpPr>
        <p:spPr>
          <a:xfrm>
            <a:off x="3559987" y="2734056"/>
            <a:ext cx="2261539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55960"/>
                </a:solidFill>
                <a:latin typeface="Calibri"/>
                <a:ea typeface="Calibri"/>
                <a:cs typeface="Calibri"/>
              </a:rPr>
              <a:t>Confidence in one domain cannot erase uncertainty in another.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E93564-576E-4AB9-87CB-BA09F7A4241C}"/>
              </a:ext>
            </a:extLst>
          </p:cNvPr>
          <p:cNvSpPr>
            <a:spLocks noGrp="1"/>
          </p:cNvSpPr>
          <p:nvPr/>
        </p:nvSpPr>
        <p:spPr>
          <a:xfrm>
            <a:off x="6187287" y="2276856"/>
            <a:ext cx="2627299" cy="1783080"/>
          </a:xfrm>
          <a:prstGeom prst="rect">
            <a:avLst/>
          </a:prstGeom>
          <a:solidFill>
            <a:srgbClr val="F4F4F3"/>
          </a:solidFill>
          <a:ln w="7620">
            <a:solidFill>
              <a:srgbClr val="E4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39521B-243F-42CD-BD43-CF691377EAB3}"/>
              </a:ext>
            </a:extLst>
          </p:cNvPr>
          <p:cNvSpPr>
            <a:spLocks noGrp="1"/>
          </p:cNvSpPr>
          <p:nvPr/>
        </p:nvSpPr>
        <p:spPr>
          <a:xfrm>
            <a:off x="6187287" y="2276856"/>
            <a:ext cx="2627299" cy="32004"/>
          </a:xfrm>
          <a:prstGeom prst="rect">
            <a:avLst/>
          </a:prstGeom>
          <a:solidFill>
            <a:srgbClr val="01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8CB5AC-D7AA-406C-A5F3-07DDD0CEB8DF}"/>
              </a:ext>
            </a:extLst>
          </p:cNvPr>
          <p:cNvSpPr>
            <a:spLocks noGrp="1"/>
          </p:cNvSpPr>
          <p:nvPr/>
        </p:nvSpPr>
        <p:spPr>
          <a:xfrm>
            <a:off x="6370167" y="2459736"/>
            <a:ext cx="22615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 spc="120">
                <a:solidFill>
                  <a:srgbClr val="01696F"/>
                </a:solidFill>
                <a:latin typeface="Consolas"/>
                <a:ea typeface="Consolas"/>
                <a:cs typeface="Consolas"/>
              </a:rPr>
              <a:t>RISK / CAPACITY REQUALIFICATION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49EE5-97DC-44EA-A21E-DDA603166D56}"/>
              </a:ext>
            </a:extLst>
          </p:cNvPr>
          <p:cNvSpPr>
            <a:spLocks noGrp="1"/>
          </p:cNvSpPr>
          <p:nvPr/>
        </p:nvSpPr>
        <p:spPr>
          <a:xfrm>
            <a:off x="6370167" y="2734056"/>
            <a:ext cx="2261539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55960"/>
                </a:solidFill>
                <a:latin typeface="Calibri"/>
                <a:ea typeface="Calibri"/>
                <a:cs typeface="Calibri"/>
              </a:rPr>
              <a:t>Expand, narrow or stop determination according to mission risk and response horizon.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EE682-6DF2-4EE1-8F8F-B3F97EEE390D}"/>
              </a:ext>
            </a:extLst>
          </p:cNvPr>
          <p:cNvSpPr>
            <a:spLocks noGrp="1"/>
          </p:cNvSpPr>
          <p:nvPr/>
        </p:nvSpPr>
        <p:spPr>
          <a:xfrm>
            <a:off x="8997467" y="2276856"/>
            <a:ext cx="2627299" cy="1783080"/>
          </a:xfrm>
          <a:prstGeom prst="rect">
            <a:avLst/>
          </a:prstGeom>
          <a:solidFill>
            <a:srgbClr val="F4F4F3"/>
          </a:solidFill>
          <a:ln w="7620">
            <a:solidFill>
              <a:srgbClr val="E4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FA6FC5-B2DF-4B97-9CAB-1F4C22345049}"/>
              </a:ext>
            </a:extLst>
          </p:cNvPr>
          <p:cNvSpPr>
            <a:spLocks noGrp="1"/>
          </p:cNvSpPr>
          <p:nvPr/>
        </p:nvSpPr>
        <p:spPr>
          <a:xfrm>
            <a:off x="8997467" y="2276856"/>
            <a:ext cx="2627299" cy="32004"/>
          </a:xfrm>
          <a:prstGeom prst="rect">
            <a:avLst/>
          </a:prstGeom>
          <a:solidFill>
            <a:srgbClr val="01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AE7829-8813-4D3D-9DF3-D03EA1AEC508}"/>
              </a:ext>
            </a:extLst>
          </p:cNvPr>
          <p:cNvSpPr>
            <a:spLocks noGrp="1"/>
          </p:cNvSpPr>
          <p:nvPr/>
        </p:nvSpPr>
        <p:spPr>
          <a:xfrm>
            <a:off x="9180347" y="2459736"/>
            <a:ext cx="22615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 spc="120">
                <a:solidFill>
                  <a:srgbClr val="01696F"/>
                </a:solidFill>
                <a:latin typeface="Consolas"/>
                <a:ea typeface="Consolas"/>
                <a:cs typeface="Consolas"/>
              </a:rPr>
              <a:t>TRANSPORT-NEUTRAL HANDOFF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74C9B-51CE-4156-9F76-57627DF26EF3}"/>
              </a:ext>
            </a:extLst>
          </p:cNvPr>
          <p:cNvSpPr>
            <a:spLocks noGrp="1"/>
          </p:cNvSpPr>
          <p:nvPr/>
        </p:nvSpPr>
        <p:spPr>
          <a:xfrm>
            <a:off x="9180347" y="2734056"/>
            <a:ext cx="2261539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55960"/>
                </a:solidFill>
                <a:latin typeface="Calibri"/>
                <a:ea typeface="Calibri"/>
                <a:cs typeface="Calibri"/>
              </a:rPr>
              <a:t>Preserve the minimum semantics needed across organisational and technical boundaries.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51F1D6-94A3-4910-949F-F7CF5EA7EA78}"/>
              </a:ext>
            </a:extLst>
          </p:cNvPr>
          <p:cNvSpPr>
            <a:spLocks noGrp="1"/>
          </p:cNvSpPr>
          <p:nvPr/>
        </p:nvSpPr>
        <p:spPr>
          <a:xfrm>
            <a:off x="566928" y="4892040"/>
            <a:ext cx="11057839" cy="1097280"/>
          </a:xfrm>
          <a:prstGeom prst="rect">
            <a:avLst/>
          </a:prstGeom>
          <a:solidFill>
            <a:srgbClr val="1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5CA5C2-8CBE-43F7-A1AF-DCB36D881660}"/>
              </a:ext>
            </a:extLst>
          </p:cNvPr>
          <p:cNvSpPr>
            <a:spLocks noGrp="1"/>
          </p:cNvSpPr>
          <p:nvPr/>
        </p:nvSpPr>
        <p:spPr>
          <a:xfrm>
            <a:off x="658368" y="489204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800" b="1" i="0" spc="-60">
                <a:solidFill>
                  <a:srgbClr val="FCFCFD"/>
                </a:solidFill>
                <a:latin typeface="Cambria"/>
                <a:ea typeface="Cambria"/>
                <a:cs typeface="Cambria"/>
              </a:rPr>
              <a:t>FG-TIDA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C9FA01-AD50-4A98-B976-00649C67FAB9}"/>
              </a:ext>
            </a:extLst>
          </p:cNvPr>
          <p:cNvSpPr>
            <a:spLocks noGrp="1"/>
          </p:cNvSpPr>
          <p:nvPr/>
        </p:nvSpPr>
        <p:spPr>
          <a:xfrm>
            <a:off x="1984248" y="5056631"/>
            <a:ext cx="936619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80" b="0" i="0" spc="140">
                <a:solidFill>
                  <a:srgbClr val="B4B9C4"/>
                </a:solidFill>
                <a:latin typeface="Consolas"/>
                <a:ea typeface="Consolas"/>
                <a:cs typeface="Consolas"/>
              </a:rPr>
              <a:t>ARCHITECTURAL ALIGNMENT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D88211-A9FA-4B80-84E8-E4A993BFFCD9}"/>
              </a:ext>
            </a:extLst>
          </p:cNvPr>
          <p:cNvSpPr>
            <a:spLocks noGrp="1"/>
          </p:cNvSpPr>
          <p:nvPr/>
        </p:nvSpPr>
        <p:spPr>
          <a:xfrm>
            <a:off x="1984248" y="5330952"/>
            <a:ext cx="9366199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 dirty="0">
                <a:solidFill>
                  <a:srgbClr val="E6E8EC"/>
                </a:solidFill>
                <a:latin typeface="Calibri"/>
                <a:ea typeface="Calibri"/>
                <a:cs typeface="Calibri"/>
              </a:rPr>
              <a:t>Public exchanges and cross-theme mappings indicate FG-TIDA-wide architectural alignment in progress; formal adoption is not claimed.</a:t>
            </a:r>
          </a:p>
        </p:txBody>
      </p:sp>
      <p:sp>
        <p:nvSpPr>
          <p:cNvPr id="28" name="Connector 27">
            <a:extLst>
              <a:ext uri="{FF2B5EF4-FFF2-40B4-BE49-F238E27FC236}">
                <a16:creationId xmlns:a16="http://schemas.microsoft.com/office/drawing/2014/main" id="{BA0AFB14-240D-4E33-B005-758C276D73F7}"/>
              </a:ext>
            </a:extLst>
          </p:cNvPr>
          <p:cNvSpPr>
            <a:spLocks noGrp="1"/>
          </p:cNvSpPr>
          <p:nvPr/>
        </p:nvSpPr>
        <p:spPr>
          <a:xfrm>
            <a:off x="566928" y="6217920"/>
            <a:ext cx="11057839" cy="0"/>
          </a:xfrm>
          <a:prstGeom prst="line">
            <a:avLst/>
          </a:prstGeom>
          <a:ln w="6350">
            <a:solidFill>
              <a:srgbClr val="E4E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27411A-9BD4-4E01-8644-36CA25BA1EDA}"/>
              </a:ext>
            </a:extLst>
          </p:cNvPr>
          <p:cNvSpPr>
            <a:spLocks noGrp="1"/>
          </p:cNvSpPr>
          <p:nvPr/>
        </p:nvSpPr>
        <p:spPr>
          <a:xfrm>
            <a:off x="566928" y="62910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800" b="0" i="0" spc="5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Tegrity.AI / The Integral Management Society</a:t>
            </a:r>
          </a:p>
          <a:p>
            <a:pPr algn="l">
              <a:lnSpc>
                <a:spcPct val="125000"/>
              </a:lnSpc>
              <a:buNone/>
            </a:pPr>
            <a:r>
              <a:rPr sz="800" b="0" i="0" spc="5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Public Theme #13 · interfaces with neighbouring themes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AFD3F6-8181-4F72-A530-F49F6243D89E}"/>
              </a:ext>
            </a:extLst>
          </p:cNvPr>
          <p:cNvSpPr>
            <a:spLocks noGrp="1"/>
          </p:cNvSpPr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1" i="0">
                <a:solidFill>
                  <a:srgbClr val="1B274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92590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DC7B49D2-A900-4CD5-88BB-A23F38A48EF3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PUBLIC WORK AND REFERENCES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1FED8D69-4758-4579-A6CD-B39481A7F0AD}"/>
              </a:ext>
            </a:extLst>
          </p:cNvPr>
          <p:cNvSpPr>
            <a:spLocks noGrp="1"/>
          </p:cNvSpPr>
          <p:nvPr/>
        </p:nvSpPr>
        <p:spPr>
          <a:xfrm>
            <a:off x="566928" y="329184"/>
            <a:ext cx="10972800" cy="16459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ns2:creationId id="{B105BF4F-06A7-416F-9D9A-D4F6803B29A7}"/>
              </a:ext>
            </a:extLst>
          </p:cNvPr>
          <p:cNvSpPr>
            <a:spLocks noGrp="1"/>
          </p:cNvSpPr>
          <p:nvPr/>
        </p:nvSpPr>
        <p:spPr>
          <a:xfrm>
            <a:off x="10881360" y="14630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§ 09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FF84DEB9-98D0-4601-AEC8-B3D51FF7E084}"/>
              </a:ext>
            </a:extLst>
          </p:cNvPr>
          <p:cNvSpPr>
            <a:spLocks noGrp="1"/>
          </p:cNvSpPr>
          <p:nvPr/>
        </p:nvSpPr>
        <p:spPr>
          <a:xfrm>
            <a:off x="566928" y="6492240"/>
            <a:ext cx="10972800" cy="13716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ns2:creationId id="{D028E49D-0AB2-426A-B39B-0FA221F9000C}"/>
              </a:ext>
            </a:extLst>
          </p:cNvPr>
          <p:cNvSpPr>
            <a:spLocks noGrp="1"/>
          </p:cNvSpPr>
          <p:nvPr/>
        </p:nvSpPr>
        <p:spPr>
          <a:xfrm>
            <a:off x="566928" y="6528816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8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Tegrity.AI, part of The Integral Management Society</a:t>
            </a:r>
          </a:p>
        </p:txBody>
      </p:sp>
      <p:sp>
        <p:nvSpPr>
          <p:cNvPr id="7" name="TextBox 6">
            <a:extLst>
              <a:ext uri="{FF2B5EF4-FFF2-40B4-BE49-F238E27FC236}">
                <ns2:creationId id="{CE09CB74-AA60-470C-B8EB-6FC7C385A25E}"/>
              </a:ext>
            </a:extLst>
          </p:cNvPr>
          <p:cNvSpPr>
            <a:spLocks noGrp="1"/>
          </p:cNvSpPr>
          <p:nvPr/>
        </p:nvSpPr>
        <p:spPr>
          <a:xfrm>
            <a:off x="4069080" y="6528816"/>
            <a:ext cx="3840480" cy="13716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Ecosystem Awareness · Positioning architecture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9709FC97-FC2D-4E96-B25A-54DCA3B6BC2B}"/>
              </a:ext>
            </a:extLst>
          </p:cNvPr>
          <p:cNvSpPr>
            <a:spLocks noGrp="1"/>
          </p:cNvSpPr>
          <p:nvPr/>
        </p:nvSpPr>
        <p:spPr>
          <a:xfrm>
            <a:off x="11018520" y="6528816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r"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E45187D6-D5CB-4179-B777-1EF47166DD00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607040" cy="487313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r>
              <a:rPr sz="250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Tegrity.AI · AI Integrity Management</a:t>
            </a:r>
            <a:r>
              <a:rPr lang="es-ES" sz="250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500" b="1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· Public References</a:t>
            </a:r>
            <a:endParaRPr sz="2500" b="1" i="0" dirty="0">
              <a:solidFill>
                <a:srgbClr val="1F2C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ns2:creationId id="{F363CDB4-E6DD-4E95-91B4-90BDE4A8D981}"/>
              </a:ext>
            </a:extLst>
          </p:cNvPr>
          <p:cNvSpPr>
            <a:spLocks noGrp="1"/>
          </p:cNvSpPr>
          <p:nvPr/>
        </p:nvSpPr>
        <p:spPr>
          <a:xfrm>
            <a:off x="566928" y="1078992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1220" b="0" i="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Public research, architecture and pre-standardization routes for Ecosystem Awareness, Minimum Sufficient Control Architecture and Regime Awareness.</a:t>
            </a:r>
          </a:p>
        </p:txBody>
      </p:sp>
      <p:sp>
        <p:nvSpPr>
          <p:cNvPr id="11" name="Rounded Rectangle 10">
            <a:extLst>
              <a:ext uri="{FF2B5EF4-FFF2-40B4-BE49-F238E27FC236}">
                <ns2:creationId id="{9325C034-9199-4697-B618-6F70AB09830F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3337560" cy="3246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anchor="t"/>
          <a:lstStyle/>
          <a:p>
            <a:pPr algn="l">
              <a:buNone/>
            </a:pPr>
            <a:r>
              <a:rPr lang="es-ES" sz="1700" b="1" dirty="0" err="1">
                <a:solidFill>
                  <a:srgbClr val="1F2C4A"/>
                </a:solidFill>
                <a:latin typeface="Aptos"/>
                <a:ea typeface="Aptos"/>
                <a:cs typeface="Aptos"/>
              </a:rPr>
              <a:t>Operational</a:t>
            </a:r>
            <a:r>
              <a:rPr sz="1700" b="1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 Integrity Management</a:t>
            </a:r>
          </a:p>
          <a:p>
            <a:pPr algn="l">
              <a:spcBef>
                <a:spcPts val="300"/>
              </a:spcBef>
              <a:buNone/>
            </a:pPr>
            <a:r>
              <a:rPr lang="es-ES" sz="1050" dirty="0" err="1">
                <a:solidFill>
                  <a:srgbClr val="5D6572"/>
                </a:solidFill>
                <a:latin typeface="Aptos"/>
                <a:ea typeface="Aptos"/>
                <a:cs typeface="Aptos"/>
              </a:rPr>
              <a:t>It</a:t>
            </a:r>
            <a:r>
              <a:rPr lang="es-ES" sz="105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 </a:t>
            </a:r>
            <a:r>
              <a:rPr sz="105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connects three coordinated components:</a:t>
            </a:r>
          </a:p>
          <a:p>
            <a:pPr algn="l">
              <a:buNone/>
            </a:pPr>
            <a:endParaRPr sz="1050" dirty="0">
              <a:solidFill>
                <a:srgbClr val="5D6572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</a:pPr>
            <a:r>
              <a:rPr sz="105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01 · Ecosystem Awareness</a:t>
            </a:r>
          </a:p>
          <a:p>
            <a:pPr algn="l">
              <a:buNone/>
            </a:pPr>
            <a:r>
              <a:rPr sz="105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02 · Minimum Sufficient Control Architecture (MSCA)</a:t>
            </a:r>
          </a:p>
          <a:p>
            <a:pPr algn="l">
              <a:buNone/>
            </a:pPr>
            <a:r>
              <a:rPr sz="105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03 · Regime Awareness / Sufficiently Good Early Warning</a:t>
            </a:r>
          </a:p>
          <a:p>
            <a:pPr algn="l">
              <a:spcBef>
                <a:spcPts val="400"/>
              </a:spcBef>
              <a:buNone/>
            </a:pPr>
            <a:r>
              <a:rPr sz="900" i="1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Agentic Citizenship (annex 01I) is treated as a separate participation layer.</a:t>
            </a:r>
          </a:p>
          <a:p>
            <a:pPr algn="l">
              <a:buNone/>
            </a:pPr>
            <a:endParaRPr sz="1050" dirty="0">
              <a:solidFill>
                <a:srgbClr val="5D6572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</a:pPr>
            <a:r>
              <a:rPr sz="1050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Working architecture for review, benchmark construction and testing. Public work does not imply standards-body adoption or endorsement.</a:t>
            </a:r>
          </a:p>
        </p:txBody>
      </p:sp>
      <p:sp>
        <p:nvSpPr>
          <p:cNvPr id="12" name="Rounded Rectangle 11">
            <a:extLst>
              <a:ext uri="{FF2B5EF4-FFF2-40B4-BE49-F238E27FC236}">
                <ns2:creationId id="{50E7E727-B04E-4709-8FE5-CCB7471EF53A}"/>
              </a:ext>
            </a:extLst>
          </p:cNvPr>
          <p:cNvSpPr>
            <a:spLocks noGrp="1"/>
          </p:cNvSpPr>
          <p:nvPr/>
        </p:nvSpPr>
        <p:spPr>
          <a:xfrm>
            <a:off x="4434840" y="1572768"/>
            <a:ext cx="6903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b="1" sz="1240">
                <a:solidFill>
                  <a:srgbClr val="145CAA"/>
                </a:solidFill>
                <a:latin typeface="Aptos"/>
                <a:hlinkClick r:id="rId9"/>
              </a:rPr>
              <a:t>Structural Awareness Programme — parent route</a:t>
            </a:r>
          </a:p>
          <a:p>
            <a:r>
              <a:rPr b="0" sz="1040">
                <a:solidFill>
                  <a:srgbClr val="145CAA"/>
                </a:solidFill>
                <a:latin typeface="Aptos"/>
                <a:hlinkClick r:id="rId9"/>
              </a:rPr>
              <a:t>Return to the four-part Structural Awareness programme and its human-readable structure.</a:t>
            </a:r>
          </a:p>
        </p:txBody>
      </p:sp>
      <p:sp>
        <p:nvSpPr>
          <p:cNvPr id="13" name="Rounded Rectangle 12">
            <a:extLst>
              <a:ext uri="{FF2B5EF4-FFF2-40B4-BE49-F238E27FC236}">
                <ns2:creationId id="{6D35A37E-4535-47C6-A992-5CBD9D766AD9}"/>
              </a:ext>
            </a:extLst>
          </p:cNvPr>
          <p:cNvSpPr>
            <a:spLocks noGrp="1"/>
          </p:cNvSpPr>
          <p:nvPr/>
        </p:nvSpPr>
        <p:spPr>
          <a:xfrm>
            <a:off x="4434840" y="2295144"/>
            <a:ext cx="6903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b="1" sz="1240">
                <a:solidFill>
                  <a:srgbClr val="145CAA"/>
                </a:solidFill>
                <a:latin typeface="Aptos"/>
                <a:hlinkClick r:id="rId3"/>
              </a:rPr>
              <a:t>Ecosystem Awareness — public corpus</a:t>
            </a:r>
          </a:p>
          <a:p>
            <a:r>
              <a:rPr b="0" sz="1040">
                <a:solidFill>
                  <a:srgbClr val="145CAA"/>
                </a:solidFill>
                <a:latin typeface="Aptos"/>
                <a:hlinkClick r:id="rId3"/>
              </a:rPr>
              <a:t>Decision-scoped epistemic qualification and the maintained EA reading route.</a:t>
            </a:r>
          </a:p>
        </p:txBody>
      </p:sp>
      <p:sp>
        <p:nvSpPr>
          <p:cNvPr id="14" name="Rounded Rectangle 13">
            <a:extLst>
              <a:ext uri="{FF2B5EF4-FFF2-40B4-BE49-F238E27FC236}">
                <ns2:creationId id="{A76EF416-4D56-4DEB-9130-4A1093C46786}"/>
              </a:ext>
            </a:extLst>
          </p:cNvPr>
          <p:cNvSpPr>
            <a:spLocks noGrp="1"/>
          </p:cNvSpPr>
          <p:nvPr/>
        </p:nvSpPr>
        <p:spPr>
          <a:xfrm>
            <a:off x="4434840" y="3017520"/>
            <a:ext cx="6903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b="1" sz="1400">
                <a:solidFill>
                  <a:srgbClr val="1E66BF"/>
                </a:solidFill>
                <a:latin typeface="Aptos"/>
                <a:hlinkClick r:id="rId5"/>
              </a:rPr>
              <a:t>MSCA — public corpus</a:t>
            </a:r>
          </a:p>
          <a:p>
            <a:r>
              <a:rPr b="0" sz="1200">
                <a:solidFill>
                  <a:srgbClr val="1E66BF"/>
                </a:solidFill>
                <a:latin typeface="Aptos"/>
                <a:hlinkClick r:id="rId5"/>
              </a:rPr>
              <a:t>Minimum Sufficient Control Architecture public reading route.</a:t>
            </a:r>
          </a:p>
        </p:txBody>
      </p:sp>
      <p:sp>
        <p:nvSpPr>
          <p:cNvPr id="15" name="Rounded Rectangle 14">
            <a:extLst>
              <a:ext uri="{FF2B5EF4-FFF2-40B4-BE49-F238E27FC236}">
                <ns2:creationId id="{241100B2-9425-49B3-BD3D-600C0EA2BA3B}"/>
              </a:ext>
            </a:extLst>
          </p:cNvPr>
          <p:cNvSpPr>
            <a:spLocks noGrp="1"/>
          </p:cNvSpPr>
          <p:nvPr/>
        </p:nvSpPr>
        <p:spPr>
          <a:xfrm>
            <a:off x="4434840" y="3739896"/>
            <a:ext cx="6903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b="1" sz="1400">
                <a:solidFill>
                  <a:srgbClr val="1E66BF"/>
                </a:solidFill>
                <a:latin typeface="Aptos"/>
                <a:hlinkClick r:id="rId6"/>
              </a:rPr>
              <a:t>Regime Awareness / Regime Change — public route</a:t>
            </a:r>
          </a:p>
          <a:p>
            <a:r>
              <a:rPr b="0" sz="1200">
                <a:solidFill>
                  <a:srgbClr val="1E66BF"/>
                </a:solidFill>
                <a:latin typeface="Aptos"/>
                <a:hlinkClick r:id="rId6"/>
              </a:rPr>
              <a:t>Regime Awareness / Sufficiently Good Early Warning reading route.</a:t>
            </a:r>
          </a:p>
        </p:txBody>
      </p:sp>
      <p:sp>
        <p:nvSpPr>
          <p:cNvPr id="16" name="Rounded Rectangle 15">
            <a:extLst>
              <a:ext uri="{FF2B5EF4-FFF2-40B4-BE49-F238E27FC236}">
                <ns2:creationId id="{3422EC93-3AE6-4FD1-86B9-CCE2E747E97C}"/>
              </a:ext>
            </a:extLst>
          </p:cNvPr>
          <p:cNvSpPr>
            <a:spLocks noGrp="1"/>
          </p:cNvSpPr>
          <p:nvPr/>
        </p:nvSpPr>
        <p:spPr>
          <a:xfrm>
            <a:off x="4434840" y="4462272"/>
            <a:ext cx="6903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240" b="1" u="sng">
                <a:solidFill>
                  <a:srgbClr val="145CAA"/>
                </a:solidFill>
                <a:latin typeface="Aptos"/>
                <a:ea typeface="Aptos"/>
                <a:cs typeface="Aptos"/>
                <a:hlinkClick r:id="rId7"/>
              </a:rPr>
              <a:t>Canonical Architecture Benchmark &amp; Evidence v0.2</a:t>
            </a:r>
          </a:p>
          <a:p>
            <a:pPr algn="l">
              <a:spcBef>
                <a:spcPts val="300"/>
              </a:spcBef>
              <a:buNone/>
            </a:pPr>
            <a:r>
              <a:rPr sz="900">
                <a:solidFill>
                  <a:srgbClr val="5D6572"/>
                </a:solidFill>
                <a:latin typeface="Aptos"/>
                <a:ea typeface="Aptos"/>
                <a:cs typeface="Aptos"/>
              </a:rPr>
              <a:t>B0–B3 comparator contract, hypotheses, falsifiers and evidence grades.</a:t>
            </a:r>
          </a:p>
        </p:txBody>
      </p:sp>
      <p:sp>
        <p:nvSpPr>
          <p:cNvPr id="17" name="Rounded Rectangle 16">
            <a:extLst>
              <a:ext uri="{FF2B5EF4-FFF2-40B4-BE49-F238E27FC236}">
                <ns2:creationId id="{637A9447-D148-4D93-B3FE-E7FEED877BA2}"/>
              </a:ext>
            </a:extLst>
          </p:cNvPr>
          <p:cNvSpPr>
            <a:spLocks noGrp="1"/>
          </p:cNvSpPr>
          <p:nvPr/>
        </p:nvSpPr>
        <p:spPr>
          <a:xfrm>
            <a:off x="4434840" y="5184648"/>
            <a:ext cx="6903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240" b="1" u="sng">
                <a:solidFill>
                  <a:srgbClr val="145CAA"/>
                </a:solidFill>
                <a:latin typeface="Aptos"/>
                <a:ea typeface="Aptos"/>
                <a:cs typeface="Aptos"/>
                <a:hlinkClick r:id="rId8"/>
              </a:rPr>
              <a:t>FG-TIDA themes repository</a:t>
            </a:r>
          </a:p>
          <a:p>
            <a:pPr algn="l">
              <a:spcBef>
                <a:spcPts val="300"/>
              </a:spcBef>
              <a:buNone/>
            </a:pPr>
            <a:r>
              <a:rPr sz="900">
                <a:solidFill>
                  <a:srgbClr val="5D6572"/>
                </a:solidFill>
                <a:latin typeface="Aptos"/>
                <a:ea typeface="Aptos"/>
                <a:cs typeface="Aptos"/>
              </a:rPr>
              <a:t>Public theme discussions and cross-theme interfaces.</a:t>
            </a:r>
          </a:p>
        </p:txBody>
      </p:sp>
      <p:sp>
        <p:nvSpPr>
          <p:cNvPr id="18" name="TextBox 17">
            <a:extLst>
              <a:ext uri="{FF2B5EF4-FFF2-40B4-BE49-F238E27FC236}">
                <ns2:creationId id="{987B6C11-8EFC-4DFB-BFCB-B47005E29170}"/>
              </a:ext>
            </a:extLst>
          </p:cNvPr>
          <p:cNvSpPr>
            <a:spLocks noGrp="1"/>
          </p:cNvSpPr>
          <p:nvPr/>
        </p:nvSpPr>
        <p:spPr>
          <a:xfrm>
            <a:off x="566928" y="6528816"/>
            <a:ext cx="2926080" cy="13716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8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Public research routes · September 2026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34888F7C-54D4-4508-B8D9-5E1B4555FCB9}"/>
              </a:ext>
            </a:extLst>
          </p:cNvPr>
          <p:cNvSpPr>
            <a:spLocks noGrp="1"/>
          </p:cNvSpPr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Rectangle 19">
            <a:extLst>
              <a:ext uri="{FF2B5EF4-FFF2-40B4-BE49-F238E27FC236}">
                <ns2:creationId id="{EF29820C-29E3-4D47-9261-6B47058FE73E}"/>
              </a:ext>
            </a:extLst>
          </p:cNvPr>
          <p:cNvSpPr>
            <a:spLocks noGrp="1"/>
          </p:cNvSpPr>
          <p:nvPr/>
        </p:nvSpPr>
        <p:spPr>
          <a:xfrm>
            <a:off x="566928" y="6492240"/>
            <a:ext cx="10972800" cy="13716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ns2:creationId id="{E4E35181-C658-4DD7-BBA1-2169C2577EC9}"/>
              </a:ext>
            </a:extLst>
          </p:cNvPr>
          <p:cNvSpPr>
            <a:spLocks noGrp="1"/>
          </p:cNvSpPr>
          <p:nvPr/>
        </p:nvSpPr>
        <p:spPr>
          <a:xfrm>
            <a:off x="566928" y="6528816"/>
            <a:ext cx="2926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77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Public research routes · September 2026</a:t>
            </a:r>
          </a:p>
        </p:txBody>
      </p:sp>
      <p:sp>
        <p:nvSpPr>
          <p:cNvPr id="22" name="TextBox 21">
            <a:extLst>
              <a:ext uri="{FF2B5EF4-FFF2-40B4-BE49-F238E27FC236}">
                <ns2:creationId id="{EF2E0CB2-56C2-4DB6-9C55-07C703BA1861}"/>
              </a:ext>
            </a:extLst>
          </p:cNvPr>
          <p:cNvSpPr>
            <a:spLocks noGrp="1"/>
          </p:cNvSpPr>
          <p:nvPr/>
        </p:nvSpPr>
        <p:spPr>
          <a:xfrm>
            <a:off x="11018520" y="6528816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ns4:creationId val="1483828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2813</Words>
  <Application>Microsoft Office PowerPoint</Application>
  <DocSecurity>0</DocSecurity>
  <PresentationFormat>Widescreen</PresentationFormat>
  <Paragraphs>386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Ivan Abril Palma</cp:lastModifiedBy>
  <cp:revision>2</cp:revision>
  <dcterms:created xsi:type="dcterms:W3CDTF">2026-09-22T14:53:32Z</dcterms:created>
  <dcterms:modified xsi:type="dcterms:W3CDTF">2026-09-22T15:01:46Z</dcterms:modified>
</cp:coreProperties>
</file>