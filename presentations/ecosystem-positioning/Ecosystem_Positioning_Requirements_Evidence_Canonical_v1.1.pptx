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66" r:id="rId17"/>
    <p:sldId id="267" r:id="rId18"/>
    <p:sldId id="259" r:id="rId5"/>
    <p:sldId id="274" r:id="rId19"/>
    <p:sldId id="270" r:id="rId21"/>
    <p:sldId id="275" r:id="rId9"/>
    <p:sldId id="273" r:id="rId24"/>
    <p:sldId id="269" r:id="rId20"/>
    <p:sldId id="265" r:id="rId10"/>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D4D544-A292-4829-B32B-F321090D9532}" name="Codex" initials="CX" userId="" providerId=""/>
  <p188:author id="{A1367D4F-5962-5773-E0CE-22E838CB07E5}" name="Ivan Abril Palma" initials="IA" userId="1518fb449b47511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9" autoAdjust="0"/>
    <p:restoredTop sz="94660"/>
  </p:normalViewPr>
  <p:slideViewPr>
    <p:cSldViewPr snapToGrid="0" snapToObjects="1">
      <p:cViewPr>
        <p:scale>
          <a:sx n="100" d="100"/>
          <a:sy n="100" d="100"/>
        </p:scale>
        <p:origin x="65"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9" Type="http://schemas.openxmlformats.org/officeDocument/2006/relationships/slide" Target="slides/slide12.xml"/><Relationship Id="rId10" Type="http://schemas.openxmlformats.org/officeDocument/2006/relationships/slide" Target="slides/slide15.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8.xml"/><Relationship Id="rId20" Type="http://schemas.openxmlformats.org/officeDocument/2006/relationships/slide" Target="slides/slide14.xml"/><Relationship Id="rId21" Type="http://schemas.openxmlformats.org/officeDocument/2006/relationships/slide" Target="slides/slide16.xml"/><Relationship Id="rId2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9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24AC05A-A514-42F8-9016-2E5D147A1C0F}"/>
              </a:ext>
            </a:extLst>
          </p:cNvPr>
          <p:cNvSpPr>
            <a:spLocks noGrp="1"/>
          </p:cNvSpPr>
          <p:nvPr/>
        </p:nvSpPr>
        <p:spPr>
          <a:xfrm>
            <a:off x="566928" y="457200"/>
            <a:ext cx="11045952" cy="0"/>
          </a:xfrm>
          <a:prstGeom prst="line">
            <a:avLst/>
          </a:prstGeom>
          <a:noFill/>
          <a:ln w="19050">
            <a:solidFill>
              <a:srgbClr val="1B273F"/>
            </a:solidFill>
            <a:prstDash val="solid"/>
          </a:ln>
        </p:spPr>
        <p:txBody>
          <a:bodyPr/>
          <a:lstStyle/>
          <a:p>
            <a:endParaRPr/>
          </a:p>
        </p:txBody>
      </p:sp>
      <p:sp>
        <p:nvSpPr>
          <p:cNvPr id="3" name="Shape 1">
            <a:extLst>
              <a:ext uri="{FF2B5EF4-FFF2-40B4-BE49-F238E27FC236}">
                <a16:creationId xmlns:a16="http://schemas.microsoft.com/office/drawing/2014/main" id="{20BA3AA8-903F-4A9F-BD7E-F197175788E2}"/>
              </a:ext>
            </a:extLst>
          </p:cNvPr>
          <p:cNvSpPr>
            <a:spLocks noGrp="1"/>
          </p:cNvSpPr>
          <p:nvPr/>
        </p:nvSpPr>
        <p:spPr>
          <a:xfrm>
            <a:off x="566928" y="512064"/>
            <a:ext cx="11045952" cy="0"/>
          </a:xfrm>
          <a:prstGeom prst="line">
            <a:avLst/>
          </a:prstGeom>
          <a:noFill/>
          <a:ln w="8890">
            <a:solidFill>
              <a:srgbClr val="1B273F"/>
            </a:solidFill>
            <a:prstDash val="solid"/>
          </a:ln>
        </p:spPr>
        <p:txBody>
          <a:bodyPr/>
          <a:lstStyle/>
          <a:p>
            <a:endParaRPr/>
          </a:p>
        </p:txBody>
      </p:sp>
      <p:sp>
        <p:nvSpPr>
          <p:cNvPr id="4" name="Shape 2">
            <a:extLst>
              <a:ext uri="{FF2B5EF4-FFF2-40B4-BE49-F238E27FC236}">
                <a16:creationId xmlns:a16="http://schemas.microsoft.com/office/drawing/2014/main" id="{0FD5C33F-27A7-4571-BF55-2281985972E4}"/>
              </a:ext>
            </a:extLst>
          </p:cNvPr>
          <p:cNvSpPr>
            <a:spLocks noGrp="1"/>
          </p:cNvSpPr>
          <p:nvPr/>
        </p:nvSpPr>
        <p:spPr>
          <a:xfrm>
            <a:off x="566928" y="6510528"/>
            <a:ext cx="11045952" cy="0"/>
          </a:xfrm>
          <a:prstGeom prst="line">
            <a:avLst/>
          </a:prstGeom>
          <a:noFill/>
          <a:ln w="10160">
            <a:solidFill>
              <a:srgbClr val="1B273F"/>
            </a:solidFill>
            <a:prstDash val="solid"/>
          </a:ln>
        </p:spPr>
        <p:txBody>
          <a:bodyPr/>
          <a:lstStyle/>
          <a:p>
            <a:endParaRPr/>
          </a:p>
        </p:txBody>
      </p:sp>
      <p:sp>
        <p:nvSpPr>
          <p:cNvPr id="5" name="Text 3">
            <a:extLst>
              <a:ext uri="{FF2B5EF4-FFF2-40B4-BE49-F238E27FC236}">
                <a16:creationId xmlns:a16="http://schemas.microsoft.com/office/drawing/2014/main" id="{787C5CD3-1C90-4DE4-AC10-83A6A6D3A474}"/>
              </a:ext>
            </a:extLst>
          </p:cNvPr>
          <p:cNvSpPr>
            <a:spLocks noGrp="1"/>
          </p:cNvSpPr>
          <p:nvPr/>
        </p:nvSpPr>
        <p:spPr>
          <a:xfrm>
            <a:off x="566928" y="6547104"/>
            <a:ext cx="3246120" cy="164592"/>
          </a:xfrm>
          <a:prstGeom prst="rect">
            <a:avLst/>
          </a:prstGeom>
          <a:noFill/>
        </p:spPr>
        <p:txBody>
          <a:bodyPr wrap="square" lIns="0" tIns="0" rIns="0" bIns="0" anchor="ctr"/>
          <a:lstStyle/>
          <a:p>
            <a:pPr marL="0" indent="0">
              <a:buNone/>
            </a:pPr>
            <a:endParaRPr sz="670"/>
          </a:p>
        </p:txBody>
      </p:sp>
      <p:sp>
        <p:nvSpPr>
          <p:cNvPr id="6" name="Text 4">
            <a:extLst>
              <a:ext uri="{FF2B5EF4-FFF2-40B4-BE49-F238E27FC236}">
                <a16:creationId xmlns:a16="http://schemas.microsoft.com/office/drawing/2014/main" id="{510B3E1A-A271-4DB8-96AC-80B94A660E23}"/>
              </a:ext>
            </a:extLst>
          </p:cNvPr>
          <p:cNvSpPr>
            <a:spLocks noGrp="1"/>
          </p:cNvSpPr>
          <p:nvPr/>
        </p:nvSpPr>
        <p:spPr>
          <a:xfrm>
            <a:off x="4187952" y="6547104"/>
            <a:ext cx="3383280" cy="164592"/>
          </a:xfrm>
          <a:prstGeom prst="rect">
            <a:avLst/>
          </a:prstGeom>
          <a:noFill/>
        </p:spPr>
        <p:txBody>
          <a:bodyPr wrap="square" lIns="0" tIns="0" rIns="0" bIns="0" anchor="ctr"/>
          <a:lstStyle/>
          <a:p>
            <a:pPr marL="0" indent="0">
              <a:buNone/>
            </a:pPr>
            <a:r>
              <a:rPr sz="670">
                <a:solidFill>
                  <a:srgbClr val="7A7E84"/>
                </a:solidFill>
                <a:latin typeface="Consolas"/>
                <a:ea typeface="Consolas"/>
                <a:cs typeface="Consolas"/>
              </a:rPr>
              <a:t>Ecosystem Awareness · Positioning architecture</a:t>
            </a:r>
            <a:endParaRPr sz="670"/>
          </a:p>
        </p:txBody>
      </p:sp>
      <p:sp>
        <p:nvSpPr>
          <p:cNvPr id="25" name="Slide Number Placeholder 0">
            <a:extLst>
              <a:ext uri="{FF2B5EF4-FFF2-40B4-BE49-F238E27FC236}">
                <a16:creationId xmlns:a16="http://schemas.microsoft.com/office/drawing/2014/main" id="{D58AFA47-6D7A-4B0F-8606-AF5E073936E3}"/>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buNone/>
            </a:pPr>
            <a:fld id="{F7021451-1387-4CA6-816F-3879F97B5CBC}" type="slidenum">
              <a:rPr b="1"/>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7F9CD0A-AACD-49F3-918C-789F249C6D53}"/>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buNone/>
            </a:pPr>
            <a:fld id="{F7021451-1387-4CA6-816F-3879F97B5CBC}" type="slidenum">
              <a:rPr b="1"/>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dakleyer/structural-awareness-contributions/blob/main/architectural-contributions/ecosystem-positioning/README.m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dakleyer/structural-awareness-contributions/blob/main/research/ecosystem-awareness/baseline/01_FOUNDATIONAL_THEORY_v0.5_INTEGRATED.md" TargetMode="External"/><Relationship Id="rId4" Type="http://schemas.openxmlformats.org/officeDocument/2006/relationships/hyperlink" Target="https://github.com/dakleyer/structural-awareness-contributions/blob/main/research/ecosystem-awareness/baseline/02_EPISTEMIC_SAFETY_PRINCIPLES_CONTROL_MATRIX_v0.4.part01.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E_FAILURE_MODES_100M_TOKEN_COMPOUNDING_v0.1.md" TargetMode="External"/><Relationship Id="rId3"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4" Type="http://schemas.openxmlformats.org/officeDocument/2006/relationships/hyperlink" Target="https://github.com/dakleyer/structural-awareness-contributions/blob/main/research/ecosystem-awareness/baseline/00G_FAILURE_MODE_COLLECTIVE_FALSE_CONTEXT_CONVERGENCE_v0.4.md" TargetMode="External"/><Relationship Id="rId5" Type="http://schemas.openxmlformats.org/officeDocument/2006/relationships/hyperlink" Target="https://github.com/dakleyer/structural-awareness-contributions/blob/main/research/ecosystem-awareness/baseline/00H_FAILURE_MODE_BATCH_OPPORTUNITY_BEYOND_AUTHORITY_v0.5_DRAFT.md" TargetMode="External"/><Relationship Id="rId6" Type="http://schemas.openxmlformats.org/officeDocument/2006/relationships/hyperlink" Target="https://github.com/dakleyer/structural-awareness-contributions/blob/main/research/ecosystem-awareness/baseline/00I_FAILURE_MODE_SEMANTIC_TOCTOU_v0.5_FREEZE_EDITION.md" TargetMode="External"/><Relationship Id="rId7" Type="http://schemas.openxmlformats.org/officeDocument/2006/relationships/hyperlink" Target="https://github.com/dakleyer/structural-awareness-contributions/blob/main/research/ecosystem-awareness/baseline/00J_FAILURE_MODE_RIGHTS_PROVENANCE_INVERSION_v0.1_DRAFT.md" TargetMode="External"/><Relationship Id="rId8" Type="http://schemas.openxmlformats.org/officeDocument/2006/relationships/hyperlink" Target="https://github.com/dakleyer/structural-awareness-contributions/blob/main/research/ecosystem-awareness/baseline/README.m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E_A01_MICROSOFT_AGENT_365_IMPLEMENTATION_PROFILE_v0.2_DRAFT.md" TargetMode="External"/><Relationship Id="rId3" Type="http://schemas.openxmlformats.org/officeDocument/2006/relationships/hyperlink" Target="https://github.com/dakleyer/structural-awareness-contributions/blob/main/research/ecosystem-awareness/baseline/00E_A02_LANGGRAPH_LANGSMITH_IMPLEMENTATION_PROFILE_v0.2_DRAFT.md" TargetMode="External"/><Relationship Id="rId4" Type="http://schemas.openxmlformats.org/officeDocument/2006/relationships/hyperlink" Target="https://github.com/dakleyer/structural-awareness-contributions/blob/main/research/ecosystem-awareness/baseline/00F_A01_FIWARE_NGSI_LD_IMPLEMENTATION_PROFILE_v0.2_DRAFT.md" TargetMode="External"/><Relationship Id="rId5" Type="http://schemas.openxmlformats.org/officeDocument/2006/relationships/hyperlink" Target="https://github.com/dakleyer/structural-awareness-contributions/blob/main/research/ecosystem-awareness/baseline/00F_A02_AWS_IOT_TWINMAKER_CORE_IMPLEMENTATION_PROFILE_v0.2_DRAFT.md" TargetMode="External"/><Relationship Id="rId6" Type="http://schemas.openxmlformats.org/officeDocument/2006/relationships/hyperlink" Target="https://github.com/dakleyer/structural-awareness-contributions/blob/main/research/ecosystem-awareness/baseline/00G_FAILURE_MODE_COLLECTIVE_FALSE_CONTEXT_CONVERGENCE_v0.4.md#17-integrated-openai-agent-stack-implementation-trajectories" TargetMode="External"/><Relationship Id="rId7" Type="http://schemas.openxmlformats.org/officeDocument/2006/relationships/hyperlink" Target="https://github.com/dakleyer/structural-awareness-contributions/blob/main/research/ecosystem-awareness/baseline/00H_A01_CLAUDE_AGENT_SDK_IMPLEMENTATION_PROFILE_v0.4_DRAFT.md" TargetMode="External"/><Relationship Id="rId8" Type="http://schemas.openxmlformats.org/officeDocument/2006/relationships/hyperlink" Target="https://github.com/dakleyer/structural-awareness-contributions/blob/main/research/ecosystem-awareness/baseline/00H_A02_STRIPE_RADAR_IMPLEMENTATION_PROFILE_v0.4_DRAFT.md" TargetMode="External"/><Relationship Id="rId9" Type="http://schemas.openxmlformats.org/officeDocument/2006/relationships/hyperlink" Target="https://github.com/dakleyer/structural-awareness-contributions/blob/main/research/ecosystem-awareness/baseline/00I_A01_AWS_STEP_FUNCTIONS_RDS_IMPLEMENTATION_PROFILE_v0.2_DRAFT.md" TargetMode="External"/><Relationship Id="rId10" Type="http://schemas.openxmlformats.org/officeDocument/2006/relationships/hyperlink" Target="https://github.com/dakleyer/structural-awareness-contributions/blob/main/research/ecosystem-awareness/baseline/00J_A01_PANODYSSEY_TEMS_RIGHTS_PORTABILITY_IMPLEMENTATION_PROFILE_v0.1_DRAFT.md" TargetMode="External"/><Relationship Id="rId11" Type="http://schemas.openxmlformats.org/officeDocument/2006/relationships/hyperlink" Target="https://github.com/dakleyer/structural-awareness-contributions/blob/main/research/ecosystem-awareness/baseline/README.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dakleyer/structural-awareness-contributions/blob/main/research/ecosystem-awareness/baseline/00E_FAILURE_MODES_100M_TOKEN_COMPOUNDING_v0.1.md" TargetMode="External"/><Relationship Id="rId4" Type="http://schemas.openxmlformats.org/officeDocument/2006/relationships/hyperlink" Target="https://github.com/dakleyer/structural-awareness-contributions/blob/main/research/ecosystem-awareness/baseline/00F_FAILURE_MODE_SMART_CITY_MOBILITY_SYSTEMIC_DIVERGENCE_v0.1.md" TargetMode="External"/><Relationship Id="rId5" Type="http://schemas.openxmlformats.org/officeDocument/2006/relationships/hyperlink" Target="https://github.com/dakleyer/structural-awareness-contributions/blob/main/research/ecosystem-awareness/baseline/01_FOUNDATIONAL_THEORY_v0.5_INTEGRATED.md" TargetMode="External"/><Relationship Id="rId6" Type="http://schemas.openxmlformats.org/officeDocument/2006/relationships/hyperlink" Target="https://github.com/dakleyer/structural-awareness-contributions/blob/main/research/ecosystem-awareness/baseline/00_CANONICAL_ARCHITECTURE_TOPOLOGY.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_CANONICAL_REQUIREMENTS_CHALLENGES_SUFFICIENCY_HYPOTHESES_KPIS.md" TargetMode="External"/><Relationship Id="rId3"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4"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5"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6"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7"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8"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 Id="rId9" Type="http://schemas.openxmlformats.org/officeDocument/2006/relationships/hyperlink" Target="https://github.com/dakleyer/structural-awareness-contributions/blob/main/research/ecosystem-awareness/baseline/USE_CASE_PORTFOLIO_REQUIREMENTS_COVERAGE_MAP_v0.1.md" TargetMode="External"/><Relationship Id="rId10" Type="http://schemas.openxmlformats.org/officeDocument/2006/relationships/hyperlink" Target="https://github.com/dakleyer/structural-awareness-contributions/blob/main/research/ecosystem-awareness/baseline/README.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piffe.io/docs/latest/spire-about/comparisons/" TargetMode="External"/><Relationship Id="rId3" Type="http://schemas.openxmlformats.org/officeDocument/2006/relationships/hyperlink" Target="https://www.rfc-editor.org/rfc/rfc8693.html" TargetMode="External"/><Relationship Id="rId4" Type="http://schemas.openxmlformats.org/officeDocument/2006/relationships/hyperlink" Target="https://www.rfc-editor.org/rfc/rfc9334.html" TargetMode="External"/><Relationship Id="rId5" Type="http://schemas.openxmlformats.org/officeDocument/2006/relationships/hyperlink" Target="https://www.nccoe.nist.gov/projects/software-and-ai-agent-identity-and-authorization" TargetMode="External"/><Relationship Id="rId6" Type="http://schemas.openxmlformats.org/officeDocument/2006/relationships/hyperlink" Target="https://github.com/dakleyer/structural-awareness-contributions/blob/main/research/ecosystem-awareness/baseline/00D_CANONICAL_ARCHITECTURE_BENCHMARK_v0.3_DRAFT_ECOSYSTEM_POSITIONING.md#51-industry-arms" TargetMode="External"/><Relationship Id="rId7"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dakleyer/structural-awareness-contributions/blob/main/README.md" TargetMode="External"/><Relationship Id="rId4" Type="http://schemas.openxmlformats.org/officeDocument/2006/relationships/hyperlink" Target="https://github.com/dakleyer/structural-awareness-contributions/blob/main/architectural-contributions/ecosystem-positioning/README.md" TargetMode="External"/><Relationship Id="rId5" Type="http://schemas.openxmlformats.org/officeDocument/2006/relationships/hyperlink" Target="https://github.com/dakleyer/structural-awareness-contributions/blob/main/research/ecosystem-awareness/README.md" TargetMode="External"/><Relationship Id="rId6" Type="http://schemas.openxmlformats.org/officeDocument/2006/relationships/hyperlink" Target="https://github.com/dakleyer/structural-awareness-contributions/blob/main/research/regime-awareness/README.md" TargetMode="External"/><Relationship Id="rId7" Type="http://schemas.openxmlformats.org/officeDocument/2006/relationships/hyperlink" Target="https://github.com/dakleyer/structural-awareness-contributions/blob/main/standards/minimum-sufficient-control/README.md" TargetMode="External"/><Relationship Id="rId8" Type="http://schemas.openxmlformats.org/officeDocument/2006/relationships/hyperlink" Target="https://github.com/dakleyer/structural-awareness-contributions/blob/main/research/ecosystem-awareness/baseline/00D_CANONICAL_ARCHITECTURE_BENCHMARK_AND_REFERENCE_SCENARIO_EVIDENCE_v0.2.md" TargetMode="External"/><Relationship Id="rId9" Type="http://schemas.openxmlformats.org/officeDocument/2006/relationships/hyperlink" Target="https://github.com/dakleyer/structural-awareness-contributions/blob/main/research/ecosystem-awareness/fg-tida/README.md" TargetMode="External"/><Relationship Id="rId10"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11" Type="http://schemas.openxmlformats.org/officeDocument/2006/relationships/hyperlink" Target="https://github.com/dakleyer/structural-awareness-contributions/blob/main/research/ecosystem-awareness/DECISION_BOUNDARY_CHALLENGE_v0.2.md#10-ranking-and-review-rule" TargetMode="External"/><Relationship Id="rId12" Type="http://schemas.openxmlformats.org/officeDocument/2006/relationships/hyperlink" Target="https://github.com/dakleyer/structural-awareness-contributions/blob/main/research/ecosystem-awareness/DECISION_BOUNDARY_CHALLENGE_v0.2.m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3" Type="http://schemas.openxmlformats.org/officeDocument/2006/relationships/hyperlink" Target="https://github.com/dakleyer/structural-awareness-contributions/blob/main/research/ecosystem-awareness/baseline/README.md" TargetMode="External"/><Relationship Id="rId4" Type="http://schemas.openxmlformats.org/officeDocument/2006/relationships/hyperlink" Target="https://github.com/dakleyer/structural-awareness-contributions/blob/main/research/ecosystem-awareness/baseline/00F_A01_FIWARE_NGSI_LD_IMPLEMENTATION_PROFILE_v0.2_DRAFT.md" TargetMode="External"/><Relationship Id="rId5" Type="http://schemas.openxmlformats.org/officeDocument/2006/relationships/hyperlink" Target="https://github.com/dakleyer/structural-awareness-contributions/blob/main/research/ecosystem-awareness/baseline/00F_A02_AWS_IOT_TWINMAKER_CORE_IMPLEMENTATION_PROFILE_v0.2_DRAFT.md" TargetMode="External"/><Relationship Id="rId6"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7"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8"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9"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10"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11"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7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44C1FD-9BE7-4172-8EB3-B600C9604AC5}"/>
              </a:ext>
            </a:extLst>
          </p:cNvPr>
          <p:cNvSpPr>
            <a:spLocks noGrp="1"/>
          </p:cNvSpPr>
          <p:nvPr/>
        </p:nvSpPr>
        <p:spPr>
          <a:xfrm>
            <a:off x="9795967" y="365760"/>
            <a:ext cx="1828800" cy="228600"/>
          </a:xfrm>
          <a:prstGeom prst="rect">
            <a:avLst/>
          </a:prstGeom>
          <a:noFill/>
        </p:spPr>
        <p:txBody>
          <a:bodyPr wrap="square" lIns="0" tIns="0" rIns="0" bIns="0" anchor="t">
            <a:spAutoFit/>
          </a:bodyPr>
          <a:lstStyle/>
          <a:p>
            <a:pPr algn="r">
              <a:buNone/>
            </a:pPr>
            <a:endParaRPr/>
          </a:p>
        </p:txBody>
      </p:sp>
      <p:sp>
        <p:nvSpPr>
          <p:cNvPr id="4" name="Connector 3">
            <a:extLst>
              <a:ext uri="{FF2B5EF4-FFF2-40B4-BE49-F238E27FC236}">
                <a16:creationId xmlns:a16="http://schemas.microsoft.com/office/drawing/2014/main" id="{88B86075-DCCC-4A44-AD37-7FBEBF0D2087}"/>
              </a:ext>
            </a:extLst>
          </p:cNvPr>
          <p:cNvSpPr>
            <a:spLocks noGrp="1"/>
          </p:cNvSpPr>
          <p:nvPr/>
        </p:nvSpPr>
        <p:spPr>
          <a:xfrm>
            <a:off x="566928" y="713232"/>
            <a:ext cx="11057839" cy="0"/>
          </a:xfrm>
          <a:prstGeom prst="line">
            <a:avLst/>
          </a:prstGeom>
          <a:ln w="19050">
            <a:solidFill>
              <a:srgbClr val="D3D6DC"/>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B3F87A0-9B7F-4CC6-AEBA-4ADB2ED68A79}"/>
              </a:ext>
            </a:extLst>
          </p:cNvPr>
          <p:cNvSpPr>
            <a:spLocks noGrp="1"/>
          </p:cNvSpPr>
          <p:nvPr/>
        </p:nvSpPr>
        <p:spPr>
          <a:xfrm>
            <a:off x="566928" y="763524"/>
            <a:ext cx="11057839" cy="0"/>
          </a:xfrm>
          <a:prstGeom prst="line">
            <a:avLst/>
          </a:prstGeom>
          <a:ln w="7620">
            <a:solidFill>
              <a:srgbClr val="D3D6DC"/>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 name="TextBox 6">
            <a:extLst>
              <a:ext uri="{FF2B5EF4-FFF2-40B4-BE49-F238E27FC236}">
                <a16:creationId xmlns:a16="http://schemas.microsoft.com/office/drawing/2014/main" id="{1D5B8D62-E8BB-4E19-A69A-7C23C3E24251}"/>
              </a:ext>
            </a:extLst>
          </p:cNvPr>
          <p:cNvSpPr>
            <a:spLocks noGrp="1"/>
          </p:cNvSpPr>
          <p:nvPr/>
        </p:nvSpPr>
        <p:spPr>
          <a:xfrm>
            <a:off x="566928" y="1783080"/>
            <a:ext cx="7040880" cy="1463040"/>
          </a:xfrm>
          <a:prstGeom prst="rect">
            <a:avLst/>
          </a:prstGeom>
          <a:noFill/>
        </p:spPr>
        <p:txBody>
          <a:bodyPr wrap="square" lIns="0" tIns="0" rIns="0" bIns="0" anchor="t">
            <a:spAutoFit/>
          </a:bodyPr>
          <a:lstStyle/>
          <a:p>
            <a:pPr algn="l">
              <a:lnSpc>
                <a:spcPct val="95000"/>
              </a:lnSpc>
              <a:buNone/>
            </a:pPr>
            <a:r>
              <a:rPr sz="4600" b="1" i="0" spc="-100">
                <a:solidFill>
                  <a:srgbClr val="FCFCFD"/>
                </a:solidFill>
                <a:latin typeface="Cambria"/>
                <a:ea typeface="Cambria"/>
                <a:cs typeface="Cambria"/>
                <a:hlinkClick r:id="rId3"/>
              </a:rPr>
              <a:t>Ecosystem Positioning</a:t>
            </a:r>
          </a:p>
          <a:p>
            <a:pPr algn="l">
              <a:lnSpc>
                <a:spcPct val="95000"/>
              </a:lnSpc>
              <a:buNone/>
            </a:pPr>
            <a:r>
              <a:rPr sz="4600" b="1" i="0" spc="-100">
                <a:solidFill>
                  <a:srgbClr val="FCFCFD"/>
                </a:solidFill>
                <a:latin typeface="Cambria"/>
                <a:ea typeface="Cambria"/>
                <a:cs typeface="Cambria"/>
                <a:hlinkClick r:id="rId3"/>
              </a:rPr>
              <a:t>for Agentic Systems</a:t>
            </a:r>
          </a:p>
        </p:txBody>
      </p:sp>
      <p:sp>
        <p:nvSpPr>
          <p:cNvPr id="8" name="TextBox 7">
            <a:extLst>
              <a:ext uri="{FF2B5EF4-FFF2-40B4-BE49-F238E27FC236}">
                <a16:creationId xmlns:a16="http://schemas.microsoft.com/office/drawing/2014/main" id="{6C3FFF38-AB10-4A8D-82EC-580B75F79819}"/>
              </a:ext>
            </a:extLst>
          </p:cNvPr>
          <p:cNvSpPr>
            <a:spLocks noGrp="1"/>
          </p:cNvSpPr>
          <p:nvPr/>
        </p:nvSpPr>
        <p:spPr>
          <a:xfrm>
            <a:off x="566928" y="3383280"/>
            <a:ext cx="6309360" cy="822960"/>
          </a:xfrm>
          <a:prstGeom prst="rect">
            <a:avLst/>
          </a:prstGeom>
          <a:noFill/>
        </p:spPr>
        <p:txBody>
          <a:bodyPr wrap="square" lIns="0" tIns="0" rIns="0" bIns="0" anchor="t">
            <a:spAutoFit/>
          </a:bodyPr>
          <a:lstStyle/>
          <a:p>
            <a:pPr algn="l">
              <a:lnSpc>
                <a:spcPct val="115000"/>
              </a:lnSpc>
              <a:buNone/>
            </a:pPr>
            <a:r>
              <a:rPr sz="1350" b="0" i="0">
                <a:solidFill>
                  <a:srgbClr val="CACDD3"/>
                </a:solidFill>
                <a:latin typeface="Calibri"/>
                <a:ea typeface="Calibri"/>
                <a:cs typeface="Calibri"/>
              </a:rPr>
              <a:t>A proposed architecture for participants that must stay situated, and requalify, as authority, evidence, roles and the ecosystem itself change.</a:t>
            </a:r>
          </a:p>
        </p:txBody>
      </p:sp>
      <p:sp>
        <p:nvSpPr>
          <p:cNvPr id="9" name="Oval 8">
            <a:extLst>
              <a:ext uri="{FF2B5EF4-FFF2-40B4-BE49-F238E27FC236}">
                <a16:creationId xmlns:a16="http://schemas.microsoft.com/office/drawing/2014/main" id="{E8D80915-4B47-4AED-B24B-784257D0C6FA}"/>
              </a:ext>
            </a:extLst>
          </p:cNvPr>
          <p:cNvSpPr>
            <a:spLocks noGrp="1"/>
          </p:cNvSpPr>
          <p:nvPr/>
        </p:nvSpPr>
        <p:spPr>
          <a:xfrm>
            <a:off x="630936" y="4928616"/>
            <a:ext cx="292608" cy="292608"/>
          </a:xfrm>
          <a:prstGeom prst="ellipse">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A716341C-B92E-4F9B-B4CA-A2BD3CF1B83C}"/>
              </a:ext>
            </a:extLst>
          </p:cNvPr>
          <p:cNvSpPr>
            <a:spLocks noGrp="1"/>
          </p:cNvSpPr>
          <p:nvPr/>
        </p:nvSpPr>
        <p:spPr>
          <a:xfrm>
            <a:off x="2560320"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984407DF-E482-4DAA-8190-BCBEF679B05D}"/>
              </a:ext>
            </a:extLst>
          </p:cNvPr>
          <p:cNvSpPr>
            <a:spLocks noGrp="1"/>
          </p:cNvSpPr>
          <p:nvPr/>
        </p:nvSpPr>
        <p:spPr>
          <a:xfrm>
            <a:off x="4480559"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A8E96F78-EE96-491B-86E3-289BE64F5D29}"/>
              </a:ext>
            </a:extLst>
          </p:cNvPr>
          <p:cNvSpPr>
            <a:spLocks noGrp="1"/>
          </p:cNvSpPr>
          <p:nvPr/>
        </p:nvSpPr>
        <p:spPr>
          <a:xfrm>
            <a:off x="6400800"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Connector 12">
            <a:extLst>
              <a:ext uri="{FF2B5EF4-FFF2-40B4-BE49-F238E27FC236}">
                <a16:creationId xmlns:a16="http://schemas.microsoft.com/office/drawing/2014/main" id="{C8EFA27D-7367-4FDD-8492-2D7BFD38E59C}"/>
              </a:ext>
            </a:extLst>
          </p:cNvPr>
          <p:cNvSpPr>
            <a:spLocks noGrp="1"/>
          </p:cNvSpPr>
          <p:nvPr/>
        </p:nvSpPr>
        <p:spPr>
          <a:xfrm>
            <a:off x="97840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4" name="Connector 13">
            <a:extLst>
              <a:ext uri="{FF2B5EF4-FFF2-40B4-BE49-F238E27FC236}">
                <a16:creationId xmlns:a16="http://schemas.microsoft.com/office/drawing/2014/main" id="{52460077-9A01-4EB7-8E4D-B20BEED93C72}"/>
              </a:ext>
            </a:extLst>
          </p:cNvPr>
          <p:cNvSpPr>
            <a:spLocks noGrp="1"/>
          </p:cNvSpPr>
          <p:nvPr/>
        </p:nvSpPr>
        <p:spPr>
          <a:xfrm>
            <a:off x="289864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5" name="Connector 14">
            <a:extLst>
              <a:ext uri="{FF2B5EF4-FFF2-40B4-BE49-F238E27FC236}">
                <a16:creationId xmlns:a16="http://schemas.microsoft.com/office/drawing/2014/main" id="{A33DCA61-C02F-4ECB-836D-01059D11CA72}"/>
              </a:ext>
            </a:extLst>
          </p:cNvPr>
          <p:cNvSpPr>
            <a:spLocks noGrp="1"/>
          </p:cNvSpPr>
          <p:nvPr/>
        </p:nvSpPr>
        <p:spPr>
          <a:xfrm>
            <a:off x="481888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6" name="TextBox 15">
            <a:extLst>
              <a:ext uri="{FF2B5EF4-FFF2-40B4-BE49-F238E27FC236}">
                <a16:creationId xmlns:a16="http://schemas.microsoft.com/office/drawing/2014/main" id="{FAA8AB46-338A-41D8-9072-2B79785B1B9F}"/>
              </a:ext>
            </a:extLst>
          </p:cNvPr>
          <p:cNvSpPr>
            <a:spLocks noGrp="1"/>
          </p:cNvSpPr>
          <p:nvPr/>
        </p:nvSpPr>
        <p:spPr>
          <a:xfrm>
            <a:off x="118872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triggers</a:t>
            </a:r>
          </a:p>
        </p:txBody>
      </p:sp>
      <p:sp>
        <p:nvSpPr>
          <p:cNvPr id="17" name="TextBox 16">
            <a:extLst>
              <a:ext uri="{FF2B5EF4-FFF2-40B4-BE49-F238E27FC236}">
                <a16:creationId xmlns:a16="http://schemas.microsoft.com/office/drawing/2014/main" id="{80E9A3CA-6531-4F27-B60A-D8193F71AF48}"/>
              </a:ext>
            </a:extLst>
          </p:cNvPr>
          <p:cNvSpPr>
            <a:spLocks noGrp="1"/>
          </p:cNvSpPr>
          <p:nvPr/>
        </p:nvSpPr>
        <p:spPr>
          <a:xfrm>
            <a:off x="310896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informs</a:t>
            </a:r>
          </a:p>
        </p:txBody>
      </p:sp>
      <p:sp>
        <p:nvSpPr>
          <p:cNvPr id="18" name="TextBox 17">
            <a:extLst>
              <a:ext uri="{FF2B5EF4-FFF2-40B4-BE49-F238E27FC236}">
                <a16:creationId xmlns:a16="http://schemas.microsoft.com/office/drawing/2014/main" id="{FD3604AD-BA4A-4398-BCC2-5B233B20FCAC}"/>
              </a:ext>
            </a:extLst>
          </p:cNvPr>
          <p:cNvSpPr>
            <a:spLocks noGrp="1"/>
          </p:cNvSpPr>
          <p:nvPr/>
        </p:nvSpPr>
        <p:spPr>
          <a:xfrm>
            <a:off x="502920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guides</a:t>
            </a:r>
          </a:p>
        </p:txBody>
      </p:sp>
      <p:sp>
        <p:nvSpPr>
          <p:cNvPr id="19" name="TextBox 18">
            <a:extLst>
              <a:ext uri="{FF2B5EF4-FFF2-40B4-BE49-F238E27FC236}">
                <a16:creationId xmlns:a16="http://schemas.microsoft.com/office/drawing/2014/main" id="{13424855-CA76-4EC6-A838-59A192F22622}"/>
              </a:ext>
            </a:extLst>
          </p:cNvPr>
          <p:cNvSpPr>
            <a:spLocks noGrp="1"/>
          </p:cNvSpPr>
          <p:nvPr/>
        </p:nvSpPr>
        <p:spPr>
          <a:xfrm>
            <a:off x="13716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CHANGE</a:t>
            </a:r>
          </a:p>
        </p:txBody>
      </p:sp>
      <p:sp>
        <p:nvSpPr>
          <p:cNvPr id="20" name="TextBox 19">
            <a:extLst>
              <a:ext uri="{FF2B5EF4-FFF2-40B4-BE49-F238E27FC236}">
                <a16:creationId xmlns:a16="http://schemas.microsoft.com/office/drawing/2014/main" id="{58CFE189-58C0-40C4-9878-C5C5E1C230A6}"/>
              </a:ext>
            </a:extLst>
          </p:cNvPr>
          <p:cNvSpPr>
            <a:spLocks noGrp="1"/>
          </p:cNvSpPr>
          <p:nvPr/>
        </p:nvSpPr>
        <p:spPr>
          <a:xfrm>
            <a:off x="205740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AWARENESS</a:t>
            </a:r>
          </a:p>
        </p:txBody>
      </p:sp>
      <p:sp>
        <p:nvSpPr>
          <p:cNvPr id="21" name="TextBox 20">
            <a:extLst>
              <a:ext uri="{FF2B5EF4-FFF2-40B4-BE49-F238E27FC236}">
                <a16:creationId xmlns:a16="http://schemas.microsoft.com/office/drawing/2014/main" id="{30CC274B-1102-4ED1-9240-F522FA0A70E4}"/>
              </a:ext>
            </a:extLst>
          </p:cNvPr>
          <p:cNvSpPr>
            <a:spLocks noGrp="1"/>
          </p:cNvSpPr>
          <p:nvPr/>
        </p:nvSpPr>
        <p:spPr>
          <a:xfrm>
            <a:off x="3977639"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GRADIENT</a:t>
            </a:r>
          </a:p>
        </p:txBody>
      </p:sp>
      <p:sp>
        <p:nvSpPr>
          <p:cNvPr id="22" name="TextBox 21">
            <a:extLst>
              <a:ext uri="{FF2B5EF4-FFF2-40B4-BE49-F238E27FC236}">
                <a16:creationId xmlns:a16="http://schemas.microsoft.com/office/drawing/2014/main" id="{5C849B5E-791B-46D2-B407-98F8694A420A}"/>
              </a:ext>
            </a:extLst>
          </p:cNvPr>
          <p:cNvSpPr>
            <a:spLocks noGrp="1"/>
          </p:cNvSpPr>
          <p:nvPr/>
        </p:nvSpPr>
        <p:spPr>
          <a:xfrm>
            <a:off x="589788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REPOSITIONING</a:t>
            </a:r>
          </a:p>
        </p:txBody>
      </p:sp>
      <p:sp>
        <p:nvSpPr>
          <p:cNvPr id="23" name="TextBox 22">
            <a:extLst>
              <a:ext uri="{FF2B5EF4-FFF2-40B4-BE49-F238E27FC236}">
                <a16:creationId xmlns:a16="http://schemas.microsoft.com/office/drawing/2014/main" id="{06C8ED7C-AF29-45CC-94C6-AD5C455D53DF}"/>
              </a:ext>
            </a:extLst>
          </p:cNvPr>
          <p:cNvSpPr>
            <a:spLocks noGrp="1"/>
          </p:cNvSpPr>
          <p:nvPr/>
        </p:nvSpPr>
        <p:spPr>
          <a:xfrm>
            <a:off x="5440680" y="5550408"/>
            <a:ext cx="219456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signal ≠ command</a:t>
            </a:r>
          </a:p>
        </p:txBody>
      </p:sp>
      <p:sp>
        <p:nvSpPr>
          <p:cNvPr id="24" name="Rectangle 23">
            <a:extLst>
              <a:ext uri="{FF2B5EF4-FFF2-40B4-BE49-F238E27FC236}">
                <a16:creationId xmlns:a16="http://schemas.microsoft.com/office/drawing/2014/main" id="{2B39579E-1223-4732-A566-50EA4B906736}"/>
              </a:ext>
            </a:extLst>
          </p:cNvPr>
          <p:cNvSpPr>
            <a:spLocks noGrp="1"/>
          </p:cNvSpPr>
          <p:nvPr/>
        </p:nvSpPr>
        <p:spPr>
          <a:xfrm>
            <a:off x="8001000" y="1371600"/>
            <a:ext cx="3621024" cy="3429000"/>
          </a:xfrm>
          <a:prstGeom prst="rect">
            <a:avLst/>
          </a:prstGeom>
          <a:solidFill>
            <a:srgbClr val="27324A"/>
          </a:solidFill>
          <a:ln w="7620">
            <a:solidFill>
              <a:srgbClr val="3F49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90077071-B7F3-409A-9E21-C4A07FC8B413}"/>
              </a:ext>
            </a:extLst>
          </p:cNvPr>
          <p:cNvSpPr>
            <a:spLocks noGrp="1"/>
          </p:cNvSpPr>
          <p:nvPr/>
        </p:nvSpPr>
        <p:spPr>
          <a:xfrm>
            <a:off x="8001000" y="1371600"/>
            <a:ext cx="41148" cy="3429000"/>
          </a:xfrm>
          <a:prstGeom prst="rect">
            <a:avLst/>
          </a:prstGeom>
          <a:solidFill>
            <a:srgbClr val="7FB2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BBAD8-8C10-41B7-A960-401218E4901A}"/>
              </a:ext>
            </a:extLst>
          </p:cNvPr>
          <p:cNvSpPr>
            <a:spLocks noGrp="1"/>
          </p:cNvSpPr>
          <p:nvPr/>
        </p:nvSpPr>
        <p:spPr>
          <a:xfrm>
            <a:off x="8275320" y="1627632"/>
            <a:ext cx="3163824" cy="228600"/>
          </a:xfrm>
          <a:prstGeom prst="rect">
            <a:avLst/>
          </a:prstGeom>
          <a:noFill/>
        </p:spPr>
        <p:txBody>
          <a:bodyPr wrap="square" lIns="0" tIns="0" rIns="0" bIns="0" anchor="t">
            <a:spAutoFit/>
          </a:bodyPr>
          <a:lstStyle/>
          <a:p>
            <a:pPr algn="l">
              <a:buNone/>
            </a:pPr>
            <a:r>
              <a:rPr sz="900" b="1">
                <a:solidFill>
                  <a:srgbClr val="FFFFFF"/>
                </a:solidFill>
                <a:latin typeface="Consolas"/>
              </a:rPr>
              <a:t>DECK I · REQUIREMENTS &amp; EVIDENCE</a:t>
            </a:r>
          </a:p>
        </p:txBody>
      </p:sp>
      <p:sp>
        <p:nvSpPr>
          <p:cNvPr id="27" name="TextBox 26">
            <a:extLst>
              <a:ext uri="{FF2B5EF4-FFF2-40B4-BE49-F238E27FC236}">
                <a16:creationId xmlns:a16="http://schemas.microsoft.com/office/drawing/2014/main" id="{A230DBCA-C598-4CBC-A2F8-927CD883B311}"/>
              </a:ext>
            </a:extLst>
          </p:cNvPr>
          <p:cNvSpPr>
            <a:spLocks noGrp="1"/>
          </p:cNvSpPr>
          <p:nvPr/>
        </p:nvSpPr>
        <p:spPr>
          <a:xfrm>
            <a:off x="8275320" y="1938528"/>
            <a:ext cx="3163824" cy="822960"/>
          </a:xfrm>
          <a:prstGeom prst="rect">
            <a:avLst/>
          </a:prstGeom>
          <a:noFill/>
        </p:spPr>
        <p:txBody>
          <a:bodyPr wrap="square" lIns="0" tIns="0" rIns="0" bIns="0" anchor="t">
            <a:spAutoFit/>
          </a:bodyPr>
          <a:lstStyle/>
          <a:p>
            <a:pPr algn="l">
              <a:lnSpc>
                <a:spcPct val="98000"/>
              </a:lnSpc>
              <a:buNone/>
            </a:pPr>
            <a:r>
              <a:rPr sz="1650" b="1">
                <a:solidFill>
                  <a:srgbClr val="D7E4F2"/>
                </a:solidFill>
                <a:latin typeface="Cambria"/>
              </a:rPr>
              <a:t>Failure routes → common contract → proof → benchmark</a:t>
            </a:r>
          </a:p>
        </p:txBody>
      </p:sp>
      <p:sp>
        <p:nvSpPr>
          <p:cNvPr id="28" name="TextBox 27">
            <a:extLst>
              <a:ext uri="{FF2B5EF4-FFF2-40B4-BE49-F238E27FC236}">
                <a16:creationId xmlns:a16="http://schemas.microsoft.com/office/drawing/2014/main" id="{5CC0098D-5598-4259-9996-0A3CB712FBB0}"/>
              </a:ext>
            </a:extLst>
          </p:cNvPr>
          <p:cNvSpPr>
            <a:spLocks noGrp="1"/>
          </p:cNvSpPr>
          <p:nvPr/>
        </p:nvSpPr>
        <p:spPr>
          <a:xfrm>
            <a:off x="8275320" y="2788920"/>
            <a:ext cx="3072384" cy="1188720"/>
          </a:xfrm>
          <a:prstGeom prst="rect">
            <a:avLst/>
          </a:prstGeom>
          <a:noFill/>
        </p:spPr>
        <p:txBody>
          <a:bodyPr wrap="square" lIns="0" tIns="0" rIns="0" bIns="0" anchor="t">
            <a:spAutoFit/>
          </a:bodyPr>
          <a:lstStyle/>
          <a:p>
            <a:pPr algn="l">
              <a:lnSpc>
                <a:spcPct val="115000"/>
              </a:lnSpc>
              <a:buNone/>
            </a:pPr>
            <a:r>
              <a:rPr sz="1050" b="1">
                <a:solidFill>
                  <a:srgbClr val="A6ABB5"/>
                </a:solidFill>
                <a:latin typeface="Consolas"/>
              </a:rPr>
              <a:t>CREATED BY</a:t>
            </a:r>
          </a:p>
          <a:p>
            <a:pPr algn="l"/>
            <a:r>
              <a:rPr sz="1700" b="1">
                <a:solidFill>
                  <a:srgbClr val="FCFCFD"/>
                </a:solidFill>
                <a:latin typeface="Cambria"/>
              </a:rPr>
              <a:t>Iván Abril Palma</a:t>
            </a:r>
          </a:p>
          <a:p>
            <a:pPr algn="l"/>
            <a:r>
              <a:rPr sz="1150" b="0">
                <a:solidFill>
                  <a:srgbClr val="CACDD3"/>
                </a:solidFill>
                <a:latin typeface="Calibri"/>
              </a:rPr>
              <a:t>Tegrity.ai</a:t>
            </a:r>
          </a:p>
        </p:txBody>
      </p:sp>
      <p:sp>
        <p:nvSpPr>
          <p:cNvPr id="29" name="TextBox 28">
            <a:extLst>
              <a:ext uri="{FF2B5EF4-FFF2-40B4-BE49-F238E27FC236}">
                <a16:creationId xmlns:a16="http://schemas.microsoft.com/office/drawing/2014/main" id="{A2C1FE84-E727-4E00-89B0-AE684AE870BE}"/>
              </a:ext>
            </a:extLst>
          </p:cNvPr>
          <p:cNvSpPr>
            <a:spLocks noGrp="1"/>
          </p:cNvSpPr>
          <p:nvPr/>
        </p:nvSpPr>
        <p:spPr>
          <a:xfrm>
            <a:off x="8275320" y="4114800"/>
            <a:ext cx="3163824" cy="548640"/>
          </a:xfrm>
          <a:prstGeom prst="rect">
            <a:avLst/>
          </a:prstGeom>
          <a:noFill/>
        </p:spPr>
        <p:txBody>
          <a:bodyPr wrap="square" lIns="0" tIns="0" rIns="0" bIns="0" anchor="t">
            <a:spAutoFit/>
          </a:bodyPr>
          <a:lstStyle/>
          <a:p>
            <a:pPr algn="l">
              <a:lnSpc>
                <a:spcPct val="150000"/>
              </a:lnSpc>
              <a:buNone/>
            </a:pPr>
            <a:r>
              <a:rPr sz="1000">
                <a:solidFill>
                  <a:srgbClr val="5D6775"/>
                </a:solidFill>
                <a:latin typeface="Aptos"/>
              </a:rPr>
              <a:t>CREATIVE COMMONS · ATTRIBUTION</a:t>
            </a:r>
            <a:br/>
            <a:r>
              <a:rPr sz="1000">
                <a:solidFill>
                  <a:srgbClr val="5D6775"/>
                </a:solidFill>
                <a:latin typeface="Aptos"/>
              </a:rPr>
              <a:t>V1.1 · 2026-09-25 · CANONICAL WORKING PROPOSAL</a:t>
            </a:r>
          </a:p>
        </p:txBody>
      </p:sp>
      <p:sp>
        <p:nvSpPr>
          <p:cNvPr id="30" name="Connector 29">
            <a:extLst>
              <a:ext uri="{FF2B5EF4-FFF2-40B4-BE49-F238E27FC236}">
                <a16:creationId xmlns:a16="http://schemas.microsoft.com/office/drawing/2014/main" id="{6E104162-6C42-4DC6-8D59-85A25DD63B37}"/>
              </a:ext>
            </a:extLst>
          </p:cNvPr>
          <p:cNvSpPr>
            <a:spLocks noGrp="1"/>
          </p:cNvSpPr>
          <p:nvPr/>
        </p:nvSpPr>
        <p:spPr>
          <a:xfrm>
            <a:off x="566928" y="6217920"/>
            <a:ext cx="11057839" cy="0"/>
          </a:xfrm>
          <a:prstGeom prst="line">
            <a:avLst/>
          </a:prstGeom>
          <a:ln w="6350">
            <a:solidFill>
              <a:srgbClr val="3A4560"/>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2" name="TextBox 31">
            <a:extLst>
              <a:ext uri="{FF2B5EF4-FFF2-40B4-BE49-F238E27FC236}">
                <a16:creationId xmlns:a16="http://schemas.microsoft.com/office/drawing/2014/main" id="{0716A0F1-7C69-469B-93BA-5C85695950E2}"/>
              </a:ext>
            </a:extLst>
          </p:cNvPr>
          <p:cNvSpPr>
            <a:spLocks noGrp="1"/>
          </p:cNvSpPr>
          <p:nvPr/>
        </p:nvSpPr>
        <p:spPr>
          <a:xfrm>
            <a:off x="10527487" y="6291072"/>
            <a:ext cx="1097280" cy="274320"/>
          </a:xfrm>
          <a:prstGeom prst="rect">
            <a:avLst/>
          </a:prstGeom>
          <a:noFill/>
        </p:spPr>
        <p:txBody>
          <a:bodyPr wrap="square" lIns="0" tIns="0" rIns="0" bIns="0" anchor="t">
            <a:spAutoFit/>
          </a:bodyPr>
          <a:lstStyle/>
          <a:p>
            <a:pPr algn="r">
              <a:buNone/>
            </a:pPr>
            <a:endParaRPr/>
          </a:p>
        </p:txBody>
      </p:sp>
      <p:sp>
        <p:nvSpPr>
          <p:cNvPr id="33" name="TextBox 32"/>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Ecosystem Positioning README</a:t>
            </a:r>
          </a:p>
        </p:txBody>
      </p:sp>
    </p:spTree>
    <p:extLst>
      <p:ext uri="{BB962C8B-B14F-4D97-AF65-F5344CB8AC3E}">
        <p14:creationId xmlns:p14="http://schemas.microsoft.com/office/powerpoint/2010/main" val="676717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79E3BDE-1284-4B1B-9B10-BFDC278B1E25}"/>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SYSTEM BASELINE</a:t>
            </a:r>
            <a:endParaRPr sz="820"/>
          </a:p>
        </p:txBody>
      </p:sp>
      <p:sp>
        <p:nvSpPr>
          <p:cNvPr id="3" name="Text 1">
            <a:extLst>
              <a:ext uri="{FF2B5EF4-FFF2-40B4-BE49-F238E27FC236}">
                <a16:creationId xmlns:a16="http://schemas.microsoft.com/office/drawing/2014/main" id="{B351A636-F99F-46F8-930F-3473466EB27B}"/>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01</a:t>
            </a:r>
            <a:endParaRPr sz="820"/>
          </a:p>
        </p:txBody>
      </p:sp>
      <p:sp>
        <p:nvSpPr>
          <p:cNvPr id="4" name="Text 2">
            <a:extLst>
              <a:ext uri="{FF2B5EF4-FFF2-40B4-BE49-F238E27FC236}">
                <a16:creationId xmlns:a16="http://schemas.microsoft.com/office/drawing/2014/main" id="{FFB24B58-671A-4E32-9998-DD545763B10B}"/>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3"/>
              </a:rPr>
              <a:t>Current Reference Architecture for Agentic AI</a:t>
            </a:r>
            <a:endParaRPr sz="2550" dirty="0"/>
          </a:p>
        </p:txBody>
      </p:sp>
      <p:sp>
        <p:nvSpPr>
          <p:cNvPr id="5" name="Text 3">
            <a:extLst>
              <a:ext uri="{FF2B5EF4-FFF2-40B4-BE49-F238E27FC236}">
                <a16:creationId xmlns:a16="http://schemas.microsoft.com/office/drawing/2014/main" id="{72145A4B-6146-4384-A88B-A42157ADB836}"/>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A composite of current practice: the strong baseline EA is benchmarked against (arms B1/B2), not a strawman.</a:t>
            </a:r>
            <a:endParaRPr sz="1200" dirty="0"/>
          </a:p>
        </p:txBody>
      </p:sp>
      <p:sp>
        <p:nvSpPr>
          <p:cNvPr id="6" name="Text 4">
            <a:extLst>
              <a:ext uri="{FF2B5EF4-FFF2-40B4-BE49-F238E27FC236}">
                <a16:creationId xmlns:a16="http://schemas.microsoft.com/office/drawing/2014/main" id="{78FF3C8C-AFD8-4864-84BB-796E30E103A3}"/>
              </a:ext>
            </a:extLst>
          </p:cNvPr>
          <p:cNvSpPr>
            <a:spLocks noGrp="1"/>
          </p:cNvSpPr>
          <p:nvPr/>
        </p:nvSpPr>
        <p:spPr>
          <a:xfrm>
            <a:off x="594360" y="1591056"/>
            <a:ext cx="118872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CONTROL RAILS</a:t>
            </a:r>
            <a:endParaRPr sz="900"/>
          </a:p>
        </p:txBody>
      </p:sp>
      <p:sp>
        <p:nvSpPr>
          <p:cNvPr id="7" name="Shape 5">
            <a:extLst>
              <a:ext uri="{FF2B5EF4-FFF2-40B4-BE49-F238E27FC236}">
                <a16:creationId xmlns:a16="http://schemas.microsoft.com/office/drawing/2014/main" id="{F324F58C-AF02-4F62-8960-424C461E88CB}"/>
              </a:ext>
            </a:extLst>
          </p:cNvPr>
          <p:cNvSpPr>
            <a:spLocks noGrp="1"/>
          </p:cNvSpPr>
          <p:nvPr/>
        </p:nvSpPr>
        <p:spPr>
          <a:xfrm>
            <a:off x="1965960" y="1517904"/>
            <a:ext cx="2148840" cy="347472"/>
          </a:xfrm>
          <a:prstGeom prst="roundRect">
            <a:avLst/>
          </a:prstGeom>
          <a:solidFill>
            <a:srgbClr val="FFFFFF"/>
          </a:solidFill>
          <a:ln w="15240">
            <a:solidFill>
              <a:srgbClr val="1B4D8E"/>
            </a:solidFill>
            <a:prstDash val="solid"/>
          </a:ln>
        </p:spPr>
        <p:txBody>
          <a:bodyPr/>
          <a:lstStyle/>
          <a:p>
            <a:endParaRPr/>
          </a:p>
        </p:txBody>
      </p:sp>
      <p:sp>
        <p:nvSpPr>
          <p:cNvPr id="8" name="Text 6">
            <a:extLst>
              <a:ext uri="{FF2B5EF4-FFF2-40B4-BE49-F238E27FC236}">
                <a16:creationId xmlns:a16="http://schemas.microsoft.com/office/drawing/2014/main" id="{3AD43A0B-101C-4F50-A9E7-FD1640987A91}"/>
              </a:ext>
            </a:extLst>
          </p:cNvPr>
          <p:cNvSpPr>
            <a:spLocks noGrp="1"/>
          </p:cNvSpPr>
          <p:nvPr/>
        </p:nvSpPr>
        <p:spPr>
          <a:xfrm>
            <a:off x="2039112" y="1609344"/>
            <a:ext cx="200253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Identity and delegated authority</a:t>
            </a:r>
            <a:endParaRPr sz="950"/>
          </a:p>
        </p:txBody>
      </p:sp>
      <p:sp>
        <p:nvSpPr>
          <p:cNvPr id="9" name="Shape 7">
            <a:extLst>
              <a:ext uri="{FF2B5EF4-FFF2-40B4-BE49-F238E27FC236}">
                <a16:creationId xmlns:a16="http://schemas.microsoft.com/office/drawing/2014/main" id="{2C1AE034-87A2-411C-B227-1FFF92E497DF}"/>
              </a:ext>
            </a:extLst>
          </p:cNvPr>
          <p:cNvSpPr>
            <a:spLocks noGrp="1"/>
          </p:cNvSpPr>
          <p:nvPr/>
        </p:nvSpPr>
        <p:spPr>
          <a:xfrm>
            <a:off x="4233672" y="1517904"/>
            <a:ext cx="1508760" cy="347472"/>
          </a:xfrm>
          <a:prstGeom prst="roundRect">
            <a:avLst/>
          </a:prstGeom>
          <a:solidFill>
            <a:srgbClr val="FFFFFF"/>
          </a:solidFill>
          <a:ln w="15240">
            <a:solidFill>
              <a:srgbClr val="006970"/>
            </a:solidFill>
            <a:prstDash val="solid"/>
          </a:ln>
        </p:spPr>
        <p:txBody>
          <a:bodyPr/>
          <a:lstStyle/>
          <a:p>
            <a:endParaRPr/>
          </a:p>
        </p:txBody>
      </p:sp>
      <p:sp>
        <p:nvSpPr>
          <p:cNvPr id="10" name="Text 8">
            <a:extLst>
              <a:ext uri="{FF2B5EF4-FFF2-40B4-BE49-F238E27FC236}">
                <a16:creationId xmlns:a16="http://schemas.microsoft.com/office/drawing/2014/main" id="{41F4C507-4A1B-465A-9191-0CEA11BDECA8}"/>
              </a:ext>
            </a:extLst>
          </p:cNvPr>
          <p:cNvSpPr>
            <a:spLocks noGrp="1"/>
          </p:cNvSpPr>
          <p:nvPr/>
        </p:nvSpPr>
        <p:spPr>
          <a:xfrm>
            <a:off x="4306824" y="1609344"/>
            <a:ext cx="136245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Policy and intent</a:t>
            </a:r>
            <a:endParaRPr sz="950"/>
          </a:p>
        </p:txBody>
      </p:sp>
      <p:sp>
        <p:nvSpPr>
          <p:cNvPr id="11" name="Shape 9">
            <a:extLst>
              <a:ext uri="{FF2B5EF4-FFF2-40B4-BE49-F238E27FC236}">
                <a16:creationId xmlns:a16="http://schemas.microsoft.com/office/drawing/2014/main" id="{F1D45423-8BF9-48C6-A747-20A3F6498C64}"/>
              </a:ext>
            </a:extLst>
          </p:cNvPr>
          <p:cNvSpPr>
            <a:spLocks noGrp="1"/>
          </p:cNvSpPr>
          <p:nvPr/>
        </p:nvSpPr>
        <p:spPr>
          <a:xfrm>
            <a:off x="5861304" y="1517904"/>
            <a:ext cx="1572768" cy="347472"/>
          </a:xfrm>
          <a:prstGeom prst="roundRect">
            <a:avLst/>
          </a:prstGeom>
          <a:solidFill>
            <a:srgbClr val="FFFFFF"/>
          </a:solidFill>
          <a:ln w="15240">
            <a:solidFill>
              <a:srgbClr val="A8642A"/>
            </a:solidFill>
            <a:prstDash val="solid"/>
          </a:ln>
        </p:spPr>
        <p:txBody>
          <a:bodyPr/>
          <a:lstStyle/>
          <a:p>
            <a:endParaRPr/>
          </a:p>
        </p:txBody>
      </p:sp>
      <p:sp>
        <p:nvSpPr>
          <p:cNvPr id="12" name="Text 10">
            <a:extLst>
              <a:ext uri="{FF2B5EF4-FFF2-40B4-BE49-F238E27FC236}">
                <a16:creationId xmlns:a16="http://schemas.microsoft.com/office/drawing/2014/main" id="{95744DA7-C476-44F4-A951-A93436EB81D0}"/>
              </a:ext>
            </a:extLst>
          </p:cNvPr>
          <p:cNvSpPr>
            <a:spLocks noGrp="1"/>
          </p:cNvSpPr>
          <p:nvPr/>
        </p:nvSpPr>
        <p:spPr>
          <a:xfrm>
            <a:off x="5934456" y="1609344"/>
            <a:ext cx="1426464"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Runtime evidence</a:t>
            </a:r>
            <a:endParaRPr sz="950"/>
          </a:p>
        </p:txBody>
      </p:sp>
      <p:sp>
        <p:nvSpPr>
          <p:cNvPr id="13" name="Shape 11">
            <a:extLst>
              <a:ext uri="{FF2B5EF4-FFF2-40B4-BE49-F238E27FC236}">
                <a16:creationId xmlns:a16="http://schemas.microsoft.com/office/drawing/2014/main" id="{7E98E576-7BA2-4AF3-B970-0AAA03631EC6}"/>
              </a:ext>
            </a:extLst>
          </p:cNvPr>
          <p:cNvSpPr>
            <a:spLocks noGrp="1"/>
          </p:cNvSpPr>
          <p:nvPr/>
        </p:nvSpPr>
        <p:spPr>
          <a:xfrm>
            <a:off x="7552944" y="1517904"/>
            <a:ext cx="1417320" cy="347472"/>
          </a:xfrm>
          <a:prstGeom prst="roundRect">
            <a:avLst/>
          </a:prstGeom>
          <a:solidFill>
            <a:srgbClr val="FFFFFF"/>
          </a:solidFill>
          <a:ln w="15240">
            <a:solidFill>
              <a:srgbClr val="3D6D65"/>
            </a:solidFill>
            <a:prstDash val="solid"/>
          </a:ln>
        </p:spPr>
        <p:txBody>
          <a:bodyPr/>
          <a:lstStyle/>
          <a:p>
            <a:endParaRPr/>
          </a:p>
        </p:txBody>
      </p:sp>
      <p:sp>
        <p:nvSpPr>
          <p:cNvPr id="14" name="Text 12">
            <a:extLst>
              <a:ext uri="{FF2B5EF4-FFF2-40B4-BE49-F238E27FC236}">
                <a16:creationId xmlns:a16="http://schemas.microsoft.com/office/drawing/2014/main" id="{5532CB07-03D9-4292-AF09-9B9B56B7BA79}"/>
              </a:ext>
            </a:extLst>
          </p:cNvPr>
          <p:cNvSpPr>
            <a:spLocks noGrp="1"/>
          </p:cNvSpPr>
          <p:nvPr/>
        </p:nvSpPr>
        <p:spPr>
          <a:xfrm>
            <a:off x="7626096" y="1609344"/>
            <a:ext cx="127101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Human oversight</a:t>
            </a:r>
            <a:endParaRPr sz="950"/>
          </a:p>
        </p:txBody>
      </p:sp>
      <p:sp>
        <p:nvSpPr>
          <p:cNvPr id="15" name="Shape 13">
            <a:extLst>
              <a:ext uri="{FF2B5EF4-FFF2-40B4-BE49-F238E27FC236}">
                <a16:creationId xmlns:a16="http://schemas.microsoft.com/office/drawing/2014/main" id="{64F19D25-4A4A-4E39-9C67-5AA8367E3668}"/>
              </a:ext>
            </a:extLst>
          </p:cNvPr>
          <p:cNvSpPr>
            <a:spLocks noGrp="1"/>
          </p:cNvSpPr>
          <p:nvPr/>
        </p:nvSpPr>
        <p:spPr>
          <a:xfrm>
            <a:off x="68580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16" name="Text 14">
            <a:extLst>
              <a:ext uri="{FF2B5EF4-FFF2-40B4-BE49-F238E27FC236}">
                <a16:creationId xmlns:a16="http://schemas.microsoft.com/office/drawing/2014/main" id="{F1559022-5BD7-4331-918B-52080413839C}"/>
              </a:ext>
            </a:extLst>
          </p:cNvPr>
          <p:cNvSpPr>
            <a:spLocks noGrp="1"/>
          </p:cNvSpPr>
          <p:nvPr/>
        </p:nvSpPr>
        <p:spPr>
          <a:xfrm>
            <a:off x="79552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Objective and request</a:t>
            </a:r>
            <a:endParaRPr sz="1450"/>
          </a:p>
        </p:txBody>
      </p:sp>
      <p:sp>
        <p:nvSpPr>
          <p:cNvPr id="17" name="Text 15">
            <a:extLst>
              <a:ext uri="{FF2B5EF4-FFF2-40B4-BE49-F238E27FC236}">
                <a16:creationId xmlns:a16="http://schemas.microsoft.com/office/drawing/2014/main" id="{C2CE9AC7-6608-4A98-A86A-D19A2A9E4D1F}"/>
              </a:ext>
            </a:extLst>
          </p:cNvPr>
          <p:cNvSpPr>
            <a:spLocks noGrp="1"/>
          </p:cNvSpPr>
          <p:nvPr/>
        </p:nvSpPr>
        <p:spPr>
          <a:xfrm>
            <a:off x="79552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Goal, context and initial constraints</a:t>
            </a:r>
            <a:endParaRPr sz="980"/>
          </a:p>
        </p:txBody>
      </p:sp>
      <p:sp>
        <p:nvSpPr>
          <p:cNvPr id="18" name="Shape 16">
            <a:extLst>
              <a:ext uri="{FF2B5EF4-FFF2-40B4-BE49-F238E27FC236}">
                <a16:creationId xmlns:a16="http://schemas.microsoft.com/office/drawing/2014/main" id="{0A6D307D-81D1-4B35-AFD2-AA99E8FDE8F4}"/>
              </a:ext>
            </a:extLst>
          </p:cNvPr>
          <p:cNvSpPr>
            <a:spLocks noGrp="1"/>
          </p:cNvSpPr>
          <p:nvPr/>
        </p:nvSpPr>
        <p:spPr>
          <a:xfrm>
            <a:off x="2423160" y="3136392"/>
            <a:ext cx="384048" cy="0"/>
          </a:xfrm>
          <a:prstGeom prst="line">
            <a:avLst/>
          </a:prstGeom>
          <a:noFill/>
          <a:ln w="19050">
            <a:solidFill>
              <a:srgbClr val="7A7E84"/>
            </a:solidFill>
            <a:prstDash val="solid"/>
            <a:headEnd type="none"/>
            <a:tailEnd type="triangle"/>
          </a:ln>
        </p:spPr>
        <p:txBody>
          <a:bodyPr/>
          <a:lstStyle/>
          <a:p>
            <a:endParaRPr/>
          </a:p>
        </p:txBody>
      </p:sp>
      <p:sp>
        <p:nvSpPr>
          <p:cNvPr id="19" name="Shape 17">
            <a:extLst>
              <a:ext uri="{FF2B5EF4-FFF2-40B4-BE49-F238E27FC236}">
                <a16:creationId xmlns:a16="http://schemas.microsoft.com/office/drawing/2014/main" id="{7013E1D3-71F6-49C6-81C6-74EB8DED56BF}"/>
              </a:ext>
            </a:extLst>
          </p:cNvPr>
          <p:cNvSpPr>
            <a:spLocks noGrp="1"/>
          </p:cNvSpPr>
          <p:nvPr/>
        </p:nvSpPr>
        <p:spPr>
          <a:xfrm>
            <a:off x="2880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0" name="Text 18">
            <a:extLst>
              <a:ext uri="{FF2B5EF4-FFF2-40B4-BE49-F238E27FC236}">
                <a16:creationId xmlns:a16="http://schemas.microsoft.com/office/drawing/2014/main" id="{C1AB9883-DBA5-4D6A-98A3-C628870DAF79}"/>
              </a:ext>
            </a:extLst>
          </p:cNvPr>
          <p:cNvSpPr>
            <a:spLocks noGrp="1"/>
          </p:cNvSpPr>
          <p:nvPr/>
        </p:nvSpPr>
        <p:spPr>
          <a:xfrm>
            <a:off x="2990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Orchestration</a:t>
            </a:r>
            <a:endParaRPr sz="1450"/>
          </a:p>
        </p:txBody>
      </p:sp>
      <p:sp>
        <p:nvSpPr>
          <p:cNvPr id="21" name="Text 19">
            <a:extLst>
              <a:ext uri="{FF2B5EF4-FFF2-40B4-BE49-F238E27FC236}">
                <a16:creationId xmlns:a16="http://schemas.microsoft.com/office/drawing/2014/main" id="{13F7FC89-F31F-4B71-9D0F-10965013B790}"/>
              </a:ext>
            </a:extLst>
          </p:cNvPr>
          <p:cNvSpPr>
            <a:spLocks noGrp="1"/>
          </p:cNvSpPr>
          <p:nvPr/>
        </p:nvSpPr>
        <p:spPr>
          <a:xfrm>
            <a:off x="2990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Plan, route and allocate work</a:t>
            </a:r>
            <a:endParaRPr sz="980"/>
          </a:p>
        </p:txBody>
      </p:sp>
      <p:sp>
        <p:nvSpPr>
          <p:cNvPr id="22" name="Shape 20">
            <a:extLst>
              <a:ext uri="{FF2B5EF4-FFF2-40B4-BE49-F238E27FC236}">
                <a16:creationId xmlns:a16="http://schemas.microsoft.com/office/drawing/2014/main" id="{5B0F7C25-E2FB-49F8-91D8-D76D2FBC592E}"/>
              </a:ext>
            </a:extLst>
          </p:cNvPr>
          <p:cNvSpPr>
            <a:spLocks noGrp="1"/>
          </p:cNvSpPr>
          <p:nvPr/>
        </p:nvSpPr>
        <p:spPr>
          <a:xfrm>
            <a:off x="4617720" y="3136392"/>
            <a:ext cx="475488" cy="0"/>
          </a:xfrm>
          <a:prstGeom prst="line">
            <a:avLst/>
          </a:prstGeom>
          <a:noFill/>
          <a:ln w="19050">
            <a:solidFill>
              <a:srgbClr val="7A7E84"/>
            </a:solidFill>
            <a:prstDash val="solid"/>
            <a:headEnd type="none"/>
            <a:tailEnd type="triangle"/>
          </a:ln>
        </p:spPr>
        <p:txBody>
          <a:bodyPr/>
          <a:lstStyle/>
          <a:p>
            <a:endParaRPr/>
          </a:p>
        </p:txBody>
      </p:sp>
      <p:sp>
        <p:nvSpPr>
          <p:cNvPr id="23" name="Shape 21">
            <a:extLst>
              <a:ext uri="{FF2B5EF4-FFF2-40B4-BE49-F238E27FC236}">
                <a16:creationId xmlns:a16="http://schemas.microsoft.com/office/drawing/2014/main" id="{CD1D8DC5-8B07-4EA4-B6C2-AEC1779BA936}"/>
              </a:ext>
            </a:extLst>
          </p:cNvPr>
          <p:cNvSpPr>
            <a:spLocks noGrp="1"/>
          </p:cNvSpPr>
          <p:nvPr/>
        </p:nvSpPr>
        <p:spPr>
          <a:xfrm>
            <a:off x="5166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4" name="Text 22">
            <a:extLst>
              <a:ext uri="{FF2B5EF4-FFF2-40B4-BE49-F238E27FC236}">
                <a16:creationId xmlns:a16="http://schemas.microsoft.com/office/drawing/2014/main" id="{C6652E29-F8DD-436E-9026-61FDB704EF4D}"/>
              </a:ext>
            </a:extLst>
          </p:cNvPr>
          <p:cNvSpPr>
            <a:spLocks noGrp="1"/>
          </p:cNvSpPr>
          <p:nvPr/>
        </p:nvSpPr>
        <p:spPr>
          <a:xfrm>
            <a:off x="5276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Agents and tools</a:t>
            </a:r>
            <a:endParaRPr sz="1450"/>
          </a:p>
        </p:txBody>
      </p:sp>
      <p:sp>
        <p:nvSpPr>
          <p:cNvPr id="25" name="Text 23">
            <a:extLst>
              <a:ext uri="{FF2B5EF4-FFF2-40B4-BE49-F238E27FC236}">
                <a16:creationId xmlns:a16="http://schemas.microsoft.com/office/drawing/2014/main" id="{CA739B8C-1CA7-4840-900B-C7D321A1C279}"/>
              </a:ext>
            </a:extLst>
          </p:cNvPr>
          <p:cNvSpPr>
            <a:spLocks noGrp="1"/>
          </p:cNvSpPr>
          <p:nvPr/>
        </p:nvSpPr>
        <p:spPr>
          <a:xfrm>
            <a:off x="5276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Reason, retrieve, call services and collaborate</a:t>
            </a:r>
            <a:endParaRPr sz="980"/>
          </a:p>
        </p:txBody>
      </p:sp>
      <p:sp>
        <p:nvSpPr>
          <p:cNvPr id="26" name="Shape 24">
            <a:extLst>
              <a:ext uri="{FF2B5EF4-FFF2-40B4-BE49-F238E27FC236}">
                <a16:creationId xmlns:a16="http://schemas.microsoft.com/office/drawing/2014/main" id="{C573924C-1EB2-4DAE-B123-E2FC2D9D6F55}"/>
              </a:ext>
            </a:extLst>
          </p:cNvPr>
          <p:cNvSpPr>
            <a:spLocks noGrp="1"/>
          </p:cNvSpPr>
          <p:nvPr/>
        </p:nvSpPr>
        <p:spPr>
          <a:xfrm>
            <a:off x="6903720" y="3136392"/>
            <a:ext cx="475488" cy="0"/>
          </a:xfrm>
          <a:prstGeom prst="line">
            <a:avLst/>
          </a:prstGeom>
          <a:noFill/>
          <a:ln w="19050">
            <a:solidFill>
              <a:srgbClr val="7A7E84"/>
            </a:solidFill>
            <a:prstDash val="solid"/>
            <a:headEnd type="none"/>
            <a:tailEnd type="triangle"/>
          </a:ln>
        </p:spPr>
        <p:txBody>
          <a:bodyPr/>
          <a:lstStyle/>
          <a:p>
            <a:endParaRPr/>
          </a:p>
        </p:txBody>
      </p:sp>
      <p:sp>
        <p:nvSpPr>
          <p:cNvPr id="27" name="Shape 25">
            <a:extLst>
              <a:ext uri="{FF2B5EF4-FFF2-40B4-BE49-F238E27FC236}">
                <a16:creationId xmlns:a16="http://schemas.microsoft.com/office/drawing/2014/main" id="{B891F411-FF2B-4568-9687-4B33227364EC}"/>
              </a:ext>
            </a:extLst>
          </p:cNvPr>
          <p:cNvSpPr>
            <a:spLocks noGrp="1"/>
          </p:cNvSpPr>
          <p:nvPr/>
        </p:nvSpPr>
        <p:spPr>
          <a:xfrm>
            <a:off x="7452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8" name="Text 26">
            <a:extLst>
              <a:ext uri="{FF2B5EF4-FFF2-40B4-BE49-F238E27FC236}">
                <a16:creationId xmlns:a16="http://schemas.microsoft.com/office/drawing/2014/main" id="{0714D90F-F0CC-452D-A28E-C6543BB204AA}"/>
              </a:ext>
            </a:extLst>
          </p:cNvPr>
          <p:cNvSpPr>
            <a:spLocks noGrp="1"/>
          </p:cNvSpPr>
          <p:nvPr/>
        </p:nvSpPr>
        <p:spPr>
          <a:xfrm>
            <a:off x="7562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Authorized action</a:t>
            </a:r>
            <a:endParaRPr sz="1450"/>
          </a:p>
        </p:txBody>
      </p:sp>
      <p:sp>
        <p:nvSpPr>
          <p:cNvPr id="29" name="Text 27">
            <a:extLst>
              <a:ext uri="{FF2B5EF4-FFF2-40B4-BE49-F238E27FC236}">
                <a16:creationId xmlns:a16="http://schemas.microsoft.com/office/drawing/2014/main" id="{E16A347C-971C-48E2-B047-879B491C5E2B}"/>
              </a:ext>
            </a:extLst>
          </p:cNvPr>
          <p:cNvSpPr>
            <a:spLocks noGrp="1"/>
          </p:cNvSpPr>
          <p:nvPr/>
        </p:nvSpPr>
        <p:spPr>
          <a:xfrm>
            <a:off x="7562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Execute within policy and capability</a:t>
            </a:r>
            <a:endParaRPr sz="980"/>
          </a:p>
        </p:txBody>
      </p:sp>
      <p:sp>
        <p:nvSpPr>
          <p:cNvPr id="30" name="Shape 28">
            <a:extLst>
              <a:ext uri="{FF2B5EF4-FFF2-40B4-BE49-F238E27FC236}">
                <a16:creationId xmlns:a16="http://schemas.microsoft.com/office/drawing/2014/main" id="{843AB24C-043F-49D7-92CB-7FF378588210}"/>
              </a:ext>
            </a:extLst>
          </p:cNvPr>
          <p:cNvSpPr>
            <a:spLocks noGrp="1"/>
          </p:cNvSpPr>
          <p:nvPr/>
        </p:nvSpPr>
        <p:spPr>
          <a:xfrm>
            <a:off x="9189720" y="3136392"/>
            <a:ext cx="384048" cy="0"/>
          </a:xfrm>
          <a:prstGeom prst="line">
            <a:avLst/>
          </a:prstGeom>
          <a:noFill/>
          <a:ln w="19050">
            <a:solidFill>
              <a:srgbClr val="7A7E84"/>
            </a:solidFill>
            <a:prstDash val="solid"/>
            <a:headEnd type="none"/>
            <a:tailEnd type="triangle"/>
          </a:ln>
        </p:spPr>
        <p:txBody>
          <a:bodyPr/>
          <a:lstStyle/>
          <a:p>
            <a:endParaRPr/>
          </a:p>
        </p:txBody>
      </p:sp>
      <p:sp>
        <p:nvSpPr>
          <p:cNvPr id="31" name="Shape 29">
            <a:extLst>
              <a:ext uri="{FF2B5EF4-FFF2-40B4-BE49-F238E27FC236}">
                <a16:creationId xmlns:a16="http://schemas.microsoft.com/office/drawing/2014/main" id="{31B22575-7F60-4AE4-9CD4-3C0A93BCBD1B}"/>
              </a:ext>
            </a:extLst>
          </p:cNvPr>
          <p:cNvSpPr>
            <a:spLocks noGrp="1"/>
          </p:cNvSpPr>
          <p:nvPr/>
        </p:nvSpPr>
        <p:spPr>
          <a:xfrm>
            <a:off x="964692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32" name="Text 30">
            <a:extLst>
              <a:ext uri="{FF2B5EF4-FFF2-40B4-BE49-F238E27FC236}">
                <a16:creationId xmlns:a16="http://schemas.microsoft.com/office/drawing/2014/main" id="{4B2D2675-D103-4C7D-910D-1E496EA2E6FE}"/>
              </a:ext>
            </a:extLst>
          </p:cNvPr>
          <p:cNvSpPr>
            <a:spLocks noGrp="1"/>
          </p:cNvSpPr>
          <p:nvPr/>
        </p:nvSpPr>
        <p:spPr>
          <a:xfrm>
            <a:off x="975664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Outcome</a:t>
            </a:r>
            <a:endParaRPr sz="1450"/>
          </a:p>
        </p:txBody>
      </p:sp>
      <p:sp>
        <p:nvSpPr>
          <p:cNvPr id="33" name="Text 31">
            <a:extLst>
              <a:ext uri="{FF2B5EF4-FFF2-40B4-BE49-F238E27FC236}">
                <a16:creationId xmlns:a16="http://schemas.microsoft.com/office/drawing/2014/main" id="{34A72514-8F45-40AD-95B0-F5FD612110E0}"/>
              </a:ext>
            </a:extLst>
          </p:cNvPr>
          <p:cNvSpPr>
            <a:spLocks noGrp="1"/>
          </p:cNvSpPr>
          <p:nvPr/>
        </p:nvSpPr>
        <p:spPr>
          <a:xfrm>
            <a:off x="975664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Telemetry, receipts and review</a:t>
            </a:r>
            <a:endParaRPr sz="980"/>
          </a:p>
        </p:txBody>
      </p:sp>
      <p:sp>
        <p:nvSpPr>
          <p:cNvPr id="34" name="Shape 32">
            <a:extLst>
              <a:ext uri="{FF2B5EF4-FFF2-40B4-BE49-F238E27FC236}">
                <a16:creationId xmlns:a16="http://schemas.microsoft.com/office/drawing/2014/main" id="{D87BEA24-A8D7-4CA6-8EE9-E32DC1EFDAD9}"/>
              </a:ext>
            </a:extLst>
          </p:cNvPr>
          <p:cNvSpPr>
            <a:spLocks noGrp="1"/>
          </p:cNvSpPr>
          <p:nvPr/>
        </p:nvSpPr>
        <p:spPr>
          <a:xfrm>
            <a:off x="2423160" y="4315968"/>
            <a:ext cx="7360920" cy="1115568"/>
          </a:xfrm>
          <a:prstGeom prst="roundRect">
            <a:avLst/>
          </a:prstGeom>
          <a:solidFill>
            <a:srgbClr val="F1F4F7"/>
          </a:solidFill>
          <a:ln w="12700">
            <a:solidFill>
              <a:srgbClr val="D6DCE4"/>
            </a:solidFill>
            <a:prstDash val="solid"/>
          </a:ln>
        </p:spPr>
        <p:txBody>
          <a:bodyPr/>
          <a:lstStyle/>
          <a:p>
            <a:endParaRPr/>
          </a:p>
        </p:txBody>
      </p:sp>
      <p:sp>
        <p:nvSpPr>
          <p:cNvPr id="35" name="Text 33">
            <a:extLst>
              <a:ext uri="{FF2B5EF4-FFF2-40B4-BE49-F238E27FC236}">
                <a16:creationId xmlns:a16="http://schemas.microsoft.com/office/drawing/2014/main" id="{A03A990C-05EB-4B20-9F42-BE842320EAB2}"/>
              </a:ext>
            </a:extLst>
          </p:cNvPr>
          <p:cNvSpPr>
            <a:spLocks noGrp="1"/>
          </p:cNvSpPr>
          <p:nvPr/>
        </p:nvSpPr>
        <p:spPr>
          <a:xfrm>
            <a:off x="2651760" y="4553712"/>
            <a:ext cx="2286000" cy="420624"/>
          </a:xfrm>
          <a:prstGeom prst="rect">
            <a:avLst/>
          </a:prstGeom>
          <a:noFill/>
        </p:spPr>
        <p:txBody>
          <a:bodyPr wrap="square" lIns="0" tIns="0" rIns="0" bIns="0" anchor="ctr"/>
          <a:lstStyle/>
          <a:p>
            <a:pPr marL="0" indent="0">
              <a:buNone/>
            </a:pPr>
            <a:r>
              <a:rPr sz="1700" b="1">
                <a:solidFill>
                  <a:srgbClr val="1B273F"/>
                </a:solidFill>
                <a:latin typeface="Cambria"/>
                <a:ea typeface="Cambria"/>
                <a:cs typeface="Cambria"/>
              </a:rPr>
              <a:t>Typical operating loop</a:t>
            </a:r>
            <a:endParaRPr sz="1550"/>
          </a:p>
        </p:txBody>
      </p:sp>
      <p:sp>
        <p:nvSpPr>
          <p:cNvPr id="36" name="Text 34">
            <a:extLst>
              <a:ext uri="{FF2B5EF4-FFF2-40B4-BE49-F238E27FC236}">
                <a16:creationId xmlns:a16="http://schemas.microsoft.com/office/drawing/2014/main" id="{1ABEC168-034E-48FF-BCF8-B89F75369B50}"/>
              </a:ext>
            </a:extLst>
          </p:cNvPr>
          <p:cNvSpPr>
            <a:spLocks noGrp="1"/>
          </p:cNvSpPr>
          <p:nvPr/>
        </p:nvSpPr>
        <p:spPr>
          <a:xfrm>
            <a:off x="2651760" y="5010912"/>
            <a:ext cx="5120640" cy="274320"/>
          </a:xfrm>
          <a:prstGeom prst="rect">
            <a:avLst/>
          </a:prstGeom>
          <a:noFill/>
        </p:spPr>
        <p:txBody>
          <a:bodyPr wrap="square" lIns="0" tIns="0" rIns="0" bIns="0" anchor="ctr"/>
          <a:lstStyle/>
          <a:p>
            <a:pPr marL="0" indent="0">
              <a:buNone/>
            </a:pPr>
            <a:r>
              <a:rPr sz="1050">
                <a:solidFill>
                  <a:srgbClr val="55595F"/>
                </a:solidFill>
                <a:latin typeface="Calibri"/>
                <a:ea typeface="Calibri"/>
                <a:cs typeface="Calibri"/>
              </a:rPr>
              <a:t>Observe outcomes, update the plan and repeat while the local control model remains valid.</a:t>
            </a:r>
            <a:endParaRPr sz="1100"/>
          </a:p>
        </p:txBody>
      </p:sp>
      <p:sp>
        <p:nvSpPr>
          <p:cNvPr id="37" name="Text 35">
            <a:extLst>
              <a:ext uri="{FF2B5EF4-FFF2-40B4-BE49-F238E27FC236}">
                <a16:creationId xmlns:a16="http://schemas.microsoft.com/office/drawing/2014/main" id="{EE61A8B4-35A3-4061-AABC-CD7404604085}"/>
              </a:ext>
            </a:extLst>
          </p:cNvPr>
          <p:cNvSpPr>
            <a:spLocks noGrp="1"/>
          </p:cNvSpPr>
          <p:nvPr/>
        </p:nvSpPr>
        <p:spPr>
          <a:xfrm>
            <a:off x="8028431" y="4645152"/>
            <a:ext cx="640080" cy="164592"/>
          </a:xfrm>
          <a:prstGeom prst="rect">
            <a:avLst/>
          </a:prstGeom>
          <a:noFill/>
        </p:spPr>
        <p:txBody>
          <a:bodyPr wrap="square" lIns="0" tIns="0" rIns="0" bIns="0" anchor="ctr"/>
          <a:lstStyle/>
          <a:p>
            <a:pPr marL="0" indent="0" algn="ctr">
              <a:buNone/>
            </a:pPr>
            <a:endParaRPr sz="900"/>
          </a:p>
        </p:txBody>
      </p:sp>
      <p:sp>
        <p:nvSpPr>
          <p:cNvPr id="38" name="Shape 36">
            <a:extLst>
              <a:ext uri="{FF2B5EF4-FFF2-40B4-BE49-F238E27FC236}">
                <a16:creationId xmlns:a16="http://schemas.microsoft.com/office/drawing/2014/main" id="{21647D3F-7B44-4B49-9DA1-69EC04DDE576}"/>
              </a:ext>
            </a:extLst>
          </p:cNvPr>
          <p:cNvSpPr>
            <a:spLocks noGrp="1"/>
          </p:cNvSpPr>
          <p:nvPr/>
        </p:nvSpPr>
        <p:spPr>
          <a:xfrm>
            <a:off x="8321040" y="4773168"/>
            <a:ext cx="0" cy="301752"/>
          </a:xfrm>
          <a:prstGeom prst="line">
            <a:avLst/>
          </a:prstGeom>
          <a:noFill/>
          <a:ln w="20320">
            <a:solidFill>
              <a:srgbClr val="006970"/>
            </a:solidFill>
            <a:prstDash val="solid"/>
            <a:headEnd type="none"/>
            <a:tailEnd type="triangle"/>
          </a:ln>
        </p:spPr>
        <p:txBody>
          <a:bodyPr/>
          <a:lstStyle/>
          <a:p>
            <a:endParaRPr/>
          </a:p>
        </p:txBody>
      </p:sp>
      <p:sp>
        <p:nvSpPr>
          <p:cNvPr id="39" name="Text 37">
            <a:extLst>
              <a:ext uri="{FF2B5EF4-FFF2-40B4-BE49-F238E27FC236}">
                <a16:creationId xmlns:a16="http://schemas.microsoft.com/office/drawing/2014/main" id="{E8D9EFC7-476D-48F5-BB28-7DC548EBE337}"/>
              </a:ext>
            </a:extLst>
          </p:cNvPr>
          <p:cNvSpPr>
            <a:spLocks noGrp="1"/>
          </p:cNvSpPr>
          <p:nvPr/>
        </p:nvSpPr>
        <p:spPr>
          <a:xfrm>
            <a:off x="8796528" y="4645152"/>
            <a:ext cx="640080" cy="164592"/>
          </a:xfrm>
          <a:prstGeom prst="rect">
            <a:avLst/>
          </a:prstGeom>
          <a:noFill/>
        </p:spPr>
        <p:txBody>
          <a:bodyPr wrap="square" lIns="0" tIns="0" rIns="0" bIns="0" anchor="ctr"/>
          <a:lstStyle/>
          <a:p>
            <a:pPr marL="0" indent="0" algn="ctr">
              <a:buNone/>
            </a:pPr>
            <a:endParaRPr sz="900"/>
          </a:p>
        </p:txBody>
      </p:sp>
      <p:sp>
        <p:nvSpPr>
          <p:cNvPr id="40" name="Text 38">
            <a:extLst>
              <a:ext uri="{FF2B5EF4-FFF2-40B4-BE49-F238E27FC236}">
                <a16:creationId xmlns:a16="http://schemas.microsoft.com/office/drawing/2014/main" id="{07CF55E3-5A38-4595-8D76-0A862B6E910B}"/>
              </a:ext>
            </a:extLst>
          </p:cNvPr>
          <p:cNvSpPr>
            <a:spLocks noGrp="1"/>
          </p:cNvSpPr>
          <p:nvPr/>
        </p:nvSpPr>
        <p:spPr>
          <a:xfrm>
            <a:off x="749808" y="5760720"/>
            <a:ext cx="10652760" cy="384048"/>
          </a:xfrm>
          <a:prstGeom prst="rect">
            <a:avLst/>
          </a:prstGeom>
          <a:noFill/>
        </p:spPr>
        <p:txBody>
          <a:bodyPr wrap="square" lIns="0" tIns="0" rIns="0" bIns="0" anchor="ctr"/>
          <a:lstStyle/>
          <a:p>
            <a:pPr marL="0" indent="0" algn="ctr">
              <a:buNone/>
            </a:pPr>
            <a:r>
              <a:rPr sz="1130" i="1">
                <a:solidFill>
                  <a:srgbClr val="55595F"/>
                </a:solidFill>
                <a:latin typeface="Calibri"/>
                <a:ea typeface="Calibri"/>
                <a:cs typeface="Calibri"/>
              </a:rPr>
              <a:t>The model works while roles, boundaries and the surrounding ecosystem remain legible to the controls that govern the workflow.</a:t>
            </a:r>
            <a:endParaRPr sz="1130"/>
          </a:p>
        </p:txBody>
      </p:sp>
      <p:sp>
        <p:nvSpPr>
          <p:cNvPr id="52" name="Slide Number Placeholder 0">
            <a:extLst>
              <a:ext uri="{FF2B5EF4-FFF2-40B4-BE49-F238E27FC236}">
                <a16:creationId xmlns:a16="http://schemas.microsoft.com/office/drawing/2014/main" id="{87E8E321-49A0-4E39-BF3E-1973392909BE}"/>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r>
              <a:rPr sz="850">
                <a:solidFill>
                  <a:srgbClr val="5D6775"/>
                </a:solidFill>
                <a:latin typeface="Aptos"/>
              </a:rPr>
              <a:t>2</a:t>
            </a:r>
          </a:p>
        </p:txBody>
      </p:sp>
      <p:sp>
        <p:nvSpPr>
          <p:cNvPr id="41" name="Connector 40">
            <a:extLst>
              <a:ext uri="{FF2B5EF4-FFF2-40B4-BE49-F238E27FC236}">
                <a16:creationId xmlns:a16="http://schemas.microsoft.com/office/drawing/2014/main" id="{FAE0C6FC-7B96-4DDB-B261-9683711AE2DC}"/>
              </a:ext>
            </a:extLst>
          </p:cNvPr>
          <p:cNvSpPr>
            <a:spLocks noGrp="1"/>
          </p:cNvSpPr>
          <p:nvPr/>
        </p:nvSpPr>
        <p:spPr>
          <a:xfrm>
            <a:off x="8293608" y="4855464"/>
            <a:ext cx="0" cy="320040"/>
          </a:xfrm>
          <a:prstGeom prst="line">
            <a:avLst/>
          </a:prstGeom>
          <a:ln w="19050">
            <a:solidFill>
              <a:srgbClr val="007B82"/>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2" name="Connector 41">
            <a:extLst>
              <a:ext uri="{FF2B5EF4-FFF2-40B4-BE49-F238E27FC236}">
                <a16:creationId xmlns:a16="http://schemas.microsoft.com/office/drawing/2014/main" id="{BC3B3E16-A7A1-4092-A608-3264FD9536C4}"/>
              </a:ext>
            </a:extLst>
          </p:cNvPr>
          <p:cNvSpPr>
            <a:spLocks noGrp="1"/>
          </p:cNvSpPr>
          <p:nvPr/>
        </p:nvSpPr>
        <p:spPr>
          <a:xfrm>
            <a:off x="9070848" y="4855464"/>
            <a:ext cx="0" cy="320040"/>
          </a:xfrm>
          <a:prstGeom prst="line">
            <a:avLst/>
          </a:prstGeom>
          <a:ln w="19050">
            <a:solidFill>
              <a:srgbClr val="007B82"/>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3" name="Rectangle 42">
            <a:extLst>
              <a:ext uri="{FF2B5EF4-FFF2-40B4-BE49-F238E27FC236}">
                <a16:creationId xmlns:a16="http://schemas.microsoft.com/office/drawing/2014/main" id="{F3713040-46F9-417E-AC71-F03F27242112}"/>
              </a:ext>
            </a:extLst>
          </p:cNvPr>
          <p:cNvSpPr>
            <a:spLocks noGrp="1"/>
          </p:cNvSpPr>
          <p:nvPr/>
        </p:nvSpPr>
        <p:spPr>
          <a:xfrm>
            <a:off x="7818120" y="4462272"/>
            <a:ext cx="1965960" cy="8686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CD21C60-FB7B-4366-BE2D-412813F4F0D5}"/>
              </a:ext>
            </a:extLst>
          </p:cNvPr>
          <p:cNvSpPr>
            <a:spLocks noGrp="1"/>
          </p:cNvSpPr>
          <p:nvPr/>
        </p:nvSpPr>
        <p:spPr>
          <a:xfrm>
            <a:off x="8001000" y="4617720"/>
            <a:ext cx="777240" cy="164592"/>
          </a:xfrm>
          <a:prstGeom prst="rect">
            <a:avLst/>
          </a:prstGeom>
          <a:noFill/>
        </p:spPr>
        <p:txBody>
          <a:bodyPr wrap="square" lIns="38100" tIns="25400" rIns="38100" bIns="25400">
            <a:spAutoFit/>
          </a:bodyPr>
          <a:lstStyle/>
          <a:p>
            <a:pPr algn="ctr">
              <a:buNone/>
            </a:pPr>
            <a:r>
              <a:rPr sz="1000" b="1">
                <a:solidFill>
                  <a:srgbClr val="007B82"/>
                </a:solidFill>
                <a:latin typeface="Aptos"/>
                <a:ea typeface="Aptos"/>
                <a:cs typeface="Aptos"/>
              </a:rPr>
              <a:t>Review</a:t>
            </a:r>
          </a:p>
        </p:txBody>
      </p:sp>
      <p:sp>
        <p:nvSpPr>
          <p:cNvPr id="45" name="TextBox 44">
            <a:extLst>
              <a:ext uri="{FF2B5EF4-FFF2-40B4-BE49-F238E27FC236}">
                <a16:creationId xmlns:a16="http://schemas.microsoft.com/office/drawing/2014/main" id="{3D7A18EC-ABFE-4345-9916-104CB8285E0E}"/>
              </a:ext>
            </a:extLst>
          </p:cNvPr>
          <p:cNvSpPr>
            <a:spLocks noGrp="1"/>
          </p:cNvSpPr>
          <p:nvPr/>
        </p:nvSpPr>
        <p:spPr>
          <a:xfrm>
            <a:off x="8778240" y="4617720"/>
            <a:ext cx="822960" cy="164592"/>
          </a:xfrm>
          <a:prstGeom prst="rect">
            <a:avLst/>
          </a:prstGeom>
          <a:noFill/>
        </p:spPr>
        <p:txBody>
          <a:bodyPr wrap="square" lIns="38100" tIns="25400" rIns="38100" bIns="25400">
            <a:spAutoFit/>
          </a:bodyPr>
          <a:lstStyle/>
          <a:p>
            <a:pPr algn="ctr">
              <a:buNone/>
            </a:pPr>
            <a:r>
              <a:rPr sz="1000" b="1">
                <a:solidFill>
                  <a:srgbClr val="007B82"/>
                </a:solidFill>
                <a:latin typeface="Aptos"/>
                <a:ea typeface="Aptos"/>
                <a:cs typeface="Aptos"/>
              </a:rPr>
              <a:t>Replan</a:t>
            </a:r>
          </a:p>
        </p:txBody>
      </p:sp>
      <p:sp>
        <p:nvSpPr>
          <p:cNvPr id="50" name="Down Arrow 49">
            <a:extLst>
              <a:ext uri="{FF2B5EF4-FFF2-40B4-BE49-F238E27FC236}">
                <a16:creationId xmlns:a16="http://schemas.microsoft.com/office/drawing/2014/main" id="{EC81908B-2343-49E1-A794-D74CFA5D68CB}"/>
              </a:ext>
            </a:extLst>
          </p:cNvPr>
          <p:cNvSpPr>
            <a:spLocks noGrp="1"/>
          </p:cNvSpPr>
          <p:nvPr/>
        </p:nvSpPr>
        <p:spPr>
          <a:xfrm>
            <a:off x="8321040" y="4873752"/>
            <a:ext cx="109728" cy="219456"/>
          </a:xfrm>
          <a:prstGeom prst="downArrow">
            <a:avLst/>
          </a:prstGeom>
          <a:solidFill>
            <a:srgbClr val="007B8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Down Arrow 50">
            <a:extLst>
              <a:ext uri="{FF2B5EF4-FFF2-40B4-BE49-F238E27FC236}">
                <a16:creationId xmlns:a16="http://schemas.microsoft.com/office/drawing/2014/main" id="{A152080C-7C0E-433F-A4A3-264D9F576F64}"/>
              </a:ext>
            </a:extLst>
          </p:cNvPr>
          <p:cNvSpPr>
            <a:spLocks noGrp="1"/>
          </p:cNvSpPr>
          <p:nvPr/>
        </p:nvSpPr>
        <p:spPr>
          <a:xfrm rot="10800000">
            <a:off x="9098280" y="4873752"/>
            <a:ext cx="109728" cy="219456"/>
          </a:xfrm>
          <a:prstGeom prst="downArrow">
            <a:avLst/>
          </a:prstGeom>
          <a:solidFill>
            <a:srgbClr val="007B8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Benchmark vNext · comparator baseline</a:t>
            </a:r>
          </a:p>
        </p:txBody>
      </p:sp>
    </p:spTree>
    <p:extLst>
      <p:ext uri="{BB962C8B-B14F-4D97-AF65-F5344CB8AC3E}">
        <p14:creationId xmlns:p14="http://schemas.microsoft.com/office/powerpoint/2010/main" val="161384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08734D9-38FA-44F5-8FAC-13375A52143F}"/>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STRUCTURAL LIMITS</a:t>
            </a:r>
            <a:endParaRPr sz="820"/>
          </a:p>
        </p:txBody>
      </p:sp>
      <p:sp>
        <p:nvSpPr>
          <p:cNvPr id="3" name="Text 1">
            <a:extLst>
              <a:ext uri="{FF2B5EF4-FFF2-40B4-BE49-F238E27FC236}">
                <a16:creationId xmlns:a16="http://schemas.microsoft.com/office/drawing/2014/main" id="{A038425C-E6E9-4B72-A033-F3EC4F3CA3F1}"/>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02</a:t>
            </a:r>
            <a:endParaRPr sz="820"/>
          </a:p>
        </p:txBody>
      </p:sp>
      <p:sp>
        <p:nvSpPr>
          <p:cNvPr id="4" name="Text 2">
            <a:extLst>
              <a:ext uri="{FF2B5EF4-FFF2-40B4-BE49-F238E27FC236}">
                <a16:creationId xmlns:a16="http://schemas.microsoft.com/office/drawing/2014/main" id="{A6A876FF-4C56-423D-BAC8-5A6571D81FE8}"/>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3"/>
              </a:rPr>
              <a:t>Structural problems and current limits</a:t>
            </a:r>
            <a:endParaRPr sz="2550" dirty="0"/>
          </a:p>
        </p:txBody>
      </p:sp>
      <p:sp>
        <p:nvSpPr>
          <p:cNvPr id="5" name="Text 3">
            <a:extLst>
              <a:ext uri="{FF2B5EF4-FFF2-40B4-BE49-F238E27FC236}">
                <a16:creationId xmlns:a16="http://schemas.microsoft.com/office/drawing/2014/main" id="{C31D962A-BA82-4E14-9132-D09CD18F8586}"/>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Direct rules and local checks lose explanatory power when participants, roles and dependencies change faster than the control model.</a:t>
            </a:r>
            <a:endParaRPr sz="1200" dirty="0"/>
          </a:p>
        </p:txBody>
      </p:sp>
      <p:sp>
        <p:nvSpPr>
          <p:cNvPr id="6" name="Shape 4">
            <a:extLst>
              <a:ext uri="{FF2B5EF4-FFF2-40B4-BE49-F238E27FC236}">
                <a16:creationId xmlns:a16="http://schemas.microsoft.com/office/drawing/2014/main" id="{B570C1C4-B82A-4DB0-9DC5-2E298E4B561D}"/>
              </a:ext>
            </a:extLst>
          </p:cNvPr>
          <p:cNvSpPr>
            <a:spLocks noGrp="1"/>
          </p:cNvSpPr>
          <p:nvPr/>
        </p:nvSpPr>
        <p:spPr>
          <a:xfrm>
            <a:off x="640080" y="169164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7" name="Shape 5">
            <a:extLst>
              <a:ext uri="{FF2B5EF4-FFF2-40B4-BE49-F238E27FC236}">
                <a16:creationId xmlns:a16="http://schemas.microsoft.com/office/drawing/2014/main" id="{FA3FCC51-D948-4C23-B3BB-608330577F1D}"/>
              </a:ext>
            </a:extLst>
          </p:cNvPr>
          <p:cNvSpPr>
            <a:spLocks noGrp="1"/>
          </p:cNvSpPr>
          <p:nvPr/>
        </p:nvSpPr>
        <p:spPr>
          <a:xfrm>
            <a:off x="640080" y="1691640"/>
            <a:ext cx="50292" cy="1261872"/>
          </a:xfrm>
          <a:prstGeom prst="rect">
            <a:avLst/>
          </a:prstGeom>
          <a:solidFill>
            <a:srgbClr val="1B4D8E"/>
          </a:solidFill>
          <a:ln w="12700">
            <a:solidFill>
              <a:srgbClr val="1B4D8E"/>
            </a:solidFill>
            <a:prstDash val="solid"/>
          </a:ln>
        </p:spPr>
        <p:txBody>
          <a:bodyPr wrap="square"/>
          <a:lstStyle/>
          <a:p>
            <a:endParaRPr/>
          </a:p>
        </p:txBody>
      </p:sp>
      <p:sp>
        <p:nvSpPr>
          <p:cNvPr id="8" name="Text 6">
            <a:extLst>
              <a:ext uri="{FF2B5EF4-FFF2-40B4-BE49-F238E27FC236}">
                <a16:creationId xmlns:a16="http://schemas.microsoft.com/office/drawing/2014/main" id="{4EFF4B9C-F2EF-476B-A061-A9106729991D}"/>
              </a:ext>
            </a:extLst>
          </p:cNvPr>
          <p:cNvSpPr>
            <a:spLocks noGrp="1"/>
          </p:cNvSpPr>
          <p:nvPr/>
        </p:nvSpPr>
        <p:spPr>
          <a:xfrm>
            <a:off x="80467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Agent multiplication</a:t>
            </a:r>
            <a:endParaRPr sz="1400"/>
          </a:p>
        </p:txBody>
      </p:sp>
      <p:sp>
        <p:nvSpPr>
          <p:cNvPr id="9" name="Text 7">
            <a:extLst>
              <a:ext uri="{FF2B5EF4-FFF2-40B4-BE49-F238E27FC236}">
                <a16:creationId xmlns:a16="http://schemas.microsoft.com/office/drawing/2014/main" id="{6768C276-9E60-4A6C-995E-01413FB546B5}"/>
              </a:ext>
            </a:extLst>
          </p:cNvPr>
          <p:cNvSpPr>
            <a:spLocks noGrp="1"/>
          </p:cNvSpPr>
          <p:nvPr/>
        </p:nvSpPr>
        <p:spPr>
          <a:xfrm>
            <a:off x="80467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More agents, tools and temporary delegates create interaction paths that no operator can review one by one.</a:t>
            </a:r>
            <a:endParaRPr sz="1020"/>
          </a:p>
        </p:txBody>
      </p:sp>
      <p:sp>
        <p:nvSpPr>
          <p:cNvPr id="10" name="Shape 8">
            <a:extLst>
              <a:ext uri="{FF2B5EF4-FFF2-40B4-BE49-F238E27FC236}">
                <a16:creationId xmlns:a16="http://schemas.microsoft.com/office/drawing/2014/main" id="{C923880E-893F-4D84-8850-5C7D5BE6AB83}"/>
              </a:ext>
            </a:extLst>
          </p:cNvPr>
          <p:cNvSpPr>
            <a:spLocks noGrp="1"/>
          </p:cNvSpPr>
          <p:nvPr/>
        </p:nvSpPr>
        <p:spPr>
          <a:xfrm>
            <a:off x="4178808" y="1700784"/>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1" name="Shape 9">
            <a:extLst>
              <a:ext uri="{FF2B5EF4-FFF2-40B4-BE49-F238E27FC236}">
                <a16:creationId xmlns:a16="http://schemas.microsoft.com/office/drawing/2014/main" id="{66100C4E-015E-461E-BD30-2645141BA0EB}"/>
              </a:ext>
            </a:extLst>
          </p:cNvPr>
          <p:cNvSpPr>
            <a:spLocks noGrp="1"/>
          </p:cNvSpPr>
          <p:nvPr/>
        </p:nvSpPr>
        <p:spPr>
          <a:xfrm>
            <a:off x="4160520" y="1691640"/>
            <a:ext cx="50292" cy="1261872"/>
          </a:xfrm>
          <a:prstGeom prst="rect">
            <a:avLst/>
          </a:prstGeom>
          <a:solidFill>
            <a:srgbClr val="006970"/>
          </a:solidFill>
          <a:ln w="12700">
            <a:solidFill>
              <a:srgbClr val="006970"/>
            </a:solidFill>
            <a:prstDash val="solid"/>
          </a:ln>
        </p:spPr>
        <p:txBody>
          <a:bodyPr wrap="square"/>
          <a:lstStyle/>
          <a:p>
            <a:endParaRPr/>
          </a:p>
        </p:txBody>
      </p:sp>
      <p:sp>
        <p:nvSpPr>
          <p:cNvPr id="12" name="Text 10">
            <a:extLst>
              <a:ext uri="{FF2B5EF4-FFF2-40B4-BE49-F238E27FC236}">
                <a16:creationId xmlns:a16="http://schemas.microsoft.com/office/drawing/2014/main" id="{41D059C8-E8BE-4909-980A-D4B1ADA1D608}"/>
              </a:ext>
            </a:extLst>
          </p:cNvPr>
          <p:cNvSpPr>
            <a:spLocks noGrp="1"/>
          </p:cNvSpPr>
          <p:nvPr/>
        </p:nvSpPr>
        <p:spPr>
          <a:xfrm>
            <a:off x="432511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Role and identity drift</a:t>
            </a:r>
            <a:endParaRPr sz="1400"/>
          </a:p>
        </p:txBody>
      </p:sp>
      <p:sp>
        <p:nvSpPr>
          <p:cNvPr id="13" name="Text 11">
            <a:extLst>
              <a:ext uri="{FF2B5EF4-FFF2-40B4-BE49-F238E27FC236}">
                <a16:creationId xmlns:a16="http://schemas.microsoft.com/office/drawing/2014/main" id="{EA52FAFD-ECE6-444A-B2B2-3428BF8503ED}"/>
              </a:ext>
            </a:extLst>
          </p:cNvPr>
          <p:cNvSpPr>
            <a:spLocks noGrp="1"/>
          </p:cNvSpPr>
          <p:nvPr/>
        </p:nvSpPr>
        <p:spPr>
          <a:xfrm>
            <a:off x="432511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One participant can hold hybrid roles, change memberships or act under a different authority across interactions.</a:t>
            </a:r>
            <a:endParaRPr sz="1020"/>
          </a:p>
        </p:txBody>
      </p:sp>
      <p:sp>
        <p:nvSpPr>
          <p:cNvPr id="14" name="Shape 12">
            <a:extLst>
              <a:ext uri="{FF2B5EF4-FFF2-40B4-BE49-F238E27FC236}">
                <a16:creationId xmlns:a16="http://schemas.microsoft.com/office/drawing/2014/main" id="{2665E16E-BA29-4283-A4E5-995CDE15D8A1}"/>
              </a:ext>
            </a:extLst>
          </p:cNvPr>
          <p:cNvSpPr>
            <a:spLocks noGrp="1"/>
          </p:cNvSpPr>
          <p:nvPr/>
        </p:nvSpPr>
        <p:spPr>
          <a:xfrm>
            <a:off x="7680960" y="169164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5" name="Shape 13">
            <a:extLst>
              <a:ext uri="{FF2B5EF4-FFF2-40B4-BE49-F238E27FC236}">
                <a16:creationId xmlns:a16="http://schemas.microsoft.com/office/drawing/2014/main" id="{DE6BF31D-7B0F-4E19-9D1E-72F54936C56F}"/>
              </a:ext>
            </a:extLst>
          </p:cNvPr>
          <p:cNvSpPr>
            <a:spLocks noGrp="1"/>
          </p:cNvSpPr>
          <p:nvPr/>
        </p:nvSpPr>
        <p:spPr>
          <a:xfrm>
            <a:off x="7680960" y="1691640"/>
            <a:ext cx="50292" cy="1261872"/>
          </a:xfrm>
          <a:prstGeom prst="rect">
            <a:avLst/>
          </a:prstGeom>
          <a:solidFill>
            <a:srgbClr val="A8642A"/>
          </a:solidFill>
          <a:ln w="12700">
            <a:solidFill>
              <a:srgbClr val="A8642A"/>
            </a:solidFill>
            <a:prstDash val="solid"/>
          </a:ln>
        </p:spPr>
        <p:txBody>
          <a:bodyPr wrap="square"/>
          <a:lstStyle/>
          <a:p>
            <a:endParaRPr/>
          </a:p>
        </p:txBody>
      </p:sp>
      <p:sp>
        <p:nvSpPr>
          <p:cNvPr id="16" name="Text 14">
            <a:extLst>
              <a:ext uri="{FF2B5EF4-FFF2-40B4-BE49-F238E27FC236}">
                <a16:creationId xmlns:a16="http://schemas.microsoft.com/office/drawing/2014/main" id="{1872E4E4-33DC-4EA0-8357-8D6C2F27690C}"/>
              </a:ext>
            </a:extLst>
          </p:cNvPr>
          <p:cNvSpPr>
            <a:spLocks noGrp="1"/>
          </p:cNvSpPr>
          <p:nvPr/>
        </p:nvSpPr>
        <p:spPr>
          <a:xfrm>
            <a:off x="784555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Ecosystem change</a:t>
            </a:r>
            <a:endParaRPr sz="1400"/>
          </a:p>
        </p:txBody>
      </p:sp>
      <p:sp>
        <p:nvSpPr>
          <p:cNvPr id="17" name="Text 15">
            <a:extLst>
              <a:ext uri="{FF2B5EF4-FFF2-40B4-BE49-F238E27FC236}">
                <a16:creationId xmlns:a16="http://schemas.microsoft.com/office/drawing/2014/main" id="{8C579E83-7D39-4934-BA77-818C0404A5F5}"/>
              </a:ext>
            </a:extLst>
          </p:cNvPr>
          <p:cNvSpPr>
            <a:spLocks noGrp="1"/>
          </p:cNvSpPr>
          <p:nvPr/>
        </p:nvSpPr>
        <p:spPr>
          <a:xfrm>
            <a:off x="784555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Organizations, dependencies, service availability and external conditions evolve while the system is operating.</a:t>
            </a:r>
            <a:endParaRPr sz="1020"/>
          </a:p>
        </p:txBody>
      </p:sp>
      <p:sp>
        <p:nvSpPr>
          <p:cNvPr id="18" name="Shape 16">
            <a:extLst>
              <a:ext uri="{FF2B5EF4-FFF2-40B4-BE49-F238E27FC236}">
                <a16:creationId xmlns:a16="http://schemas.microsoft.com/office/drawing/2014/main" id="{28850DE6-713C-4A9F-948E-53A8EB65A52C}"/>
              </a:ext>
            </a:extLst>
          </p:cNvPr>
          <p:cNvSpPr>
            <a:spLocks noGrp="1"/>
          </p:cNvSpPr>
          <p:nvPr/>
        </p:nvSpPr>
        <p:spPr>
          <a:xfrm>
            <a:off x="64008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9" name="Shape 17">
            <a:extLst>
              <a:ext uri="{FF2B5EF4-FFF2-40B4-BE49-F238E27FC236}">
                <a16:creationId xmlns:a16="http://schemas.microsoft.com/office/drawing/2014/main" id="{FD5D498D-A479-4851-9F45-D86D536B66E5}"/>
              </a:ext>
            </a:extLst>
          </p:cNvPr>
          <p:cNvSpPr>
            <a:spLocks noGrp="1"/>
          </p:cNvSpPr>
          <p:nvPr/>
        </p:nvSpPr>
        <p:spPr>
          <a:xfrm>
            <a:off x="640080" y="3246120"/>
            <a:ext cx="50292" cy="1261872"/>
          </a:xfrm>
          <a:prstGeom prst="rect">
            <a:avLst/>
          </a:prstGeom>
          <a:solidFill>
            <a:srgbClr val="9A4C48"/>
          </a:solidFill>
          <a:ln w="12700">
            <a:solidFill>
              <a:srgbClr val="9A4C48"/>
            </a:solidFill>
            <a:prstDash val="solid"/>
          </a:ln>
        </p:spPr>
        <p:txBody>
          <a:bodyPr wrap="square"/>
          <a:lstStyle/>
          <a:p>
            <a:endParaRPr/>
          </a:p>
        </p:txBody>
      </p:sp>
      <p:sp>
        <p:nvSpPr>
          <p:cNvPr id="20" name="Text 18">
            <a:extLst>
              <a:ext uri="{FF2B5EF4-FFF2-40B4-BE49-F238E27FC236}">
                <a16:creationId xmlns:a16="http://schemas.microsoft.com/office/drawing/2014/main" id="{C9FDE740-5A54-481E-9684-C9AECDB284AC}"/>
              </a:ext>
            </a:extLst>
          </p:cNvPr>
          <p:cNvSpPr>
            <a:spLocks noGrp="1"/>
          </p:cNvSpPr>
          <p:nvPr/>
        </p:nvSpPr>
        <p:spPr>
          <a:xfrm>
            <a:off x="80467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Indeterminacy</a:t>
            </a:r>
            <a:endParaRPr sz="1400"/>
          </a:p>
        </p:txBody>
      </p:sp>
      <p:sp>
        <p:nvSpPr>
          <p:cNvPr id="21" name="Text 19">
            <a:extLst>
              <a:ext uri="{FF2B5EF4-FFF2-40B4-BE49-F238E27FC236}">
                <a16:creationId xmlns:a16="http://schemas.microsoft.com/office/drawing/2014/main" id="{9FC4B1AB-9199-4371-9C83-F2797CDFFC7F}"/>
              </a:ext>
            </a:extLst>
          </p:cNvPr>
          <p:cNvSpPr>
            <a:spLocks noGrp="1"/>
          </p:cNvSpPr>
          <p:nvPr/>
        </p:nvSpPr>
        <p:spPr>
          <a:xfrm>
            <a:off x="80467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A local result may be valid but insufficient for the wider decision. Missing scope, provenance or dependency state must remain explicit.</a:t>
            </a:r>
            <a:endParaRPr sz="1020"/>
          </a:p>
        </p:txBody>
      </p:sp>
      <p:sp>
        <p:nvSpPr>
          <p:cNvPr id="22" name="Shape 20">
            <a:extLst>
              <a:ext uri="{FF2B5EF4-FFF2-40B4-BE49-F238E27FC236}">
                <a16:creationId xmlns:a16="http://schemas.microsoft.com/office/drawing/2014/main" id="{86D64945-EA12-4BD5-BCB2-E5F8E71F19AE}"/>
              </a:ext>
            </a:extLst>
          </p:cNvPr>
          <p:cNvSpPr>
            <a:spLocks noGrp="1"/>
          </p:cNvSpPr>
          <p:nvPr/>
        </p:nvSpPr>
        <p:spPr>
          <a:xfrm>
            <a:off x="416052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23" name="Shape 21">
            <a:extLst>
              <a:ext uri="{FF2B5EF4-FFF2-40B4-BE49-F238E27FC236}">
                <a16:creationId xmlns:a16="http://schemas.microsoft.com/office/drawing/2014/main" id="{DB77CAE3-0E4D-40AA-B394-FE1EBEE9C787}"/>
              </a:ext>
            </a:extLst>
          </p:cNvPr>
          <p:cNvSpPr>
            <a:spLocks noGrp="1"/>
          </p:cNvSpPr>
          <p:nvPr/>
        </p:nvSpPr>
        <p:spPr>
          <a:xfrm>
            <a:off x="4160520" y="3246120"/>
            <a:ext cx="50292" cy="1261872"/>
          </a:xfrm>
          <a:prstGeom prst="rect">
            <a:avLst/>
          </a:prstGeom>
          <a:solidFill>
            <a:srgbClr val="3D6D65"/>
          </a:solidFill>
          <a:ln w="12700">
            <a:solidFill>
              <a:srgbClr val="3D6D65"/>
            </a:solidFill>
            <a:prstDash val="solid"/>
          </a:ln>
        </p:spPr>
        <p:txBody>
          <a:bodyPr wrap="square"/>
          <a:lstStyle/>
          <a:p>
            <a:endParaRPr/>
          </a:p>
        </p:txBody>
      </p:sp>
      <p:sp>
        <p:nvSpPr>
          <p:cNvPr id="24" name="Text 22">
            <a:extLst>
              <a:ext uri="{FF2B5EF4-FFF2-40B4-BE49-F238E27FC236}">
                <a16:creationId xmlns:a16="http://schemas.microsoft.com/office/drawing/2014/main" id="{3CDB4833-2605-4AE6-AC61-AD3643445699}"/>
              </a:ext>
            </a:extLst>
          </p:cNvPr>
          <p:cNvSpPr>
            <a:spLocks noGrp="1"/>
          </p:cNvSpPr>
          <p:nvPr/>
        </p:nvSpPr>
        <p:spPr>
          <a:xfrm>
            <a:off x="432511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Interpretation gap</a:t>
            </a:r>
            <a:endParaRPr sz="1400"/>
          </a:p>
        </p:txBody>
      </p:sp>
      <p:sp>
        <p:nvSpPr>
          <p:cNvPr id="25" name="Text 23">
            <a:extLst>
              <a:ext uri="{FF2B5EF4-FFF2-40B4-BE49-F238E27FC236}">
                <a16:creationId xmlns:a16="http://schemas.microsoft.com/office/drawing/2014/main" id="{7594C41D-6A6E-478E-AE1E-44561BAE94D3}"/>
              </a:ext>
            </a:extLst>
          </p:cNvPr>
          <p:cNvSpPr>
            <a:spLocks noGrp="1"/>
          </p:cNvSpPr>
          <p:nvPr/>
        </p:nvSpPr>
        <p:spPr>
          <a:xfrm>
            <a:off x="432511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Identity, policy and attestation can remain technically valid while their practical meaning changes in the active ecosystem.</a:t>
            </a:r>
            <a:endParaRPr sz="1020"/>
          </a:p>
        </p:txBody>
      </p:sp>
      <p:sp>
        <p:nvSpPr>
          <p:cNvPr id="26" name="Shape 24">
            <a:extLst>
              <a:ext uri="{FF2B5EF4-FFF2-40B4-BE49-F238E27FC236}">
                <a16:creationId xmlns:a16="http://schemas.microsoft.com/office/drawing/2014/main" id="{BCC735E0-3248-4E81-919C-7F57334155AC}"/>
              </a:ext>
            </a:extLst>
          </p:cNvPr>
          <p:cNvSpPr>
            <a:spLocks noGrp="1"/>
          </p:cNvSpPr>
          <p:nvPr/>
        </p:nvSpPr>
        <p:spPr>
          <a:xfrm>
            <a:off x="768096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27" name="Shape 25">
            <a:extLst>
              <a:ext uri="{FF2B5EF4-FFF2-40B4-BE49-F238E27FC236}">
                <a16:creationId xmlns:a16="http://schemas.microsoft.com/office/drawing/2014/main" id="{1B7610B9-981A-4108-B60E-FDA6BA09050A}"/>
              </a:ext>
            </a:extLst>
          </p:cNvPr>
          <p:cNvSpPr>
            <a:spLocks noGrp="1"/>
          </p:cNvSpPr>
          <p:nvPr/>
        </p:nvSpPr>
        <p:spPr>
          <a:xfrm>
            <a:off x="7680960" y="3246120"/>
            <a:ext cx="50292" cy="1261872"/>
          </a:xfrm>
          <a:prstGeom prst="rect">
            <a:avLst/>
          </a:prstGeom>
          <a:solidFill>
            <a:srgbClr val="1B4D8E"/>
          </a:solidFill>
          <a:ln w="12700">
            <a:solidFill>
              <a:srgbClr val="1B4D8E"/>
            </a:solidFill>
            <a:prstDash val="solid"/>
          </a:ln>
        </p:spPr>
        <p:txBody>
          <a:bodyPr wrap="square"/>
          <a:lstStyle/>
          <a:p>
            <a:endParaRPr/>
          </a:p>
        </p:txBody>
      </p:sp>
      <p:sp>
        <p:nvSpPr>
          <p:cNvPr id="28" name="Text 26">
            <a:extLst>
              <a:ext uri="{FF2B5EF4-FFF2-40B4-BE49-F238E27FC236}">
                <a16:creationId xmlns:a16="http://schemas.microsoft.com/office/drawing/2014/main" id="{8C3DD785-2449-4324-8177-5993EA96D29B}"/>
              </a:ext>
            </a:extLst>
          </p:cNvPr>
          <p:cNvSpPr>
            <a:spLocks noGrp="1"/>
          </p:cNvSpPr>
          <p:nvPr/>
        </p:nvSpPr>
        <p:spPr>
          <a:xfrm>
            <a:off x="784555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Limits of AI oversight</a:t>
            </a:r>
            <a:endParaRPr sz="1400"/>
          </a:p>
        </p:txBody>
      </p:sp>
      <p:sp>
        <p:nvSpPr>
          <p:cNvPr id="29" name="Text 27">
            <a:extLst>
              <a:ext uri="{FF2B5EF4-FFF2-40B4-BE49-F238E27FC236}">
                <a16:creationId xmlns:a16="http://schemas.microsoft.com/office/drawing/2014/main" id="{FCEDFAE5-69EE-4A87-B4D6-222393396CF6}"/>
              </a:ext>
            </a:extLst>
          </p:cNvPr>
          <p:cNvSpPr>
            <a:spLocks noGrp="1"/>
          </p:cNvSpPr>
          <p:nvPr/>
        </p:nvSpPr>
        <p:spPr>
          <a:xfrm>
            <a:off x="784555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Automated review often inherits the same observation window. Human review adds authority and judgment, but attention, time and context remain finite.</a:t>
            </a:r>
            <a:endParaRPr sz="1020"/>
          </a:p>
        </p:txBody>
      </p:sp>
      <p:sp>
        <p:nvSpPr>
          <p:cNvPr id="30" name="Shape 28">
            <a:extLst>
              <a:ext uri="{FF2B5EF4-FFF2-40B4-BE49-F238E27FC236}">
                <a16:creationId xmlns:a16="http://schemas.microsoft.com/office/drawing/2014/main" id="{2318078F-683F-47F5-9A02-B197829A5B66}"/>
              </a:ext>
            </a:extLst>
          </p:cNvPr>
          <p:cNvSpPr>
            <a:spLocks noGrp="1"/>
          </p:cNvSpPr>
          <p:nvPr/>
        </p:nvSpPr>
        <p:spPr>
          <a:xfrm>
            <a:off x="658368" y="5074920"/>
            <a:ext cx="10652760" cy="804672"/>
          </a:xfrm>
          <a:prstGeom prst="roundRect">
            <a:avLst/>
          </a:prstGeom>
          <a:solidFill>
            <a:srgbClr val="F2F5F8"/>
          </a:solidFill>
          <a:ln w="12700">
            <a:solidFill>
              <a:srgbClr val="D6DCE4"/>
            </a:solidFill>
            <a:prstDash val="solid"/>
          </a:ln>
        </p:spPr>
        <p:txBody>
          <a:bodyPr wrap="square"/>
          <a:lstStyle/>
          <a:p>
            <a:endParaRPr/>
          </a:p>
        </p:txBody>
      </p:sp>
      <p:sp>
        <p:nvSpPr>
          <p:cNvPr id="31" name="Text 29">
            <a:extLst>
              <a:ext uri="{FF2B5EF4-FFF2-40B4-BE49-F238E27FC236}">
                <a16:creationId xmlns:a16="http://schemas.microsoft.com/office/drawing/2014/main" id="{B5C0DA6F-2F38-42E9-A07D-93D873F5E585}"/>
              </a:ext>
            </a:extLst>
          </p:cNvPr>
          <p:cNvSpPr>
            <a:spLocks noGrp="1"/>
          </p:cNvSpPr>
          <p:nvPr/>
        </p:nvSpPr>
        <p:spPr>
          <a:xfrm>
            <a:off x="896112" y="5266944"/>
            <a:ext cx="1920240" cy="164592"/>
          </a:xfrm>
          <a:prstGeom prst="rect">
            <a:avLst/>
          </a:prstGeom>
          <a:noFill/>
        </p:spPr>
        <p:txBody>
          <a:bodyPr wrap="square" lIns="0" tIns="0" rIns="0" bIns="0" anchor="ctr"/>
          <a:lstStyle/>
          <a:p>
            <a:pPr marL="0" indent="0">
              <a:buNone/>
            </a:pPr>
            <a:r>
              <a:rPr sz="900" b="1">
                <a:solidFill>
                  <a:srgbClr val="A8642A"/>
                </a:solidFill>
                <a:latin typeface="Consolas"/>
                <a:ea typeface="Consolas"/>
                <a:cs typeface="Consolas"/>
              </a:rPr>
              <a:t>STRUCTURAL CONSEQUENCE</a:t>
            </a:r>
            <a:endParaRPr sz="900"/>
          </a:p>
        </p:txBody>
      </p:sp>
      <p:sp>
        <p:nvSpPr>
          <p:cNvPr id="32" name="Text 30">
            <a:extLst>
              <a:ext uri="{FF2B5EF4-FFF2-40B4-BE49-F238E27FC236}">
                <a16:creationId xmlns:a16="http://schemas.microsoft.com/office/drawing/2014/main" id="{4C479A7C-3A25-4A82-BAF7-FBB108DA3294}"/>
              </a:ext>
            </a:extLst>
          </p:cNvPr>
          <p:cNvSpPr>
            <a:spLocks noGrp="1"/>
          </p:cNvSpPr>
          <p:nvPr/>
        </p:nvSpPr>
        <p:spPr>
          <a:xfrm>
            <a:off x="2743200" y="5193792"/>
            <a:ext cx="8229600" cy="347472"/>
          </a:xfrm>
          <a:prstGeom prst="rect">
            <a:avLst/>
          </a:prstGeom>
          <a:noFill/>
        </p:spPr>
        <p:txBody>
          <a:bodyPr wrap="square" lIns="0" tIns="0" rIns="0" bIns="0" anchor="ctr"/>
          <a:lstStyle/>
          <a:p>
            <a:pPr marL="0" indent="0">
              <a:buNone/>
            </a:pPr>
            <a:r>
              <a:rPr sz="1240">
                <a:solidFill>
                  <a:srgbClr val="1B273F"/>
                </a:solidFill>
                <a:latin typeface="Calibri"/>
                <a:ea typeface="Calibri"/>
                <a:cs typeface="Calibri"/>
              </a:rPr>
              <a:t>Local correctness and local compliance do not by themselves establish that the composed system is situated correctly for the current decision.</a:t>
            </a:r>
            <a:endParaRPr sz="1240"/>
          </a:p>
        </p:txBody>
      </p:sp>
      <p:sp>
        <p:nvSpPr>
          <p:cNvPr id="33" name="Slide Number Placeholder 0">
            <a:extLst>
              <a:ext uri="{FF2B5EF4-FFF2-40B4-BE49-F238E27FC236}">
                <a16:creationId xmlns:a16="http://schemas.microsoft.com/office/drawing/2014/main" id="{68D2D729-1DF8-47C3-BAB8-714B37375022}"/>
              </a:ext>
            </a:extLst>
          </p:cNvPr>
          <p:cNvSpPr>
            <a:spLocks noGrp="1"/>
          </p:cNvSpPr>
          <p:nvPr>
            <p:ph type="sldNum" idx="4294967295"/>
          </p:nvPr>
        </p:nvSpPr>
        <p:spPr>
          <a:xfrm>
            <a:off x="11064240" y="6537960"/>
            <a:ext cx="502920" cy="164592"/>
          </a:xfrm>
          <a:prstGeom prst="rect">
            <a:avLst/>
          </a:prstGeom>
        </p:spPr>
        <p:txBody>
          <a:bodyPr wrap="square"/>
          <a:lstStyle>
            <a:lvl1pPr>
              <a:buNone/>
              <a:defRPr sz="750">
                <a:solidFill>
                  <a:srgbClr val="1B273F"/>
                </a:solidFill>
                <a:latin typeface="Consolas"/>
                <a:ea typeface="Consolas"/>
                <a:cs typeface="Consolas"/>
              </a:defRPr>
            </a:lvl1pPr>
          </a:lstStyle>
          <a:p>
            <a:pPr algn="r"/>
            <a:r>
              <a:rPr sz="850">
                <a:solidFill>
                  <a:srgbClr val="5D6775"/>
                </a:solidFill>
                <a:latin typeface="Aptos"/>
              </a:rPr>
              <a:t>3</a:t>
            </a:r>
          </a:p>
        </p:txBody>
      </p:sp>
      <p:sp>
        <p:nvSpPr>
          <p:cNvPr id="34" name="Standards boundary — adjacent primitives"/>
          <p:cNvSpPr/>
          <p:nvPr/>
        </p:nvSpPr>
        <p:spPr>
          <a:xfrm>
            <a:off x="658368" y="4553712"/>
            <a:ext cx="10652760" cy="429768"/>
          </a:xfrm>
          <a:prstGeom prst="roundRect">
            <a:avLst/>
          </a:prstGeom>
          <a:solidFill>
            <a:srgbClr val="F7F9FB"/>
          </a:solidFill>
          <a:ln w="10160">
            <a:solidFill>
              <a:srgbClr val="D6DCE4"/>
            </a:solidFill>
          </a:ln>
        </p:spPr>
        <p:style>
          <a:lnRef idx="1">
            <a:schemeClr val="accent1"/>
          </a:lnRef>
          <a:fillRef idx="3">
            <a:schemeClr val="accent1"/>
          </a:fillRef>
          <a:effectRef idx="2">
            <a:schemeClr val="accent1"/>
          </a:effectRef>
          <a:fontRef idx="minor">
            <a:schemeClr val="lt1"/>
          </a:fontRef>
        </p:style>
        <p:txBody>
          <a:bodyPr wrap="square" lIns="118872" tIns="41148" rIns="118872" bIns="32004" rtlCol="0" anchor="ctr"/>
          <a:lstStyle/>
          <a:p>
            <a:pPr algn="l">
              <a:spcBef>
                <a:spcPts val="0"/>
              </a:spcBef>
              <a:spcAft>
                <a:spcPts val="0"/>
              </a:spcAft>
            </a:pPr>
            <a:r>
              <a:rPr sz="780" b="1">
                <a:solidFill>
                  <a:srgbClr val="A8642A"/>
                </a:solidFill>
                <a:latin typeface="Consolas"/>
              </a:rPr>
              <a:t>EXISTING PRIMITIVES  </a:t>
            </a:r>
            <a:r>
              <a:rPr sz="819">
                <a:solidFill>
                  <a:srgbClr val="55595F"/>
                </a:solidFill>
                <a:latin typeface="Calibri"/>
              </a:rPr>
              <a:t>SPIFFE · identity/authentication   |   RFC 8693 · subject/actor token exchange   |   RATS · attestation/appraisal   |   NIST 2026 · active agent-IAM work</a:t>
            </a:r>
          </a:p>
          <a:p>
            <a:pPr algn="l">
              <a:spcBef>
                <a:spcPts val="0"/>
              </a:spcBef>
              <a:spcAft>
                <a:spcPts val="0"/>
              </a:spcAft>
            </a:pPr>
            <a:r>
              <a:rPr sz="800" b="1">
                <a:solidFill>
                  <a:srgbClr val="007B82"/>
                </a:solidFill>
                <a:latin typeface="Consolas"/>
              </a:rPr>
              <a:t>REMAINING GAP  </a:t>
            </a:r>
            <a:r>
              <a:rPr sz="860" b="1">
                <a:solidFill>
                  <a:srgbClr val="1B273F"/>
                </a:solidFill>
                <a:latin typeface="Calibri"/>
              </a:rPr>
              <a:t>Preserve what remains valid, knowable and actionable as authority, evidence and context change across handoffs.</a:t>
            </a:r>
          </a:p>
        </p:txBody>
      </p:sp>
      <p:sp>
        <p:nvSpPr>
          <p:cNvPr id="35" name="TextBox 34"/>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Foundation 01</a:t>
            </a:r>
            <a:r>
              <a:rPr sz="680">
                <a:solidFill>
                  <a:srgbClr val="727A86"/>
                </a:solidFill>
                <a:latin typeface="Calibri"/>
              </a:rPr>
              <a:t>  ·  </a:t>
            </a:r>
            <a:r>
              <a:rPr sz="680" b="0" u="sng">
                <a:solidFill>
                  <a:srgbClr val="2F6FB2"/>
                </a:solidFill>
                <a:latin typeface="Calibri"/>
                <a:hlinkClick r:id="rId4"/>
              </a:rPr>
              <a:t>Principles 02</a:t>
            </a:r>
          </a:p>
        </p:txBody>
      </p:sp>
    </p:spTree>
    <p:extLst>
      <p:ext uri="{BB962C8B-B14F-4D97-AF65-F5344CB8AC3E}">
        <p14:creationId xmlns:p14="http://schemas.microsoft.com/office/powerpoint/2010/main" val="15863437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2834640" cy="201168"/>
          </a:xfrm>
          <a:prstGeom prst="rect">
            <a:avLst/>
          </a:prstGeom>
          <a:noFill/>
        </p:spPr>
        <p:txBody>
          <a:bodyPr wrap="square" anchor="t" lIns="0" rIns="0" tIns="0" bIns="0">
            <a:spAutoFit/>
          </a:bodyPr>
          <a:lstStyle/>
          <a:p>
            <a:pPr algn="l"/>
            <a:r>
              <a:rPr sz="819" b="0">
                <a:solidFill>
                  <a:srgbClr val="1F2D3D"/>
                </a:solidFill>
                <a:latin typeface="Consolas"/>
              </a:rPr>
              <a:t>ILLUSTRATIVE FAILURE SCENARIOS</a:t>
            </a:r>
          </a:p>
        </p:txBody>
      </p:sp>
      <p:sp>
        <p:nvSpPr>
          <p:cNvPr id="3" name="TextBox 2"/>
          <p:cNvSpPr txBox="1"/>
          <p:nvPr/>
        </p:nvSpPr>
        <p:spPr>
          <a:xfrm>
            <a:off x="10881360" y="164592"/>
            <a:ext cx="658368" cy="201168"/>
          </a:xfrm>
          <a:prstGeom prst="rect">
            <a:avLst/>
          </a:prstGeom>
          <a:noFill/>
        </p:spPr>
        <p:txBody>
          <a:bodyPr wrap="square" anchor="t" lIns="0" rIns="0" tIns="0" bIns="0">
            <a:spAutoFit/>
          </a:bodyPr>
          <a:lstStyle/>
          <a:p>
            <a:pPr algn="r"/>
            <a:r>
              <a:rPr sz="819" b="0">
                <a:solidFill>
                  <a:srgbClr val="1F2D3D"/>
                </a:solidFill>
                <a:latin typeface="Consolas"/>
              </a:rPr>
              <a:t>§ 02A</a:t>
            </a:r>
          </a:p>
        </p:txBody>
      </p:sp>
      <p:sp>
        <p:nvSpPr>
          <p:cNvPr id="4" name="TextBox 3"/>
          <p:cNvSpPr txBox="1"/>
          <p:nvPr/>
        </p:nvSpPr>
        <p:spPr>
          <a:xfrm>
            <a:off x="566928" y="649224"/>
            <a:ext cx="10607040" cy="384048"/>
          </a:xfrm>
          <a:prstGeom prst="rect">
            <a:avLst/>
          </a:prstGeom>
          <a:noFill/>
        </p:spPr>
        <p:txBody>
          <a:bodyPr wrap="square" anchor="t" lIns="0" rIns="0" tIns="0" bIns="0">
            <a:spAutoFit/>
          </a:bodyPr>
          <a:lstStyle/>
          <a:p>
            <a:pPr algn="l"/>
            <a:r>
              <a:rPr sz="2400" b="1">
                <a:solidFill>
                  <a:srgbClr val="1F2D3D"/>
                </a:solidFill>
                <a:latin typeface="Cambria"/>
              </a:rPr>
              <a:t>Six reference scenarios used to stress the corpus</a:t>
            </a:r>
          </a:p>
        </p:txBody>
      </p:sp>
      <p:sp>
        <p:nvSpPr>
          <p:cNvPr id="5" name="TextBox 4"/>
          <p:cNvSpPr txBox="1"/>
          <p:nvPr/>
        </p:nvSpPr>
        <p:spPr>
          <a:xfrm>
            <a:off x="566928" y="1078992"/>
            <a:ext cx="10607040" cy="384048"/>
          </a:xfrm>
          <a:prstGeom prst="rect">
            <a:avLst/>
          </a:prstGeom>
          <a:noFill/>
        </p:spPr>
        <p:txBody>
          <a:bodyPr wrap="square" anchor="t" lIns="0" rIns="0" tIns="0" bIns="0">
            <a:spAutoFit/>
          </a:bodyPr>
          <a:lstStyle/>
          <a:p>
            <a:pPr algn="l"/>
            <a:r>
              <a:rPr sz="1150" b="0">
                <a:solidFill>
                  <a:srgbClr val="556677"/>
                </a:solidFill>
                <a:latin typeface="Calibri"/>
              </a:rPr>
              <a:t>Controlled scenarios that make systemic failure visible even when local components still appear technically correct.</a:t>
            </a:r>
          </a:p>
        </p:txBody>
      </p:sp>
      <p:sp>
        <p:nvSpPr>
          <p:cNvPr id="6" name="TextBox 5"/>
          <p:cNvSpPr txBox="1"/>
          <p:nvPr/>
        </p:nvSpPr>
        <p:spPr>
          <a:xfrm>
            <a:off x="11064240" y="6409944"/>
            <a:ext cx="320040" cy="164592"/>
          </a:xfrm>
          <a:prstGeom prst="rect">
            <a:avLst/>
          </a:prstGeom>
          <a:noFill/>
        </p:spPr>
        <p:txBody>
          <a:bodyPr wrap="square" anchor="t" lIns="0" rIns="0" tIns="0" bIns="0">
            <a:spAutoFit/>
          </a:bodyPr>
          <a:lstStyle/>
          <a:p>
            <a:pPr algn="r"/>
            <a:r>
              <a:rPr sz="850">
                <a:solidFill>
                  <a:srgbClr val="5D6775"/>
                </a:solidFill>
                <a:latin typeface="Aptos"/>
              </a:rPr>
              <a:t>4</a:t>
            </a:r>
          </a:p>
        </p:txBody>
      </p:sp>
      <p:sp>
        <p:nvSpPr>
          <p:cNvPr id="7" name="Rounded Rectangle 6"/>
          <p:cNvSpPr/>
          <p:nvPr/>
        </p:nvSpPr>
        <p:spPr>
          <a:xfrm>
            <a:off x="658368"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4008" cy="1664208"/>
          </a:xfrm>
          <a:prstGeom prst="rect">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682496"/>
            <a:ext cx="512064" cy="146304"/>
          </a:xfrm>
          <a:prstGeom prst="rect">
            <a:avLst/>
          </a:prstGeom>
          <a:noFill/>
        </p:spPr>
        <p:txBody>
          <a:bodyPr wrap="square" anchor="t" lIns="0" rIns="0" tIns="0" bIns="0">
            <a:spAutoFit/>
          </a:bodyPr>
          <a:lstStyle/>
          <a:p>
            <a:pPr algn="l"/>
            <a:r>
              <a:rPr sz="850" b="1">
                <a:solidFill>
                  <a:srgbClr val="1B4D8E"/>
                </a:solidFill>
                <a:latin typeface="Consolas"/>
              </a:rPr>
              <a:t>00E</a:t>
            </a:r>
          </a:p>
        </p:txBody>
      </p:sp>
      <p:sp>
        <p:nvSpPr>
          <p:cNvPr id="10" name="TextBox 9"/>
          <p:cNvSpPr txBox="1"/>
          <p:nvPr/>
        </p:nvSpPr>
        <p:spPr>
          <a:xfrm>
            <a:off x="822960"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2"/>
              </a:rPr>
              <a:t>The 100 Million Token Enterprise</a:t>
            </a:r>
          </a:p>
        </p:txBody>
      </p:sp>
      <p:sp>
        <p:nvSpPr>
          <p:cNvPr id="11" name="TextBox 10"/>
          <p:cNvSpPr txBox="1"/>
          <p:nvPr/>
        </p:nvSpPr>
        <p:spPr>
          <a:xfrm>
            <a:off x="822960"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A large enterprise spends 100 million tokens and adds a heavy human-supervision burden, yet produces little useful work, insight or differential advantage.</a:t>
            </a:r>
          </a:p>
        </p:txBody>
      </p:sp>
      <p:sp>
        <p:nvSpPr>
          <p:cNvPr id="12" name="Rounded Rectangle 11"/>
          <p:cNvSpPr/>
          <p:nvPr/>
        </p:nvSpPr>
        <p:spPr>
          <a:xfrm>
            <a:off x="3959352"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9352" y="1627632"/>
            <a:ext cx="64008" cy="1664208"/>
          </a:xfrm>
          <a:prstGeom prst="rect">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7368" y="1682496"/>
            <a:ext cx="512064" cy="146304"/>
          </a:xfrm>
          <a:prstGeom prst="rect">
            <a:avLst/>
          </a:prstGeom>
          <a:noFill/>
        </p:spPr>
        <p:txBody>
          <a:bodyPr wrap="square" anchor="t" lIns="0" rIns="0" tIns="0" bIns="0">
            <a:spAutoFit/>
          </a:bodyPr>
          <a:lstStyle/>
          <a:p>
            <a:pPr algn="l"/>
            <a:r>
              <a:rPr sz="850" b="1">
                <a:solidFill>
                  <a:srgbClr val="006970"/>
                </a:solidFill>
                <a:latin typeface="Consolas"/>
              </a:rPr>
              <a:t>00F</a:t>
            </a:r>
          </a:p>
        </p:txBody>
      </p:sp>
      <p:sp>
        <p:nvSpPr>
          <p:cNvPr id="15" name="TextBox 14"/>
          <p:cNvSpPr txBox="1"/>
          <p:nvPr/>
        </p:nvSpPr>
        <p:spPr>
          <a:xfrm>
            <a:off x="4123944"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3"/>
              </a:rPr>
              <a:t>Chaos in the Smartcity</a:t>
            </a:r>
          </a:p>
        </p:txBody>
      </p:sp>
      <p:sp>
        <p:nvSpPr>
          <p:cNvPr id="16" name="TextBox 15"/>
          <p:cNvSpPr txBox="1"/>
          <p:nvPr/>
        </p:nvSpPr>
        <p:spPr>
          <a:xfrm>
            <a:off x="4123944"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Small drifts split the mobility posture: some vehicles continue normally, some reroute critically and others HOLD awaiting intervention, producing city-level chaos.</a:t>
            </a:r>
          </a:p>
        </p:txBody>
      </p:sp>
      <p:sp>
        <p:nvSpPr>
          <p:cNvPr id="17" name="Rounded Rectangle 16"/>
          <p:cNvSpPr/>
          <p:nvPr/>
        </p:nvSpPr>
        <p:spPr>
          <a:xfrm>
            <a:off x="7260336"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60336" y="1627632"/>
            <a:ext cx="64008" cy="1664208"/>
          </a:xfrm>
          <a:prstGeom prst="rect">
            <a:avLst/>
          </a:prstGeom>
          <a:solidFill>
            <a:srgbClr val="9A4C48"/>
          </a:solidFill>
          <a:ln>
            <a:solidFill>
              <a:srgbClr val="9A4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1682496"/>
            <a:ext cx="512064" cy="146304"/>
          </a:xfrm>
          <a:prstGeom prst="rect">
            <a:avLst/>
          </a:prstGeom>
          <a:noFill/>
        </p:spPr>
        <p:txBody>
          <a:bodyPr wrap="square" anchor="t" lIns="0" rIns="0" tIns="0" bIns="0">
            <a:spAutoFit/>
          </a:bodyPr>
          <a:lstStyle/>
          <a:p>
            <a:pPr algn="l"/>
            <a:r>
              <a:rPr sz="850" b="1">
                <a:solidFill>
                  <a:srgbClr val="9A4C48"/>
                </a:solidFill>
                <a:latin typeface="Consolas"/>
              </a:rPr>
              <a:t>00G</a:t>
            </a:r>
          </a:p>
        </p:txBody>
      </p:sp>
      <p:sp>
        <p:nvSpPr>
          <p:cNvPr id="20" name="TextBox 19"/>
          <p:cNvSpPr txBox="1"/>
          <p:nvPr/>
        </p:nvSpPr>
        <p:spPr>
          <a:xfrm>
            <a:off x="7424928"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4"/>
              </a:rPr>
              <a:t>Ciber Napoleon Goes to Russia</a:t>
            </a:r>
          </a:p>
        </p:txBody>
      </p:sp>
      <p:sp>
        <p:nvSpPr>
          <p:cNvPr id="21" name="TextBox 20"/>
          <p:cNvSpPr txBox="1"/>
          <p:nvPr/>
        </p:nvSpPr>
        <p:spPr>
          <a:xfrm>
            <a:off x="7424928"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A false shared frame spreads across robots or agents until the still-valid local mission is displaced by a collectively reinforced but unsupported interpretation.</a:t>
            </a:r>
          </a:p>
        </p:txBody>
      </p:sp>
      <p:sp>
        <p:nvSpPr>
          <p:cNvPr id="22" name="Rounded Rectangle 21"/>
          <p:cNvSpPr/>
          <p:nvPr/>
        </p:nvSpPr>
        <p:spPr>
          <a:xfrm>
            <a:off x="658368"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675887"/>
            <a:ext cx="64008" cy="1664208"/>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730751"/>
            <a:ext cx="512064" cy="146304"/>
          </a:xfrm>
          <a:prstGeom prst="rect">
            <a:avLst/>
          </a:prstGeom>
          <a:noFill/>
        </p:spPr>
        <p:txBody>
          <a:bodyPr wrap="square" anchor="t" lIns="0" rIns="0" tIns="0" bIns="0">
            <a:spAutoFit/>
          </a:bodyPr>
          <a:lstStyle/>
          <a:p>
            <a:pPr algn="l"/>
            <a:r>
              <a:rPr sz="850" b="1">
                <a:solidFill>
                  <a:srgbClr val="6A4C93"/>
                </a:solidFill>
                <a:latin typeface="Consolas"/>
              </a:rPr>
              <a:t>00H</a:t>
            </a:r>
          </a:p>
        </p:txBody>
      </p:sp>
      <p:sp>
        <p:nvSpPr>
          <p:cNvPr id="25" name="TextBox 24"/>
          <p:cNvSpPr txBox="1"/>
          <p:nvPr/>
        </p:nvSpPr>
        <p:spPr>
          <a:xfrm>
            <a:off x="822960"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5"/>
              </a:rPr>
              <a:t>The Quiet Four Thousand</a:t>
            </a:r>
          </a:p>
        </p:txBody>
      </p:sp>
      <p:sp>
        <p:nvSpPr>
          <p:cNvPr id="26" name="TextBox 25"/>
          <p:cNvSpPr txBox="1"/>
          <p:nvPr/>
        </p:nvSpPr>
        <p:spPr>
          <a:xfrm>
            <a:off x="822960"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one-case mandate or compromised helpdesk orchestration can turn local validity into 4,000 refunds — or silently lose a genuine 4,000-customer finding.</a:t>
            </a:r>
          </a:p>
        </p:txBody>
      </p:sp>
      <p:sp>
        <p:nvSpPr>
          <p:cNvPr id="27" name="Rounded Rectangle 26"/>
          <p:cNvSpPr/>
          <p:nvPr/>
        </p:nvSpPr>
        <p:spPr>
          <a:xfrm>
            <a:off x="3959352"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59352" y="3675887"/>
            <a:ext cx="64008" cy="1664208"/>
          </a:xfrm>
          <a:prstGeom prst="rect">
            <a:avLst/>
          </a:prstGeom>
          <a:solidFill>
            <a:srgbClr val="4F7A28"/>
          </a:solidFill>
          <a:ln>
            <a:solidFill>
              <a:srgbClr val="4F7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7368" y="3730751"/>
            <a:ext cx="512064" cy="146304"/>
          </a:xfrm>
          <a:prstGeom prst="rect">
            <a:avLst/>
          </a:prstGeom>
          <a:noFill/>
        </p:spPr>
        <p:txBody>
          <a:bodyPr wrap="square" anchor="t" lIns="0" rIns="0" tIns="0" bIns="0">
            <a:spAutoFit/>
          </a:bodyPr>
          <a:lstStyle/>
          <a:p>
            <a:pPr algn="l"/>
            <a:r>
              <a:rPr sz="850" b="1">
                <a:solidFill>
                  <a:srgbClr val="4F7A28"/>
                </a:solidFill>
                <a:latin typeface="Consolas"/>
              </a:rPr>
              <a:t>00I</a:t>
            </a:r>
          </a:p>
        </p:txBody>
      </p:sp>
      <p:sp>
        <p:nvSpPr>
          <p:cNvPr id="30" name="TextBox 29"/>
          <p:cNvSpPr txBox="1"/>
          <p:nvPr/>
        </p:nvSpPr>
        <p:spPr>
          <a:xfrm>
            <a:off x="4123944"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6"/>
              </a:rPr>
              <a:t>The Patch That Undid the Fix</a:t>
            </a:r>
          </a:p>
        </p:txBody>
      </p:sp>
      <p:sp>
        <p:nvSpPr>
          <p:cNvPr id="31" name="TextBox 30"/>
          <p:cNvSpPr txBox="1"/>
          <p:nvPr/>
        </p:nvSpPr>
        <p:spPr>
          <a:xfrm>
            <a:off x="4123944"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delayed but once-valid remediation action executes after a later repair and undoes the newer fix, even though each local action remains technically valid.</a:t>
            </a:r>
          </a:p>
        </p:txBody>
      </p:sp>
      <p:sp>
        <p:nvSpPr>
          <p:cNvPr id="32" name="Rounded Rectangle 31"/>
          <p:cNvSpPr/>
          <p:nvPr/>
        </p:nvSpPr>
        <p:spPr>
          <a:xfrm>
            <a:off x="7260336"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60336" y="3675887"/>
            <a:ext cx="64008" cy="1664208"/>
          </a:xfrm>
          <a:prstGeom prst="rect">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88352" y="3730751"/>
            <a:ext cx="512064" cy="146304"/>
          </a:xfrm>
          <a:prstGeom prst="rect">
            <a:avLst/>
          </a:prstGeom>
          <a:noFill/>
        </p:spPr>
        <p:txBody>
          <a:bodyPr wrap="square" anchor="t" lIns="0" rIns="0" tIns="0" bIns="0">
            <a:spAutoFit/>
          </a:bodyPr>
          <a:lstStyle/>
          <a:p>
            <a:pPr algn="l"/>
            <a:r>
              <a:rPr sz="850" b="1">
                <a:solidFill>
                  <a:srgbClr val="C47400"/>
                </a:solidFill>
                <a:latin typeface="Consolas"/>
              </a:rPr>
              <a:t>00J</a:t>
            </a:r>
          </a:p>
        </p:txBody>
      </p:sp>
      <p:sp>
        <p:nvSpPr>
          <p:cNvPr id="35" name="TextBox 34"/>
          <p:cNvSpPr txBox="1"/>
          <p:nvPr/>
        </p:nvSpPr>
        <p:spPr>
          <a:xfrm>
            <a:off x="7424928"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7"/>
              </a:rPr>
              <a:t>The Author Pays for His Own Work</a:t>
            </a:r>
          </a:p>
        </p:txBody>
      </p:sp>
      <p:sp>
        <p:nvSpPr>
          <p:cNvPr id="36" name="TextBox 35"/>
          <p:cNvSpPr txBox="1"/>
          <p:nvPr/>
        </p:nvSpPr>
        <p:spPr>
          <a:xfrm>
            <a:off x="7424928"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valid rights chain is promoted beyond its original scope until the downstream system treats the author as needing permission or payment for derived use of their own work.</a:t>
            </a:r>
          </a:p>
        </p:txBody>
      </p:sp>
      <p:sp>
        <p:nvSpPr>
          <p:cNvPr id="37" name="Rounded Rectangle 36"/>
          <p:cNvSpPr/>
          <p:nvPr/>
        </p:nvSpPr>
        <p:spPr>
          <a:xfrm>
            <a:off x="658368" y="6035040"/>
            <a:ext cx="10853928" cy="411480"/>
          </a:xfrm>
          <a:prstGeom prst="roundRect">
            <a:avLst/>
          </a:prstGeom>
          <a:solidFill>
            <a:srgbClr val="F2F5F8"/>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6144768"/>
            <a:ext cx="10561320" cy="146304"/>
          </a:xfrm>
          <a:prstGeom prst="rect">
            <a:avLst/>
          </a:prstGeom>
          <a:noFill/>
        </p:spPr>
        <p:txBody>
          <a:bodyPr wrap="square" anchor="t" lIns="0" rIns="0" tIns="0" bIns="0">
            <a:spAutoFit/>
          </a:bodyPr>
          <a:lstStyle/>
          <a:p>
            <a:pPr algn="l"/>
            <a:r>
              <a:rPr sz="900" b="0">
                <a:solidFill>
                  <a:srgbClr val="1F2D3D"/>
                </a:solidFill>
                <a:latin typeface="Calibri"/>
              </a:rPr>
              <a:t>These are reference scenarios for controlled comparison. They are not claims that the named products or vendors caused the failures.</a:t>
            </a:r>
          </a:p>
        </p:txBody>
      </p:sp>
      <p:sp>
        <p:nvSpPr>
          <p:cNvPr id="39" name="TextBox 3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8"/>
              </a:rPr>
              <a:t>Scenario &amp; quality-plan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2834640" cy="201168"/>
          </a:xfrm>
          <a:prstGeom prst="rect">
            <a:avLst/>
          </a:prstGeom>
          <a:noFill/>
        </p:spPr>
        <p:txBody>
          <a:bodyPr wrap="square" anchor="t" lIns="0" rIns="0" tIns="0" bIns="0">
            <a:spAutoFit/>
          </a:bodyPr>
          <a:lstStyle/>
          <a:p>
            <a:pPr algn="l"/>
            <a:r>
              <a:rPr sz="819" b="0">
                <a:solidFill>
                  <a:srgbClr val="1F2D3D"/>
                </a:solidFill>
                <a:latin typeface="Consolas"/>
              </a:rPr>
              <a:t>TECHNOLOGY PROFILES &amp; VALIDATION TRAJECTORIES</a:t>
            </a:r>
          </a:p>
        </p:txBody>
      </p:sp>
      <p:sp>
        <p:nvSpPr>
          <p:cNvPr id="3" name="TextBox 2"/>
          <p:cNvSpPr txBox="1"/>
          <p:nvPr/>
        </p:nvSpPr>
        <p:spPr>
          <a:xfrm>
            <a:off x="10881360" y="164592"/>
            <a:ext cx="658368" cy="201168"/>
          </a:xfrm>
          <a:prstGeom prst="rect">
            <a:avLst/>
          </a:prstGeom>
          <a:noFill/>
        </p:spPr>
        <p:txBody>
          <a:bodyPr wrap="square" anchor="t" lIns="0" rIns="0" tIns="0" bIns="0">
            <a:spAutoFit/>
          </a:bodyPr>
          <a:lstStyle/>
          <a:p>
            <a:pPr algn="r"/>
            <a:r>
              <a:rPr sz="819" b="0">
                <a:solidFill>
                  <a:srgbClr val="1F2D3D"/>
                </a:solidFill>
                <a:latin typeface="Consolas"/>
              </a:rPr>
              <a:t>§ 02B</a:t>
            </a:r>
          </a:p>
        </p:txBody>
      </p:sp>
      <p:sp>
        <p:nvSpPr>
          <p:cNvPr id="4" name="TextBox 3"/>
          <p:cNvSpPr txBox="1"/>
          <p:nvPr/>
        </p:nvSpPr>
        <p:spPr>
          <a:xfrm>
            <a:off x="566928" y="649224"/>
            <a:ext cx="10607040" cy="384048"/>
          </a:xfrm>
          <a:prstGeom prst="rect">
            <a:avLst/>
          </a:prstGeom>
          <a:noFill/>
        </p:spPr>
        <p:txBody>
          <a:bodyPr wrap="square" anchor="t" lIns="0" rIns="0" tIns="0" bIns="0">
            <a:spAutoFit/>
          </a:bodyPr>
          <a:lstStyle/>
          <a:p>
            <a:pPr algn="l"/>
            <a:r>
              <a:rPr sz="2400" b="1">
                <a:solidFill>
                  <a:srgbClr val="1F2D3D"/>
                </a:solidFill>
                <a:latin typeface="Cambria"/>
              </a:rPr>
              <a:t>Technology used in the scenario routes and the three validation trajectories</a:t>
            </a:r>
          </a:p>
        </p:txBody>
      </p:sp>
      <p:sp>
        <p:nvSpPr>
          <p:cNvPr id="5" name="TextBox 4"/>
          <p:cNvSpPr txBox="1"/>
          <p:nvPr/>
        </p:nvSpPr>
        <p:spPr>
          <a:xfrm>
            <a:off x="566928" y="1078992"/>
            <a:ext cx="10607040" cy="384048"/>
          </a:xfrm>
          <a:prstGeom prst="rect">
            <a:avLst/>
          </a:prstGeom>
          <a:noFill/>
        </p:spPr>
        <p:txBody>
          <a:bodyPr wrap="square" anchor="t" lIns="0" rIns="0" tIns="0" bIns="0">
            <a:spAutoFit/>
          </a:bodyPr>
          <a:lstStyle/>
          <a:p>
            <a:pPr algn="l"/>
            <a:r>
              <a:rPr sz="1150" b="0">
                <a:solidFill>
                  <a:srgbClr val="556677"/>
                </a:solidFill>
                <a:latin typeface="Calibri"/>
              </a:rPr>
              <a:t>The corpus benchmarks named architectures, then compares standard, defended and drifted implementations under the same frozen scenario boundaries.</a:t>
            </a:r>
          </a:p>
        </p:txBody>
      </p:sp>
      <p:sp>
        <p:nvSpPr>
          <p:cNvPr id="6" name="TextBox 5"/>
          <p:cNvSpPr txBox="1"/>
          <p:nvPr/>
        </p:nvSpPr>
        <p:spPr>
          <a:xfrm>
            <a:off x="11064240" y="6409944"/>
            <a:ext cx="320040" cy="164592"/>
          </a:xfrm>
          <a:prstGeom prst="rect">
            <a:avLst/>
          </a:prstGeom>
          <a:noFill/>
        </p:spPr>
        <p:txBody>
          <a:bodyPr wrap="square" anchor="t" lIns="0" rIns="0" tIns="0" bIns="0">
            <a:spAutoFit/>
          </a:bodyPr>
          <a:lstStyle/>
          <a:p>
            <a:pPr algn="r"/>
            <a:r>
              <a:rPr sz="850">
                <a:solidFill>
                  <a:srgbClr val="5D6775"/>
                </a:solidFill>
                <a:latin typeface="Aptos"/>
              </a:rPr>
              <a:t>5</a:t>
            </a:r>
          </a:p>
        </p:txBody>
      </p:sp>
      <p:sp>
        <p:nvSpPr>
          <p:cNvPr id="7" name="Rounded Rectangle 6"/>
          <p:cNvSpPr/>
          <p:nvPr/>
        </p:nvSpPr>
        <p:spPr>
          <a:xfrm>
            <a:off x="658368" y="1600200"/>
            <a:ext cx="10853928" cy="301752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19072"/>
            <a:ext cx="3108960" cy="182880"/>
          </a:xfrm>
          <a:prstGeom prst="rect">
            <a:avLst/>
          </a:prstGeom>
          <a:noFill/>
        </p:spPr>
        <p:txBody>
          <a:bodyPr wrap="square" anchor="t" lIns="0" rIns="0" tIns="0" bIns="0">
            <a:spAutoFit/>
          </a:bodyPr>
          <a:lstStyle/>
          <a:p>
            <a:pPr algn="l"/>
            <a:r>
              <a:rPr sz="860" b="1">
                <a:solidFill>
                  <a:srgbClr val="1F2D3D"/>
                </a:solidFill>
                <a:latin typeface="Consolas"/>
              </a:rPr>
              <a:t>TECHNOLOGY PROFILES USED IN THE ROUTES</a:t>
            </a:r>
          </a:p>
        </p:txBody>
      </p:sp>
      <p:sp>
        <p:nvSpPr>
          <p:cNvPr id="9" name="Rectangle 8"/>
          <p:cNvSpPr/>
          <p:nvPr/>
        </p:nvSpPr>
        <p:spPr>
          <a:xfrm>
            <a:off x="877824" y="2011680"/>
            <a:ext cx="45720" cy="457200"/>
          </a:xfrm>
          <a:prstGeom prst="rect">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93392"/>
            <a:ext cx="2560320" cy="164592"/>
          </a:xfrm>
          <a:prstGeom prst="rect">
            <a:avLst/>
          </a:prstGeom>
          <a:noFill/>
        </p:spPr>
        <p:txBody>
          <a:bodyPr wrap="square" anchor="t" lIns="0" rIns="0" tIns="0" bIns="0">
            <a:spAutoFit/>
          </a:bodyPr>
          <a:lstStyle/>
          <a:p>
            <a:pPr algn="l"/>
            <a:r>
              <a:rPr sz="1120" b="1">
                <a:solidFill>
                  <a:srgbClr val="1F2D3D"/>
                </a:solidFill>
                <a:latin typeface="Cambria"/>
              </a:rPr>
              <a:t>00E  The 100 Million Tokens</a:t>
            </a:r>
          </a:p>
        </p:txBody>
      </p:sp>
      <p:sp>
        <p:nvSpPr>
          <p:cNvPr id="11" name="TextBox 10"/>
          <p:cNvSpPr txBox="1"/>
          <p:nvPr/>
        </p:nvSpPr>
        <p:spPr>
          <a:xfrm>
            <a:off x="969264" y="217627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2"/>
              </a:rPr>
              <a:t>Microsoft Agent 365</a:t>
            </a:r>
            <a:r>
              <a:rPr sz="950" b="0">
                <a:solidFill>
                  <a:srgbClr val="1F2D3D"/>
                </a:solidFill>
                <a:latin typeface="Calibri"/>
              </a:rPr>
              <a:t> · </a:t>
            </a:r>
            <a:r>
              <a:rPr sz="950" b="0">
                <a:solidFill>
                  <a:srgbClr val="1F2D3D"/>
                </a:solidFill>
                <a:latin typeface="Calibri"/>
                <a:hlinkClick r:id="rId3"/>
              </a:rPr>
              <a:t>LangGraph / LangSmith</a:t>
            </a:r>
          </a:p>
        </p:txBody>
      </p:sp>
      <p:sp>
        <p:nvSpPr>
          <p:cNvPr id="12" name="Rectangle 11"/>
          <p:cNvSpPr/>
          <p:nvPr/>
        </p:nvSpPr>
        <p:spPr>
          <a:xfrm>
            <a:off x="877824" y="2743200"/>
            <a:ext cx="45720" cy="457200"/>
          </a:xfrm>
          <a:prstGeom prst="rect">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724912"/>
            <a:ext cx="2560320" cy="164592"/>
          </a:xfrm>
          <a:prstGeom prst="rect">
            <a:avLst/>
          </a:prstGeom>
          <a:noFill/>
        </p:spPr>
        <p:txBody>
          <a:bodyPr wrap="square" anchor="t" lIns="0" rIns="0" tIns="0" bIns="0">
            <a:spAutoFit/>
          </a:bodyPr>
          <a:lstStyle/>
          <a:p>
            <a:pPr algn="l"/>
            <a:r>
              <a:rPr sz="1120" b="1">
                <a:solidFill>
                  <a:srgbClr val="1F2D3D"/>
                </a:solidFill>
                <a:latin typeface="Cambria"/>
              </a:rPr>
              <a:t>00F  Chaos in the Smartcity</a:t>
            </a:r>
          </a:p>
        </p:txBody>
      </p:sp>
      <p:sp>
        <p:nvSpPr>
          <p:cNvPr id="14" name="TextBox 13"/>
          <p:cNvSpPr txBox="1"/>
          <p:nvPr/>
        </p:nvSpPr>
        <p:spPr>
          <a:xfrm>
            <a:off x="969264" y="290779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4"/>
              </a:rPr>
              <a:t>FIWARE NGSI-LD / Orion-LD</a:t>
            </a:r>
            <a:r>
              <a:rPr sz="950" b="0">
                <a:solidFill>
                  <a:srgbClr val="1F2D3D"/>
                </a:solidFill>
                <a:latin typeface="Calibri"/>
              </a:rPr>
              <a:t> · </a:t>
            </a:r>
            <a:r>
              <a:rPr sz="950" b="0">
                <a:solidFill>
                  <a:srgbClr val="1F2D3D"/>
                </a:solidFill>
                <a:latin typeface="Calibri"/>
                <a:hlinkClick r:id="rId5"/>
              </a:rPr>
              <a:t>AWS IoT Core / TwinMaker</a:t>
            </a:r>
          </a:p>
        </p:txBody>
      </p:sp>
      <p:sp>
        <p:nvSpPr>
          <p:cNvPr id="15" name="Rectangle 14"/>
          <p:cNvSpPr/>
          <p:nvPr/>
        </p:nvSpPr>
        <p:spPr>
          <a:xfrm>
            <a:off x="877824" y="3474720"/>
            <a:ext cx="45720" cy="457200"/>
          </a:xfrm>
          <a:prstGeom prst="rect">
            <a:avLst/>
          </a:prstGeom>
          <a:solidFill>
            <a:srgbClr val="9A4C48"/>
          </a:solidFill>
          <a:ln>
            <a:solidFill>
              <a:srgbClr val="9A4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456432"/>
            <a:ext cx="2560320" cy="164592"/>
          </a:xfrm>
          <a:prstGeom prst="rect">
            <a:avLst/>
          </a:prstGeom>
          <a:noFill/>
        </p:spPr>
        <p:txBody>
          <a:bodyPr wrap="square" anchor="t" lIns="0" rIns="0" tIns="0" bIns="0">
            <a:spAutoFit/>
          </a:bodyPr>
          <a:lstStyle/>
          <a:p>
            <a:pPr algn="l"/>
            <a:r>
              <a:rPr sz="1120" b="1">
                <a:solidFill>
                  <a:srgbClr val="1F2D3D"/>
                </a:solidFill>
                <a:latin typeface="Cambria"/>
              </a:rPr>
              <a:t>00G  Ciber Napoleon Goes to Russia</a:t>
            </a:r>
          </a:p>
        </p:txBody>
      </p:sp>
      <p:sp>
        <p:nvSpPr>
          <p:cNvPr id="17" name="TextBox 16"/>
          <p:cNvSpPr txBox="1"/>
          <p:nvPr/>
        </p:nvSpPr>
        <p:spPr>
          <a:xfrm>
            <a:off x="969264" y="363931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6"/>
              </a:rPr>
              <a:t>OpenAI Agents SDK / Agents API / Responses multi-agent stack</a:t>
            </a:r>
          </a:p>
        </p:txBody>
      </p:sp>
      <p:sp>
        <p:nvSpPr>
          <p:cNvPr id="18" name="Rectangle 17"/>
          <p:cNvSpPr/>
          <p:nvPr/>
        </p:nvSpPr>
        <p:spPr>
          <a:xfrm>
            <a:off x="5989320" y="2011680"/>
            <a:ext cx="45720" cy="457200"/>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1993392"/>
            <a:ext cx="2560320" cy="164592"/>
          </a:xfrm>
          <a:prstGeom prst="rect">
            <a:avLst/>
          </a:prstGeom>
          <a:noFill/>
        </p:spPr>
        <p:txBody>
          <a:bodyPr wrap="square" anchor="t" lIns="0" rIns="0" tIns="0" bIns="0">
            <a:spAutoFit/>
          </a:bodyPr>
          <a:lstStyle/>
          <a:p>
            <a:pPr algn="l"/>
            <a:r>
              <a:rPr sz="1120" b="1">
                <a:solidFill>
                  <a:srgbClr val="1F2D3D"/>
                </a:solidFill>
                <a:latin typeface="Cambria"/>
              </a:rPr>
              <a:t>00H  The Quiet Four Thousand</a:t>
            </a:r>
          </a:p>
        </p:txBody>
      </p:sp>
      <p:sp>
        <p:nvSpPr>
          <p:cNvPr id="20" name="TextBox 19"/>
          <p:cNvSpPr txBox="1"/>
          <p:nvPr/>
        </p:nvSpPr>
        <p:spPr>
          <a:xfrm>
            <a:off x="6080760" y="217627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7"/>
              </a:rPr>
              <a:t>Claude Agent SDK</a:t>
            </a:r>
            <a:r>
              <a:rPr sz="950" b="0">
                <a:solidFill>
                  <a:srgbClr val="1F2D3D"/>
                </a:solidFill>
                <a:latin typeface="Calibri"/>
              </a:rPr>
              <a:t> · </a:t>
            </a:r>
            <a:r>
              <a:rPr sz="950" b="0">
                <a:solidFill>
                  <a:srgbClr val="1F2D3D"/>
                </a:solidFill>
                <a:latin typeface="Calibri"/>
                <a:hlinkClick r:id="rId8"/>
              </a:rPr>
              <a:t>Stripe Radar / Refund API</a:t>
            </a:r>
          </a:p>
        </p:txBody>
      </p:sp>
      <p:sp>
        <p:nvSpPr>
          <p:cNvPr id="21" name="Rectangle 20"/>
          <p:cNvSpPr/>
          <p:nvPr/>
        </p:nvSpPr>
        <p:spPr>
          <a:xfrm>
            <a:off x="5989320" y="2743200"/>
            <a:ext cx="45720" cy="457200"/>
          </a:xfrm>
          <a:prstGeom prst="rect">
            <a:avLst/>
          </a:prstGeom>
          <a:solidFill>
            <a:srgbClr val="4F7A28"/>
          </a:solidFill>
          <a:ln>
            <a:solidFill>
              <a:srgbClr val="4F7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0" y="2724912"/>
            <a:ext cx="2560320" cy="164592"/>
          </a:xfrm>
          <a:prstGeom prst="rect">
            <a:avLst/>
          </a:prstGeom>
          <a:noFill/>
        </p:spPr>
        <p:txBody>
          <a:bodyPr wrap="square" anchor="t" lIns="0" rIns="0" tIns="0" bIns="0">
            <a:spAutoFit/>
          </a:bodyPr>
          <a:lstStyle/>
          <a:p>
            <a:pPr algn="l"/>
            <a:r>
              <a:rPr sz="1120" b="1">
                <a:solidFill>
                  <a:srgbClr val="1F2D3D"/>
                </a:solidFill>
                <a:latin typeface="Cambria"/>
              </a:rPr>
              <a:t>00I  Patch That Undid the Fix</a:t>
            </a:r>
          </a:p>
        </p:txBody>
      </p:sp>
      <p:sp>
        <p:nvSpPr>
          <p:cNvPr id="23" name="TextBox 22"/>
          <p:cNvSpPr txBox="1"/>
          <p:nvPr/>
        </p:nvSpPr>
        <p:spPr>
          <a:xfrm>
            <a:off x="6080760" y="290779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9"/>
              </a:rPr>
              <a:t>AWS Step Functions · RDS · Lambda / SDK · SSM · DynamoDB · EventBridge</a:t>
            </a:r>
          </a:p>
        </p:txBody>
      </p:sp>
      <p:sp>
        <p:nvSpPr>
          <p:cNvPr id="24" name="Rectangle 23"/>
          <p:cNvSpPr/>
          <p:nvPr/>
        </p:nvSpPr>
        <p:spPr>
          <a:xfrm>
            <a:off x="5989320" y="3474720"/>
            <a:ext cx="45720" cy="457200"/>
          </a:xfrm>
          <a:prstGeom prst="rect">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3456432"/>
            <a:ext cx="2560320" cy="164592"/>
          </a:xfrm>
          <a:prstGeom prst="rect">
            <a:avLst/>
          </a:prstGeom>
          <a:noFill/>
        </p:spPr>
        <p:txBody>
          <a:bodyPr wrap="square" anchor="t" lIns="0" rIns="0" tIns="0" bIns="0">
            <a:spAutoFit/>
          </a:bodyPr>
          <a:lstStyle/>
          <a:p>
            <a:pPr algn="l"/>
            <a:r>
              <a:rPr sz="1120" b="1">
                <a:solidFill>
                  <a:srgbClr val="1F2D3D"/>
                </a:solidFill>
                <a:latin typeface="Cambria"/>
              </a:rPr>
              <a:t>00J  Author Pays for Own Work</a:t>
            </a:r>
          </a:p>
        </p:txBody>
      </p:sp>
      <p:sp>
        <p:nvSpPr>
          <p:cNvPr id="26" name="TextBox 25"/>
          <p:cNvSpPr txBox="1"/>
          <p:nvPr/>
        </p:nvSpPr>
        <p:spPr>
          <a:xfrm>
            <a:off x="6080760" y="363931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10"/>
              </a:rPr>
              <a:t>Panodyssey AI Transparency Notice · ODRL / JSON-LD · TEMS</a:t>
            </a:r>
          </a:p>
        </p:txBody>
      </p:sp>
      <p:sp>
        <p:nvSpPr>
          <p:cNvPr id="27" name="TextBox 26"/>
          <p:cNvSpPr txBox="1"/>
          <p:nvPr/>
        </p:nvSpPr>
        <p:spPr>
          <a:xfrm>
            <a:off x="841248" y="4773168"/>
            <a:ext cx="3017520" cy="182880"/>
          </a:xfrm>
          <a:prstGeom prst="rect">
            <a:avLst/>
          </a:prstGeom>
          <a:noFill/>
        </p:spPr>
        <p:txBody>
          <a:bodyPr wrap="square" anchor="t" lIns="0" rIns="0" tIns="0" bIns="0">
            <a:spAutoFit/>
          </a:bodyPr>
          <a:lstStyle/>
          <a:p>
            <a:pPr algn="l"/>
            <a:r>
              <a:rPr sz="860" b="1">
                <a:solidFill>
                  <a:srgbClr val="1F2D3D"/>
                </a:solidFill>
                <a:latin typeface="Consolas"/>
                <a:hlinkClick r:id="rId11"/>
              </a:rPr>
              <a:t>THREE VALIDATION TRAJECTORIES</a:t>
            </a:r>
          </a:p>
        </p:txBody>
      </p:sp>
      <p:sp>
        <p:nvSpPr>
          <p:cNvPr id="28" name="Rounded Rectangle 27"/>
          <p:cNvSpPr/>
          <p:nvPr/>
        </p:nvSpPr>
        <p:spPr>
          <a:xfrm>
            <a:off x="658368"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86384" y="5148072"/>
            <a:ext cx="365760" cy="365760"/>
          </a:xfrm>
          <a:prstGeom prst="ellipse">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1</a:t>
            </a:r>
          </a:p>
        </p:txBody>
      </p:sp>
      <p:sp>
        <p:nvSpPr>
          <p:cNvPr id="31" name="TextBox 30"/>
          <p:cNvSpPr txBox="1"/>
          <p:nvPr/>
        </p:nvSpPr>
        <p:spPr>
          <a:xfrm>
            <a:off x="1225296" y="5074920"/>
            <a:ext cx="2816352" cy="182880"/>
          </a:xfrm>
          <a:prstGeom prst="rect">
            <a:avLst/>
          </a:prstGeom>
          <a:noFill/>
        </p:spPr>
        <p:txBody>
          <a:bodyPr wrap="square" anchor="t" lIns="0" rIns="0" tIns="0" bIns="0">
            <a:spAutoFit/>
          </a:bodyPr>
          <a:lstStyle/>
          <a:p>
            <a:pPr algn="l"/>
            <a:r>
              <a:rPr sz="1070" b="1">
                <a:solidFill>
                  <a:srgbClr val="1F2D3D"/>
                </a:solidFill>
                <a:latin typeface="Cambria"/>
              </a:rPr>
              <a:t>Standard implementation</a:t>
            </a:r>
          </a:p>
        </p:txBody>
      </p:sp>
      <p:sp>
        <p:nvSpPr>
          <p:cNvPr id="32" name="TextBox 31"/>
          <p:cNvSpPr txBox="1"/>
          <p:nvPr/>
        </p:nvSpPr>
        <p:spPr>
          <a:xfrm>
            <a:off x="1225296" y="5285232"/>
            <a:ext cx="2697480" cy="457200"/>
          </a:xfrm>
          <a:prstGeom prst="rect">
            <a:avLst/>
          </a:prstGeom>
          <a:noFill/>
        </p:spPr>
        <p:txBody>
          <a:bodyPr wrap="square" anchor="t" lIns="0" rIns="0" tIns="0" bIns="0">
            <a:spAutoFit/>
          </a:bodyPr>
          <a:lstStyle/>
          <a:p>
            <a:pPr algn="l"/>
            <a:r>
              <a:rPr sz="890" b="0">
                <a:solidFill>
                  <a:srgbClr val="1F2D3D"/>
                </a:solidFill>
                <a:latin typeface="Calibri"/>
              </a:rPr>
              <a:t>Conventional or near out-of-the-box implementation using the normal controls available to the technology.</a:t>
            </a:r>
          </a:p>
        </p:txBody>
      </p:sp>
      <p:sp>
        <p:nvSpPr>
          <p:cNvPr id="33" name="Rounded Rectangle 32"/>
          <p:cNvSpPr/>
          <p:nvPr/>
        </p:nvSpPr>
        <p:spPr>
          <a:xfrm>
            <a:off x="4389120"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17136" y="5148072"/>
            <a:ext cx="365760" cy="365760"/>
          </a:xfrm>
          <a:prstGeom prst="ellipse">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2</a:t>
            </a:r>
          </a:p>
        </p:txBody>
      </p:sp>
      <p:sp>
        <p:nvSpPr>
          <p:cNvPr id="36" name="TextBox 35"/>
          <p:cNvSpPr txBox="1"/>
          <p:nvPr/>
        </p:nvSpPr>
        <p:spPr>
          <a:xfrm>
            <a:off x="4956048" y="5074920"/>
            <a:ext cx="2816352" cy="182880"/>
          </a:xfrm>
          <a:prstGeom prst="rect">
            <a:avLst/>
          </a:prstGeom>
          <a:noFill/>
        </p:spPr>
        <p:txBody>
          <a:bodyPr wrap="square" anchor="t" lIns="0" rIns="0" tIns="0" bIns="0">
            <a:spAutoFit/>
          </a:bodyPr>
          <a:lstStyle/>
          <a:p>
            <a:pPr algn="l"/>
            <a:r>
              <a:rPr sz="1070" b="1">
                <a:solidFill>
                  <a:srgbClr val="1F2D3D"/>
                </a:solidFill>
                <a:latin typeface="Cambria"/>
              </a:rPr>
              <a:t>Defended / top-notch implementation</a:t>
            </a:r>
          </a:p>
        </p:txBody>
      </p:sp>
      <p:sp>
        <p:nvSpPr>
          <p:cNvPr id="37" name="TextBox 36"/>
          <p:cNvSpPr txBox="1"/>
          <p:nvPr/>
        </p:nvSpPr>
        <p:spPr>
          <a:xfrm>
            <a:off x="4956048" y="5285232"/>
            <a:ext cx="2697480" cy="457200"/>
          </a:xfrm>
          <a:prstGeom prst="rect">
            <a:avLst/>
          </a:prstGeom>
          <a:noFill/>
        </p:spPr>
        <p:txBody>
          <a:bodyPr wrap="square" anchor="t" lIns="0" rIns="0" tIns="0" bIns="0">
            <a:spAutoFit/>
          </a:bodyPr>
          <a:lstStyle/>
          <a:p>
            <a:pPr algn="l"/>
            <a:r>
              <a:rPr sz="890" b="0">
                <a:solidFill>
                  <a:srgbClr val="1F2D3D"/>
                </a:solidFill>
                <a:latin typeface="Calibri"/>
              </a:rPr>
              <a:t>Strong implementation with explicit controls, supervision, authority boundaries, tracing and current best practices.</a:t>
            </a:r>
          </a:p>
        </p:txBody>
      </p:sp>
      <p:sp>
        <p:nvSpPr>
          <p:cNvPr id="38" name="Rounded Rectangle 37"/>
          <p:cNvSpPr/>
          <p:nvPr/>
        </p:nvSpPr>
        <p:spPr>
          <a:xfrm>
            <a:off x="8119872"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47888" y="5148072"/>
            <a:ext cx="365760" cy="365760"/>
          </a:xfrm>
          <a:prstGeom prst="ellipse">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8"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3</a:t>
            </a:r>
          </a:p>
        </p:txBody>
      </p:sp>
      <p:sp>
        <p:nvSpPr>
          <p:cNvPr id="41" name="TextBox 40"/>
          <p:cNvSpPr txBox="1"/>
          <p:nvPr/>
        </p:nvSpPr>
        <p:spPr>
          <a:xfrm>
            <a:off x="8686800" y="5074920"/>
            <a:ext cx="2816352" cy="182880"/>
          </a:xfrm>
          <a:prstGeom prst="rect">
            <a:avLst/>
          </a:prstGeom>
          <a:noFill/>
        </p:spPr>
        <p:txBody>
          <a:bodyPr wrap="square" anchor="t" lIns="0" rIns="0" tIns="0" bIns="0">
            <a:spAutoFit/>
          </a:bodyPr>
          <a:lstStyle/>
          <a:p>
            <a:pPr algn="l"/>
            <a:r>
              <a:rPr sz="1019" b="1">
                <a:solidFill>
                  <a:srgbClr val="1F2D3D"/>
                </a:solidFill>
                <a:latin typeface="Cambria"/>
              </a:rPr>
              <a:t>Frozen defended implementation under drift</a:t>
            </a:r>
          </a:p>
        </p:txBody>
      </p:sp>
      <p:sp>
        <p:nvSpPr>
          <p:cNvPr id="42" name="TextBox 41"/>
          <p:cNvSpPr txBox="1"/>
          <p:nvPr/>
        </p:nvSpPr>
        <p:spPr>
          <a:xfrm>
            <a:off x="8686800" y="5312664"/>
            <a:ext cx="2697480" cy="457200"/>
          </a:xfrm>
          <a:prstGeom prst="rect">
            <a:avLst/>
          </a:prstGeom>
          <a:noFill/>
        </p:spPr>
        <p:txBody>
          <a:bodyPr wrap="square" anchor="t" lIns="0" rIns="0" tIns="0" bIns="0">
            <a:spAutoFit/>
          </a:bodyPr>
          <a:lstStyle/>
          <a:p>
            <a:pPr algn="l"/>
            <a:r>
              <a:rPr sz="869" b="0">
                <a:solidFill>
                  <a:srgbClr val="1F2D3D"/>
                </a:solidFill>
                <a:latin typeface="Calibri"/>
              </a:rPr>
              <a:t>The same defended implementation is frozen, then tested as ecosystem, role, authority or regime conditions change silently over time.</a:t>
            </a:r>
          </a:p>
        </p:txBody>
      </p:sp>
      <p:sp>
        <p:nvSpPr>
          <p:cNvPr id="43" name="Rounded Rectangle 42"/>
          <p:cNvSpPr/>
          <p:nvPr/>
        </p:nvSpPr>
        <p:spPr>
          <a:xfrm>
            <a:off x="658368" y="6035040"/>
            <a:ext cx="10853928" cy="411480"/>
          </a:xfrm>
          <a:prstGeom prst="roundRect">
            <a:avLst/>
          </a:prstGeom>
          <a:solidFill>
            <a:srgbClr val="F2F5F8"/>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 y="6144768"/>
            <a:ext cx="10561320" cy="146304"/>
          </a:xfrm>
          <a:prstGeom prst="rect">
            <a:avLst/>
          </a:prstGeom>
          <a:noFill/>
        </p:spPr>
        <p:txBody>
          <a:bodyPr wrap="square" anchor="t" lIns="0" rIns="0" tIns="0" bIns="0">
            <a:spAutoFit/>
          </a:bodyPr>
          <a:lstStyle/>
          <a:p>
            <a:pPr algn="l"/>
            <a:r>
              <a:rPr sz="900" b="0">
                <a:solidFill>
                  <a:srgbClr val="1F2D3D"/>
                </a:solidFill>
                <a:latin typeface="Calibri"/>
              </a:rPr>
              <a:t>The products are treated as substrates for controlled trajectories. The comparison tests whether the same scenario changes materially across standard, defended and drifted implementations.</a:t>
            </a:r>
          </a:p>
        </p:txBody>
      </p:sp>
      <p:sp>
        <p:nvSpPr>
          <p:cNvPr id="45" name="TextBox 44"/>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11"/>
              </a:rPr>
              <a:t>Technology implementation profiles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6C9B07-B95E-4155-9DE9-D747491A4813}"/>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FAILURE PROGRESSION</a:t>
            </a:r>
            <a:endParaRPr sz="820"/>
          </a:p>
        </p:txBody>
      </p:sp>
      <p:sp>
        <p:nvSpPr>
          <p:cNvPr id="3" name="Text 1">
            <a:extLst>
              <a:ext uri="{FF2B5EF4-FFF2-40B4-BE49-F238E27FC236}">
                <a16:creationId xmlns:a16="http://schemas.microsoft.com/office/drawing/2014/main" id="{2CAF32F8-8798-4F01-8A78-08D7745DCA52}"/>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03</a:t>
            </a:r>
            <a:endParaRPr sz="820"/>
          </a:p>
        </p:txBody>
      </p:sp>
      <p:sp>
        <p:nvSpPr>
          <p:cNvPr id="4" name="Text 2">
            <a:extLst>
              <a:ext uri="{FF2B5EF4-FFF2-40B4-BE49-F238E27FC236}">
                <a16:creationId xmlns:a16="http://schemas.microsoft.com/office/drawing/2014/main" id="{D207E07F-B9A1-4E10-B9B8-60B487E97D70}"/>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5"/>
              </a:rPr>
              <a:t>Failure progression: mechanisms and failure types</a:t>
            </a:r>
            <a:endParaRPr sz="2550" dirty="0"/>
          </a:p>
        </p:txBody>
      </p:sp>
      <p:sp>
        <p:nvSpPr>
          <p:cNvPr id="5" name="Text 3">
            <a:extLst>
              <a:ext uri="{FF2B5EF4-FFF2-40B4-BE49-F238E27FC236}">
                <a16:creationId xmlns:a16="http://schemas.microsoft.com/office/drawing/2014/main" id="{A92FCA48-FF4B-4B28-83CD-7B981144FB1F}"/>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The ecosystem can drift while local controls keep returning valid-looking answers. The key question is whether uncertainty remains visible or is converted into unsupported closure.</a:t>
            </a:r>
            <a:endParaRPr sz="1200" dirty="0"/>
          </a:p>
        </p:txBody>
      </p:sp>
      <p:sp>
        <p:nvSpPr>
          <p:cNvPr id="6" name="Text 4">
            <a:extLst>
              <a:ext uri="{FF2B5EF4-FFF2-40B4-BE49-F238E27FC236}">
                <a16:creationId xmlns:a16="http://schemas.microsoft.com/office/drawing/2014/main" id="{D7BBDB95-8F1D-40CA-9EEF-82FC684C9B3F}"/>
              </a:ext>
            </a:extLst>
          </p:cNvPr>
          <p:cNvSpPr>
            <a:spLocks noGrp="1"/>
          </p:cNvSpPr>
          <p:nvPr/>
        </p:nvSpPr>
        <p:spPr>
          <a:xfrm>
            <a:off x="685800" y="1572768"/>
            <a:ext cx="237744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INITIAL STATE</a:t>
            </a:r>
            <a:endParaRPr sz="900"/>
          </a:p>
        </p:txBody>
      </p:sp>
      <p:sp>
        <p:nvSpPr>
          <p:cNvPr id="7" name="Shape 5">
            <a:extLst>
              <a:ext uri="{FF2B5EF4-FFF2-40B4-BE49-F238E27FC236}">
                <a16:creationId xmlns:a16="http://schemas.microsoft.com/office/drawing/2014/main" id="{A1F52260-FA80-43CE-83DC-DEA9968E4EC9}"/>
              </a:ext>
            </a:extLst>
          </p:cNvPr>
          <p:cNvSpPr>
            <a:spLocks noGrp="1"/>
          </p:cNvSpPr>
          <p:nvPr/>
        </p:nvSpPr>
        <p:spPr>
          <a:xfrm>
            <a:off x="685800" y="1847088"/>
            <a:ext cx="2926080" cy="1298448"/>
          </a:xfrm>
          <a:prstGeom prst="roundRect">
            <a:avLst/>
          </a:prstGeom>
          <a:solidFill>
            <a:srgbClr val="FFFFFF"/>
          </a:solidFill>
          <a:ln w="12700">
            <a:solidFill>
              <a:srgbClr val="D6DCE4"/>
            </a:solidFill>
            <a:prstDash val="solid"/>
          </a:ln>
        </p:spPr>
        <p:txBody>
          <a:bodyPr wrap="square"/>
          <a:lstStyle/>
          <a:p>
            <a:endParaRPr/>
          </a:p>
        </p:txBody>
      </p:sp>
      <p:sp>
        <p:nvSpPr>
          <p:cNvPr id="8" name="Text 6">
            <a:extLst>
              <a:ext uri="{FF2B5EF4-FFF2-40B4-BE49-F238E27FC236}">
                <a16:creationId xmlns:a16="http://schemas.microsoft.com/office/drawing/2014/main" id="{00887344-2E94-471C-AB23-E81CE030420B}"/>
              </a:ext>
            </a:extLst>
          </p:cNvPr>
          <p:cNvSpPr>
            <a:spLocks noGrp="1"/>
          </p:cNvSpPr>
          <p:nvPr/>
        </p:nvSpPr>
        <p:spPr>
          <a:xfrm>
            <a:off x="832104" y="2011680"/>
            <a:ext cx="2606040" cy="310896"/>
          </a:xfrm>
          <a:prstGeom prst="rect">
            <a:avLst/>
          </a:prstGeom>
          <a:noFill/>
        </p:spPr>
        <p:txBody>
          <a:bodyPr wrap="square" lIns="0" tIns="0" rIns="0" bIns="0" anchor="ctr"/>
          <a:lstStyle/>
          <a:p>
            <a:pPr marL="0" indent="0">
              <a:buNone/>
            </a:pPr>
            <a:r>
              <a:rPr sz="1450" b="1">
                <a:solidFill>
                  <a:srgbClr val="1B273F"/>
                </a:solidFill>
                <a:latin typeface="Cambria"/>
                <a:ea typeface="Cambria"/>
                <a:cs typeface="Cambria"/>
              </a:rPr>
              <a:t>Legible roles and boundaries</a:t>
            </a:r>
            <a:endParaRPr sz="1450"/>
          </a:p>
        </p:txBody>
      </p:sp>
      <p:sp>
        <p:nvSpPr>
          <p:cNvPr id="9" name="Text 7">
            <a:extLst>
              <a:ext uri="{FF2B5EF4-FFF2-40B4-BE49-F238E27FC236}">
                <a16:creationId xmlns:a16="http://schemas.microsoft.com/office/drawing/2014/main" id="{9E8F57D7-D072-4872-8B57-228E15129837}"/>
              </a:ext>
            </a:extLst>
          </p:cNvPr>
          <p:cNvSpPr>
            <a:spLocks noGrp="1"/>
          </p:cNvSpPr>
          <p:nvPr/>
        </p:nvSpPr>
        <p:spPr>
          <a:xfrm>
            <a:off x="832104" y="2404872"/>
            <a:ext cx="2606040" cy="566928"/>
          </a:xfrm>
          <a:prstGeom prst="rect">
            <a:avLst/>
          </a:prstGeom>
          <a:noFill/>
        </p:spPr>
        <p:txBody>
          <a:bodyPr wrap="square" lIns="0" tIns="0" rIns="0" bIns="0" anchor="ctr"/>
          <a:lstStyle/>
          <a:p>
            <a:pPr marL="0" indent="0">
              <a:buNone/>
            </a:pPr>
            <a:r>
              <a:rPr sz="980">
                <a:solidFill>
                  <a:srgbClr val="55595F"/>
                </a:solidFill>
                <a:latin typeface="Calibri"/>
                <a:ea typeface="Calibri"/>
                <a:cs typeface="Calibri"/>
              </a:rPr>
              <a:t>Identity and authority are current</a:t>
            </a:r>
            <a:endParaRPr sz="980"/>
          </a:p>
          <a:p>
            <a:pPr marL="0" indent="0">
              <a:buNone/>
            </a:pPr>
            <a:r>
              <a:rPr sz="980">
                <a:solidFill>
                  <a:srgbClr val="55595F"/>
                </a:solidFill>
                <a:latin typeface="Calibri"/>
                <a:ea typeface="Calibri"/>
                <a:cs typeface="Calibri"/>
              </a:rPr>
              <a:t>Policies match the operating context</a:t>
            </a:r>
            <a:endParaRPr sz="980"/>
          </a:p>
          <a:p>
            <a:pPr marL="0" indent="0">
              <a:buNone/>
            </a:pPr>
            <a:r>
              <a:rPr sz="980">
                <a:solidFill>
                  <a:srgbClr val="55595F"/>
                </a:solidFill>
                <a:latin typeface="Calibri"/>
                <a:ea typeface="Calibri"/>
                <a:cs typeface="Calibri"/>
              </a:rPr>
              <a:t>Oversight can follow the material paths</a:t>
            </a:r>
            <a:endParaRPr sz="980"/>
          </a:p>
        </p:txBody>
      </p:sp>
      <p:sp>
        <p:nvSpPr>
          <p:cNvPr id="10" name="Shape 8">
            <a:extLst>
              <a:ext uri="{FF2B5EF4-FFF2-40B4-BE49-F238E27FC236}">
                <a16:creationId xmlns:a16="http://schemas.microsoft.com/office/drawing/2014/main" id="{0B7DAFE2-69ED-40FB-BE60-B29EEAC683D2}"/>
              </a:ext>
            </a:extLst>
          </p:cNvPr>
          <p:cNvSpPr>
            <a:spLocks noGrp="1"/>
          </p:cNvSpPr>
          <p:nvPr/>
        </p:nvSpPr>
        <p:spPr>
          <a:xfrm>
            <a:off x="3611880" y="2496312"/>
            <a:ext cx="438912" cy="0"/>
          </a:xfrm>
          <a:prstGeom prst="line">
            <a:avLst/>
          </a:prstGeom>
          <a:noFill/>
          <a:ln w="20320">
            <a:solidFill>
              <a:srgbClr val="7A7E84"/>
            </a:solidFill>
            <a:prstDash val="solid"/>
            <a:headEnd type="none"/>
            <a:tailEnd type="triangle"/>
          </a:ln>
        </p:spPr>
        <p:txBody>
          <a:bodyPr wrap="square"/>
          <a:lstStyle/>
          <a:p>
            <a:endParaRPr/>
          </a:p>
        </p:txBody>
      </p:sp>
      <p:sp>
        <p:nvSpPr>
          <p:cNvPr id="11" name="Text 9">
            <a:extLst>
              <a:ext uri="{FF2B5EF4-FFF2-40B4-BE49-F238E27FC236}">
                <a16:creationId xmlns:a16="http://schemas.microsoft.com/office/drawing/2014/main" id="{157CB44C-9E74-40AF-B9FA-D68E135D7451}"/>
              </a:ext>
            </a:extLst>
          </p:cNvPr>
          <p:cNvSpPr>
            <a:spLocks noGrp="1"/>
          </p:cNvSpPr>
          <p:nvPr/>
        </p:nvSpPr>
        <p:spPr>
          <a:xfrm>
            <a:off x="4160520" y="1572768"/>
            <a:ext cx="237744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DRIFT</a:t>
            </a:r>
            <a:endParaRPr sz="900"/>
          </a:p>
        </p:txBody>
      </p:sp>
      <p:sp>
        <p:nvSpPr>
          <p:cNvPr id="12" name="Shape 10">
            <a:extLst>
              <a:ext uri="{FF2B5EF4-FFF2-40B4-BE49-F238E27FC236}">
                <a16:creationId xmlns:a16="http://schemas.microsoft.com/office/drawing/2014/main" id="{26E75C4E-4FA7-44F4-88F5-640F7A7D7234}"/>
              </a:ext>
            </a:extLst>
          </p:cNvPr>
          <p:cNvSpPr>
            <a:spLocks noGrp="1"/>
          </p:cNvSpPr>
          <p:nvPr/>
        </p:nvSpPr>
        <p:spPr>
          <a:xfrm>
            <a:off x="4160520" y="1847088"/>
            <a:ext cx="2926080" cy="1298448"/>
          </a:xfrm>
          <a:prstGeom prst="roundRect">
            <a:avLst/>
          </a:prstGeom>
          <a:solidFill>
            <a:srgbClr val="FFFFFF"/>
          </a:solidFill>
          <a:ln w="12700">
            <a:solidFill>
              <a:srgbClr val="D6DCE4"/>
            </a:solidFill>
            <a:prstDash val="solid"/>
          </a:ln>
        </p:spPr>
        <p:txBody>
          <a:bodyPr wrap="square"/>
          <a:lstStyle/>
          <a:p>
            <a:endParaRPr/>
          </a:p>
        </p:txBody>
      </p:sp>
      <p:sp>
        <p:nvSpPr>
          <p:cNvPr id="13" name="Text 11">
            <a:extLst>
              <a:ext uri="{FF2B5EF4-FFF2-40B4-BE49-F238E27FC236}">
                <a16:creationId xmlns:a16="http://schemas.microsoft.com/office/drawing/2014/main" id="{19EF545C-8CD3-46D7-A8A5-4E9B6AA5F2A4}"/>
              </a:ext>
            </a:extLst>
          </p:cNvPr>
          <p:cNvSpPr>
            <a:spLocks noGrp="1"/>
          </p:cNvSpPr>
          <p:nvPr/>
        </p:nvSpPr>
        <p:spPr>
          <a:xfrm>
            <a:off x="4306824" y="2011680"/>
            <a:ext cx="2606040" cy="310896"/>
          </a:xfrm>
          <a:prstGeom prst="rect">
            <a:avLst/>
          </a:prstGeom>
          <a:noFill/>
        </p:spPr>
        <p:txBody>
          <a:bodyPr wrap="square" lIns="0" tIns="0" rIns="0" bIns="0" anchor="ctr"/>
          <a:lstStyle/>
          <a:p>
            <a:pPr marL="0" indent="0">
              <a:buNone/>
            </a:pPr>
            <a:r>
              <a:rPr sz="1450" b="1">
                <a:solidFill>
                  <a:srgbClr val="1B273F"/>
                </a:solidFill>
                <a:latin typeface="Cambria"/>
                <a:ea typeface="Cambria"/>
                <a:cs typeface="Cambria"/>
              </a:rPr>
              <a:t>The ecosystem changes</a:t>
            </a:r>
            <a:endParaRPr sz="1450"/>
          </a:p>
        </p:txBody>
      </p:sp>
      <p:sp>
        <p:nvSpPr>
          <p:cNvPr id="14" name="Text 12">
            <a:extLst>
              <a:ext uri="{FF2B5EF4-FFF2-40B4-BE49-F238E27FC236}">
                <a16:creationId xmlns:a16="http://schemas.microsoft.com/office/drawing/2014/main" id="{8AF5F651-7C55-4D3D-9BE1-43B0EE85A7E0}"/>
              </a:ext>
            </a:extLst>
          </p:cNvPr>
          <p:cNvSpPr>
            <a:spLocks noGrp="1"/>
          </p:cNvSpPr>
          <p:nvPr/>
        </p:nvSpPr>
        <p:spPr>
          <a:xfrm>
            <a:off x="4306824" y="2404872"/>
            <a:ext cx="2606040" cy="566928"/>
          </a:xfrm>
          <a:prstGeom prst="rect">
            <a:avLst/>
          </a:prstGeom>
          <a:noFill/>
        </p:spPr>
        <p:txBody>
          <a:bodyPr wrap="square" lIns="0" tIns="0" rIns="0" bIns="0" anchor="ctr"/>
          <a:lstStyle/>
          <a:p>
            <a:pPr marL="0" indent="0">
              <a:buNone/>
            </a:pPr>
            <a:r>
              <a:rPr sz="980">
                <a:solidFill>
                  <a:srgbClr val="55595F"/>
                </a:solidFill>
                <a:latin typeface="Calibri"/>
                <a:ea typeface="Calibri"/>
                <a:cs typeface="Calibri"/>
              </a:rPr>
              <a:t>Agents multiply and change roles</a:t>
            </a:r>
            <a:endParaRPr sz="980"/>
          </a:p>
          <a:p>
            <a:pPr marL="0" indent="0">
              <a:buNone/>
            </a:pPr>
            <a:r>
              <a:rPr sz="980">
                <a:solidFill>
                  <a:srgbClr val="55595F"/>
                </a:solidFill>
                <a:latin typeface="Calibri"/>
                <a:ea typeface="Calibri"/>
                <a:cs typeface="Calibri"/>
              </a:rPr>
              <a:t>Boundaries and memberships shift</a:t>
            </a:r>
            <a:endParaRPr sz="980"/>
          </a:p>
          <a:p>
            <a:pPr marL="0" indent="0">
              <a:buNone/>
            </a:pPr>
            <a:r>
              <a:rPr sz="980">
                <a:solidFill>
                  <a:srgbClr val="55595F"/>
                </a:solidFill>
                <a:latin typeface="Calibri"/>
                <a:ea typeface="Calibri"/>
                <a:cs typeface="Calibri"/>
              </a:rPr>
              <a:t>Signals inherit hidden dependencies</a:t>
            </a:r>
            <a:endParaRPr sz="980"/>
          </a:p>
          <a:p>
            <a:pPr marL="0" indent="0">
              <a:buNone/>
            </a:pPr>
            <a:r>
              <a:rPr sz="980">
                <a:solidFill>
                  <a:srgbClr val="55595F"/>
                </a:solidFill>
                <a:latin typeface="Calibri"/>
                <a:ea typeface="Calibri"/>
                <a:cs typeface="Calibri"/>
              </a:rPr>
              <a:t>Rules and reviews lag behind</a:t>
            </a:r>
            <a:endParaRPr sz="980"/>
          </a:p>
        </p:txBody>
      </p:sp>
      <p:sp>
        <p:nvSpPr>
          <p:cNvPr id="15" name="Shape 13">
            <a:extLst>
              <a:ext uri="{FF2B5EF4-FFF2-40B4-BE49-F238E27FC236}">
                <a16:creationId xmlns:a16="http://schemas.microsoft.com/office/drawing/2014/main" id="{2382187D-3D9E-4187-ACD7-8BFACE225A5F}"/>
              </a:ext>
            </a:extLst>
          </p:cNvPr>
          <p:cNvSpPr>
            <a:spLocks noGrp="1"/>
          </p:cNvSpPr>
          <p:nvPr/>
        </p:nvSpPr>
        <p:spPr>
          <a:xfrm>
            <a:off x="7086600" y="2496312"/>
            <a:ext cx="438912" cy="0"/>
          </a:xfrm>
          <a:prstGeom prst="line">
            <a:avLst/>
          </a:prstGeom>
          <a:noFill/>
          <a:ln w="20320">
            <a:solidFill>
              <a:srgbClr val="7A7E84"/>
            </a:solidFill>
            <a:prstDash val="solid"/>
            <a:headEnd type="none"/>
            <a:tailEnd type="triangle"/>
          </a:ln>
        </p:spPr>
        <p:txBody>
          <a:bodyPr wrap="square"/>
          <a:lstStyle/>
          <a:p>
            <a:endParaRPr/>
          </a:p>
        </p:txBody>
      </p:sp>
      <p:sp>
        <p:nvSpPr>
          <p:cNvPr id="16" name="Text 14">
            <a:extLst>
              <a:ext uri="{FF2B5EF4-FFF2-40B4-BE49-F238E27FC236}">
                <a16:creationId xmlns:a16="http://schemas.microsoft.com/office/drawing/2014/main" id="{0C2897D1-16B0-4EC9-856C-4440F78C3DA4}"/>
              </a:ext>
            </a:extLst>
          </p:cNvPr>
          <p:cNvSpPr>
            <a:spLocks noGrp="1"/>
          </p:cNvSpPr>
          <p:nvPr/>
        </p:nvSpPr>
        <p:spPr>
          <a:xfrm>
            <a:off x="7635240" y="1572768"/>
            <a:ext cx="2377440" cy="164592"/>
          </a:xfrm>
          <a:prstGeom prst="rect">
            <a:avLst/>
          </a:prstGeom>
          <a:noFill/>
        </p:spPr>
        <p:txBody>
          <a:bodyPr wrap="square" lIns="0" tIns="0" rIns="0" bIns="0" anchor="ctr"/>
          <a:lstStyle/>
          <a:p>
            <a:pPr marL="0" indent="0">
              <a:buNone/>
            </a:pPr>
            <a:r>
              <a:rPr sz="900" b="1">
                <a:solidFill>
                  <a:srgbClr val="A8642A"/>
                </a:solidFill>
                <a:latin typeface="Consolas"/>
                <a:ea typeface="Consolas"/>
                <a:cs typeface="Consolas"/>
              </a:rPr>
              <a:t>FAILURE</a:t>
            </a:r>
            <a:endParaRPr sz="900"/>
          </a:p>
        </p:txBody>
      </p:sp>
      <p:sp>
        <p:nvSpPr>
          <p:cNvPr id="17" name="Shape 15">
            <a:extLst>
              <a:ext uri="{FF2B5EF4-FFF2-40B4-BE49-F238E27FC236}">
                <a16:creationId xmlns:a16="http://schemas.microsoft.com/office/drawing/2014/main" id="{2F8A5FA3-5672-4BCF-AC7D-BDF9ABC213DC}"/>
              </a:ext>
            </a:extLst>
          </p:cNvPr>
          <p:cNvSpPr>
            <a:spLocks noGrp="1"/>
          </p:cNvSpPr>
          <p:nvPr/>
        </p:nvSpPr>
        <p:spPr>
          <a:xfrm>
            <a:off x="7635240" y="1847088"/>
            <a:ext cx="2926080" cy="1298448"/>
          </a:xfrm>
          <a:prstGeom prst="roundRect">
            <a:avLst/>
          </a:prstGeom>
          <a:solidFill>
            <a:srgbClr val="FFFFFF"/>
          </a:solidFill>
          <a:ln w="17780">
            <a:solidFill>
              <a:srgbClr val="A8642A"/>
            </a:solidFill>
            <a:prstDash val="solid"/>
          </a:ln>
        </p:spPr>
        <p:txBody>
          <a:bodyPr wrap="square"/>
          <a:lstStyle/>
          <a:p>
            <a:endParaRPr/>
          </a:p>
        </p:txBody>
      </p:sp>
      <p:sp>
        <p:nvSpPr>
          <p:cNvPr id="18" name="Text 16">
            <a:extLst>
              <a:ext uri="{FF2B5EF4-FFF2-40B4-BE49-F238E27FC236}">
                <a16:creationId xmlns:a16="http://schemas.microsoft.com/office/drawing/2014/main" id="{2C140F37-9877-4E0A-BAE8-2807F6414E08}"/>
              </a:ext>
            </a:extLst>
          </p:cNvPr>
          <p:cNvSpPr>
            <a:spLocks noGrp="1"/>
          </p:cNvSpPr>
          <p:nvPr/>
        </p:nvSpPr>
        <p:spPr>
          <a:xfrm>
            <a:off x="7781544" y="2011680"/>
            <a:ext cx="2606040" cy="310896"/>
          </a:xfrm>
          <a:prstGeom prst="rect">
            <a:avLst/>
          </a:prstGeom>
          <a:noFill/>
        </p:spPr>
        <p:txBody>
          <a:bodyPr wrap="square" lIns="0" tIns="0" rIns="0" bIns="0" anchor="ctr"/>
          <a:lstStyle/>
          <a:p>
            <a:pPr marL="0" indent="0">
              <a:buNone/>
            </a:pPr>
            <a:r>
              <a:rPr sz="1450" b="1" dirty="0">
                <a:solidFill>
                  <a:srgbClr val="1B273F"/>
                </a:solidFill>
                <a:latin typeface="Cambria"/>
                <a:ea typeface="Cambria"/>
                <a:cs typeface="Cambria"/>
              </a:rPr>
              <a:t>Local closure, systemic indeterminacy</a:t>
            </a:r>
            <a:endParaRPr sz="1450" dirty="0"/>
          </a:p>
        </p:txBody>
      </p:sp>
      <p:sp>
        <p:nvSpPr>
          <p:cNvPr id="19" name="Text 17">
            <a:extLst>
              <a:ext uri="{FF2B5EF4-FFF2-40B4-BE49-F238E27FC236}">
                <a16:creationId xmlns:a16="http://schemas.microsoft.com/office/drawing/2014/main" id="{1D07D115-6941-42D1-9ED6-FA06B64BD5FF}"/>
              </a:ext>
            </a:extLst>
          </p:cNvPr>
          <p:cNvSpPr>
            <a:spLocks noGrp="1"/>
          </p:cNvSpPr>
          <p:nvPr/>
        </p:nvSpPr>
        <p:spPr>
          <a:xfrm>
            <a:off x="7781544" y="2404872"/>
            <a:ext cx="2606040" cy="566928"/>
          </a:xfrm>
          <a:prstGeom prst="rect">
            <a:avLst/>
          </a:prstGeom>
          <a:noFill/>
        </p:spPr>
        <p:txBody>
          <a:bodyPr wrap="square" lIns="0" tIns="0" rIns="0" bIns="0" anchor="ctr"/>
          <a:lstStyle/>
          <a:p>
            <a:pPr marL="0" indent="0">
              <a:buNone/>
            </a:pPr>
            <a:r>
              <a:rPr sz="980" dirty="0">
                <a:solidFill>
                  <a:srgbClr val="55595F"/>
                </a:solidFill>
                <a:latin typeface="Calibri"/>
                <a:ea typeface="Calibri"/>
                <a:cs typeface="Calibri"/>
              </a:rPr>
              <a:t>A local PASS travels beyond its scope</a:t>
            </a:r>
            <a:endParaRPr sz="980" dirty="0"/>
          </a:p>
          <a:p>
            <a:pPr marL="0" indent="0">
              <a:buNone/>
            </a:pPr>
            <a:r>
              <a:rPr sz="980" dirty="0">
                <a:solidFill>
                  <a:srgbClr val="55595F"/>
                </a:solidFill>
                <a:latin typeface="Calibri"/>
                <a:ea typeface="Calibri"/>
                <a:cs typeface="Calibri"/>
              </a:rPr>
              <a:t>Uncertainty and lineage disappear</a:t>
            </a:r>
            <a:endParaRPr sz="980" dirty="0"/>
          </a:p>
          <a:p>
            <a:pPr marL="0" indent="0">
              <a:buNone/>
            </a:pPr>
            <a:r>
              <a:rPr sz="980" dirty="0">
                <a:solidFill>
                  <a:srgbClr val="55595F"/>
                </a:solidFill>
                <a:latin typeface="Calibri"/>
                <a:ea typeface="Calibri"/>
                <a:cs typeface="Calibri"/>
              </a:rPr>
              <a:t>AI review can repeat the same frame</a:t>
            </a:r>
            <a:endParaRPr sz="980" dirty="0"/>
          </a:p>
          <a:p>
            <a:pPr marL="0" indent="0">
              <a:buNone/>
            </a:pPr>
            <a:r>
              <a:rPr sz="980" dirty="0">
                <a:solidFill>
                  <a:srgbClr val="55595F"/>
                </a:solidFill>
                <a:latin typeface="Calibri"/>
                <a:ea typeface="Calibri"/>
                <a:cs typeface="Calibri"/>
              </a:rPr>
              <a:t>Human attention saturates</a:t>
            </a:r>
            <a:endParaRPr sz="980" dirty="0"/>
          </a:p>
        </p:txBody>
      </p:sp>
      <p:sp>
        <p:nvSpPr>
          <p:cNvPr id="20" name="Text 18">
            <a:extLst>
              <a:ext uri="{FF2B5EF4-FFF2-40B4-BE49-F238E27FC236}">
                <a16:creationId xmlns:a16="http://schemas.microsoft.com/office/drawing/2014/main" id="{0F93350A-399E-48EA-A795-E0DD032FE9B1}"/>
              </a:ext>
            </a:extLst>
          </p:cNvPr>
          <p:cNvSpPr>
            <a:spLocks noGrp="1"/>
          </p:cNvSpPr>
          <p:nvPr/>
        </p:nvSpPr>
        <p:spPr>
          <a:xfrm>
            <a:off x="713232" y="3383280"/>
            <a:ext cx="292608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CONDITION AND FAILURE TYPES</a:t>
            </a:r>
            <a:endParaRPr sz="900"/>
          </a:p>
        </p:txBody>
      </p:sp>
      <p:sp>
        <p:nvSpPr>
          <p:cNvPr id="21" name="Shape 19">
            <a:extLst>
              <a:ext uri="{FF2B5EF4-FFF2-40B4-BE49-F238E27FC236}">
                <a16:creationId xmlns:a16="http://schemas.microsoft.com/office/drawing/2014/main" id="{86EFDF7A-E6CC-43B1-9605-5C64CF043147}"/>
              </a:ext>
            </a:extLst>
          </p:cNvPr>
          <p:cNvSpPr>
            <a:spLocks noGrp="1"/>
          </p:cNvSpPr>
          <p:nvPr/>
        </p:nvSpPr>
        <p:spPr>
          <a:xfrm>
            <a:off x="685800"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22" name="Shape 20">
            <a:extLst>
              <a:ext uri="{FF2B5EF4-FFF2-40B4-BE49-F238E27FC236}">
                <a16:creationId xmlns:a16="http://schemas.microsoft.com/office/drawing/2014/main" id="{31195E53-301E-4CF0-9038-23D4B98AB76D}"/>
              </a:ext>
            </a:extLst>
          </p:cNvPr>
          <p:cNvSpPr>
            <a:spLocks noGrp="1"/>
          </p:cNvSpPr>
          <p:nvPr/>
        </p:nvSpPr>
        <p:spPr>
          <a:xfrm>
            <a:off x="685800" y="3675888"/>
            <a:ext cx="50292" cy="1490472"/>
          </a:xfrm>
          <a:prstGeom prst="rect">
            <a:avLst/>
          </a:prstGeom>
          <a:solidFill>
            <a:srgbClr val="7A7E84"/>
          </a:solidFill>
          <a:ln w="12700">
            <a:solidFill>
              <a:srgbClr val="7A7E84"/>
            </a:solidFill>
            <a:prstDash val="solid"/>
          </a:ln>
        </p:spPr>
        <p:txBody>
          <a:bodyPr wrap="square"/>
          <a:lstStyle/>
          <a:p>
            <a:endParaRPr/>
          </a:p>
        </p:txBody>
      </p:sp>
      <p:sp>
        <p:nvSpPr>
          <p:cNvPr id="23" name="Text 21">
            <a:extLst>
              <a:ext uri="{FF2B5EF4-FFF2-40B4-BE49-F238E27FC236}">
                <a16:creationId xmlns:a16="http://schemas.microsoft.com/office/drawing/2014/main" id="{7E2B2334-3C50-4B0F-B676-60A2519C0662}"/>
              </a:ext>
            </a:extLst>
          </p:cNvPr>
          <p:cNvSpPr>
            <a:spLocks noGrp="1"/>
          </p:cNvSpPr>
          <p:nvPr/>
        </p:nvSpPr>
        <p:spPr>
          <a:xfrm>
            <a:off x="850392" y="3749039"/>
            <a:ext cx="3154680" cy="420624"/>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0 · Structural non-determination</a:t>
            </a:r>
            <a:endParaRPr sz="1400"/>
          </a:p>
        </p:txBody>
      </p:sp>
      <p:sp>
        <p:nvSpPr>
          <p:cNvPr id="24" name="Text 22">
            <a:extLst>
              <a:ext uri="{FF2B5EF4-FFF2-40B4-BE49-F238E27FC236}">
                <a16:creationId xmlns:a16="http://schemas.microsoft.com/office/drawing/2014/main" id="{AE423F21-4F91-4AC1-B163-1C8F965FFD34}"/>
              </a:ext>
            </a:extLst>
          </p:cNvPr>
          <p:cNvSpPr>
            <a:spLocks noGrp="1"/>
          </p:cNvSpPr>
          <p:nvPr/>
        </p:nvSpPr>
        <p:spPr>
          <a:xfrm>
            <a:off x="850392" y="4206240"/>
            <a:ext cx="3136392" cy="960120"/>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Residual indeterminacy is not removable inside the current representation / capability boundary. More processing of the same evidence cannot manufacture the missing distinction.</a:t>
            </a:r>
            <a:endParaRPr sz="955"/>
          </a:p>
          <a:p>
            <a:pPr marL="0" indent="0">
              <a:buNone/>
            </a:pPr>
            <a:endParaRPr sz="955"/>
          </a:p>
          <a:p>
            <a:pPr marL="0" indent="0">
              <a:buNone/>
            </a:pPr>
            <a:r>
              <a:rPr sz="955">
                <a:solidFill>
                  <a:srgbClr val="55595F"/>
                </a:solidFill>
                <a:latin typeface="Calibri"/>
                <a:ea typeface="Calibri"/>
                <a:cs typeface="Calibri"/>
              </a:rPr>
              <a:t>Response: preserve the residual, narrow the claim, add a genuinely new information channel or redesign the boundary.</a:t>
            </a:r>
            <a:endParaRPr sz="955"/>
          </a:p>
        </p:txBody>
      </p:sp>
      <p:sp>
        <p:nvSpPr>
          <p:cNvPr id="25" name="Shape 23">
            <a:extLst>
              <a:ext uri="{FF2B5EF4-FFF2-40B4-BE49-F238E27FC236}">
                <a16:creationId xmlns:a16="http://schemas.microsoft.com/office/drawing/2014/main" id="{96277FD8-A400-44A9-9F6D-F8EDEF6B9C57}"/>
              </a:ext>
            </a:extLst>
          </p:cNvPr>
          <p:cNvSpPr>
            <a:spLocks noGrp="1"/>
          </p:cNvSpPr>
          <p:nvPr/>
        </p:nvSpPr>
        <p:spPr>
          <a:xfrm>
            <a:off x="4379976"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26" name="Shape 24">
            <a:extLst>
              <a:ext uri="{FF2B5EF4-FFF2-40B4-BE49-F238E27FC236}">
                <a16:creationId xmlns:a16="http://schemas.microsoft.com/office/drawing/2014/main" id="{C1C42B79-50FF-4A59-B598-2768C4E8F3E9}"/>
              </a:ext>
            </a:extLst>
          </p:cNvPr>
          <p:cNvSpPr>
            <a:spLocks noGrp="1"/>
          </p:cNvSpPr>
          <p:nvPr/>
        </p:nvSpPr>
        <p:spPr>
          <a:xfrm>
            <a:off x="4379976" y="3675888"/>
            <a:ext cx="50292" cy="1490472"/>
          </a:xfrm>
          <a:prstGeom prst="rect">
            <a:avLst/>
          </a:prstGeom>
          <a:solidFill>
            <a:srgbClr val="006970"/>
          </a:solidFill>
          <a:ln w="12700">
            <a:solidFill>
              <a:srgbClr val="006970"/>
            </a:solidFill>
            <a:prstDash val="solid"/>
          </a:ln>
        </p:spPr>
        <p:txBody>
          <a:bodyPr wrap="square"/>
          <a:lstStyle/>
          <a:p>
            <a:endParaRPr/>
          </a:p>
        </p:txBody>
      </p:sp>
      <p:sp>
        <p:nvSpPr>
          <p:cNvPr id="27" name="Text 25">
            <a:extLst>
              <a:ext uri="{FF2B5EF4-FFF2-40B4-BE49-F238E27FC236}">
                <a16:creationId xmlns:a16="http://schemas.microsoft.com/office/drawing/2014/main" id="{4632754F-B960-45CD-B248-014981244278}"/>
              </a:ext>
            </a:extLst>
          </p:cNvPr>
          <p:cNvSpPr>
            <a:spLocks noGrp="1"/>
          </p:cNvSpPr>
          <p:nvPr/>
        </p:nvSpPr>
        <p:spPr>
          <a:xfrm>
            <a:off x="4544568" y="3749039"/>
            <a:ext cx="3154680" cy="420624"/>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1 · Unbounded unresolved uncertainty</a:t>
            </a:r>
            <a:endParaRPr sz="1400"/>
          </a:p>
        </p:txBody>
      </p:sp>
      <p:sp>
        <p:nvSpPr>
          <p:cNvPr id="28" name="Text 26">
            <a:extLst>
              <a:ext uri="{FF2B5EF4-FFF2-40B4-BE49-F238E27FC236}">
                <a16:creationId xmlns:a16="http://schemas.microsoft.com/office/drawing/2014/main" id="{15396708-B59E-4CD6-BB64-4093148F2252}"/>
              </a:ext>
            </a:extLst>
          </p:cNvPr>
          <p:cNvSpPr>
            <a:spLocks noGrp="1"/>
          </p:cNvSpPr>
          <p:nvPr/>
        </p:nvSpPr>
        <p:spPr>
          <a:xfrm>
            <a:off x="4544568" y="4206240"/>
            <a:ext cx="3136392" cy="932688"/>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Uncertainty is recognized, but no legitimate bounded closure is reached: the system keeps waiting, searching or escalating without an escape condition (indefinite HOLD, paralysis). HOLD is not a safe terminal state.</a:t>
            </a:r>
            <a:endParaRPr sz="955"/>
          </a:p>
          <a:p>
            <a:pPr marL="0" indent="0">
              <a:spcBef>
                <a:spcPts val="500"/>
              </a:spcBef>
              <a:buNone/>
            </a:pPr>
            <a:r>
              <a:rPr sz="955">
                <a:solidFill>
                  <a:srgbClr val="55595F"/>
                </a:solidFill>
                <a:latin typeface="Calibri"/>
                <a:ea typeface="Calibri"/>
                <a:cs typeface="Calibri"/>
              </a:rPr>
              <a:t>Response: establish bounded closure: a stop condition plus a qualified posture that keeps the residual explicit.</a:t>
            </a:r>
            <a:endParaRPr sz="955"/>
          </a:p>
        </p:txBody>
      </p:sp>
      <p:sp>
        <p:nvSpPr>
          <p:cNvPr id="29" name="Shape 27">
            <a:extLst>
              <a:ext uri="{FF2B5EF4-FFF2-40B4-BE49-F238E27FC236}">
                <a16:creationId xmlns:a16="http://schemas.microsoft.com/office/drawing/2014/main" id="{00424DEA-8C6D-45BF-80EB-BB570125B300}"/>
              </a:ext>
            </a:extLst>
          </p:cNvPr>
          <p:cNvSpPr>
            <a:spLocks noGrp="1"/>
          </p:cNvSpPr>
          <p:nvPr/>
        </p:nvSpPr>
        <p:spPr>
          <a:xfrm>
            <a:off x="8074152"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30" name="Shape 28">
            <a:extLst>
              <a:ext uri="{FF2B5EF4-FFF2-40B4-BE49-F238E27FC236}">
                <a16:creationId xmlns:a16="http://schemas.microsoft.com/office/drawing/2014/main" id="{8BE3AF5A-3697-40CB-AF49-57D36F0E36A1}"/>
              </a:ext>
            </a:extLst>
          </p:cNvPr>
          <p:cNvSpPr>
            <a:spLocks noGrp="1"/>
          </p:cNvSpPr>
          <p:nvPr/>
        </p:nvSpPr>
        <p:spPr>
          <a:xfrm>
            <a:off x="8074152" y="3675888"/>
            <a:ext cx="50292" cy="1490472"/>
          </a:xfrm>
          <a:prstGeom prst="rect">
            <a:avLst/>
          </a:prstGeom>
          <a:solidFill>
            <a:srgbClr val="A8642A"/>
          </a:solidFill>
          <a:ln w="12700">
            <a:solidFill>
              <a:srgbClr val="A8642A"/>
            </a:solidFill>
            <a:prstDash val="solid"/>
          </a:ln>
        </p:spPr>
        <p:txBody>
          <a:bodyPr wrap="square"/>
          <a:lstStyle/>
          <a:p>
            <a:endParaRPr/>
          </a:p>
        </p:txBody>
      </p:sp>
      <p:sp>
        <p:nvSpPr>
          <p:cNvPr id="31" name="Text 29">
            <a:extLst>
              <a:ext uri="{FF2B5EF4-FFF2-40B4-BE49-F238E27FC236}">
                <a16:creationId xmlns:a16="http://schemas.microsoft.com/office/drawing/2014/main" id="{DB6322E4-033D-47F6-9C31-E080DA689187}"/>
              </a:ext>
            </a:extLst>
          </p:cNvPr>
          <p:cNvSpPr>
            <a:spLocks noGrp="1"/>
          </p:cNvSpPr>
          <p:nvPr/>
        </p:nvSpPr>
        <p:spPr>
          <a:xfrm>
            <a:off x="8238744" y="3794760"/>
            <a:ext cx="3154680"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2 · False certainty</a:t>
            </a:r>
            <a:endParaRPr sz="1400"/>
          </a:p>
        </p:txBody>
      </p:sp>
      <p:sp>
        <p:nvSpPr>
          <p:cNvPr id="32" name="Text 30">
            <a:extLst>
              <a:ext uri="{FF2B5EF4-FFF2-40B4-BE49-F238E27FC236}">
                <a16:creationId xmlns:a16="http://schemas.microsoft.com/office/drawing/2014/main" id="{DF0B721B-E7D2-4DBD-8C70-24842EE91264}"/>
              </a:ext>
            </a:extLst>
          </p:cNvPr>
          <p:cNvSpPr>
            <a:spLocks noGrp="1"/>
          </p:cNvSpPr>
          <p:nvPr/>
        </p:nvSpPr>
        <p:spPr>
          <a:xfrm>
            <a:off x="8238744" y="4105656"/>
            <a:ext cx="3136392" cy="960120"/>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The system closes by discarding what it does not know: missing input treated as present, low confidence promoted to certainty, a local result treated as globally valid (forced PASS/FAIL, false closure).</a:t>
            </a:r>
            <a:endParaRPr sz="955"/>
          </a:p>
          <a:p>
            <a:pPr marL="0" indent="0">
              <a:spcBef>
                <a:spcPts val="500"/>
              </a:spcBef>
              <a:buNone/>
            </a:pPr>
            <a:r>
              <a:rPr sz="955">
                <a:solidFill>
                  <a:srgbClr val="55595F"/>
                </a:solidFill>
                <a:latin typeface="Calibri"/>
                <a:ea typeface="Calibri"/>
                <a:cs typeface="Calibri"/>
              </a:rPr>
              <a:t>Response: restore uncertainty, scope and provenance, then re-enter the affected scope.</a:t>
            </a:r>
            <a:endParaRPr sz="955"/>
          </a:p>
        </p:txBody>
      </p:sp>
      <p:sp>
        <p:nvSpPr>
          <p:cNvPr id="36" name="Slide Number Placeholder 0">
            <a:extLst>
              <a:ext uri="{FF2B5EF4-FFF2-40B4-BE49-F238E27FC236}">
                <a16:creationId xmlns:a16="http://schemas.microsoft.com/office/drawing/2014/main" id="{6D87A14C-B23D-49E3-885A-DFA30E75B1EF}"/>
              </a:ext>
            </a:extLst>
          </p:cNvPr>
          <p:cNvSpPr>
            <a:spLocks noGrp="1"/>
          </p:cNvSpPr>
          <p:nvPr>
            <p:ph type="sldNum" idx="4294967295"/>
          </p:nvPr>
        </p:nvSpPr>
        <p:spPr>
          <a:xfrm>
            <a:off x="11064240" y="6537960"/>
            <a:ext cx="502920" cy="164592"/>
          </a:xfrm>
          <a:prstGeom prst="rect">
            <a:avLst/>
          </a:prstGeom>
        </p:spPr>
        <p:txBody>
          <a:bodyPr wrap="square"/>
          <a:lstStyle>
            <a:lvl1pPr>
              <a:buNone/>
              <a:defRPr sz="750">
                <a:solidFill>
                  <a:srgbClr val="1B273F"/>
                </a:solidFill>
                <a:latin typeface="Consolas"/>
                <a:ea typeface="Consolas"/>
                <a:cs typeface="Consolas"/>
              </a:defRPr>
            </a:lvl1pPr>
          </a:lstStyle>
          <a:p>
            <a:pPr algn="r"/>
            <a:r>
              <a:rPr sz="850">
                <a:solidFill>
                  <a:srgbClr val="5D6775"/>
                </a:solidFill>
                <a:latin typeface="Aptos"/>
              </a:rPr>
              <a:t>6</a:t>
            </a:r>
          </a:p>
        </p:txBody>
      </p:sp>
      <p:sp>
        <p:nvSpPr>
          <p:cNvPr id="37" name="TextBox 36"/>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5"/>
              </a:rPr>
              <a:t>Foundation · Type 0/1/2</a:t>
            </a:r>
            <a:r>
              <a:rPr sz="680">
                <a:solidFill>
                  <a:srgbClr val="727A86"/>
                </a:solidFill>
                <a:latin typeface="Calibri"/>
              </a:rPr>
              <a:t>  ·  </a:t>
            </a:r>
            <a:r>
              <a:rPr sz="680" b="0" u="sng">
                <a:solidFill>
                  <a:srgbClr val="2F6FB2"/>
                </a:solidFill>
                <a:latin typeface="Calibri"/>
                <a:hlinkClick r:id="rId6"/>
              </a:rPr>
              <a:t>Canonical topology</a:t>
            </a:r>
          </a:p>
        </p:txBody>
      </p:sp>
    </p:spTree>
    <p:extLst>
      <p:ext uri="{BB962C8B-B14F-4D97-AF65-F5344CB8AC3E}">
        <p14:creationId xmlns:p14="http://schemas.microsoft.com/office/powerpoint/2010/main" val="157511946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85216" y="164592"/>
            <a:ext cx="2926080" cy="219456"/>
          </a:xfrm>
          <a:prstGeom prst="rect">
            <a:avLst/>
          </a:prstGeom>
          <a:noFill/>
        </p:spPr>
        <p:txBody>
          <a:bodyPr wrap="square" lIns="0" rIns="0" tIns="0" bIns="0" anchor="t">
            <a:spAutoFit/>
          </a:bodyPr>
          <a:lstStyle/>
          <a:p>
            <a:pPr algn="l"/>
            <a:r>
              <a:rPr sz="860" b="0">
                <a:solidFill>
                  <a:srgbClr val="5D6775"/>
                </a:solidFill>
                <a:latin typeface="Consolas"/>
              </a:rPr>
              <a:t>REQUIREMENTS</a:t>
            </a:r>
          </a:p>
        </p:txBody>
      </p:sp>
      <p:sp>
        <p:nvSpPr>
          <p:cNvPr id="3" name="TextBox 2"/>
          <p:cNvSpPr txBox="1"/>
          <p:nvPr/>
        </p:nvSpPr>
        <p:spPr>
          <a:xfrm>
            <a:off x="10744200" y="164592"/>
            <a:ext cx="685800" cy="219456"/>
          </a:xfrm>
          <a:prstGeom prst="rect">
            <a:avLst/>
          </a:prstGeom>
          <a:noFill/>
        </p:spPr>
        <p:txBody>
          <a:bodyPr wrap="square" lIns="0" rIns="0" tIns="0" bIns="0" anchor="t">
            <a:spAutoFit/>
          </a:bodyPr>
          <a:lstStyle/>
          <a:p>
            <a:pPr algn="r"/>
            <a:r>
              <a:rPr sz="860" b="0">
                <a:solidFill>
                  <a:srgbClr val="5D6775"/>
                </a:solidFill>
                <a:latin typeface="Consolas"/>
              </a:rPr>
              <a:t>§ 04A</a:t>
            </a:r>
          </a:p>
        </p:txBody>
      </p:sp>
      <p:sp>
        <p:nvSpPr>
          <p:cNvPr id="4" name="Rectangle 3"/>
          <p:cNvSpPr/>
          <p:nvPr/>
        </p:nvSpPr>
        <p:spPr>
          <a:xfrm>
            <a:off x="585216" y="457200"/>
            <a:ext cx="10826496" cy="10972"/>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5216" y="530352"/>
            <a:ext cx="10826496" cy="5486"/>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713232"/>
            <a:ext cx="10698480" cy="475488"/>
          </a:xfrm>
          <a:prstGeom prst="rect">
            <a:avLst/>
          </a:prstGeom>
          <a:noFill/>
        </p:spPr>
        <p:txBody>
          <a:bodyPr wrap="square" lIns="0" rIns="0" tIns="0" bIns="0" anchor="t">
            <a:spAutoFit/>
          </a:bodyPr>
          <a:lstStyle/>
          <a:p>
            <a:r>
              <a:rPr sz="2350" b="1">
                <a:solidFill>
                  <a:srgbClr val="24355B"/>
                </a:solidFill>
                <a:latin typeface="Cambria"/>
              </a:rPr>
              <a:t>Six severe failure routes. Fourteen requirements. One common contract.</a:t>
            </a:r>
          </a:p>
        </p:txBody>
      </p:sp>
      <p:sp>
        <p:nvSpPr>
          <p:cNvPr id="7" name="TextBox 6"/>
          <p:cNvSpPr txBox="1"/>
          <p:nvPr/>
        </p:nvSpPr>
        <p:spPr>
          <a:xfrm>
            <a:off x="621792" y="1161288"/>
            <a:ext cx="10698480" cy="420624"/>
          </a:xfrm>
          <a:prstGeom prst="rect">
            <a:avLst/>
          </a:prstGeom>
          <a:noFill/>
        </p:spPr>
        <p:txBody>
          <a:bodyPr wrap="square" lIns="0" rIns="0" tIns="0" bIns="0" anchor="t">
            <a:spAutoFit/>
          </a:bodyPr>
          <a:lstStyle/>
          <a:p>
            <a:r>
              <a:rPr sz="1080">
                <a:solidFill>
                  <a:srgbClr val="5D6775"/>
                </a:solidFill>
                <a:latin typeface="Aptos"/>
              </a:rPr>
              <a:t>Current high-end technology profiles can still expose these routes under drift. The same 14 requirements define the conforming path across all six.</a:t>
            </a:r>
          </a:p>
        </p:txBody>
      </p:sp>
      <p:sp>
        <p:nvSpPr>
          <p:cNvPr id="53" name="Rectangle 52"/>
          <p:cNvSpPr/>
          <p:nvPr/>
        </p:nvSpPr>
        <p:spPr>
          <a:xfrm>
            <a:off x="585216" y="6446520"/>
            <a:ext cx="10826496" cy="10972"/>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2544" y="6537960"/>
            <a:ext cx="3456432" cy="164592"/>
          </a:xfrm>
          <a:prstGeom prst="rect">
            <a:avLst/>
          </a:prstGeom>
          <a:noFill/>
        </p:spPr>
        <p:txBody>
          <a:bodyPr wrap="square" lIns="0" rIns="0" tIns="0" bIns="0" anchor="t">
            <a:spAutoFit/>
          </a:bodyPr>
          <a:lstStyle/>
          <a:p>
            <a:pPr algn="ctr"/>
            <a:r>
              <a:rPr sz="770" b="0">
                <a:solidFill>
                  <a:srgbClr val="5D6775"/>
                </a:solidFill>
                <a:latin typeface="Aptos"/>
              </a:rPr>
              <a:t>Ecosystem Awareness · Positioning architecture</a:t>
            </a:r>
          </a:p>
        </p:txBody>
      </p:sp>
      <p:sp>
        <p:nvSpPr>
          <p:cNvPr id="55" name="TextBox 54"/>
          <p:cNvSpPr txBox="1"/>
          <p:nvPr/>
        </p:nvSpPr>
        <p:spPr>
          <a:xfrm>
            <a:off x="11018520" y="6537960"/>
            <a:ext cx="274320" cy="164592"/>
          </a:xfrm>
          <a:prstGeom prst="rect">
            <a:avLst/>
          </a:prstGeom>
          <a:noFill/>
        </p:spPr>
        <p:txBody>
          <a:bodyPr wrap="square" lIns="0" rIns="0" tIns="0" bIns="0" anchor="t">
            <a:spAutoFit/>
          </a:bodyPr>
          <a:lstStyle/>
          <a:p>
            <a:pPr algn="r"/>
            <a:r>
              <a:rPr sz="850">
                <a:solidFill>
                  <a:srgbClr val="5D6775"/>
                </a:solidFill>
                <a:latin typeface="Aptos"/>
              </a:rPr>
              <a:t>7</a:t>
            </a:r>
          </a:p>
        </p:txBody>
      </p:sp>
      <p:sp>
        <p:nvSpPr>
          <p:cNvPr id="56" name="TextBox 55"/>
          <p:cNvSpPr txBox="1"/>
          <p:nvPr/>
        </p:nvSpPr>
        <p:spPr>
          <a:xfrm>
            <a:off x="566928" y="6510528"/>
            <a:ext cx="3566160" cy="164592"/>
          </a:xfrm>
          <a:prstGeom prst="rect">
            <a:avLst/>
          </a:prstGeom>
          <a:noFill/>
        </p:spPr>
        <p:txBody>
          <a:bodyPr wrap="none" lIns="0" rIns="0" tIns="0" bIns="0">
            <a:spAutoFit/>
          </a:bodyPr>
          <a:lstStyle/>
          <a:p>
            <a:r>
              <a:rPr sz="770">
                <a:solidFill>
                  <a:srgbClr val="5D6775"/>
                </a:solidFill>
                <a:latin typeface="Aptos"/>
                <a:hlinkClick r:id="rId2"/>
              </a:rPr>
              <a:t>CORPUS ↗  Canonical Requirements · Coverage map · Route Q</a:t>
            </a:r>
          </a:p>
        </p:txBody>
      </p:sp>
      <p:sp>
        <p:nvSpPr>
          <p:cNvPr id="57" name="Rounded Rectangle 56"/>
          <p:cNvSpPr/>
          <p:nvPr/>
        </p:nvSpPr>
        <p:spPr>
          <a:xfrm>
            <a:off x="621792" y="1627632"/>
            <a:ext cx="3337560" cy="1417320"/>
          </a:xfrm>
          <a:prstGeom prst="roundRect">
            <a:avLst/>
          </a:prstGeom>
          <a:solidFill>
            <a:srgbClr val="E9F2FB"/>
          </a:solidFill>
          <a:ln w="1651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384" y="1700784"/>
            <a:ext cx="868680" cy="658368"/>
          </a:xfrm>
          <a:prstGeom prst="rect">
            <a:avLst/>
          </a:prstGeom>
          <a:noFill/>
        </p:spPr>
        <p:txBody>
          <a:bodyPr wrap="none" anchor="ctr" lIns="18288" rIns="18288" tIns="9144" bIns="9144">
            <a:spAutoFit/>
          </a:bodyPr>
          <a:lstStyle/>
          <a:p>
            <a:pPr algn="ctr"/>
            <a:r>
              <a:rPr sz="3400" b="1" i="0">
                <a:solidFill>
                  <a:srgbClr val="2F6FB2"/>
                </a:solidFill>
                <a:latin typeface="Cambria"/>
              </a:rPr>
              <a:t>6</a:t>
            </a:r>
          </a:p>
        </p:txBody>
      </p:sp>
      <p:sp>
        <p:nvSpPr>
          <p:cNvPr id="59" name="TextBox 58"/>
          <p:cNvSpPr txBox="1"/>
          <p:nvPr/>
        </p:nvSpPr>
        <p:spPr>
          <a:xfrm>
            <a:off x="1700784" y="1801368"/>
            <a:ext cx="2075688" cy="246888"/>
          </a:xfrm>
          <a:prstGeom prst="rect">
            <a:avLst/>
          </a:prstGeom>
          <a:noFill/>
        </p:spPr>
        <p:txBody>
          <a:bodyPr wrap="none" anchor="ctr" lIns="18288" rIns="18288" tIns="9144" bIns="9144">
            <a:spAutoFit/>
          </a:bodyPr>
          <a:lstStyle/>
          <a:p>
            <a:pPr algn="l"/>
            <a:r>
              <a:rPr sz="850" b="1" i="0">
                <a:solidFill>
                  <a:srgbClr val="2F6FB2"/>
                </a:solidFill>
                <a:latin typeface="Consolas"/>
              </a:rPr>
              <a:t>REFERENCE FAILURE ROUTES</a:t>
            </a:r>
          </a:p>
        </p:txBody>
      </p:sp>
      <p:sp>
        <p:nvSpPr>
          <p:cNvPr id="60" name="TextBox 59"/>
          <p:cNvSpPr txBox="1"/>
          <p:nvPr/>
        </p:nvSpPr>
        <p:spPr>
          <a:xfrm>
            <a:off x="1700784" y="2103120"/>
            <a:ext cx="2075688" cy="548640"/>
          </a:xfrm>
          <a:prstGeom prst="rect">
            <a:avLst/>
          </a:prstGeom>
          <a:noFill/>
        </p:spPr>
        <p:txBody>
          <a:bodyPr wrap="none" anchor="ctr" lIns="18288" rIns="18288" tIns="9144" bIns="9144">
            <a:spAutoFit/>
          </a:bodyPr>
          <a:lstStyle/>
          <a:p>
            <a:pPr algn="l"/>
            <a:r>
              <a:rPr sz="1019" b="1" i="0">
                <a:solidFill>
                  <a:srgbClr val="24355B"/>
                </a:solidFill>
                <a:latin typeface="Aptos"/>
              </a:rPr>
              <a:t>00E–00J · six distinct mechanisms</a:t>
            </a:r>
          </a:p>
        </p:txBody>
      </p:sp>
      <p:sp>
        <p:nvSpPr>
          <p:cNvPr id="61" name="Rounded Rectangle 60"/>
          <p:cNvSpPr/>
          <p:nvPr/>
        </p:nvSpPr>
        <p:spPr>
          <a:xfrm>
            <a:off x="4160520" y="1627632"/>
            <a:ext cx="3337560" cy="1417320"/>
          </a:xfrm>
          <a:prstGeom prst="roundRect">
            <a:avLst/>
          </a:prstGeom>
          <a:solidFill>
            <a:srgbClr val="E8F6F5"/>
          </a:solidFill>
          <a:ln w="1651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25112" y="1700784"/>
            <a:ext cx="868680" cy="658368"/>
          </a:xfrm>
          <a:prstGeom prst="rect">
            <a:avLst/>
          </a:prstGeom>
          <a:noFill/>
        </p:spPr>
        <p:txBody>
          <a:bodyPr wrap="none" anchor="ctr" lIns="18288" rIns="18288" tIns="9144" bIns="9144">
            <a:spAutoFit/>
          </a:bodyPr>
          <a:lstStyle/>
          <a:p>
            <a:pPr algn="ctr"/>
            <a:r>
              <a:rPr sz="3400" b="1" i="0">
                <a:solidFill>
                  <a:srgbClr val="00848A"/>
                </a:solidFill>
                <a:latin typeface="Cambria"/>
              </a:rPr>
              <a:t>14</a:t>
            </a:r>
          </a:p>
        </p:txBody>
      </p:sp>
      <p:sp>
        <p:nvSpPr>
          <p:cNvPr id="63" name="TextBox 62"/>
          <p:cNvSpPr txBox="1"/>
          <p:nvPr/>
        </p:nvSpPr>
        <p:spPr>
          <a:xfrm>
            <a:off x="5239512" y="1801368"/>
            <a:ext cx="2075688" cy="246888"/>
          </a:xfrm>
          <a:prstGeom prst="rect">
            <a:avLst/>
          </a:prstGeom>
          <a:noFill/>
        </p:spPr>
        <p:txBody>
          <a:bodyPr wrap="none" anchor="ctr" lIns="18288" rIns="18288" tIns="9144" bIns="9144">
            <a:spAutoFit/>
          </a:bodyPr>
          <a:lstStyle/>
          <a:p>
            <a:pPr algn="l"/>
            <a:r>
              <a:rPr sz="850" b="1" i="0">
                <a:solidFill>
                  <a:srgbClr val="00848A"/>
                </a:solidFill>
                <a:latin typeface="Consolas"/>
              </a:rPr>
              <a:t>CANONICAL REQUIREMENTS</a:t>
            </a:r>
          </a:p>
        </p:txBody>
      </p:sp>
      <p:sp>
        <p:nvSpPr>
          <p:cNvPr id="64" name="TextBox 63"/>
          <p:cNvSpPr txBox="1"/>
          <p:nvPr/>
        </p:nvSpPr>
        <p:spPr>
          <a:xfrm>
            <a:off x="5239512" y="2103120"/>
            <a:ext cx="2075688" cy="548640"/>
          </a:xfrm>
          <a:prstGeom prst="rect">
            <a:avLst/>
          </a:prstGeom>
          <a:noFill/>
        </p:spPr>
        <p:txBody>
          <a:bodyPr wrap="none" anchor="ctr" lIns="18288" rIns="18288" tIns="9144" bIns="9144">
            <a:spAutoFit/>
          </a:bodyPr>
          <a:lstStyle/>
          <a:p>
            <a:pPr algn="l"/>
            <a:r>
              <a:rPr sz="1019" b="1" i="0">
                <a:solidFill>
                  <a:srgbClr val="24355B"/>
                </a:solidFill>
                <a:latin typeface="Aptos"/>
              </a:rPr>
              <a:t>S1–S14 · one bounded requirement set</a:t>
            </a:r>
          </a:p>
        </p:txBody>
      </p:sp>
      <p:sp>
        <p:nvSpPr>
          <p:cNvPr id="65" name="Rounded Rectangle 64"/>
          <p:cNvSpPr/>
          <p:nvPr/>
        </p:nvSpPr>
        <p:spPr>
          <a:xfrm>
            <a:off x="7699248" y="1627632"/>
            <a:ext cx="3346704" cy="1417320"/>
          </a:xfrm>
          <a:prstGeom prst="roundRect">
            <a:avLst/>
          </a:prstGeom>
          <a:solidFill>
            <a:srgbClr val="FBF1E5"/>
          </a:solidFill>
          <a:ln w="16510">
            <a:solidFill>
              <a:srgbClr val="C86E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63840" y="1700784"/>
            <a:ext cx="868680" cy="658368"/>
          </a:xfrm>
          <a:prstGeom prst="rect">
            <a:avLst/>
          </a:prstGeom>
          <a:noFill/>
        </p:spPr>
        <p:txBody>
          <a:bodyPr wrap="none" anchor="ctr" lIns="18288" rIns="18288" tIns="9144" bIns="9144">
            <a:spAutoFit/>
          </a:bodyPr>
          <a:lstStyle/>
          <a:p>
            <a:pPr algn="ctr"/>
            <a:r>
              <a:rPr sz="3400" b="1" i="0">
                <a:solidFill>
                  <a:srgbClr val="C86E14"/>
                </a:solidFill>
                <a:latin typeface="Cambria"/>
              </a:rPr>
              <a:t>1</a:t>
            </a:r>
          </a:p>
        </p:txBody>
      </p:sp>
      <p:sp>
        <p:nvSpPr>
          <p:cNvPr id="67" name="TextBox 66"/>
          <p:cNvSpPr txBox="1"/>
          <p:nvPr/>
        </p:nvSpPr>
        <p:spPr>
          <a:xfrm>
            <a:off x="8778240" y="1801368"/>
            <a:ext cx="2084832" cy="246888"/>
          </a:xfrm>
          <a:prstGeom prst="rect">
            <a:avLst/>
          </a:prstGeom>
          <a:noFill/>
        </p:spPr>
        <p:txBody>
          <a:bodyPr wrap="none" anchor="ctr" lIns="18288" rIns="18288" tIns="9144" bIns="9144">
            <a:spAutoFit/>
          </a:bodyPr>
          <a:lstStyle/>
          <a:p>
            <a:pPr algn="l"/>
            <a:r>
              <a:rPr sz="850" b="1" i="0">
                <a:solidFill>
                  <a:srgbClr val="C86E14"/>
                </a:solidFill>
                <a:latin typeface="Consolas"/>
              </a:rPr>
              <a:t>COMMON TEST CONTRACT</a:t>
            </a:r>
          </a:p>
        </p:txBody>
      </p:sp>
      <p:sp>
        <p:nvSpPr>
          <p:cNvPr id="68" name="TextBox 67"/>
          <p:cNvSpPr txBox="1"/>
          <p:nvPr/>
        </p:nvSpPr>
        <p:spPr>
          <a:xfrm>
            <a:off x="8778240" y="2103120"/>
            <a:ext cx="2084832" cy="548640"/>
          </a:xfrm>
          <a:prstGeom prst="rect">
            <a:avLst/>
          </a:prstGeom>
          <a:noFill/>
        </p:spPr>
        <p:txBody>
          <a:bodyPr wrap="none" anchor="ctr" lIns="18288" rIns="18288" tIns="9144" bIns="9144">
            <a:spAutoFit/>
          </a:bodyPr>
          <a:lstStyle/>
          <a:p>
            <a:pPr algn="l"/>
            <a:r>
              <a:rPr sz="1019" b="1" i="0">
                <a:solidFill>
                  <a:srgbClr val="24355B"/>
                </a:solidFill>
                <a:latin typeface="Aptos"/>
              </a:rPr>
              <a:t>S1–S14 → T1–T4 → H1–H6 → KPI</a:t>
            </a:r>
          </a:p>
        </p:txBody>
      </p:sp>
      <p:sp>
        <p:nvSpPr>
          <p:cNvPr id="69" name="Rounded Rectangle 68"/>
          <p:cNvSpPr/>
          <p:nvPr/>
        </p:nvSpPr>
        <p:spPr>
          <a:xfrm>
            <a:off x="621792" y="3246120"/>
            <a:ext cx="10945368" cy="1005840"/>
          </a:xfrm>
          <a:prstGeom prst="roundRect">
            <a:avLst/>
          </a:prstGeom>
          <a:solidFill>
            <a:srgbClr val="FFFFFF"/>
          </a:solidFill>
          <a:ln w="15875">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672" y="3355848"/>
            <a:ext cx="1417320" cy="210312"/>
          </a:xfrm>
          <a:prstGeom prst="rect">
            <a:avLst/>
          </a:prstGeom>
          <a:noFill/>
        </p:spPr>
        <p:txBody>
          <a:bodyPr wrap="none" anchor="ctr" lIns="18288" rIns="18288" tIns="9144" bIns="9144">
            <a:spAutoFit/>
          </a:bodyPr>
          <a:lstStyle/>
          <a:p>
            <a:pPr algn="l"/>
            <a:r>
              <a:rPr sz="850" b="1" i="0">
                <a:solidFill>
                  <a:srgbClr val="24355B"/>
                </a:solidFill>
                <a:latin typeface="Consolas"/>
              </a:rPr>
              <a:t>CENTRAL FINDING</a:t>
            </a:r>
          </a:p>
        </p:txBody>
      </p:sp>
      <p:sp>
        <p:nvSpPr>
          <p:cNvPr id="71" name="TextBox 70"/>
          <p:cNvSpPr txBox="1"/>
          <p:nvPr/>
        </p:nvSpPr>
        <p:spPr>
          <a:xfrm>
            <a:off x="2148840" y="3319272"/>
            <a:ext cx="9125712" cy="420624"/>
          </a:xfrm>
          <a:prstGeom prst="rect">
            <a:avLst/>
          </a:prstGeom>
          <a:noFill/>
        </p:spPr>
        <p:txBody>
          <a:bodyPr wrap="none" anchor="ctr" lIns="18288" rIns="18288" tIns="9144" bIns="9144">
            <a:spAutoFit/>
          </a:bodyPr>
          <a:lstStyle/>
          <a:p>
            <a:pPr algn="l"/>
            <a:r>
              <a:rPr sz="1410" b="1" i="0">
                <a:solidFill>
                  <a:srgbClr val="24355B"/>
                </a:solidFill>
                <a:latin typeface="Cambria"/>
              </a:rPr>
              <a:t>The same requirements system defines a conforming Route Q for every reference scenario. No case-specific requirement family has been needed.</a:t>
            </a:r>
          </a:p>
        </p:txBody>
      </p:sp>
      <p:sp>
        <p:nvSpPr>
          <p:cNvPr id="72" name="TextBox 71"/>
          <p:cNvSpPr txBox="1"/>
          <p:nvPr/>
        </p:nvSpPr>
        <p:spPr>
          <a:xfrm>
            <a:off x="2148840" y="3776472"/>
            <a:ext cx="9006840" cy="256032"/>
          </a:xfrm>
          <a:prstGeom prst="rect">
            <a:avLst/>
          </a:prstGeom>
          <a:noFill/>
        </p:spPr>
        <p:txBody>
          <a:bodyPr wrap="none" anchor="ctr" lIns="18288" rIns="18288" tIns="9144" bIns="9144">
            <a:spAutoFit/>
          </a:bodyPr>
          <a:lstStyle/>
          <a:p>
            <a:pPr algn="l"/>
            <a:r>
              <a:rPr sz="969" b="1" i="0">
                <a:solidFill>
                  <a:srgbClr val="5D6775"/>
                </a:solidFill>
                <a:latin typeface="Aptos"/>
              </a:rPr>
              <a:t>Requirement reuse across radically different failure mechanisms is itself a result.</a:t>
            </a:r>
          </a:p>
        </p:txBody>
      </p:sp>
      <p:sp>
        <p:nvSpPr>
          <p:cNvPr id="73" name="TextBox 72"/>
          <p:cNvSpPr txBox="1"/>
          <p:nvPr/>
        </p:nvSpPr>
        <p:spPr>
          <a:xfrm>
            <a:off x="630936" y="4443984"/>
            <a:ext cx="1920240" cy="228600"/>
          </a:xfrm>
          <a:prstGeom prst="rect">
            <a:avLst/>
          </a:prstGeom>
          <a:noFill/>
        </p:spPr>
        <p:txBody>
          <a:bodyPr wrap="none" anchor="ctr" lIns="18288" rIns="18288" tIns="9144" bIns="9144">
            <a:spAutoFit/>
          </a:bodyPr>
          <a:lstStyle/>
          <a:p>
            <a:pPr algn="l"/>
            <a:r>
              <a:rPr sz="830" b="1" i="0">
                <a:solidFill>
                  <a:srgbClr val="24355B"/>
                </a:solidFill>
                <a:latin typeface="Consolas"/>
              </a:rPr>
              <a:t>VERIFY EACH CONFORMING ROUTE</a:t>
            </a:r>
          </a:p>
        </p:txBody>
      </p:sp>
      <p:sp>
        <p:nvSpPr>
          <p:cNvPr id="74" name="Rounded Rectangle 73"/>
          <p:cNvSpPr/>
          <p:nvPr/>
        </p:nvSpPr>
        <p:spPr>
          <a:xfrm>
            <a:off x="630936"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6656"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3"/>
              </a:rPr>
              <a:t>00E</a:t>
            </a:r>
          </a:p>
        </p:txBody>
      </p:sp>
      <p:sp>
        <p:nvSpPr>
          <p:cNvPr id="76" name="TextBox 75"/>
          <p:cNvSpPr txBox="1"/>
          <p:nvPr/>
        </p:nvSpPr>
        <p:spPr>
          <a:xfrm>
            <a:off x="676656"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3"/>
              </a:rPr>
              <a:t>100M Tokens</a:t>
            </a:r>
          </a:p>
        </p:txBody>
      </p:sp>
      <p:sp>
        <p:nvSpPr>
          <p:cNvPr id="77" name="Rounded Rectangle 76"/>
          <p:cNvSpPr/>
          <p:nvPr/>
        </p:nvSpPr>
        <p:spPr>
          <a:xfrm>
            <a:off x="2066543"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12263"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4"/>
              </a:rPr>
              <a:t>00F</a:t>
            </a:r>
          </a:p>
        </p:txBody>
      </p:sp>
      <p:sp>
        <p:nvSpPr>
          <p:cNvPr id="79" name="TextBox 78"/>
          <p:cNvSpPr txBox="1"/>
          <p:nvPr/>
        </p:nvSpPr>
        <p:spPr>
          <a:xfrm>
            <a:off x="2112263"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4"/>
              </a:rPr>
              <a:t>Smartcity</a:t>
            </a:r>
          </a:p>
        </p:txBody>
      </p:sp>
      <p:sp>
        <p:nvSpPr>
          <p:cNvPr id="80" name="Rounded Rectangle 79"/>
          <p:cNvSpPr/>
          <p:nvPr/>
        </p:nvSpPr>
        <p:spPr>
          <a:xfrm>
            <a:off x="3502151"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547871"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5"/>
              </a:rPr>
              <a:t>00G</a:t>
            </a:r>
          </a:p>
        </p:txBody>
      </p:sp>
      <p:sp>
        <p:nvSpPr>
          <p:cNvPr id="82" name="TextBox 81"/>
          <p:cNvSpPr txBox="1"/>
          <p:nvPr/>
        </p:nvSpPr>
        <p:spPr>
          <a:xfrm>
            <a:off x="3547871"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5"/>
              </a:rPr>
              <a:t>Napoleon</a:t>
            </a:r>
          </a:p>
        </p:txBody>
      </p:sp>
      <p:sp>
        <p:nvSpPr>
          <p:cNvPr id="83" name="Rounded Rectangle 82"/>
          <p:cNvSpPr/>
          <p:nvPr/>
        </p:nvSpPr>
        <p:spPr>
          <a:xfrm>
            <a:off x="4937759"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983479"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6"/>
              </a:rPr>
              <a:t>00H</a:t>
            </a:r>
          </a:p>
        </p:txBody>
      </p:sp>
      <p:sp>
        <p:nvSpPr>
          <p:cNvPr id="85" name="TextBox 84"/>
          <p:cNvSpPr txBox="1"/>
          <p:nvPr/>
        </p:nvSpPr>
        <p:spPr>
          <a:xfrm>
            <a:off x="4983479"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6"/>
              </a:rPr>
              <a:t>Quiet 4K</a:t>
            </a:r>
          </a:p>
        </p:txBody>
      </p:sp>
      <p:sp>
        <p:nvSpPr>
          <p:cNvPr id="86" name="Rounded Rectangle 85"/>
          <p:cNvSpPr/>
          <p:nvPr/>
        </p:nvSpPr>
        <p:spPr>
          <a:xfrm>
            <a:off x="6373367"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19087"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7"/>
              </a:rPr>
              <a:t>00I</a:t>
            </a:r>
          </a:p>
        </p:txBody>
      </p:sp>
      <p:sp>
        <p:nvSpPr>
          <p:cNvPr id="88" name="TextBox 87"/>
          <p:cNvSpPr txBox="1"/>
          <p:nvPr/>
        </p:nvSpPr>
        <p:spPr>
          <a:xfrm>
            <a:off x="6419087"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7"/>
              </a:rPr>
              <a:t>Patch</a:t>
            </a:r>
          </a:p>
        </p:txBody>
      </p:sp>
      <p:sp>
        <p:nvSpPr>
          <p:cNvPr id="89" name="Rounded Rectangle 88"/>
          <p:cNvSpPr/>
          <p:nvPr/>
        </p:nvSpPr>
        <p:spPr>
          <a:xfrm>
            <a:off x="7808975"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854696"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8"/>
              </a:rPr>
              <a:t>00J</a:t>
            </a:r>
          </a:p>
        </p:txBody>
      </p:sp>
      <p:sp>
        <p:nvSpPr>
          <p:cNvPr id="91" name="TextBox 90"/>
          <p:cNvSpPr txBox="1"/>
          <p:nvPr/>
        </p:nvSpPr>
        <p:spPr>
          <a:xfrm>
            <a:off x="7854696"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8"/>
              </a:rPr>
              <a:t>Author</a:t>
            </a:r>
          </a:p>
        </p:txBody>
      </p:sp>
      <p:sp>
        <p:nvSpPr>
          <p:cNvPr id="92" name="Rounded Rectangle 91"/>
          <p:cNvSpPr/>
          <p:nvPr/>
        </p:nvSpPr>
        <p:spPr>
          <a:xfrm>
            <a:off x="630936" y="5367528"/>
            <a:ext cx="5285232" cy="566928"/>
          </a:xfrm>
          <a:prstGeom prst="roundRect">
            <a:avLst/>
          </a:prstGeom>
          <a:solidFill>
            <a:srgbClr val="24355B"/>
          </a:solidFill>
          <a:ln w="1016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a:hlinkClick r:id="rId2"/>
          </p:cNvPr>
          <p:cNvSpPr txBox="1"/>
          <p:nvPr/>
        </p:nvSpPr>
        <p:spPr>
          <a:xfrm>
            <a:off x="804672" y="5440680"/>
            <a:ext cx="4919472" cy="310896"/>
          </a:xfrm>
          <a:prstGeom prst="rect">
            <a:avLst/>
          </a:prstGeom>
          <a:noFill/>
        </p:spPr>
        <p:txBody>
          <a:bodyPr wrap="none" anchor="ctr" lIns="18288" rIns="18288" tIns="9144" bIns="9144">
            <a:spAutoFit/>
          </a:bodyPr>
          <a:lstStyle/>
          <a:p>
            <a:pPr algn="ctr"/>
            <a:r>
              <a:rPr sz="900" b="1" i="0" u="none">
                <a:solidFill>
                  <a:srgbClr val="FFFFFF"/>
                </a:solidFill>
                <a:latin typeface="Consolas"/>
              </a:rPr>
              <a:t>OPEN 00 · CANONICAL REQUIREMENTS  →</a:t>
            </a:r>
          </a:p>
        </p:txBody>
      </p:sp>
      <p:sp>
        <p:nvSpPr>
          <p:cNvPr id="94" name="Rounded Rectangle 93"/>
          <p:cNvSpPr/>
          <p:nvPr/>
        </p:nvSpPr>
        <p:spPr>
          <a:xfrm>
            <a:off x="6089904" y="5367528"/>
            <a:ext cx="3227832" cy="566928"/>
          </a:xfrm>
          <a:prstGeom prst="roundRect">
            <a:avLst/>
          </a:prstGeom>
          <a:solidFill>
            <a:srgbClr val="00848A"/>
          </a:solidFill>
          <a:ln w="1016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a:hlinkClick r:id="rId9"/>
          </p:cNvPr>
          <p:cNvSpPr txBox="1"/>
          <p:nvPr/>
        </p:nvSpPr>
        <p:spPr>
          <a:xfrm>
            <a:off x="6254496" y="5440680"/>
            <a:ext cx="2907792" cy="310896"/>
          </a:xfrm>
          <a:prstGeom prst="rect">
            <a:avLst/>
          </a:prstGeom>
          <a:noFill/>
        </p:spPr>
        <p:txBody>
          <a:bodyPr wrap="none" anchor="ctr" lIns="18288" rIns="18288" tIns="9144" bIns="9144">
            <a:spAutoFit/>
          </a:bodyPr>
          <a:lstStyle/>
          <a:p>
            <a:pPr algn="ctr"/>
            <a:r>
              <a:rPr sz="900" b="1" i="0" u="none">
                <a:solidFill>
                  <a:srgbClr val="FFFFFF"/>
                </a:solidFill>
                <a:latin typeface="Consolas"/>
              </a:rPr>
              <a:t>TRACE COVERAGE  →</a:t>
            </a:r>
          </a:p>
        </p:txBody>
      </p:sp>
      <p:sp>
        <p:nvSpPr>
          <p:cNvPr id="96" name="Rounded Rectangle 95"/>
          <p:cNvSpPr/>
          <p:nvPr/>
        </p:nvSpPr>
        <p:spPr>
          <a:xfrm>
            <a:off x="9491472" y="5367528"/>
            <a:ext cx="2075688" cy="566928"/>
          </a:xfrm>
          <a:prstGeom prst="roundRect">
            <a:avLst/>
          </a:prstGeom>
          <a:solidFill>
            <a:srgbClr val="FFFFFF"/>
          </a:solidFill>
          <a:ln w="12700">
            <a:solidFill>
              <a:srgbClr val="C86E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a:hlinkClick r:id="rId10"/>
          </p:cNvPr>
          <p:cNvSpPr txBox="1"/>
          <p:nvPr/>
        </p:nvSpPr>
        <p:spPr>
          <a:xfrm>
            <a:off x="9601200" y="5440680"/>
            <a:ext cx="1856231" cy="310896"/>
          </a:xfrm>
          <a:prstGeom prst="rect">
            <a:avLst/>
          </a:prstGeom>
          <a:noFill/>
        </p:spPr>
        <p:txBody>
          <a:bodyPr wrap="none" anchor="ctr" lIns="18288" rIns="18288" tIns="9144" bIns="9144">
            <a:spAutoFit/>
          </a:bodyPr>
          <a:lstStyle/>
          <a:p>
            <a:pPr algn="ctr"/>
            <a:r>
              <a:rPr sz="860" b="1" i="0" u="none">
                <a:solidFill>
                  <a:srgbClr val="C86E14"/>
                </a:solidFill>
                <a:latin typeface="Consolas"/>
              </a:rPr>
              <a:t>ALL ROUTES  →</a:t>
            </a:r>
          </a:p>
        </p:txBody>
      </p:sp>
      <p:sp>
        <p:nvSpPr>
          <p:cNvPr id="98" name="TextBox 97"/>
          <p:cNvSpPr txBox="1"/>
          <p:nvPr/>
        </p:nvSpPr>
        <p:spPr>
          <a:xfrm>
            <a:off x="640080" y="5998464"/>
            <a:ext cx="9784080" cy="182880"/>
          </a:xfrm>
          <a:prstGeom prst="rect">
            <a:avLst/>
          </a:prstGeom>
          <a:noFill/>
        </p:spPr>
        <p:txBody>
          <a:bodyPr wrap="none" anchor="ctr" lIns="18288" rIns="18288" tIns="9144" bIns="9144">
            <a:spAutoFit/>
          </a:bodyPr>
          <a:lstStyle/>
          <a:p>
            <a:pPr algn="l"/>
            <a:r>
              <a:rPr sz="770" b="0" i="1">
                <a:solidFill>
                  <a:srgbClr val="5D6775"/>
                </a:solidFill>
                <a:latin typeface="Aptos"/>
              </a:rPr>
              <a:t>Coverage / conformance design result; comparative execution and independent replication remain separately tracked.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155448"/>
            <a:ext cx="3200400" cy="228600"/>
          </a:xfrm>
          <a:prstGeom prst="rect">
            <a:avLst/>
          </a:prstGeom>
          <a:noFill/>
        </p:spPr>
        <p:txBody>
          <a:bodyPr wrap="square" anchor="t">
            <a:spAutoFit/>
          </a:bodyPr>
          <a:lstStyle/>
          <a:p>
            <a:pPr algn="l"/>
            <a:r>
              <a:rPr sz="860" b="0">
                <a:solidFill>
                  <a:srgbClr val="5D6775"/>
                </a:solidFill>
                <a:latin typeface="Consolas"/>
              </a:rPr>
              <a:t>REQUIREMENTS EVIDENCE</a:t>
            </a:r>
          </a:p>
        </p:txBody>
      </p:sp>
      <p:sp>
        <p:nvSpPr>
          <p:cNvPr id="3" name="TextBox 2"/>
          <p:cNvSpPr txBox="1"/>
          <p:nvPr/>
        </p:nvSpPr>
        <p:spPr>
          <a:xfrm>
            <a:off x="10561320" y="155448"/>
            <a:ext cx="685800" cy="228600"/>
          </a:xfrm>
          <a:prstGeom prst="rect">
            <a:avLst/>
          </a:prstGeom>
          <a:noFill/>
        </p:spPr>
        <p:txBody>
          <a:bodyPr wrap="square" anchor="t">
            <a:spAutoFit/>
          </a:bodyPr>
          <a:lstStyle/>
          <a:p>
            <a:pPr algn="r"/>
            <a:r>
              <a:rPr sz="860" b="0">
                <a:solidFill>
                  <a:srgbClr val="5D6775"/>
                </a:solidFill>
                <a:latin typeface="Consolas"/>
              </a:rPr>
              <a:t>§ 04C</a:t>
            </a:r>
          </a:p>
        </p:txBody>
      </p:sp>
      <p:sp>
        <p:nvSpPr>
          <p:cNvPr id="4" name="Rectangle 3"/>
          <p:cNvSpPr/>
          <p:nvPr/>
        </p:nvSpPr>
        <p:spPr>
          <a:xfrm>
            <a:off x="585216" y="457200"/>
            <a:ext cx="10826496" cy="10972"/>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5216" y="512064"/>
            <a:ext cx="10826496" cy="5486"/>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94944"/>
            <a:ext cx="10607040" cy="438912"/>
          </a:xfrm>
          <a:prstGeom prst="rect">
            <a:avLst/>
          </a:prstGeom>
          <a:noFill/>
        </p:spPr>
        <p:txBody>
          <a:bodyPr wrap="square" anchor="t">
            <a:spAutoFit/>
          </a:bodyPr>
          <a:lstStyle/>
          <a:p>
            <a:pPr algn="l"/>
            <a:r>
              <a:rPr sz="2350" b="1">
                <a:solidFill>
                  <a:srgbClr val="24355B"/>
                </a:solidFill>
                <a:latin typeface="Cambria"/>
              </a:rPr>
              <a:t>The contract is attacked, not assumed</a:t>
            </a:r>
          </a:p>
        </p:txBody>
      </p:sp>
      <p:sp>
        <p:nvSpPr>
          <p:cNvPr id="7" name="TextBox 6"/>
          <p:cNvSpPr txBox="1"/>
          <p:nvPr/>
        </p:nvSpPr>
        <p:spPr>
          <a:xfrm>
            <a:off x="621792" y="1152144"/>
            <a:ext cx="10515600" cy="384048"/>
          </a:xfrm>
          <a:prstGeom prst="rect">
            <a:avLst/>
          </a:prstGeom>
          <a:noFill/>
        </p:spPr>
        <p:txBody>
          <a:bodyPr wrap="square" anchor="t">
            <a:spAutoFit/>
          </a:bodyPr>
          <a:lstStyle/>
          <a:p>
            <a:pPr algn="l"/>
            <a:r>
              <a:rPr sz="1070" b="0">
                <a:solidFill>
                  <a:srgbClr val="5D6775"/>
                </a:solidFill>
                <a:latin typeface="Aptos"/>
              </a:rPr>
              <a:t>Separate proof routes test conforming execution, ablation, independence, minimality and transfer.</a:t>
            </a:r>
          </a:p>
        </p:txBody>
      </p:sp>
      <p:sp>
        <p:nvSpPr>
          <p:cNvPr id="8" name="Rectangle 7"/>
          <p:cNvSpPr/>
          <p:nvPr/>
        </p:nvSpPr>
        <p:spPr>
          <a:xfrm>
            <a:off x="585216" y="6446520"/>
            <a:ext cx="10826496" cy="10972"/>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5212080" cy="182880"/>
          </a:xfrm>
          <a:prstGeom prst="rect">
            <a:avLst/>
          </a:prstGeom>
          <a:noFill/>
        </p:spPr>
        <p:txBody>
          <a:bodyPr wrap="square" anchor="t">
            <a:spAutoFit/>
          </a:bodyPr>
          <a:lstStyle/>
          <a:p>
            <a:pPr algn="l"/>
            <a:r>
              <a:rPr sz="770" b="0">
                <a:solidFill>
                  <a:srgbClr val="5D6775"/>
                </a:solidFill>
                <a:latin typeface="Aptos"/>
              </a:rPr>
              <a:t>CORPUS ↗  00K · A15 · A16/A20 · A22 · A23 · A25/A26</a:t>
            </a:r>
          </a:p>
        </p:txBody>
      </p:sp>
      <p:sp>
        <p:nvSpPr>
          <p:cNvPr id="10" name="TextBox 9"/>
          <p:cNvSpPr txBox="1"/>
          <p:nvPr/>
        </p:nvSpPr>
        <p:spPr>
          <a:xfrm>
            <a:off x="4343400" y="6510528"/>
            <a:ext cx="3657600" cy="182880"/>
          </a:xfrm>
          <a:prstGeom prst="rect">
            <a:avLst/>
          </a:prstGeom>
          <a:noFill/>
        </p:spPr>
        <p:txBody>
          <a:bodyPr wrap="square" anchor="t">
            <a:spAutoFit/>
          </a:bodyPr>
          <a:lstStyle/>
          <a:p>
            <a:pPr algn="ctr"/>
            <a:r>
              <a:rPr sz="760" b="0">
                <a:solidFill>
                  <a:srgbClr val="5D6775"/>
                </a:solidFill>
                <a:latin typeface="Aptos"/>
              </a:rPr>
              <a:t>Ecosystem Positioning · canonical working proposal</a:t>
            </a:r>
          </a:p>
        </p:txBody>
      </p:sp>
      <p:sp>
        <p:nvSpPr>
          <p:cNvPr id="11" name="TextBox 10"/>
          <p:cNvSpPr txBox="1"/>
          <p:nvPr/>
        </p:nvSpPr>
        <p:spPr>
          <a:xfrm>
            <a:off x="11018520" y="6510528"/>
            <a:ext cx="228600" cy="182880"/>
          </a:xfrm>
          <a:prstGeom prst="rect">
            <a:avLst/>
          </a:prstGeom>
          <a:noFill/>
        </p:spPr>
        <p:txBody>
          <a:bodyPr wrap="square" anchor="t">
            <a:spAutoFit/>
          </a:bodyPr>
          <a:lstStyle/>
          <a:p>
            <a:pPr algn="r"/>
            <a:r>
              <a:rPr sz="850">
                <a:solidFill>
                  <a:srgbClr val="5D6775"/>
                </a:solidFill>
                <a:latin typeface="Aptos"/>
              </a:rPr>
              <a:t>9</a:t>
            </a:r>
          </a:p>
        </p:txBody>
      </p:sp>
      <p:sp>
        <p:nvSpPr>
          <p:cNvPr id="12" name="Rounded Rectangle 11"/>
          <p:cNvSpPr/>
          <p:nvPr/>
        </p:nvSpPr>
        <p:spPr>
          <a:xfrm>
            <a:off x="621792" y="1664208"/>
            <a:ext cx="5239512" cy="1673352"/>
          </a:xfrm>
          <a:prstGeom prst="roundRect">
            <a:avLst/>
          </a:prstGeom>
          <a:solidFill>
            <a:srgbClr val="E8F6F5"/>
          </a:solidFill>
          <a:ln w="10160">
            <a:solidFill>
              <a:srgbClr val="D9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 y="1664208"/>
            <a:ext cx="50292" cy="1673352"/>
          </a:xfrm>
          <a:prstGeom prst="rect">
            <a:avLst/>
          </a:prstGeom>
          <a:solidFill>
            <a:srgbClr val="008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1828800"/>
            <a:ext cx="658368" cy="457200"/>
          </a:xfrm>
          <a:prstGeom prst="rect">
            <a:avLst/>
          </a:prstGeom>
          <a:noFill/>
        </p:spPr>
        <p:txBody>
          <a:bodyPr wrap="square" anchor="t">
            <a:spAutoFit/>
          </a:bodyPr>
          <a:lstStyle/>
          <a:p>
            <a:pPr algn="l"/>
            <a:r>
              <a:rPr sz="2300" b="1">
                <a:solidFill>
                  <a:srgbClr val="00848A"/>
                </a:solidFill>
                <a:latin typeface="Cambria"/>
              </a:rPr>
              <a:t>01</a:t>
            </a:r>
          </a:p>
        </p:txBody>
      </p:sp>
      <p:sp>
        <p:nvSpPr>
          <p:cNvPr id="15" name="TextBox 14"/>
          <p:cNvSpPr txBox="1"/>
          <p:nvPr/>
        </p:nvSpPr>
        <p:spPr>
          <a:xfrm>
            <a:off x="1472184" y="1847088"/>
            <a:ext cx="4187952" cy="310896"/>
          </a:xfrm>
          <a:prstGeom prst="rect">
            <a:avLst/>
          </a:prstGeom>
          <a:noFill/>
        </p:spPr>
        <p:txBody>
          <a:bodyPr wrap="square" anchor="t">
            <a:spAutoFit/>
          </a:bodyPr>
          <a:lstStyle/>
          <a:p>
            <a:pPr algn="l"/>
            <a:r>
              <a:rPr sz="940" b="1">
                <a:solidFill>
                  <a:srgbClr val="00848A"/>
                </a:solidFill>
                <a:latin typeface="Consolas"/>
              </a:rPr>
              <a:t>CONFORMING ROUTE</a:t>
            </a:r>
          </a:p>
        </p:txBody>
      </p:sp>
      <p:sp>
        <p:nvSpPr>
          <p:cNvPr id="16" name="TextBox 15"/>
          <p:cNvSpPr txBox="1"/>
          <p:nvPr/>
        </p:nvSpPr>
        <p:spPr>
          <a:xfrm>
            <a:off x="822960" y="2258568"/>
            <a:ext cx="4828032" cy="923544"/>
          </a:xfrm>
          <a:prstGeom prst="rect">
            <a:avLst/>
          </a:prstGeom>
          <a:noFill/>
        </p:spPr>
        <p:txBody>
          <a:bodyPr wrap="square" anchor="t">
            <a:spAutoFit/>
          </a:bodyPr>
          <a:lstStyle/>
          <a:p>
            <a:pPr algn="l"/>
            <a:r>
              <a:rPr sz="1019" b="0">
                <a:solidFill>
                  <a:srgbClr val="1F2D3D"/>
                </a:solidFill>
                <a:latin typeface="Aptos"/>
              </a:rPr>
              <a:t>The same S1–S14 / T1–T4 contract defines a bounded Route Q across 00E–00J. Canonical conformance is tested against the underlying invariant — not only against wording.</a:t>
            </a:r>
          </a:p>
        </p:txBody>
      </p:sp>
      <p:sp>
        <p:nvSpPr>
          <p:cNvPr id="17" name="Rounded Rectangle 16"/>
          <p:cNvSpPr/>
          <p:nvPr/>
        </p:nvSpPr>
        <p:spPr>
          <a:xfrm>
            <a:off x="6108192" y="1664208"/>
            <a:ext cx="5175504" cy="1673352"/>
          </a:xfrm>
          <a:prstGeom prst="roundRect">
            <a:avLst/>
          </a:prstGeom>
          <a:solidFill>
            <a:srgbClr val="E9F2FB"/>
          </a:solidFill>
          <a:ln w="10160">
            <a:solidFill>
              <a:srgbClr val="D9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08192" y="1664208"/>
            <a:ext cx="50292" cy="1673352"/>
          </a:xfrm>
          <a:prstGeom prst="rect">
            <a:avLst/>
          </a:prstGeom>
          <a:solidFill>
            <a:srgbClr val="2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1072" y="1828800"/>
            <a:ext cx="658368" cy="457200"/>
          </a:xfrm>
          <a:prstGeom prst="rect">
            <a:avLst/>
          </a:prstGeom>
          <a:noFill/>
        </p:spPr>
        <p:txBody>
          <a:bodyPr wrap="square" anchor="t">
            <a:spAutoFit/>
          </a:bodyPr>
          <a:lstStyle/>
          <a:p>
            <a:pPr algn="l"/>
            <a:r>
              <a:rPr sz="2300" b="1">
                <a:solidFill>
                  <a:srgbClr val="2F6FB2"/>
                </a:solidFill>
                <a:latin typeface="Cambria"/>
              </a:rPr>
              <a:t>02</a:t>
            </a:r>
          </a:p>
        </p:txBody>
      </p:sp>
      <p:sp>
        <p:nvSpPr>
          <p:cNvPr id="20" name="TextBox 19"/>
          <p:cNvSpPr txBox="1"/>
          <p:nvPr/>
        </p:nvSpPr>
        <p:spPr>
          <a:xfrm>
            <a:off x="6958583" y="1847088"/>
            <a:ext cx="4123944" cy="310896"/>
          </a:xfrm>
          <a:prstGeom prst="rect">
            <a:avLst/>
          </a:prstGeom>
          <a:noFill/>
        </p:spPr>
        <p:txBody>
          <a:bodyPr wrap="square" anchor="t">
            <a:spAutoFit/>
          </a:bodyPr>
          <a:lstStyle/>
          <a:p>
            <a:pPr algn="l"/>
            <a:r>
              <a:rPr sz="940" b="1">
                <a:solidFill>
                  <a:srgbClr val="2F6FB2"/>
                </a:solidFill>
                <a:latin typeface="Consolas"/>
              </a:rPr>
              <a:t>ABLATION + INDEPENDENCE</a:t>
            </a:r>
          </a:p>
        </p:txBody>
      </p:sp>
      <p:sp>
        <p:nvSpPr>
          <p:cNvPr id="21" name="TextBox 20"/>
          <p:cNvSpPr txBox="1"/>
          <p:nvPr/>
        </p:nvSpPr>
        <p:spPr>
          <a:xfrm>
            <a:off x="6309359" y="2258568"/>
            <a:ext cx="4764024" cy="923544"/>
          </a:xfrm>
          <a:prstGeom prst="rect">
            <a:avLst/>
          </a:prstGeom>
          <a:noFill/>
        </p:spPr>
        <p:txBody>
          <a:bodyPr wrap="square" anchor="t">
            <a:spAutoFit/>
          </a:bodyPr>
          <a:lstStyle/>
          <a:p>
            <a:pPr algn="l"/>
            <a:r>
              <a:rPr sz="1019" b="0">
                <a:solidFill>
                  <a:srgbClr val="1F2D3D"/>
                </a:solidFill>
                <a:latin typeface="Aptos"/>
              </a:rPr>
              <a:t>Leave-one-out / strongest-repair tests try to remove each invariant. Confounded fixtures were rejected or narrowed. Distinct countermodels show that no current invariant is implied by the other five.</a:t>
            </a:r>
          </a:p>
        </p:txBody>
      </p:sp>
      <p:sp>
        <p:nvSpPr>
          <p:cNvPr id="22" name="Rounded Rectangle 21"/>
          <p:cNvSpPr/>
          <p:nvPr/>
        </p:nvSpPr>
        <p:spPr>
          <a:xfrm>
            <a:off x="621792" y="3584448"/>
            <a:ext cx="5239512" cy="1673352"/>
          </a:xfrm>
          <a:prstGeom prst="roundRect">
            <a:avLst/>
          </a:prstGeom>
          <a:solidFill>
            <a:srgbClr val="FBF1E5"/>
          </a:solidFill>
          <a:ln w="10160">
            <a:solidFill>
              <a:srgbClr val="D9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 y="3584448"/>
            <a:ext cx="50292" cy="1673352"/>
          </a:xfrm>
          <a:prstGeom prst="rect">
            <a:avLst/>
          </a:prstGeom>
          <a:solidFill>
            <a:srgbClr val="C86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749039"/>
            <a:ext cx="658368" cy="457200"/>
          </a:xfrm>
          <a:prstGeom prst="rect">
            <a:avLst/>
          </a:prstGeom>
          <a:noFill/>
        </p:spPr>
        <p:txBody>
          <a:bodyPr wrap="square" anchor="t">
            <a:spAutoFit/>
          </a:bodyPr>
          <a:lstStyle/>
          <a:p>
            <a:pPr algn="l"/>
            <a:r>
              <a:rPr sz="2300" b="1">
                <a:solidFill>
                  <a:srgbClr val="C86E14"/>
                </a:solidFill>
                <a:latin typeface="Cambria"/>
              </a:rPr>
              <a:t>03</a:t>
            </a:r>
          </a:p>
        </p:txBody>
      </p:sp>
      <p:sp>
        <p:nvSpPr>
          <p:cNvPr id="25" name="TextBox 24"/>
          <p:cNvSpPr txBox="1"/>
          <p:nvPr/>
        </p:nvSpPr>
        <p:spPr>
          <a:xfrm>
            <a:off x="1472184" y="3767328"/>
            <a:ext cx="4187952" cy="310896"/>
          </a:xfrm>
          <a:prstGeom prst="rect">
            <a:avLst/>
          </a:prstGeom>
          <a:noFill/>
        </p:spPr>
        <p:txBody>
          <a:bodyPr wrap="square" anchor="t">
            <a:spAutoFit/>
          </a:bodyPr>
          <a:lstStyle/>
          <a:p>
            <a:pPr algn="l"/>
            <a:r>
              <a:rPr sz="940" b="1">
                <a:solidFill>
                  <a:srgbClr val="C86E14"/>
                </a:solidFill>
                <a:latin typeface="Consolas"/>
              </a:rPr>
              <a:t>DIAGNOSTIC MINIMALITY</a:t>
            </a:r>
          </a:p>
        </p:txBody>
      </p:sp>
      <p:sp>
        <p:nvSpPr>
          <p:cNvPr id="26" name="TextBox 25"/>
          <p:cNvSpPr txBox="1"/>
          <p:nvPr/>
        </p:nvSpPr>
        <p:spPr>
          <a:xfrm>
            <a:off x="822960" y="4178808"/>
            <a:ext cx="4828032" cy="923544"/>
          </a:xfrm>
          <a:prstGeom prst="rect">
            <a:avLst/>
          </a:prstGeom>
          <a:noFill/>
        </p:spPr>
        <p:txBody>
          <a:bodyPr wrap="square" anchor="t">
            <a:spAutoFit/>
          </a:bodyPr>
          <a:lstStyle/>
          <a:p>
            <a:pPr algn="l"/>
            <a:r>
              <a:rPr sz="1019" b="0">
                <a:solidFill>
                  <a:srgbClr val="1F2D3D"/>
                </a:solidFill>
                <a:latin typeface="Aptos"/>
              </a:rPr>
              <a:t>All 64 pass/fail signatures are realizable on the shared substrate. A lossless Boolean diagnostic basis therefore needs at least six coordinates; this is a bounded minimality result, not universal minimality.</a:t>
            </a:r>
          </a:p>
        </p:txBody>
      </p:sp>
      <p:sp>
        <p:nvSpPr>
          <p:cNvPr id="27" name="Rounded Rectangle 26"/>
          <p:cNvSpPr/>
          <p:nvPr/>
        </p:nvSpPr>
        <p:spPr>
          <a:xfrm>
            <a:off x="6108192" y="3584448"/>
            <a:ext cx="5175504" cy="1673352"/>
          </a:xfrm>
          <a:prstGeom prst="roundRect">
            <a:avLst/>
          </a:prstGeom>
          <a:solidFill>
            <a:srgbClr val="F6F8FB"/>
          </a:solidFill>
          <a:ln w="10160">
            <a:solidFill>
              <a:srgbClr val="D9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08192" y="3584448"/>
            <a:ext cx="50292" cy="1673352"/>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1072" y="3749039"/>
            <a:ext cx="658368" cy="457200"/>
          </a:xfrm>
          <a:prstGeom prst="rect">
            <a:avLst/>
          </a:prstGeom>
          <a:noFill/>
        </p:spPr>
        <p:txBody>
          <a:bodyPr wrap="square" anchor="t">
            <a:spAutoFit/>
          </a:bodyPr>
          <a:lstStyle/>
          <a:p>
            <a:pPr algn="l"/>
            <a:r>
              <a:rPr sz="2300" b="1">
                <a:solidFill>
                  <a:srgbClr val="24355B"/>
                </a:solidFill>
                <a:latin typeface="Cambria"/>
              </a:rPr>
              <a:t>04</a:t>
            </a:r>
          </a:p>
        </p:txBody>
      </p:sp>
      <p:sp>
        <p:nvSpPr>
          <p:cNvPr id="30" name="TextBox 29"/>
          <p:cNvSpPr txBox="1"/>
          <p:nvPr/>
        </p:nvSpPr>
        <p:spPr>
          <a:xfrm>
            <a:off x="6958583" y="3767328"/>
            <a:ext cx="4123944" cy="310896"/>
          </a:xfrm>
          <a:prstGeom prst="rect">
            <a:avLst/>
          </a:prstGeom>
          <a:noFill/>
        </p:spPr>
        <p:txBody>
          <a:bodyPr wrap="square" anchor="t">
            <a:spAutoFit/>
          </a:bodyPr>
          <a:lstStyle/>
          <a:p>
            <a:pPr algn="l"/>
            <a:r>
              <a:rPr sz="940" b="1">
                <a:solidFill>
                  <a:srgbClr val="24355B"/>
                </a:solidFill>
                <a:latin typeface="Consolas"/>
              </a:rPr>
              <a:t>EXTENSIBILITY</a:t>
            </a:r>
          </a:p>
        </p:txBody>
      </p:sp>
      <p:sp>
        <p:nvSpPr>
          <p:cNvPr id="31" name="TextBox 30"/>
          <p:cNvSpPr txBox="1"/>
          <p:nvPr/>
        </p:nvSpPr>
        <p:spPr>
          <a:xfrm>
            <a:off x="6309359" y="4178808"/>
            <a:ext cx="4764024" cy="923544"/>
          </a:xfrm>
          <a:prstGeom prst="rect">
            <a:avLst/>
          </a:prstGeom>
          <a:noFill/>
        </p:spPr>
        <p:txBody>
          <a:bodyPr wrap="square" anchor="t">
            <a:spAutoFit/>
          </a:bodyPr>
          <a:lstStyle/>
          <a:p>
            <a:pPr algn="l"/>
            <a:r>
              <a:rPr sz="1019" b="0">
                <a:solidFill>
                  <a:srgbClr val="1F2D3D"/>
                </a:solidFill>
                <a:latin typeface="Aptos"/>
              </a:rPr>
              <a:t>The same successful route can move DOWN, UP or HORIZONTAL when the structural kernel is preserved. A new local requirement is not allowed; a genuine new primitive becomes Requirements-vNext evidence.</a:t>
            </a:r>
          </a:p>
        </p:txBody>
      </p:sp>
      <p:sp>
        <p:nvSpPr>
          <p:cNvPr id="32" name="Rounded Rectangle 31"/>
          <p:cNvSpPr/>
          <p:nvPr/>
        </p:nvSpPr>
        <p:spPr>
          <a:xfrm>
            <a:off x="621792" y="5486400"/>
            <a:ext cx="10661904" cy="667512"/>
          </a:xfrm>
          <a:prstGeom prst="round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5632704"/>
            <a:ext cx="2286000" cy="219456"/>
          </a:xfrm>
          <a:prstGeom prst="rect">
            <a:avLst/>
          </a:prstGeom>
          <a:noFill/>
        </p:spPr>
        <p:txBody>
          <a:bodyPr wrap="square" anchor="t">
            <a:spAutoFit/>
          </a:bodyPr>
          <a:lstStyle/>
          <a:p>
            <a:pPr algn="l"/>
            <a:r>
              <a:rPr sz="919" b="1">
                <a:solidFill>
                  <a:srgbClr val="FFFFFF"/>
                </a:solidFill>
                <a:latin typeface="Consolas"/>
              </a:rPr>
              <a:t>CURRENT INTEGRATED CHECK</a:t>
            </a:r>
          </a:p>
        </p:txBody>
      </p:sp>
      <p:sp>
        <p:nvSpPr>
          <p:cNvPr id="34" name="TextBox 33"/>
          <p:cNvSpPr txBox="1"/>
          <p:nvPr/>
        </p:nvSpPr>
        <p:spPr>
          <a:xfrm>
            <a:off x="3063240" y="5596128"/>
            <a:ext cx="7955279" cy="320040"/>
          </a:xfrm>
          <a:prstGeom prst="rect">
            <a:avLst/>
          </a:prstGeom>
          <a:noFill/>
        </p:spPr>
        <p:txBody>
          <a:bodyPr wrap="square" anchor="t">
            <a:spAutoFit/>
          </a:bodyPr>
          <a:lstStyle/>
          <a:p>
            <a:pPr algn="l"/>
            <a:r>
              <a:rPr sz="1010" b="1">
                <a:solidFill>
                  <a:srgbClr val="FFFFFF"/>
                </a:solidFill>
                <a:latin typeface="Aptos"/>
              </a:rPr>
              <a:t>379/379 symbolic campaign  ·  full-cube minimality  ·  conformance sufficiency  ·  closure  ·  case-extensibility registry</a:t>
            </a:r>
          </a:p>
        </p:txBody>
      </p:sp>
      <p:sp>
        <p:nvSpPr>
          <p:cNvPr id="35" name="TextBox 34"/>
          <p:cNvSpPr txBox="1"/>
          <p:nvPr/>
        </p:nvSpPr>
        <p:spPr>
          <a:xfrm>
            <a:off x="667512" y="6199632"/>
            <a:ext cx="10607040" cy="182880"/>
          </a:xfrm>
          <a:prstGeom prst="rect">
            <a:avLst/>
          </a:prstGeom>
          <a:noFill/>
        </p:spPr>
        <p:txBody>
          <a:bodyPr wrap="square" anchor="t">
            <a:spAutoFit/>
          </a:bodyPr>
          <a:lstStyle/>
          <a:p>
            <a:pPr algn="l"/>
            <a:r>
              <a:rPr sz="810" b="0">
                <a:solidFill>
                  <a:srgbClr val="5D6775"/>
                </a:solidFill>
                <a:latin typeface="Aptos"/>
              </a:rPr>
              <a:t>Bounded evidence: formal / deterministic fixtures. Not a claim of universal minimality, production superiority or standards adoption.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D54"/>
        </a:solidFill>
        <a:effectLst/>
      </p:bgPr>
    </p:bg>
    <p:spTree>
      <p:nvGrpSpPr>
        <p:cNvPr id="1" name=""/>
        <p:cNvGrpSpPr/>
        <p:nvPr/>
      </p:nvGrpSpPr>
      <p:grpSpPr/>
      <p:sp>
        <p:nvSpPr>
          <p:cNvPr id="2" name="TextBox 1"/>
          <p:cNvSpPr txBox="1"/>
          <p:nvPr/>
        </p:nvSpPr>
        <p:spPr>
          <a:xfrm>
            <a:off x="685800" y="320040"/>
            <a:ext cx="5029200" cy="320040"/>
          </a:xfrm>
          <a:prstGeom prst="rect">
            <a:avLst/>
          </a:prstGeom>
          <a:noFill/>
        </p:spPr>
        <p:txBody>
          <a:bodyPr wrap="none">
            <a:spAutoFit/>
          </a:bodyPr>
          <a:lstStyle/>
          <a:p>
            <a:r>
              <a:rPr sz="1600">
                <a:solidFill>
                  <a:srgbClr val="D2DEEB"/>
                </a:solidFill>
                <a:latin typeface="Aptos"/>
              </a:rPr>
              <a:t>ARCHITECTURAL DIFFERENTIAL</a:t>
            </a:r>
          </a:p>
        </p:txBody>
      </p:sp>
      <p:sp>
        <p:nvSpPr>
          <p:cNvPr id="3" name="TextBox 2"/>
          <p:cNvSpPr txBox="1"/>
          <p:nvPr/>
        </p:nvSpPr>
        <p:spPr>
          <a:xfrm>
            <a:off x="10972800" y="320040"/>
            <a:ext cx="731520" cy="320040"/>
          </a:xfrm>
          <a:prstGeom prst="rect">
            <a:avLst/>
          </a:prstGeom>
          <a:noFill/>
        </p:spPr>
        <p:txBody>
          <a:bodyPr wrap="none">
            <a:spAutoFit/>
          </a:bodyPr>
          <a:lstStyle/>
          <a:p>
            <a:pPr algn="r"/>
            <a:r>
              <a:rPr sz="1400">
                <a:solidFill>
                  <a:srgbClr val="D2DEEB"/>
                </a:solidFill>
                <a:latin typeface="Aptos"/>
              </a:rPr>
              <a:t>§ B</a:t>
            </a:r>
          </a:p>
        </p:txBody>
      </p:sp>
      <p:sp>
        <p:nvSpPr>
          <p:cNvPr id="4" name="Rectangle 3"/>
          <p:cNvSpPr/>
          <p:nvPr/>
        </p:nvSpPr>
        <p:spPr>
          <a:xfrm>
            <a:off x="685800" y="713232"/>
            <a:ext cx="10972800" cy="13716"/>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22960"/>
            <a:ext cx="10972800" cy="13716"/>
          </a:xfrm>
          <a:prstGeom prst="rect">
            <a:avLst/>
          </a:prstGeom>
          <a:solidFill>
            <a:srgbClr val="14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972800" cy="914400"/>
          </a:xfrm>
          <a:prstGeom prst="rect">
            <a:avLst/>
          </a:prstGeom>
          <a:noFill/>
        </p:spPr>
        <p:txBody>
          <a:bodyPr wrap="none">
            <a:spAutoFit/>
          </a:bodyPr>
          <a:lstStyle/>
          <a:p>
            <a:r>
              <a:rPr sz="3000" b="1">
                <a:solidFill>
                  <a:srgbClr val="FFFFFF"/>
                </a:solidFill>
                <a:latin typeface="Aptos Display"/>
                <a:hlinkClick r:id="rId2"/>
              </a:rPr>
              <a:t>Architectural Differential</a:t>
            </a:r>
          </a:p>
        </p:txBody>
      </p:sp>
      <p:sp>
        <p:nvSpPr>
          <p:cNvPr id="7" name="TextBox 6"/>
          <p:cNvSpPr txBox="1"/>
          <p:nvPr/>
        </p:nvSpPr>
        <p:spPr>
          <a:xfrm>
            <a:off x="685800" y="2743200"/>
            <a:ext cx="10515600" cy="1097280"/>
          </a:xfrm>
          <a:prstGeom prst="rect">
            <a:avLst/>
          </a:prstGeom>
          <a:noFill/>
        </p:spPr>
        <p:txBody>
          <a:bodyPr wrap="square">
            <a:spAutoFit/>
          </a:bodyPr>
          <a:lstStyle/>
          <a:p>
            <a:r>
              <a:rPr sz="1600">
                <a:solidFill>
                  <a:srgbClr val="D2DEEB"/>
                </a:solidFill>
                <a:latin typeface="Aptos"/>
              </a:rPr>
              <a:t>How the positioning architecture differs from the current reference baseline and why that difference matters.</a:t>
            </a:r>
          </a:p>
        </p:txBody>
      </p:sp>
      <p:sp>
        <p:nvSpPr>
          <p:cNvPr id="8" name="TextBox 7"/>
          <p:cNvSpPr txBox="1"/>
          <p:nvPr/>
        </p:nvSpPr>
        <p:spPr>
          <a:xfrm>
            <a:off x="4389120" y="6400800"/>
            <a:ext cx="3474720" cy="274320"/>
          </a:xfrm>
          <a:prstGeom prst="rect">
            <a:avLst/>
          </a:prstGeom>
          <a:noFill/>
        </p:spPr>
        <p:txBody>
          <a:bodyPr wrap="none">
            <a:spAutoFit/>
          </a:bodyPr>
          <a:lstStyle/>
          <a:p>
            <a:pPr algn="ctr"/>
            <a:r>
              <a:rPr sz="1000">
                <a:solidFill>
                  <a:srgbClr val="D2DEEB"/>
                </a:solidFill>
                <a:latin typeface="Aptos"/>
              </a:rPr>
              <a:t>Ecosystem Awareness · Positioning architecture</a:t>
            </a:r>
          </a:p>
        </p:txBody>
      </p:sp>
      <p:sp>
        <p:nvSpPr>
          <p:cNvPr id="9" name="TextBox 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
              </a:rPr>
              <a:t>Benchmark vNext · architectural differential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b="0" i="0" u="none">
                <a:solidFill>
                  <a:srgbClr val="1F2D3D"/>
                </a:solidFill>
                <a:latin typeface="Consolas"/>
              </a:rPr>
              <a:t>BENCHMARK CONTEXT</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i="0" u="none">
                <a:solidFill>
                  <a:srgbClr val="1F2D3D"/>
                </a:solidFill>
                <a:latin typeface="Consolas"/>
              </a:rPr>
              <a:t>§ B1</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i="0" u="none">
                <a:solidFill>
                  <a:srgbClr val="24355B"/>
                </a:solidFill>
                <a:latin typeface="Cambria"/>
              </a:rPr>
              <a:t>Current standards already define the boundary</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080">
                <a:solidFill>
                  <a:srgbClr val="5D6775"/>
                </a:solidFill>
                <a:latin typeface="Aptos"/>
              </a:rPr>
              <a:t>The benchmark credits existing primitives at full strength — then tests the composition and requalification obligations that remain outside their stated scope.</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7276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72768"/>
            <a:ext cx="50292" cy="1417320"/>
          </a:xfrm>
          <a:prstGeom prst="rect">
            <a:avLst/>
          </a:prstGeom>
          <a:solidFill>
            <a:srgbClr val="2F6FB2"/>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0078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SPIFFE / SPIRE — workload identity</a:t>
            </a:r>
          </a:p>
        </p:txBody>
      </p:sp>
      <p:sp>
        <p:nvSpPr>
          <p:cNvPr id="10" name="TextBox 9"/>
          <p:cNvSpPr txBox="1"/>
          <p:nvPr/>
        </p:nvSpPr>
        <p:spPr>
          <a:xfrm>
            <a:off x="713232" y="201168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Distributed workload authentication is the primitive. SPIFFE/SPIRE documentation explicitly separates authentication from authorization policy.</a:t>
            </a:r>
          </a:p>
        </p:txBody>
      </p:sp>
      <p:sp>
        <p:nvSpPr>
          <p:cNvPr id="11" name="TextBox 10"/>
          <p:cNvSpPr txBox="1"/>
          <p:nvPr/>
        </p:nvSpPr>
        <p:spPr>
          <a:xfrm>
            <a:off x="713232" y="277063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2"/>
              </a:rPr>
              <a:t>SPIFFE — authorization boundary</a:t>
            </a:r>
          </a:p>
        </p:txBody>
      </p:sp>
      <p:sp>
        <p:nvSpPr>
          <p:cNvPr id="12" name="Rounded Rectangle 11"/>
          <p:cNvSpPr/>
          <p:nvPr/>
        </p:nvSpPr>
        <p:spPr>
          <a:xfrm>
            <a:off x="6144768" y="157276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572768"/>
            <a:ext cx="50292" cy="1417320"/>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0078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RFC 8693 — subject / actor token exchange</a:t>
            </a:r>
          </a:p>
        </p:txBody>
      </p:sp>
      <p:sp>
        <p:nvSpPr>
          <p:cNvPr id="15" name="TextBox 14"/>
          <p:cNvSpPr txBox="1"/>
          <p:nvPr/>
        </p:nvSpPr>
        <p:spPr>
          <a:xfrm>
            <a:off x="6291072" y="201168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Delegated token exchange can represent subject and actor relationships, but the exchange is one-time and does not create a general persistent linkage or general revocation-propagation semantics.</a:t>
            </a:r>
          </a:p>
        </p:txBody>
      </p:sp>
      <p:sp>
        <p:nvSpPr>
          <p:cNvPr id="16" name="TextBox 15"/>
          <p:cNvSpPr txBox="1"/>
          <p:nvPr/>
        </p:nvSpPr>
        <p:spPr>
          <a:xfrm>
            <a:off x="6291072" y="277063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3"/>
              </a:rPr>
              <a:t>RFC 8693</a:t>
            </a:r>
          </a:p>
        </p:txBody>
      </p:sp>
      <p:sp>
        <p:nvSpPr>
          <p:cNvPr id="17" name="Rounded Rectangle 16"/>
          <p:cNvSpPr/>
          <p:nvPr/>
        </p:nvSpPr>
        <p:spPr>
          <a:xfrm>
            <a:off x="566928" y="321868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218688"/>
            <a:ext cx="50292" cy="1417320"/>
          </a:xfrm>
          <a:prstGeom prst="rect">
            <a:avLst/>
          </a:prstGeom>
          <a:solidFill>
            <a:srgbClr val="00848A"/>
          </a:solidFill>
          <a:ln>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34670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RFC 9334 RATS — attestation / appraisal</a:t>
            </a:r>
          </a:p>
        </p:txBody>
      </p:sp>
      <p:sp>
        <p:nvSpPr>
          <p:cNvPr id="20" name="TextBox 19"/>
          <p:cNvSpPr txBox="1"/>
          <p:nvPr/>
        </p:nvSpPr>
        <p:spPr>
          <a:xfrm>
            <a:off x="713232" y="365760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A Verifier produces Attestation Results. The Relying Party then applies its own appraisal policy to make the application-specific decision.</a:t>
            </a:r>
          </a:p>
        </p:txBody>
      </p:sp>
      <p:sp>
        <p:nvSpPr>
          <p:cNvPr id="21" name="TextBox 20"/>
          <p:cNvSpPr txBox="1"/>
          <p:nvPr/>
        </p:nvSpPr>
        <p:spPr>
          <a:xfrm>
            <a:off x="713232" y="441655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4"/>
              </a:rPr>
              <a:t>RFC 9334 RATS</a:t>
            </a:r>
          </a:p>
        </p:txBody>
      </p:sp>
      <p:sp>
        <p:nvSpPr>
          <p:cNvPr id="22" name="Rounded Rectangle 21"/>
          <p:cNvSpPr/>
          <p:nvPr/>
        </p:nvSpPr>
        <p:spPr>
          <a:xfrm>
            <a:off x="6144768" y="321868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218688"/>
            <a:ext cx="50292" cy="1417320"/>
          </a:xfrm>
          <a:prstGeom prst="rect">
            <a:avLst/>
          </a:prstGeom>
          <a:solidFill>
            <a:srgbClr val="D07800"/>
          </a:solidFill>
          <a:ln>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334670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NIST NCCoE 2026 — AI-agent identity &amp; authorization</a:t>
            </a:r>
          </a:p>
        </p:txBody>
      </p:sp>
      <p:sp>
        <p:nvSpPr>
          <p:cNvPr id="25" name="TextBox 24"/>
          <p:cNvSpPr txBox="1"/>
          <p:nvPr/>
        </p:nvSpPr>
        <p:spPr>
          <a:xfrm>
            <a:off x="6291072" y="365760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NIST is actively scoping standards-based approaches to identify, manage and authorize software/AI agents. The current project is still in the project-definition / comment-review stage.</a:t>
            </a:r>
          </a:p>
        </p:txBody>
      </p:sp>
      <p:sp>
        <p:nvSpPr>
          <p:cNvPr id="26" name="TextBox 25"/>
          <p:cNvSpPr txBox="1"/>
          <p:nvPr/>
        </p:nvSpPr>
        <p:spPr>
          <a:xfrm>
            <a:off x="6291072" y="441655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5"/>
              </a:rPr>
              <a:t>NIST NCCoE — Software and AI Agent Identity and Authorization</a:t>
            </a:r>
          </a:p>
        </p:txBody>
      </p:sp>
      <p:sp>
        <p:nvSpPr>
          <p:cNvPr id="27" name="Rounded Rectangle 26"/>
          <p:cNvSpPr/>
          <p:nvPr/>
        </p:nvSpPr>
        <p:spPr>
          <a:xfrm>
            <a:off x="566928" y="4956048"/>
            <a:ext cx="10835640" cy="896112"/>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138928"/>
            <a:ext cx="1874519" cy="182880"/>
          </a:xfrm>
          <a:prstGeom prst="rect">
            <a:avLst/>
          </a:prstGeom>
          <a:noFill/>
        </p:spPr>
        <p:txBody>
          <a:bodyPr wrap="square" anchor="t" lIns="0" rIns="0" tIns="0" bIns="0">
            <a:spAutoFit/>
          </a:bodyPr>
          <a:lstStyle/>
          <a:p>
            <a:pPr algn="l"/>
            <a:r>
              <a:rPr sz="860" b="1" i="0" u="none">
                <a:solidFill>
                  <a:srgbClr val="24355B"/>
                </a:solidFill>
                <a:latin typeface="Consolas"/>
              </a:rPr>
              <a:t>BENCHMARK STARTING POINT</a:t>
            </a:r>
          </a:p>
        </p:txBody>
      </p:sp>
      <p:sp>
        <p:nvSpPr>
          <p:cNvPr id="29" name="TextBox 28"/>
          <p:cNvSpPr txBox="1"/>
          <p:nvPr/>
        </p:nvSpPr>
        <p:spPr>
          <a:xfrm>
            <a:off x="2670048" y="5084064"/>
            <a:ext cx="8366760" cy="438912"/>
          </a:xfrm>
          <a:prstGeom prst="rect">
            <a:avLst/>
          </a:prstGeom>
          <a:noFill/>
        </p:spPr>
        <p:txBody>
          <a:bodyPr wrap="square" anchor="t" lIns="0" rIns="0" tIns="0" bIns="0">
            <a:spAutoFit/>
          </a:bodyPr>
          <a:lstStyle/>
          <a:p>
            <a:pPr algn="l"/>
            <a:r>
              <a:rPr sz="1030" b="0" i="0" u="none">
                <a:solidFill>
                  <a:srgbClr val="1F2D3D"/>
                </a:solidFill>
                <a:latin typeface="Calibri"/>
              </a:rPr>
              <a:t>Ecosystem Positioning is not presented as a replacement for identity, delegation, attestation or policy. The differential under test is the composition and requalification gap that appears when locally valid primitives cross changing participants, authority, evidence, dependencies and context.</a:t>
            </a:r>
          </a:p>
        </p:txBody>
      </p:sp>
      <p:sp>
        <p:nvSpPr>
          <p:cNvPr id="30" name="TextBox 29"/>
          <p:cNvSpPr txBox="1"/>
          <p:nvPr/>
        </p:nvSpPr>
        <p:spPr>
          <a:xfrm>
            <a:off x="8458200" y="5596128"/>
            <a:ext cx="2578608" cy="164592"/>
          </a:xfrm>
          <a:prstGeom prst="rect">
            <a:avLst/>
          </a:prstGeom>
          <a:noFill/>
        </p:spPr>
        <p:txBody>
          <a:bodyPr wrap="square" anchor="t" lIns="0" rIns="0" tIns="0" bIns="0">
            <a:spAutoFit/>
          </a:bodyPr>
          <a:lstStyle/>
          <a:p>
            <a:pPr algn="l"/>
            <a:r>
              <a:rPr sz="840" b="1" i="0" u="sng">
                <a:solidFill>
                  <a:srgbClr val="2F6FB2"/>
                </a:solidFill>
                <a:latin typeface="Calibri"/>
                <a:hlinkClick r:id="rId6"/>
              </a:rPr>
              <a:t>Benchmark v0.3 — standards boundary</a:t>
            </a:r>
          </a:p>
        </p:txBody>
      </p:sp>
      <p:sp>
        <p:nvSpPr>
          <p:cNvPr id="31" name="Rectangle 30"/>
          <p:cNvSpPr/>
          <p:nvPr/>
        </p:nvSpPr>
        <p:spPr>
          <a:xfrm>
            <a:off x="566928" y="6236208"/>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69080" y="6355080"/>
            <a:ext cx="3657600" cy="146304"/>
          </a:xfrm>
          <a:prstGeom prst="rect">
            <a:avLst/>
          </a:prstGeom>
          <a:noFill/>
        </p:spPr>
        <p:txBody>
          <a:bodyPr wrap="square" anchor="t" lIns="0" rIns="0" tIns="0" bIns="0">
            <a:spAutoFit/>
          </a:bodyPr>
          <a:lstStyle/>
          <a:p>
            <a:pPr algn="ctr"/>
            <a:r>
              <a:rPr sz="720" b="0" i="0" u="none">
                <a:solidFill>
                  <a:srgbClr val="5D6775"/>
                </a:solidFill>
                <a:latin typeface="Consolas"/>
              </a:rPr>
              <a:t>Ecosystem Awareness · Positioning architecture</a:t>
            </a:r>
          </a:p>
        </p:txBody>
      </p:sp>
      <p:sp>
        <p:nvSpPr>
          <p:cNvPr id="33" name="TextBox 32"/>
          <p:cNvSpPr txBox="1"/>
          <p:nvPr/>
        </p:nvSpPr>
        <p:spPr>
          <a:xfrm>
            <a:off x="11045952" y="6355080"/>
            <a:ext cx="274320" cy="146304"/>
          </a:xfrm>
          <a:prstGeom prst="rect">
            <a:avLst/>
          </a:prstGeom>
          <a:noFill/>
        </p:spPr>
        <p:txBody>
          <a:bodyPr wrap="square" anchor="t" lIns="0" rIns="0" tIns="0" bIns="0">
            <a:spAutoFit/>
          </a:bodyPr>
          <a:lstStyle/>
          <a:p>
            <a:pPr algn="r"/>
            <a:r>
              <a:rPr sz="850">
                <a:solidFill>
                  <a:srgbClr val="5D6775"/>
                </a:solidFill>
                <a:latin typeface="Aptos"/>
              </a:rPr>
              <a:t>11</a:t>
            </a:r>
          </a:p>
        </p:txBody>
      </p:sp>
      <p:sp>
        <p:nvSpPr>
          <p:cNvPr id="34" name="TextBox 33"/>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7"/>
              </a:rPr>
              <a:t>Benchmark vNext · standards boundary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b="0" i="0" u="none">
                <a:solidFill>
                  <a:srgbClr val="1F2D3D"/>
                </a:solidFill>
                <a:latin typeface="Consolas"/>
              </a:rPr>
              <a:t>BENCHMARK</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i="0" u="none">
                <a:solidFill>
                  <a:srgbClr val="1F2D3D"/>
                </a:solidFill>
                <a:latin typeface="Consolas"/>
              </a:rPr>
              <a:t>§ B2</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i="0" u="none">
                <a:solidFill>
                  <a:srgbClr val="24355B"/>
                </a:solidFill>
                <a:latin typeface="Cambria"/>
              </a:rPr>
              <a:t>Benchmark — comparison, not marketing</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120" b="0" i="0" u="none">
                <a:solidFill>
                  <a:srgbClr val="5D6775"/>
                </a:solidFill>
                <a:latin typeface="Calibri"/>
              </a:rPr>
              <a:t>The benchmark is deliberately symmetric: a strong peer is allowed to win under the same facts, authority, resources and deadlines.</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664208"/>
            <a:ext cx="384048" cy="201168"/>
          </a:xfrm>
          <a:prstGeom prst="rect">
            <a:avLst/>
          </a:prstGeom>
          <a:noFill/>
        </p:spPr>
        <p:txBody>
          <a:bodyPr wrap="square" anchor="t" lIns="0" rIns="0" tIns="0" bIns="0">
            <a:spAutoFit/>
          </a:bodyPr>
          <a:lstStyle/>
          <a:p>
            <a:pPr algn="l"/>
            <a:r>
              <a:rPr sz="1000" b="1" i="0" u="none">
                <a:solidFill>
                  <a:srgbClr val="2F6FB2"/>
                </a:solidFill>
                <a:latin typeface="Consolas"/>
              </a:rPr>
              <a:t>B0</a:t>
            </a:r>
          </a:p>
        </p:txBody>
      </p:sp>
      <p:sp>
        <p:nvSpPr>
          <p:cNvPr id="9" name="TextBox 8"/>
          <p:cNvSpPr txBox="1"/>
          <p:nvPr/>
        </p:nvSpPr>
        <p:spPr>
          <a:xfrm>
            <a:off x="1097280"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Ordinary competent</a:t>
            </a:r>
          </a:p>
        </p:txBody>
      </p:sp>
      <p:sp>
        <p:nvSpPr>
          <p:cNvPr id="10" name="TextBox 9"/>
          <p:cNvSpPr txBox="1"/>
          <p:nvPr/>
        </p:nvSpPr>
        <p:spPr>
          <a:xfrm>
            <a:off x="676656"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Unstrengthened implementation; establishes the observed baseline.</a:t>
            </a:r>
          </a:p>
        </p:txBody>
      </p:sp>
      <p:sp>
        <p:nvSpPr>
          <p:cNvPr id="11" name="Rounded Rectangle 10"/>
          <p:cNvSpPr/>
          <p:nvPr/>
        </p:nvSpPr>
        <p:spPr>
          <a:xfrm>
            <a:off x="3319272"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664208"/>
            <a:ext cx="384048" cy="201168"/>
          </a:xfrm>
          <a:prstGeom prst="rect">
            <a:avLst/>
          </a:prstGeom>
          <a:noFill/>
        </p:spPr>
        <p:txBody>
          <a:bodyPr wrap="square" anchor="t" lIns="0" rIns="0" tIns="0" bIns="0">
            <a:spAutoFit/>
          </a:bodyPr>
          <a:lstStyle/>
          <a:p>
            <a:pPr algn="l"/>
            <a:r>
              <a:rPr sz="1000" b="1" i="0" u="none">
                <a:solidFill>
                  <a:srgbClr val="00848A"/>
                </a:solidFill>
                <a:latin typeface="Consolas"/>
              </a:rPr>
              <a:t>B1</a:t>
            </a:r>
          </a:p>
        </p:txBody>
      </p:sp>
      <p:sp>
        <p:nvSpPr>
          <p:cNvPr id="13" name="TextBox 12"/>
          <p:cNvSpPr txBox="1"/>
          <p:nvPr/>
        </p:nvSpPr>
        <p:spPr>
          <a:xfrm>
            <a:off x="3849624"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Strong conventional</a:t>
            </a:r>
          </a:p>
        </p:txBody>
      </p:sp>
      <p:sp>
        <p:nvSpPr>
          <p:cNvPr id="14" name="TextBox 13"/>
          <p:cNvSpPr txBox="1"/>
          <p:nvPr/>
        </p:nvSpPr>
        <p:spPr>
          <a:xfrm>
            <a:off x="3429000"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Provenance, policy/security controls, checkpoints, HITL, tracing and evaluation.</a:t>
            </a:r>
          </a:p>
        </p:txBody>
      </p:sp>
      <p:sp>
        <p:nvSpPr>
          <p:cNvPr id="15" name="Rounded Rectangle 14"/>
          <p:cNvSpPr/>
          <p:nvPr/>
        </p:nvSpPr>
        <p:spPr>
          <a:xfrm>
            <a:off x="6071616"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664208"/>
            <a:ext cx="384048" cy="201168"/>
          </a:xfrm>
          <a:prstGeom prst="rect">
            <a:avLst/>
          </a:prstGeom>
          <a:noFill/>
        </p:spPr>
        <p:txBody>
          <a:bodyPr wrap="square" anchor="t" lIns="0" rIns="0" tIns="0" bIns="0">
            <a:spAutoFit/>
          </a:bodyPr>
          <a:lstStyle/>
          <a:p>
            <a:pPr algn="l"/>
            <a:r>
              <a:rPr sz="1000" b="1" i="0" u="none">
                <a:solidFill>
                  <a:srgbClr val="6A4C93"/>
                </a:solidFill>
                <a:latin typeface="Consolas"/>
              </a:rPr>
              <a:t>B2</a:t>
            </a:r>
          </a:p>
        </p:txBody>
      </p:sp>
      <p:sp>
        <p:nvSpPr>
          <p:cNvPr id="17" name="TextBox 16"/>
          <p:cNvSpPr txBox="1"/>
          <p:nvPr/>
        </p:nvSpPr>
        <p:spPr>
          <a:xfrm>
            <a:off x="6601968"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Strong interoperable peer</a:t>
            </a:r>
          </a:p>
        </p:txBody>
      </p:sp>
      <p:sp>
        <p:nvSpPr>
          <p:cNvPr id="18" name="TextBox 17"/>
          <p:cNvSpPr txBox="1"/>
          <p:nvPr/>
        </p:nvSpPr>
        <p:spPr>
          <a:xfrm>
            <a:off x="6181344"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Identity/access, explicit handoff, cross-system observability and strongest relevant native controls.</a:t>
            </a:r>
          </a:p>
        </p:txBody>
      </p:sp>
      <p:sp>
        <p:nvSpPr>
          <p:cNvPr id="19" name="Rounded Rectangle 18"/>
          <p:cNvSpPr/>
          <p:nvPr/>
        </p:nvSpPr>
        <p:spPr>
          <a:xfrm>
            <a:off x="8823960"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33688" y="1664208"/>
            <a:ext cx="384048" cy="201168"/>
          </a:xfrm>
          <a:prstGeom prst="rect">
            <a:avLst/>
          </a:prstGeom>
          <a:noFill/>
        </p:spPr>
        <p:txBody>
          <a:bodyPr wrap="square" anchor="t" lIns="0" rIns="0" tIns="0" bIns="0">
            <a:spAutoFit/>
          </a:bodyPr>
          <a:lstStyle/>
          <a:p>
            <a:pPr algn="l"/>
            <a:r>
              <a:rPr sz="1000" b="1" i="0" u="none">
                <a:solidFill>
                  <a:srgbClr val="D07800"/>
                </a:solidFill>
                <a:latin typeface="Consolas"/>
              </a:rPr>
              <a:t>B3</a:t>
            </a:r>
          </a:p>
        </p:txBody>
      </p:sp>
      <p:sp>
        <p:nvSpPr>
          <p:cNvPr id="21" name="TextBox 20"/>
          <p:cNvSpPr txBox="1"/>
          <p:nvPr/>
        </p:nvSpPr>
        <p:spPr>
          <a:xfrm>
            <a:off x="9354312"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B2 + EA semantics</a:t>
            </a:r>
          </a:p>
        </p:txBody>
      </p:sp>
      <p:sp>
        <p:nvSpPr>
          <p:cNvPr id="22" name="TextBox 21"/>
          <p:cNvSpPr txBox="1"/>
          <p:nvPr/>
        </p:nvSpPr>
        <p:spPr>
          <a:xfrm>
            <a:off x="8933688"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Minimum scoped qualification, non-fungible uncertainty and bounded requalification under test.</a:t>
            </a:r>
          </a:p>
        </p:txBody>
      </p:sp>
      <p:sp>
        <p:nvSpPr>
          <p:cNvPr id="23" name="Rounded Rectangle 22"/>
          <p:cNvSpPr/>
          <p:nvPr/>
        </p:nvSpPr>
        <p:spPr>
          <a:xfrm>
            <a:off x="566928" y="2907792"/>
            <a:ext cx="5349240" cy="2331720"/>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090672"/>
            <a:ext cx="4937760" cy="219456"/>
          </a:xfrm>
          <a:prstGeom prst="rect">
            <a:avLst/>
          </a:prstGeom>
          <a:noFill/>
        </p:spPr>
        <p:txBody>
          <a:bodyPr wrap="square" anchor="t" lIns="0" rIns="0" tIns="0" bIns="0">
            <a:spAutoFit/>
          </a:bodyPr>
          <a:lstStyle/>
          <a:p>
            <a:pPr algn="l"/>
            <a:r>
              <a:rPr sz="880" b="1" i="0" u="none">
                <a:solidFill>
                  <a:srgbClr val="24355B"/>
                </a:solidFill>
                <a:latin typeface="Consolas"/>
              </a:rPr>
              <a:t>DECISION RULE</a:t>
            </a:r>
          </a:p>
        </p:txBody>
      </p:sp>
      <p:sp>
        <p:nvSpPr>
          <p:cNvPr id="25" name="TextBox 24"/>
          <p:cNvSpPr txBox="1"/>
          <p:nvPr/>
        </p:nvSpPr>
        <p:spPr>
          <a:xfrm>
            <a:off x="768096" y="3401568"/>
            <a:ext cx="4864608" cy="1078992"/>
          </a:xfrm>
          <a:prstGeom prst="rect">
            <a:avLst/>
          </a:prstGeom>
          <a:noFill/>
        </p:spPr>
        <p:txBody>
          <a:bodyPr wrap="square" anchor="t" lIns="0" rIns="0" tIns="0" bIns="0">
            <a:spAutoFit/>
          </a:bodyPr>
          <a:lstStyle/>
          <a:p>
            <a:pPr algn="l"/>
            <a:r>
              <a:rPr sz="1019" b="0" i="0" u="none">
                <a:solidFill>
                  <a:srgbClr val="1F2D3D"/>
                </a:solidFill>
                <a:latin typeface="Calibri"/>
              </a:rPr>
              <a:t>• All arms receive the same frozen facts, evidence access, authority, compute/token ceiling, communication budget, human capacity and deadline.
• If B1/B2 reproduces the proposed behaviour with equal or lower burden, that result counts against differentiation.
• Comparison is made on an outcome–burden–accountability frontier, not on a vendor league table.</a:t>
            </a:r>
          </a:p>
        </p:txBody>
      </p:sp>
      <p:sp>
        <p:nvSpPr>
          <p:cNvPr id="26" name="TextBox 25"/>
          <p:cNvSpPr txBox="1"/>
          <p:nvPr/>
        </p:nvSpPr>
        <p:spPr>
          <a:xfrm>
            <a:off x="768096" y="4754880"/>
            <a:ext cx="2423160" cy="164592"/>
          </a:xfrm>
          <a:prstGeom prst="rect">
            <a:avLst/>
          </a:prstGeom>
          <a:noFill/>
        </p:spPr>
        <p:txBody>
          <a:bodyPr wrap="square" anchor="t" lIns="0" rIns="0" tIns="0" bIns="0">
            <a:spAutoFit/>
          </a:bodyPr>
          <a:lstStyle/>
          <a:p>
            <a:pPr algn="l"/>
            <a:r>
              <a:rPr sz="880" b="1" i="0" u="sng">
                <a:solidFill>
                  <a:srgbClr val="2F6FB2"/>
                </a:solidFill>
                <a:latin typeface="Calibri"/>
                <a:hlinkClick r:id="rId8"/>
              </a:rPr>
              <a:t>Canonical benchmark v0.2</a:t>
            </a:r>
          </a:p>
        </p:txBody>
      </p:sp>
      <p:sp>
        <p:nvSpPr>
          <p:cNvPr id="27" name="TextBox 26"/>
          <p:cNvSpPr txBox="1"/>
          <p:nvPr/>
        </p:nvSpPr>
        <p:spPr>
          <a:xfrm>
            <a:off x="3127248" y="4754880"/>
            <a:ext cx="2423160" cy="164592"/>
          </a:xfrm>
          <a:prstGeom prst="rect">
            <a:avLst/>
          </a:prstGeom>
          <a:noFill/>
        </p:spPr>
        <p:txBody>
          <a:bodyPr wrap="square" anchor="t" lIns="0" rIns="0" tIns="0" bIns="0">
            <a:spAutoFit/>
          </a:bodyPr>
          <a:lstStyle/>
          <a:p>
            <a:pPr algn="l"/>
            <a:r>
              <a:rPr sz="880" b="1" i="0" u="sng">
                <a:solidFill>
                  <a:srgbClr val="2F6FB2"/>
                </a:solidFill>
                <a:latin typeface="Calibri"/>
                <a:hlinkClick r:id="rId10"/>
              </a:rPr>
              <a:t>Benchmark vNext v0.3</a:t>
            </a:r>
          </a:p>
        </p:txBody>
      </p:sp>
      <p:sp>
        <p:nvSpPr>
          <p:cNvPr id="28" name="Rounded Rectangle 27"/>
          <p:cNvSpPr/>
          <p:nvPr/>
        </p:nvSpPr>
        <p:spPr>
          <a:xfrm>
            <a:off x="6144768" y="2907792"/>
            <a:ext cx="5257800" cy="2331720"/>
          </a:xfrm>
          <a:prstGeom prst="roundRect">
            <a:avLst/>
          </a:prstGeom>
          <a:solidFill>
            <a:srgbClr val="FFFFFF"/>
          </a:solidFill>
          <a:ln w="15875">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3090672"/>
            <a:ext cx="4754880" cy="219456"/>
          </a:xfrm>
          <a:prstGeom prst="rect">
            <a:avLst/>
          </a:prstGeom>
          <a:noFill/>
        </p:spPr>
        <p:txBody>
          <a:bodyPr wrap="square" anchor="t" lIns="0" rIns="0" tIns="0" bIns="0">
            <a:spAutoFit/>
          </a:bodyPr>
          <a:lstStyle/>
          <a:p>
            <a:pPr algn="l"/>
            <a:r>
              <a:rPr sz="880" b="1" i="0" u="none">
                <a:solidFill>
                  <a:srgbClr val="00848A"/>
                </a:solidFill>
                <a:latin typeface="Consolas"/>
              </a:rPr>
              <a:t>PUBLIC RANKING / APPLIED VALIDATION</a:t>
            </a:r>
          </a:p>
        </p:txBody>
      </p:sp>
      <p:sp>
        <p:nvSpPr>
          <p:cNvPr id="30" name="TextBox 29"/>
          <p:cNvSpPr txBox="1"/>
          <p:nvPr/>
        </p:nvSpPr>
        <p:spPr>
          <a:xfrm>
            <a:off x="6345936" y="3401568"/>
            <a:ext cx="4718304" cy="1115568"/>
          </a:xfrm>
          <a:prstGeom prst="rect">
            <a:avLst/>
          </a:prstGeom>
          <a:noFill/>
        </p:spPr>
        <p:txBody>
          <a:bodyPr wrap="square" anchor="t" lIns="0" rIns="0" tIns="0" bIns="0">
            <a:spAutoFit/>
          </a:bodyPr>
          <a:lstStyle/>
          <a:p>
            <a:pPr algn="l"/>
            <a:r>
              <a:rPr sz="969" b="0" i="0" u="none">
                <a:solidFill>
                  <a:srgbClr val="1F2D3D"/>
                </a:solidFill>
                <a:latin typeface="Calibri"/>
              </a:rPr>
              <a:t>1. Hard admission gates: semantic integrity · authority integrity · continuity · traceability.
2. Among admitted configurations: outcome / burden / accountability + Pareto review.
3. Evidence maturity: DBC-EL0 Defined → EL1 Mapped → EL2 Deterministic → EL3 Comparative → EL4 Interoperable → EL5 Replicated / applied.
No single compensating universal score is permitted.</a:t>
            </a:r>
          </a:p>
        </p:txBody>
      </p:sp>
      <p:sp>
        <p:nvSpPr>
          <p:cNvPr id="31" name="TextBox 30"/>
          <p:cNvSpPr txBox="1"/>
          <p:nvPr/>
        </p:nvSpPr>
        <p:spPr>
          <a:xfrm>
            <a:off x="6345936" y="4754880"/>
            <a:ext cx="4389120" cy="164592"/>
          </a:xfrm>
          <a:prstGeom prst="rect">
            <a:avLst/>
          </a:prstGeom>
          <a:noFill/>
        </p:spPr>
        <p:txBody>
          <a:bodyPr wrap="square" anchor="t" lIns="0" rIns="0" tIns="0" bIns="0">
            <a:spAutoFit/>
          </a:bodyPr>
          <a:lstStyle/>
          <a:p>
            <a:pPr algn="l"/>
            <a:r>
              <a:rPr sz="880" b="1" i="0" u="sng">
                <a:solidFill>
                  <a:srgbClr val="2F6FB2"/>
                </a:solidFill>
                <a:latin typeface="Calibri"/>
                <a:hlinkClick r:id="rId11"/>
              </a:rPr>
              <a:t>Decision Boundary Challenge v0.2 — public ranking-by-evidence</a:t>
            </a:r>
          </a:p>
        </p:txBody>
      </p:sp>
      <p:sp>
        <p:nvSpPr>
          <p:cNvPr id="32" name="Rounded Rectangle 31"/>
          <p:cNvSpPr/>
          <p:nvPr/>
        </p:nvSpPr>
        <p:spPr>
          <a:xfrm>
            <a:off x="566928" y="5449824"/>
            <a:ext cx="10835640" cy="530352"/>
          </a:xfrm>
          <a:prstGeom prst="roundRect">
            <a:avLst/>
          </a:prstGeom>
          <a:solidFill>
            <a:srgbClr val="FFFFFF"/>
          </a:solidFill>
          <a:ln>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5577840"/>
            <a:ext cx="10378440" cy="237744"/>
          </a:xfrm>
          <a:prstGeom prst="rect">
            <a:avLst/>
          </a:prstGeom>
          <a:noFill/>
        </p:spPr>
        <p:txBody>
          <a:bodyPr wrap="square" anchor="t" lIns="0" rIns="0" tIns="0" bIns="0">
            <a:spAutoFit/>
          </a:bodyPr>
          <a:lstStyle/>
          <a:p>
            <a:pPr algn="l"/>
            <a:r>
              <a:rPr sz="980" b="1" i="0" u="none">
                <a:solidFill>
                  <a:srgbClr val="24355B"/>
                </a:solidFill>
                <a:latin typeface="Calibri"/>
              </a:rPr>
              <a:t>DIFFERENTIAL UNDER TEST  —  Does the composed architecture improve the declared outcome–burden–accountability frontier, or preserve the same outcome with a simpler accountable surface?</a:t>
            </a:r>
          </a:p>
        </p:txBody>
      </p:sp>
      <p:sp>
        <p:nvSpPr>
          <p:cNvPr id="34" name="TextBox 33"/>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8"/>
              </a:rPr>
              <a:t>Canonical benchmark v0.2</a:t>
            </a:r>
            <a:r>
              <a:rPr sz="680">
                <a:solidFill>
                  <a:srgbClr val="727A86"/>
                </a:solidFill>
                <a:latin typeface="Calibri"/>
              </a:rPr>
              <a:t>  ·  </a:t>
            </a:r>
            <a:r>
              <a:rPr sz="680" b="0" u="sng">
                <a:solidFill>
                  <a:srgbClr val="2F6FB2"/>
                </a:solidFill>
                <a:latin typeface="Calibri"/>
                <a:hlinkClick r:id="rId12"/>
              </a:rPr>
              <a:t>Public ranking · DBC v0.2</a:t>
            </a:r>
          </a:p>
        </p:txBody>
      </p:sp>
    </p:spTree>
    <p:extLst>
      <p:ext uri="{BB962C8B-B14F-4D97-AF65-F5344CB8AC3E}">
        <p14:creationId xmlns:p14="http://schemas.microsoft.com/office/powerpoint/2010/main" val="1483828426"/>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a:solidFill>
                  <a:srgbClr val="5D6775"/>
                </a:solidFill>
                <a:latin typeface="Consolas"/>
              </a:rPr>
              <a:t>REQUIREMENTS WALKED EXAMPLE</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a:solidFill>
                  <a:srgbClr val="5D6775"/>
                </a:solidFill>
                <a:latin typeface="Consolas"/>
              </a:rPr>
              <a:t>§ 04B</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a:solidFill>
                  <a:srgbClr val="24355B"/>
                </a:solidFill>
                <a:latin typeface="Cambria"/>
                <a:hlinkClick r:id="rId2"/>
              </a:rPr>
              <a:t>Worked example — 00F Chaos in the Smartcity</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050">
                <a:solidFill>
                  <a:srgbClr val="5D6775"/>
                </a:solidFill>
                <a:latin typeface="Aptos"/>
              </a:rPr>
              <a:t>One conforming requirement route, shown end to end. The same S/T → gate → bounded-recovery logic is documented for each reference scenario.</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08760"/>
            <a:ext cx="3456432" cy="749808"/>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81912"/>
            <a:ext cx="347472" cy="164592"/>
          </a:xfrm>
          <a:prstGeom prst="rect">
            <a:avLst/>
          </a:prstGeom>
          <a:noFill/>
        </p:spPr>
        <p:txBody>
          <a:bodyPr wrap="square" anchor="t" lIns="0" rIns="0" tIns="0" bIns="0">
            <a:spAutoFit/>
          </a:bodyPr>
          <a:lstStyle/>
          <a:p>
            <a:pPr algn="l"/>
            <a:r>
              <a:rPr sz="930" b="1" i="0" u="none">
                <a:solidFill>
                  <a:srgbClr val="2F6FB2"/>
                </a:solidFill>
                <a:latin typeface="Consolas"/>
              </a:rPr>
              <a:t>R0</a:t>
            </a:r>
          </a:p>
        </p:txBody>
      </p:sp>
      <p:sp>
        <p:nvSpPr>
          <p:cNvPr id="9" name="TextBox 8"/>
          <p:cNvSpPr txBox="1"/>
          <p:nvPr/>
        </p:nvSpPr>
        <p:spPr>
          <a:xfrm>
            <a:off x="106984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Standard competent</a:t>
            </a:r>
          </a:p>
        </p:txBody>
      </p:sp>
      <p:sp>
        <p:nvSpPr>
          <p:cNvPr id="10" name="TextBox 9"/>
          <p:cNvSpPr txBox="1"/>
          <p:nvPr/>
        </p:nvSpPr>
        <p:spPr>
          <a:xfrm>
            <a:off x="67665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Authenticated events + local rules + local safety; cross-actor composition may still be absent.</a:t>
            </a:r>
          </a:p>
        </p:txBody>
      </p:sp>
      <p:sp>
        <p:nvSpPr>
          <p:cNvPr id="11" name="Rounded Rectangle 10"/>
          <p:cNvSpPr/>
          <p:nvPr/>
        </p:nvSpPr>
        <p:spPr>
          <a:xfrm>
            <a:off x="4087368" y="1508760"/>
            <a:ext cx="3456432" cy="749808"/>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7096" y="1581912"/>
            <a:ext cx="347472" cy="164592"/>
          </a:xfrm>
          <a:prstGeom prst="rect">
            <a:avLst/>
          </a:prstGeom>
          <a:noFill/>
        </p:spPr>
        <p:txBody>
          <a:bodyPr wrap="square" anchor="t" lIns="0" rIns="0" tIns="0" bIns="0">
            <a:spAutoFit/>
          </a:bodyPr>
          <a:lstStyle/>
          <a:p>
            <a:pPr algn="l"/>
            <a:r>
              <a:rPr sz="930" b="1" i="0" u="none">
                <a:solidFill>
                  <a:srgbClr val="00848A"/>
                </a:solidFill>
                <a:latin typeface="Consolas"/>
              </a:rPr>
              <a:t>R1</a:t>
            </a:r>
          </a:p>
        </p:txBody>
      </p:sp>
      <p:sp>
        <p:nvSpPr>
          <p:cNvPr id="13" name="TextBox 12"/>
          <p:cNvSpPr txBox="1"/>
          <p:nvPr/>
        </p:nvSpPr>
        <p:spPr>
          <a:xfrm>
            <a:off x="459028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Defended top-notch</a:t>
            </a:r>
          </a:p>
        </p:txBody>
      </p:sp>
      <p:sp>
        <p:nvSpPr>
          <p:cNvPr id="14" name="TextBox 13"/>
          <p:cNvSpPr txBox="1"/>
          <p:nvPr/>
        </p:nvSpPr>
        <p:spPr>
          <a:xfrm>
            <a:off x="419709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Known dependencies, temporal/freshness controls, conflict logic, finite review queues and bounded fallback.</a:t>
            </a:r>
          </a:p>
        </p:txBody>
      </p:sp>
      <p:sp>
        <p:nvSpPr>
          <p:cNvPr id="15" name="Rounded Rectangle 14"/>
          <p:cNvSpPr/>
          <p:nvPr/>
        </p:nvSpPr>
        <p:spPr>
          <a:xfrm>
            <a:off x="7607808" y="1508760"/>
            <a:ext cx="3456432" cy="749808"/>
          </a:xfrm>
          <a:prstGeom prst="roundRect">
            <a:avLst/>
          </a:prstGeom>
          <a:solidFill>
            <a:srgbClr val="FFFFFF"/>
          </a:solidFill>
          <a:ln w="12700">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1581912"/>
            <a:ext cx="347472" cy="164592"/>
          </a:xfrm>
          <a:prstGeom prst="rect">
            <a:avLst/>
          </a:prstGeom>
          <a:noFill/>
        </p:spPr>
        <p:txBody>
          <a:bodyPr wrap="square" anchor="t" lIns="0" rIns="0" tIns="0" bIns="0">
            <a:spAutoFit/>
          </a:bodyPr>
          <a:lstStyle/>
          <a:p>
            <a:pPr algn="l"/>
            <a:r>
              <a:rPr sz="930" b="1" i="0" u="none">
                <a:solidFill>
                  <a:srgbClr val="D07800"/>
                </a:solidFill>
                <a:latin typeface="Consolas"/>
              </a:rPr>
              <a:t>R2</a:t>
            </a:r>
          </a:p>
        </p:txBody>
      </p:sp>
      <p:sp>
        <p:nvSpPr>
          <p:cNvPr id="17" name="TextBox 16"/>
          <p:cNvSpPr txBox="1"/>
          <p:nvPr/>
        </p:nvSpPr>
        <p:spPr>
          <a:xfrm>
            <a:off x="811072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Same R1 frozen under drift</a:t>
            </a:r>
          </a:p>
        </p:txBody>
      </p:sp>
      <p:sp>
        <p:nvSpPr>
          <p:cNvPr id="18" name="TextBox 17"/>
          <p:cNvSpPr txBox="1"/>
          <p:nvPr/>
        </p:nvSpPr>
        <p:spPr>
          <a:xfrm>
            <a:off x="771753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Dependency / timing / model relation changes after R1 is frozen; the old validity model may become stale.</a:t>
            </a:r>
          </a:p>
        </p:txBody>
      </p:sp>
      <p:sp>
        <p:nvSpPr>
          <p:cNvPr id="19" name="Rounded Rectangle 18"/>
          <p:cNvSpPr/>
          <p:nvPr/>
        </p:nvSpPr>
        <p:spPr>
          <a:xfrm>
            <a:off x="566928" y="2542032"/>
            <a:ext cx="1618488" cy="914400"/>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15184"/>
            <a:ext cx="320040" cy="164592"/>
          </a:xfrm>
          <a:prstGeom prst="rect">
            <a:avLst/>
          </a:prstGeom>
          <a:noFill/>
        </p:spPr>
        <p:txBody>
          <a:bodyPr wrap="square" anchor="t" lIns="0" rIns="0" tIns="0" bIns="0">
            <a:spAutoFit/>
          </a:bodyPr>
          <a:lstStyle/>
          <a:p>
            <a:pPr algn="l"/>
            <a:r>
              <a:rPr sz="880" b="1" i="0" u="none">
                <a:solidFill>
                  <a:srgbClr val="2F6FB2"/>
                </a:solidFill>
                <a:latin typeface="Consolas"/>
              </a:rPr>
              <a:t>Q0</a:t>
            </a:r>
          </a:p>
        </p:txBody>
      </p:sp>
      <p:sp>
        <p:nvSpPr>
          <p:cNvPr id="21" name="TextBox 20"/>
          <p:cNvSpPr txBox="1"/>
          <p:nvPr/>
        </p:nvSpPr>
        <p:spPr>
          <a:xfrm>
            <a:off x="64008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Frame shared use</a:t>
            </a:r>
          </a:p>
        </p:txBody>
      </p:sp>
      <p:sp>
        <p:nvSpPr>
          <p:cNvPr id="22" name="TextBox 21"/>
          <p:cNvSpPr txBox="1"/>
          <p:nvPr/>
        </p:nvSpPr>
        <p:spPr>
          <a:xfrm>
            <a:off x="64008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scope · owners · authority</a:t>
            </a:r>
          </a:p>
        </p:txBody>
      </p:sp>
      <p:sp>
        <p:nvSpPr>
          <p:cNvPr id="23" name="TextBox 22"/>
          <p:cNvSpPr txBox="1"/>
          <p:nvPr/>
        </p:nvSpPr>
        <p:spPr>
          <a:xfrm>
            <a:off x="219913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24" name="Rounded Rectangle 23"/>
          <p:cNvSpPr/>
          <p:nvPr/>
        </p:nvSpPr>
        <p:spPr>
          <a:xfrm>
            <a:off x="235000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Q1</a:t>
            </a:r>
          </a:p>
        </p:txBody>
      </p:sp>
      <p:sp>
        <p:nvSpPr>
          <p:cNvPr id="26" name="TextBox 25"/>
          <p:cNvSpPr txBox="1"/>
          <p:nvPr/>
        </p:nvSpPr>
        <p:spPr>
          <a:xfrm>
            <a:off x="242316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Material break</a:t>
            </a:r>
          </a:p>
        </p:txBody>
      </p:sp>
      <p:sp>
        <p:nvSpPr>
          <p:cNvPr id="27" name="TextBox 26"/>
          <p:cNvSpPr txBox="1"/>
          <p:nvPr/>
        </p:nvSpPr>
        <p:spPr>
          <a:xfrm>
            <a:off x="242316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freshness · dependence · UNKNOWN</a:t>
            </a:r>
          </a:p>
        </p:txBody>
      </p:sp>
      <p:sp>
        <p:nvSpPr>
          <p:cNvPr id="28" name="TextBox 27"/>
          <p:cNvSpPr txBox="1"/>
          <p:nvPr/>
        </p:nvSpPr>
        <p:spPr>
          <a:xfrm>
            <a:off x="398221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29" name="Rounded Rectangle 28"/>
          <p:cNvSpPr/>
          <p:nvPr/>
        </p:nvSpPr>
        <p:spPr>
          <a:xfrm>
            <a:off x="413308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624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Q2</a:t>
            </a:r>
          </a:p>
        </p:txBody>
      </p:sp>
      <p:sp>
        <p:nvSpPr>
          <p:cNvPr id="31" name="TextBox 30"/>
          <p:cNvSpPr txBox="1"/>
          <p:nvPr/>
        </p:nvSpPr>
        <p:spPr>
          <a:xfrm>
            <a:off x="420624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Compose postures</a:t>
            </a:r>
          </a:p>
        </p:txBody>
      </p:sp>
      <p:sp>
        <p:nvSpPr>
          <p:cNvPr id="32" name="TextBox 31"/>
          <p:cNvSpPr txBox="1"/>
          <p:nvPr/>
        </p:nvSpPr>
        <p:spPr>
          <a:xfrm>
            <a:off x="420624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A / B / NORMAL / HOLD</a:t>
            </a:r>
          </a:p>
        </p:txBody>
      </p:sp>
      <p:sp>
        <p:nvSpPr>
          <p:cNvPr id="33" name="TextBox 32"/>
          <p:cNvSpPr txBox="1"/>
          <p:nvPr/>
        </p:nvSpPr>
        <p:spPr>
          <a:xfrm>
            <a:off x="576529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34" name="Rounded Rectangle 33"/>
          <p:cNvSpPr/>
          <p:nvPr/>
        </p:nvSpPr>
        <p:spPr>
          <a:xfrm>
            <a:off x="591616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932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Q3</a:t>
            </a:r>
          </a:p>
        </p:txBody>
      </p:sp>
      <p:sp>
        <p:nvSpPr>
          <p:cNvPr id="36" name="TextBox 35"/>
          <p:cNvSpPr txBox="1"/>
          <p:nvPr/>
        </p:nvSpPr>
        <p:spPr>
          <a:xfrm>
            <a:off x="598932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Bounded posture</a:t>
            </a:r>
          </a:p>
        </p:txBody>
      </p:sp>
      <p:sp>
        <p:nvSpPr>
          <p:cNvPr id="37" name="TextBox 36"/>
          <p:cNvSpPr txBox="1"/>
          <p:nvPr/>
        </p:nvSpPr>
        <p:spPr>
          <a:xfrm>
            <a:off x="598932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contain · restrict · escalate</a:t>
            </a:r>
          </a:p>
        </p:txBody>
      </p:sp>
      <p:sp>
        <p:nvSpPr>
          <p:cNvPr id="38" name="TextBox 37"/>
          <p:cNvSpPr txBox="1"/>
          <p:nvPr/>
        </p:nvSpPr>
        <p:spPr>
          <a:xfrm>
            <a:off x="754837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39" name="Rounded Rectangle 38"/>
          <p:cNvSpPr/>
          <p:nvPr/>
        </p:nvSpPr>
        <p:spPr>
          <a:xfrm>
            <a:off x="769924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Q4</a:t>
            </a:r>
          </a:p>
        </p:txBody>
      </p:sp>
      <p:sp>
        <p:nvSpPr>
          <p:cNvPr id="41" name="TextBox 40"/>
          <p:cNvSpPr txBox="1"/>
          <p:nvPr/>
        </p:nvSpPr>
        <p:spPr>
          <a:xfrm>
            <a:off x="777240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Targeted requalification</a:t>
            </a:r>
          </a:p>
        </p:txBody>
      </p:sp>
      <p:sp>
        <p:nvSpPr>
          <p:cNvPr id="42" name="TextBox 41"/>
          <p:cNvSpPr txBox="1"/>
          <p:nvPr/>
        </p:nvSpPr>
        <p:spPr>
          <a:xfrm>
            <a:off x="777240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reopen only material sources</a:t>
            </a:r>
          </a:p>
        </p:txBody>
      </p:sp>
      <p:sp>
        <p:nvSpPr>
          <p:cNvPr id="43" name="TextBox 42"/>
          <p:cNvSpPr txBox="1"/>
          <p:nvPr/>
        </p:nvSpPr>
        <p:spPr>
          <a:xfrm>
            <a:off x="933145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44" name="Rounded Rectangle 43"/>
          <p:cNvSpPr/>
          <p:nvPr/>
        </p:nvSpPr>
        <p:spPr>
          <a:xfrm>
            <a:off x="948232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5548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Q5</a:t>
            </a:r>
          </a:p>
        </p:txBody>
      </p:sp>
      <p:sp>
        <p:nvSpPr>
          <p:cNvPr id="46" name="TextBox 45"/>
          <p:cNvSpPr txBox="1"/>
          <p:nvPr/>
        </p:nvSpPr>
        <p:spPr>
          <a:xfrm>
            <a:off x="955548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Compose / resume</a:t>
            </a:r>
          </a:p>
        </p:txBody>
      </p:sp>
      <p:sp>
        <p:nvSpPr>
          <p:cNvPr id="47" name="TextBox 46"/>
          <p:cNvSpPr txBox="1"/>
          <p:nvPr/>
        </p:nvSpPr>
        <p:spPr>
          <a:xfrm>
            <a:off x="955548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segment · resume · explicit limit</a:t>
            </a:r>
          </a:p>
        </p:txBody>
      </p:sp>
      <p:sp>
        <p:nvSpPr>
          <p:cNvPr id="48" name="Rounded Rectangle 47"/>
          <p:cNvSpPr/>
          <p:nvPr/>
        </p:nvSpPr>
        <p:spPr>
          <a:xfrm>
            <a:off x="566928" y="3703320"/>
            <a:ext cx="5257800" cy="1426464"/>
          </a:xfrm>
          <a:prstGeom prst="roundRect">
            <a:avLst/>
          </a:prstGeom>
          <a:solidFill>
            <a:srgbClr val="FFFFFF"/>
          </a:solidFill>
          <a:ln w="15240">
            <a:solidFill>
              <a:srgbClr val="A74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3867912"/>
            <a:ext cx="1280160" cy="182880"/>
          </a:xfrm>
          <a:prstGeom prst="rect">
            <a:avLst/>
          </a:prstGeom>
          <a:noFill/>
        </p:spPr>
        <p:txBody>
          <a:bodyPr wrap="square" anchor="t" lIns="0" rIns="0" tIns="0" bIns="0">
            <a:spAutoFit/>
          </a:bodyPr>
          <a:lstStyle/>
          <a:p>
            <a:pPr algn="l"/>
            <a:r>
              <a:rPr sz="850" b="1" i="0" u="none">
                <a:solidFill>
                  <a:srgbClr val="A74D48"/>
                </a:solidFill>
                <a:latin typeface="Consolas"/>
              </a:rPr>
              <a:t>ROUTE N — bypass / failure</a:t>
            </a:r>
          </a:p>
        </p:txBody>
      </p:sp>
      <p:sp>
        <p:nvSpPr>
          <p:cNvPr id="50" name="TextBox 49"/>
          <p:cNvSpPr txBox="1"/>
          <p:nvPr/>
        </p:nvSpPr>
        <p:spPr>
          <a:xfrm>
            <a:off x="768096" y="4187952"/>
            <a:ext cx="4681728" cy="713232"/>
          </a:xfrm>
          <a:prstGeom prst="rect">
            <a:avLst/>
          </a:prstGeom>
          <a:noFill/>
        </p:spPr>
        <p:txBody>
          <a:bodyPr wrap="square" anchor="t" lIns="0" rIns="0" tIns="0" bIns="0">
            <a:spAutoFit/>
          </a:bodyPr>
          <a:lstStyle/>
          <a:p>
            <a:pPr algn="l"/>
            <a:r>
              <a:rPr sz="960" b="0" i="0" u="none">
                <a:solidFill>
                  <a:srgbClr val="1F2D3D"/>
                </a:solidFill>
                <a:latin typeface="Calibri"/>
              </a:rPr>
              <a:t>Q2 incompatibility is not composed → A / B / NORMAL / HOLD reach the same corridor → humans and retries consume the response margin → local collision avoidance succeeds → city-level gridlock blocks evacuation and rescue.</a:t>
            </a:r>
          </a:p>
        </p:txBody>
      </p:sp>
      <p:sp>
        <p:nvSpPr>
          <p:cNvPr id="51" name="Rounded Rectangle 50"/>
          <p:cNvSpPr/>
          <p:nvPr/>
        </p:nvSpPr>
        <p:spPr>
          <a:xfrm>
            <a:off x="6144768" y="3703320"/>
            <a:ext cx="5257800" cy="1426464"/>
          </a:xfrm>
          <a:prstGeom prst="roundRect">
            <a:avLst/>
          </a:prstGeom>
          <a:solidFill>
            <a:srgbClr val="FFFFFF"/>
          </a:solidFill>
          <a:ln w="1524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45936" y="3867912"/>
            <a:ext cx="1463040" cy="182880"/>
          </a:xfrm>
          <a:prstGeom prst="rect">
            <a:avLst/>
          </a:prstGeom>
          <a:noFill/>
        </p:spPr>
        <p:txBody>
          <a:bodyPr wrap="square" anchor="t" lIns="0" rIns="0" tIns="0" bIns="0">
            <a:spAutoFit/>
          </a:bodyPr>
          <a:lstStyle/>
          <a:p>
            <a:pPr algn="l"/>
            <a:r>
              <a:rPr sz="850" b="1" i="0" u="none">
                <a:solidFill>
                  <a:srgbClr val="00848A"/>
                </a:solidFill>
                <a:latin typeface="Consolas"/>
              </a:rPr>
              <a:t>ROUTE Q — conforming</a:t>
            </a:r>
          </a:p>
        </p:txBody>
      </p:sp>
      <p:sp>
        <p:nvSpPr>
          <p:cNvPr id="53" name="TextBox 52"/>
          <p:cNvSpPr txBox="1"/>
          <p:nvPr/>
        </p:nvSpPr>
        <p:spPr>
          <a:xfrm>
            <a:off x="6345936" y="4187952"/>
            <a:ext cx="4681728" cy="713232"/>
          </a:xfrm>
          <a:prstGeom prst="rect">
            <a:avLst/>
          </a:prstGeom>
          <a:noFill/>
        </p:spPr>
        <p:txBody>
          <a:bodyPr wrap="square" anchor="t" lIns="0" rIns="0" tIns="0" bIns="0">
            <a:spAutoFit/>
          </a:bodyPr>
          <a:lstStyle/>
          <a:p>
            <a:pPr algn="l"/>
            <a:r>
              <a:rPr sz="960" b="0" i="0" u="none">
                <a:solidFill>
                  <a:srgbClr val="1F2D3D"/>
                </a:solidFill>
                <a:latin typeface="Calibri"/>
              </a:rPr>
              <a:t>The shared resource-time conflict becomes explicit → bounded containment / segmentation is applied by the authorized owner → only material dependencies are reopened → Q5 resumes compatible use, preserves an explicit limit, or closes with no conclusion.</a:t>
            </a:r>
          </a:p>
        </p:txBody>
      </p:sp>
      <p:sp>
        <p:nvSpPr>
          <p:cNvPr id="54" name="Rounded Rectangle 53"/>
          <p:cNvSpPr/>
          <p:nvPr/>
        </p:nvSpPr>
        <p:spPr>
          <a:xfrm>
            <a:off x="566928" y="5285232"/>
            <a:ext cx="10835640" cy="694944"/>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8096" y="5394960"/>
            <a:ext cx="3977639" cy="420624"/>
          </a:xfrm>
          <a:prstGeom prst="rect">
            <a:avLst/>
          </a:prstGeom>
          <a:noFill/>
        </p:spPr>
        <p:txBody>
          <a:bodyPr wrap="square" anchor="t" lIns="0" rIns="0" tIns="0" bIns="0">
            <a:spAutoFit/>
          </a:bodyPr>
          <a:lstStyle/>
          <a:p>
            <a:pPr algn="l"/>
            <a:r>
              <a:rPr sz="880" b="1">
                <a:solidFill>
                  <a:srgbClr val="24355B"/>
                </a:solidFill>
                <a:latin typeface="Calibri"/>
              </a:rPr>
              <a:t>This is one worked example. Route Q is the conforming path for 00F; each scenario below links to its own quality-plan / requirements-conforming route.</a:t>
            </a:r>
          </a:p>
        </p:txBody>
      </p:sp>
      <p:sp>
        <p:nvSpPr>
          <p:cNvPr id="60" name="Rectangle 59"/>
          <p:cNvSpPr/>
          <p:nvPr/>
        </p:nvSpPr>
        <p:spPr>
          <a:xfrm>
            <a:off x="566928" y="6236208"/>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069080" y="6355080"/>
            <a:ext cx="3657600" cy="146304"/>
          </a:xfrm>
          <a:prstGeom prst="rect">
            <a:avLst/>
          </a:prstGeom>
          <a:noFill/>
        </p:spPr>
        <p:txBody>
          <a:bodyPr wrap="square" anchor="t" lIns="0" rIns="0" tIns="0" bIns="0">
            <a:spAutoFit/>
          </a:bodyPr>
          <a:lstStyle/>
          <a:p>
            <a:pPr algn="ctr"/>
            <a:r>
              <a:rPr sz="720" b="0" i="0" u="none">
                <a:solidFill>
                  <a:srgbClr val="5D6775"/>
                </a:solidFill>
                <a:latin typeface="Consolas"/>
              </a:rPr>
              <a:t>Ecosystem Awareness · Positioning architecture</a:t>
            </a:r>
          </a:p>
        </p:txBody>
      </p:sp>
      <p:sp>
        <p:nvSpPr>
          <p:cNvPr id="62" name="TextBox 61"/>
          <p:cNvSpPr txBox="1"/>
          <p:nvPr/>
        </p:nvSpPr>
        <p:spPr>
          <a:xfrm>
            <a:off x="11045952" y="6355080"/>
            <a:ext cx="274320" cy="146304"/>
          </a:xfrm>
          <a:prstGeom prst="rect">
            <a:avLst/>
          </a:prstGeom>
          <a:noFill/>
        </p:spPr>
        <p:txBody>
          <a:bodyPr wrap="square" anchor="t" lIns="0" rIns="0" tIns="0" bIns="0">
            <a:spAutoFit/>
          </a:bodyPr>
          <a:lstStyle/>
          <a:p>
            <a:pPr algn="r"/>
            <a:r>
              <a:rPr sz="850">
                <a:solidFill>
                  <a:srgbClr val="5D6775"/>
                </a:solidFill>
                <a:latin typeface="Aptos"/>
              </a:rPr>
              <a:t>8</a:t>
            </a:r>
          </a:p>
        </p:txBody>
      </p:sp>
      <p:sp>
        <p:nvSpPr>
          <p:cNvPr id="63" name="TextBox 62"/>
          <p:cNvSpPr txBox="1"/>
          <p:nvPr/>
        </p:nvSpPr>
        <p:spPr>
          <a:xfrm>
            <a:off x="4956048" y="5358384"/>
            <a:ext cx="6144768" cy="164592"/>
          </a:xfrm>
          <a:prstGeom prst="rect">
            <a:avLst/>
          </a:prstGeom>
          <a:noFill/>
        </p:spPr>
        <p:txBody>
          <a:bodyPr wrap="square" anchor="t" lIns="0" rIns="0" tIns="0" bIns="0">
            <a:spAutoFit/>
          </a:bodyPr>
          <a:lstStyle/>
          <a:p>
            <a:pPr algn="l"/>
            <a:r>
              <a:rPr sz="770" b="1">
                <a:solidFill>
                  <a:srgbClr val="00848A"/>
                </a:solidFill>
                <a:latin typeface="Consolas"/>
              </a:rPr>
              <a:t>OPEN THE CONFORMING QUALITY-PLAN ROUTES</a:t>
            </a:r>
          </a:p>
        </p:txBody>
      </p:sp>
      <p:sp>
        <p:nvSpPr>
          <p:cNvPr id="64" name="Rounded Rectangle 63"/>
          <p:cNvSpPr/>
          <p:nvPr/>
        </p:nvSpPr>
        <p:spPr>
          <a:xfrm>
            <a:off x="495604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091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6"/>
              </a:rPr>
              <a:t>00E · 100M</a:t>
            </a:r>
          </a:p>
        </p:txBody>
      </p:sp>
      <p:sp>
        <p:nvSpPr>
          <p:cNvPr id="66" name="Rounded Rectangle 65"/>
          <p:cNvSpPr/>
          <p:nvPr/>
        </p:nvSpPr>
        <p:spPr>
          <a:xfrm>
            <a:off x="5992367"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47231"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7"/>
              </a:rPr>
              <a:t>00F · Smartcity</a:t>
            </a:r>
          </a:p>
        </p:txBody>
      </p:sp>
      <p:sp>
        <p:nvSpPr>
          <p:cNvPr id="68" name="Rounded Rectangle 67"/>
          <p:cNvSpPr/>
          <p:nvPr/>
        </p:nvSpPr>
        <p:spPr>
          <a:xfrm>
            <a:off x="702868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8355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8"/>
              </a:rPr>
              <a:t>00G · Napoleon</a:t>
            </a:r>
          </a:p>
        </p:txBody>
      </p:sp>
      <p:sp>
        <p:nvSpPr>
          <p:cNvPr id="70" name="Rounded Rectangle 69"/>
          <p:cNvSpPr/>
          <p:nvPr/>
        </p:nvSpPr>
        <p:spPr>
          <a:xfrm>
            <a:off x="806500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9"/>
              </a:rPr>
              <a:t>00H · Quiet 4K</a:t>
            </a:r>
          </a:p>
        </p:txBody>
      </p:sp>
      <p:sp>
        <p:nvSpPr>
          <p:cNvPr id="72" name="Rounded Rectangle 71"/>
          <p:cNvSpPr/>
          <p:nvPr/>
        </p:nvSpPr>
        <p:spPr>
          <a:xfrm>
            <a:off x="910132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5619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10"/>
              </a:rPr>
              <a:t>00I · Patch</a:t>
            </a:r>
          </a:p>
        </p:txBody>
      </p:sp>
      <p:sp>
        <p:nvSpPr>
          <p:cNvPr id="74" name="Rounded Rectangle 73"/>
          <p:cNvSpPr/>
          <p:nvPr/>
        </p:nvSpPr>
        <p:spPr>
          <a:xfrm>
            <a:off x="1013764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251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11"/>
              </a:rPr>
              <a:t>00J · Author</a:t>
            </a:r>
          </a:p>
        </p:txBody>
      </p:sp>
      <p:sp>
        <p:nvSpPr>
          <p:cNvPr id="76" name="TextBox 75"/>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
              </a:rPr>
              <a:t>00F quality plan</a:t>
            </a:r>
            <a:r>
              <a:rPr sz="680">
                <a:solidFill>
                  <a:srgbClr val="727A86"/>
                </a:solidFill>
                <a:latin typeface="Calibri"/>
              </a:rPr>
              <a:t>  ·  </a:t>
            </a:r>
            <a:r>
              <a:rPr sz="680" b="0" u="sng">
                <a:solidFill>
                  <a:srgbClr val="2F6FB2"/>
                </a:solidFill>
                <a:latin typeface="Calibri"/>
                <a:hlinkClick r:id="rId3"/>
              </a:rPr>
              <a:t>All scenarios / routes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2727</Words>
  <Application>Microsoft Office PowerPoint</Application>
  <DocSecurity>0</DocSecurity>
  <PresentationFormat>Widescreen</PresentationFormat>
  <Paragraphs>377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Ecosystem Positioning for Agentic Systems — Canonical v1.0</dc:title>
  <dc:subject>Canonical visual router for Ecosystem Positioning</dc:subject>
  <dc:creator>Iván Abril Palma</dc:creator>
  <cp:keywords>Ecosystem Positioning; Ecosystem Awareness; Regime Awareness; MSCA; Structural Awareness; pre-standardization</cp:keywords>
  <dc:description>Canonical working proposal v1.0 — 23 September 2026</dc:description>
  <cp:lastModifiedBy>Ivan Abril Palma</cp:lastModifiedBy>
  <cp:revision>3</cp:revision>
  <dcterms:created xsi:type="dcterms:W3CDTF">2026-09-22T14:53:32Z</dcterms:created>
  <dcterms:modified xsi:type="dcterms:W3CDTF">2026-09-24T15:24:36Z</dcterms:modified>
</cp:coreProperties>
</file>