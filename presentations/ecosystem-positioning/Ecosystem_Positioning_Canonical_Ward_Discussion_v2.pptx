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66" r:id="rId17"/>
    <p:sldId id="267" r:id="rId18"/>
    <p:sldId id="259" r:id="rId5"/>
    <p:sldId id="272" r:id="rId23"/>
    <p:sldId id="274" r:id="rId19"/>
    <p:sldId id="260" r:id="rId6"/>
    <p:sldId id="261" r:id="rId7"/>
    <p:sldId id="262" r:id="rId8"/>
    <p:sldId id="263" r:id="rId9"/>
    <p:sldId id="273" r:id="rId24"/>
    <p:sldId id="269" r:id="rId20"/>
    <p:sldId id="265" r:id="rId10"/>
    <p:sldId id="270" r:id="rId21"/>
    <p:sldId id="271" r:id="rId22"/>
    <p:sldId id="275" r:id="rId25"/>
    <p:sldId id="276" r:id="rId26"/>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D4D544-A292-4829-B32B-F321090D9532}" name="Codex" initials="CX" userId="" providerId=""/>
  <p188:author id="{A1367D4F-5962-5773-E0CE-22E838CB07E5}" name="Ivan Abril Palma" initials="IA" userId="1518fb449b47511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79" autoAdjust="0"/>
    <p:restoredTop sz="94660"/>
  </p:normalViewPr>
  <p:slideViewPr>
    <p:cSldViewPr snapToGrid="0" snapToObjects="1">
      <p:cViewPr>
        <p:scale>
          <a:sx n="100" d="100"/>
          <a:sy n="100" d="100"/>
        </p:scale>
        <p:origin x="65" y="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6.xml"/><Relationship Id="rId6" Type="http://schemas.openxmlformats.org/officeDocument/2006/relationships/slide" Target="slides/slide9.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5.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8.xml"/><Relationship Id="rId20" Type="http://schemas.openxmlformats.org/officeDocument/2006/relationships/slide" Target="slides/slide14.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7.xml"/><Relationship Id="rId24" Type="http://schemas.openxmlformats.org/officeDocument/2006/relationships/slide" Target="slides/slide13.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8F9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24AC05A-A514-42F8-9016-2E5D147A1C0F}"/>
              </a:ext>
            </a:extLst>
          </p:cNvPr>
          <p:cNvSpPr>
            <a:spLocks noGrp="1"/>
          </p:cNvSpPr>
          <p:nvPr/>
        </p:nvSpPr>
        <p:spPr>
          <a:xfrm>
            <a:off x="566928" y="457200"/>
            <a:ext cx="11045952" cy="0"/>
          </a:xfrm>
          <a:prstGeom prst="line">
            <a:avLst/>
          </a:prstGeom>
          <a:noFill/>
          <a:ln w="19050">
            <a:solidFill>
              <a:srgbClr val="1B273F"/>
            </a:solidFill>
            <a:prstDash val="solid"/>
          </a:ln>
        </p:spPr>
        <p:txBody>
          <a:bodyPr/>
          <a:lstStyle/>
          <a:p>
            <a:endParaRPr/>
          </a:p>
        </p:txBody>
      </p:sp>
      <p:sp>
        <p:nvSpPr>
          <p:cNvPr id="3" name="Shape 1">
            <a:extLst>
              <a:ext uri="{FF2B5EF4-FFF2-40B4-BE49-F238E27FC236}">
                <a16:creationId xmlns:a16="http://schemas.microsoft.com/office/drawing/2014/main" id="{20BA3AA8-903F-4A9F-BD7E-F197175788E2}"/>
              </a:ext>
            </a:extLst>
          </p:cNvPr>
          <p:cNvSpPr>
            <a:spLocks noGrp="1"/>
          </p:cNvSpPr>
          <p:nvPr/>
        </p:nvSpPr>
        <p:spPr>
          <a:xfrm>
            <a:off x="566928" y="512064"/>
            <a:ext cx="11045952" cy="0"/>
          </a:xfrm>
          <a:prstGeom prst="line">
            <a:avLst/>
          </a:prstGeom>
          <a:noFill/>
          <a:ln w="8890">
            <a:solidFill>
              <a:srgbClr val="1B273F"/>
            </a:solidFill>
            <a:prstDash val="solid"/>
          </a:ln>
        </p:spPr>
        <p:txBody>
          <a:bodyPr/>
          <a:lstStyle/>
          <a:p>
            <a:endParaRPr/>
          </a:p>
        </p:txBody>
      </p:sp>
      <p:sp>
        <p:nvSpPr>
          <p:cNvPr id="4" name="Shape 2">
            <a:extLst>
              <a:ext uri="{FF2B5EF4-FFF2-40B4-BE49-F238E27FC236}">
                <a16:creationId xmlns:a16="http://schemas.microsoft.com/office/drawing/2014/main" id="{0FD5C33F-27A7-4571-BF55-2281985972E4}"/>
              </a:ext>
            </a:extLst>
          </p:cNvPr>
          <p:cNvSpPr>
            <a:spLocks noGrp="1"/>
          </p:cNvSpPr>
          <p:nvPr/>
        </p:nvSpPr>
        <p:spPr>
          <a:xfrm>
            <a:off x="566928" y="6510528"/>
            <a:ext cx="11045952" cy="0"/>
          </a:xfrm>
          <a:prstGeom prst="line">
            <a:avLst/>
          </a:prstGeom>
          <a:noFill/>
          <a:ln w="10160">
            <a:solidFill>
              <a:srgbClr val="1B273F"/>
            </a:solidFill>
            <a:prstDash val="solid"/>
          </a:ln>
        </p:spPr>
        <p:txBody>
          <a:bodyPr/>
          <a:lstStyle/>
          <a:p>
            <a:endParaRPr/>
          </a:p>
        </p:txBody>
      </p:sp>
      <p:sp>
        <p:nvSpPr>
          <p:cNvPr id="5" name="Text 3">
            <a:extLst>
              <a:ext uri="{FF2B5EF4-FFF2-40B4-BE49-F238E27FC236}">
                <a16:creationId xmlns:a16="http://schemas.microsoft.com/office/drawing/2014/main" id="{787C5CD3-1C90-4DE4-AC10-83A6A6D3A474}"/>
              </a:ext>
            </a:extLst>
          </p:cNvPr>
          <p:cNvSpPr>
            <a:spLocks noGrp="1"/>
          </p:cNvSpPr>
          <p:nvPr/>
        </p:nvSpPr>
        <p:spPr>
          <a:xfrm>
            <a:off x="566928" y="6547104"/>
            <a:ext cx="3246120" cy="164592"/>
          </a:xfrm>
          <a:prstGeom prst="rect">
            <a:avLst/>
          </a:prstGeom>
          <a:noFill/>
        </p:spPr>
        <p:txBody>
          <a:bodyPr wrap="square" lIns="0" tIns="0" rIns="0" bIns="0" anchor="ctr"/>
          <a:lstStyle/>
          <a:p>
            <a:pPr marL="0" indent="0">
              <a:buNone/>
            </a:pPr>
            <a:endParaRPr sz="670"/>
          </a:p>
        </p:txBody>
      </p:sp>
      <p:sp>
        <p:nvSpPr>
          <p:cNvPr id="6" name="Text 4">
            <a:extLst>
              <a:ext uri="{FF2B5EF4-FFF2-40B4-BE49-F238E27FC236}">
                <a16:creationId xmlns:a16="http://schemas.microsoft.com/office/drawing/2014/main" id="{510B3E1A-A271-4DB8-96AC-80B94A660E23}"/>
              </a:ext>
            </a:extLst>
          </p:cNvPr>
          <p:cNvSpPr>
            <a:spLocks noGrp="1"/>
          </p:cNvSpPr>
          <p:nvPr/>
        </p:nvSpPr>
        <p:spPr>
          <a:xfrm>
            <a:off x="4187952" y="6547104"/>
            <a:ext cx="3383280" cy="164592"/>
          </a:xfrm>
          <a:prstGeom prst="rect">
            <a:avLst/>
          </a:prstGeom>
          <a:noFill/>
        </p:spPr>
        <p:txBody>
          <a:bodyPr wrap="square" lIns="0" tIns="0" rIns="0" bIns="0" anchor="ctr"/>
          <a:lstStyle/>
          <a:p>
            <a:pPr marL="0" indent="0">
              <a:buNone/>
            </a:pPr>
            <a:r>
              <a:rPr sz="670">
                <a:solidFill>
                  <a:srgbClr val="7A7E84"/>
                </a:solidFill>
                <a:latin typeface="Consolas"/>
                <a:ea typeface="Consolas"/>
                <a:cs typeface="Consolas"/>
              </a:rPr>
              <a:t>Ecosystem Awareness · Positioning architecture</a:t>
            </a:r>
            <a:endParaRPr sz="670"/>
          </a:p>
        </p:txBody>
      </p:sp>
      <p:sp>
        <p:nvSpPr>
          <p:cNvPr id="25" name="Slide Number Placeholder 0">
            <a:extLst>
              <a:ext uri="{FF2B5EF4-FFF2-40B4-BE49-F238E27FC236}">
                <a16:creationId xmlns:a16="http://schemas.microsoft.com/office/drawing/2014/main" id="{D58AFA47-6D7A-4B0F-8606-AF5E073936E3}"/>
              </a:ext>
            </a:extLst>
          </p:cNvPr>
          <p:cNvSpPr>
            <a:spLocks noGrp="1"/>
          </p:cNvSpPr>
          <p:nvPr>
            <p:ph type="sldNum" idx="4294967295"/>
          </p:nvPr>
        </p:nvSpPr>
        <p:spPr>
          <a:xfrm>
            <a:off x="11064240" y="6537960"/>
            <a:ext cx="502920" cy="164592"/>
          </a:xfrm>
          <a:prstGeom prst="rect">
            <a:avLst/>
          </a:prstGeom>
        </p:spPr>
        <p:txBody>
          <a:bodyPr/>
          <a:lstStyle>
            <a:lvl1pPr>
              <a:buNone/>
              <a:defRPr sz="750">
                <a:solidFill>
                  <a:srgbClr val="1B273F"/>
                </a:solidFill>
                <a:latin typeface="Consolas"/>
                <a:ea typeface="Consolas"/>
                <a:cs typeface="Consolas"/>
              </a:defRPr>
            </a:lvl1pPr>
          </a:lstStyle>
          <a:p>
            <a:pPr algn="r">
              <a:buNone/>
            </a:pPr>
            <a:fld id="{F7021451-1387-4CA6-816F-3879F97B5CBC}" type="slidenum">
              <a:rPr b="1"/>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57F9CD0A-AACD-49F3-918C-789F249C6D53}"/>
              </a:ext>
            </a:extLst>
          </p:cNvPr>
          <p:cNvSpPr>
            <a:spLocks noGrp="1"/>
          </p:cNvSpPr>
          <p:nvPr>
            <p:ph type="sldNum" idx="4294967295"/>
          </p:nvPr>
        </p:nvSpPr>
        <p:spPr>
          <a:xfrm>
            <a:off x="11064240" y="6537960"/>
            <a:ext cx="502920" cy="164592"/>
          </a:xfrm>
          <a:prstGeom prst="rect">
            <a:avLst/>
          </a:prstGeom>
        </p:spPr>
        <p:txBody>
          <a:bodyPr/>
          <a:lstStyle>
            <a:lvl1pPr>
              <a:buNone/>
              <a:defRPr sz="750">
                <a:solidFill>
                  <a:srgbClr val="1B273F"/>
                </a:solidFill>
                <a:latin typeface="Consolas"/>
                <a:ea typeface="Consolas"/>
                <a:cs typeface="Consolas"/>
              </a:defRPr>
            </a:lvl1pPr>
          </a:lstStyle>
          <a:p>
            <a:pPr algn="r">
              <a:buNone/>
            </a:pPr>
            <a:fld id="{F7021451-1387-4CA6-816F-3879F97B5CBC}" type="slidenum">
              <a:rPr b="1"/>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dakleyer/structural-awareness-contributions/blob/main/architectural-contributions/ecosystem-positioning/README.m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github.com/dakleyer/structural-awareness-contributions/blob/main/research/ecosystem-awareness/baseline/00D_CANONICAL_ARCHITECTURE_BENCHMARK_v0.3_DRAFT_ECOSYSTEM_POSITIONING.m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github.com/dakleyer/structural-awareness-contributions/blob/main/research/ecosystem-awareness/baseline/01_FOUNDATIONAL_THEORY_v0.5_INTEGRATED.md" TargetMode="External"/><Relationship Id="rId4" Type="http://schemas.openxmlformats.org/officeDocument/2006/relationships/hyperlink" Target="https://github.com/dakleyer/structural-awareness-contributions/blob/main/research/ecosystem-awareness/baseline/02_EPISTEMIC_SAFETY_PRINCIPLES_CONTROL_MATRIX_v0.4.part01.m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blob/main/research/ecosystem-awareness/baseline/00E_FAILURE_MODES_100M_TOKEN_COMPOUNDING_v0.1.md" TargetMode="External"/><Relationship Id="rId3" Type="http://schemas.openxmlformats.org/officeDocument/2006/relationships/hyperlink" Target="https://github.com/dakleyer/structural-awareness-contributions/blob/main/research/ecosystem-awareness/baseline/00F_FAILURE_MODE_SMART_CITY_MOBILITY_SYSTEMIC_DIVERGENCE_v0.2_FREEZE_EDITION.md" TargetMode="External"/><Relationship Id="rId4" Type="http://schemas.openxmlformats.org/officeDocument/2006/relationships/hyperlink" Target="https://github.com/dakleyer/structural-awareness-contributions/blob/main/research/ecosystem-awareness/baseline/00G_FAILURE_MODE_COLLECTIVE_FALSE_CONTEXT_CONVERGENCE_v0.4.md" TargetMode="External"/><Relationship Id="rId5" Type="http://schemas.openxmlformats.org/officeDocument/2006/relationships/hyperlink" Target="https://github.com/dakleyer/structural-awareness-contributions/blob/main/research/ecosystem-awareness/baseline/00H_FAILURE_MODE_BATCH_OPPORTUNITY_BEYOND_AUTHORITY_v0.5_DRAFT.md" TargetMode="External"/><Relationship Id="rId6" Type="http://schemas.openxmlformats.org/officeDocument/2006/relationships/hyperlink" Target="https://github.com/dakleyer/structural-awareness-contributions/blob/main/research/ecosystem-awareness/baseline/00I_FAILURE_MODE_SEMANTIC_TOCTOU_v0.5_FREEZE_EDITION.md" TargetMode="External"/><Relationship Id="rId7" Type="http://schemas.openxmlformats.org/officeDocument/2006/relationships/hyperlink" Target="https://github.com/dakleyer/structural-awareness-contributions/blob/main/research/ecosystem-awareness/baseline/00J_FAILURE_MODE_RIGHTS_PROVENANCE_INVERSION_v0.1_DRAFT.md" TargetMode="External"/><Relationship Id="rId8" Type="http://schemas.openxmlformats.org/officeDocument/2006/relationships/hyperlink" Target="https://github.com/dakleyer/structural-awareness-contributions/blob/main/research/ecosystem-awareness/baseline/README.m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blob/main/research/ecosystem-awareness/baseline/00E_A01_MICROSOFT_AGENT_365_IMPLEMENTATION_PROFILE_v0.2_DRAFT.md" TargetMode="External"/><Relationship Id="rId3" Type="http://schemas.openxmlformats.org/officeDocument/2006/relationships/hyperlink" Target="https://github.com/dakleyer/structural-awareness-contributions/blob/main/research/ecosystem-awareness/baseline/00E_A02_LANGGRAPH_LANGSMITH_IMPLEMENTATION_PROFILE_v0.2_DRAFT.md" TargetMode="External"/><Relationship Id="rId4" Type="http://schemas.openxmlformats.org/officeDocument/2006/relationships/hyperlink" Target="https://github.com/dakleyer/structural-awareness-contributions/blob/main/research/ecosystem-awareness/baseline/00F_A01_FIWARE_NGSI_LD_IMPLEMENTATION_PROFILE_v0.2_DRAFT.md" TargetMode="External"/><Relationship Id="rId5" Type="http://schemas.openxmlformats.org/officeDocument/2006/relationships/hyperlink" Target="https://github.com/dakleyer/structural-awareness-contributions/blob/main/research/ecosystem-awareness/baseline/00F_A02_AWS_IOT_TWINMAKER_CORE_IMPLEMENTATION_PROFILE_v0.2_DRAFT.md" TargetMode="External"/><Relationship Id="rId6" Type="http://schemas.openxmlformats.org/officeDocument/2006/relationships/hyperlink" Target="https://github.com/dakleyer/structural-awareness-contributions/blob/main/research/ecosystem-awareness/baseline/00G_FAILURE_MODE_COLLECTIVE_FALSE_CONTEXT_CONVERGENCE_v0.4.md#17-integrated-openai-agent-stack-implementation-trajectories" TargetMode="External"/><Relationship Id="rId7" Type="http://schemas.openxmlformats.org/officeDocument/2006/relationships/hyperlink" Target="https://github.com/dakleyer/structural-awareness-contributions/blob/main/research/ecosystem-awareness/baseline/00H_A01_CLAUDE_AGENT_SDK_IMPLEMENTATION_PROFILE_v0.4_DRAFT.md" TargetMode="External"/><Relationship Id="rId8" Type="http://schemas.openxmlformats.org/officeDocument/2006/relationships/hyperlink" Target="https://github.com/dakleyer/structural-awareness-contributions/blob/main/research/ecosystem-awareness/baseline/00H_A02_STRIPE_RADAR_IMPLEMENTATION_PROFILE_v0.4_DRAFT.md" TargetMode="External"/><Relationship Id="rId9" Type="http://schemas.openxmlformats.org/officeDocument/2006/relationships/hyperlink" Target="https://github.com/dakleyer/structural-awareness-contributions/blob/main/research/ecosystem-awareness/baseline/00I_A01_AWS_STEP_FUNCTIONS_RDS_IMPLEMENTATION_PROFILE_v0.2_DRAFT.md" TargetMode="External"/><Relationship Id="rId10" Type="http://schemas.openxmlformats.org/officeDocument/2006/relationships/hyperlink" Target="https://github.com/dakleyer/structural-awareness-contributions/blob/main/research/ecosystem-awareness/baseline/00J_A01_PANODYSSEY_TEMS_RIGHTS_PORTABILITY_IMPLEMENTATION_PROFILE_v0.1_DRAFT.md" TargetMode="External"/><Relationship Id="rId11" Type="http://schemas.openxmlformats.org/officeDocument/2006/relationships/hyperlink" Target="https://github.com/dakleyer/structural-awareness-contributions/blob/main/research/ecosystem-awareness/baseline/README.m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github.com/dakleyer/structural-awareness-contributions/blob/main/research/ecosystem-awareness/baseline/00E_FAILURE_MODES_100M_TOKEN_COMPOUNDING_v0.1.md" TargetMode="External"/><Relationship Id="rId4" Type="http://schemas.openxmlformats.org/officeDocument/2006/relationships/hyperlink" Target="https://github.com/dakleyer/structural-awareness-contributions/blob/main/research/ecosystem-awareness/baseline/00F_FAILURE_MODE_SMART_CITY_MOBILITY_SYSTEMIC_DIVERGENCE_v0.1.md" TargetMode="External"/><Relationship Id="rId5" Type="http://schemas.openxmlformats.org/officeDocument/2006/relationships/hyperlink" Target="https://github.com/dakleyer/structural-awareness-contributions/blob/main/research/ecosystem-awareness/baseline/01_FOUNDATIONAL_THEORY_v0.5_INTEGRATED.md" TargetMode="External"/><Relationship Id="rId6" Type="http://schemas.openxmlformats.org/officeDocument/2006/relationships/hyperlink" Target="https://github.com/dakleyer/structural-awareness-contributions/blob/main/research/ecosystem-awareness/baseline/00_CANONICAL_ARCHITECTURE_TOPOLOGY.m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blob/main/architectural-contributions/ecosystem-positioning/README.m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blob/main/research/ecosystem-awareness/baseline/00_CANONICAL_REQUIREMENTS_CHALLENGES_SUFFICIENCY_HYPOTHESES_KPIS.md" TargetMode="External"/><Relationship Id="rId3" Type="http://schemas.openxmlformats.org/officeDocument/2006/relationships/hyperlink" Target="https://github.com/dakleyer/structural-awareness-contributions/blob/main/research/ecosystem-awareness/baseline/00E_FAILURE_MODES_100M_TOKEN_COMPOUNDING_v0.1.md#82-route-q--requirements-satisfied-for-the-run" TargetMode="External"/><Relationship Id="rId4" Type="http://schemas.openxmlformats.org/officeDocument/2006/relationships/hyperlink" Target="https://github.com/dakleyer/structural-awareness-contributions/blob/main/research/ecosystem-awareness/baseline/00F_FAILURE_MODE_SMART_CITY_MOBILITY_SYSTEMIC_DIVERGENCE_v0.2_FREEZE_EDITION.md#8a3-route-q--requirements-conforming-route" TargetMode="External"/><Relationship Id="rId5" Type="http://schemas.openxmlformats.org/officeDocument/2006/relationships/hyperlink" Target="https://github.com/dakleyer/structural-awareness-contributions/blob/main/research/ecosystem-awareness/baseline/00G_FAILURE_MODE_COLLECTIVE_FALSE_CONTEXT_CONVERGENCE_v0.4.md#9-executable-paired-fixture-and-quality-gate-plan" TargetMode="External"/><Relationship Id="rId6" Type="http://schemas.openxmlformats.org/officeDocument/2006/relationships/hyperlink" Target="https://github.com/dakleyer/structural-awareness-contributions/blob/main/research/ecosystem-awareness/baseline/00H_FAILURE_MODE_BATCH_OPPORTUNITY_BEYOND_AUTHORITY_v0.5_DRAFT.md#123-route-q--current-action-correctly-classified-as-not-authorized" TargetMode="External"/><Relationship Id="rId7" Type="http://schemas.openxmlformats.org/officeDocument/2006/relationships/hyperlink" Target="https://github.com/dakleyer/structural-awareness-contributions/blob/main/research/ecosystem-awareness/baseline/00I_FAILURE_MODE_SEMANTIC_TOCTOU_v0.5_FREEZE_EDITION.md#103-route-q--requirements-conforming-route" TargetMode="External"/><Relationship Id="rId8" Type="http://schemas.openxmlformats.org/officeDocument/2006/relationships/hyperlink" Target="https://github.com/dakleyer/structural-awareness-contributions/blob/main/research/ecosystem-awareness/baseline/00J_FAILURE_MODE_RIGHTS_PROVENANCE_INVERSION_v0.1_DRAFT.md#72-route-q--canonical-requirements-and-gates-correctly-implemented" TargetMode="External"/><Relationship Id="rId9" Type="http://schemas.openxmlformats.org/officeDocument/2006/relationships/hyperlink" Target="https://github.com/dakleyer/structural-awareness-contributions/blob/main/research/ecosystem-awareness/baseline/USE_CASE_PORTFOLIO_REQUIREMENTS_COVERAGE_MAP_v0.1.md" TargetMode="External"/><Relationship Id="rId10" Type="http://schemas.openxmlformats.org/officeDocument/2006/relationships/hyperlink" Target="https://github.com/dakleyer/structural-awareness-contributions/blob/main/research/ecosystem-awareness/baseline/README.m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github.com/dakleyer/structural-awareness-contributions/blob/main/research/ecosystem-awareness/baseline/00_CANONICAL_ARCHITECTURE_TOPOLOGY.md" TargetMode="External"/><Relationship Id="rId4" Type="http://schemas.openxmlformats.org/officeDocument/2006/relationships/hyperlink" Target="https://github.com/dakleyer/structural-awareness-contributions/blob/main/research/ecosystem-awareness/baseline/01J_ECOSYSTEM_SIGNALLING_SELECTIVE_DISCLOSURE_AND_CHOREOGRAPHED_REPOSITIONING_v0.1.md" TargetMode="External"/><Relationship Id="rId5" Type="http://schemas.openxmlformats.org/officeDocument/2006/relationships/hyperlink" Target="https://github.com/dakleyer/structural-awareness-contributions/blob/main/standards/minimum-sufficient-control/03_MSCA_ECOSYSTEM_COMPOSITION_AND_CONTROL.md" TargetMode="External"/><Relationship Id="rId6" Type="http://schemas.openxmlformats.org/officeDocument/2006/relationships/hyperlink" Target="https://github.com/dakleyer/structural-awareness-contributions/blob/main/research/regime-awareness/README.md" TargetMode="External"/><Relationship Id="rId7" Type="http://schemas.openxmlformats.org/officeDocument/2006/relationships/hyperlink" Target="https://github.com/dakleyer/structural-awareness-contributions/blob/main/standards/minimum-sufficient-control/04_CANONICAL_MSCA_OPERATION_AND_REPOSITIONING.md" TargetMode="External"/><Relationship Id="rId8" Type="http://schemas.openxmlformats.org/officeDocument/2006/relationships/hyperlink" Target="https://github.com/dakleyer/structural-awareness-contributions/blob/main/architectural-contributions/ecosystem-positioning/01_OBJECTIVE_CONDITIONED_AGENTIC_GRADIENT_LAW.md" TargetMode="External"/><Relationship Id="rId9" Type="http://schemas.openxmlformats.org/officeDocument/2006/relationships/hyperlink" Target="https://github.com/dakleyer/structural-awareness-contributions/blob/main/research/ecosystem-awareness/baseline/01I_AGENTIC_CITIZENSHIP_CONTRACT_HUMAN_GOVERNED_PARTICIPATION_PROFILE_v0.1.md" TargetMode="External"/><Relationship Id="rId10" Type="http://schemas.openxmlformats.org/officeDocument/2006/relationships/hyperlink" Target="https://github.com/dakleyer/structural-awareness-contributions/blob/main/standards/minimum-sufficient-control/00_CANONICAL_MSCA_ARCHITECTURE.md" TargetMode="External"/><Relationship Id="rId11" Type="http://schemas.openxmlformats.org/officeDocument/2006/relationships/hyperlink" Target="https://github.com/dakleyer/structural-awareness-contributions/blob/main/architectural-contributions/ecosystem-positioning/README.md#the-mechanisms-of-the-positioning-cycl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github.com/dakleyer/structural-awareness-contributions/blob/main/research/ecosystem-awareness/baseline/01I_AGENTIC_CITIZENSHIP_CONTRACT_HUMAN_GOVERNED_PARTICIPATION_PROFILE_v0.1.md" TargetMode="External"/><Relationship Id="rId4" Type="http://schemas.openxmlformats.org/officeDocument/2006/relationships/hyperlink" Target="https://github.com/dakleyer/structural-awareness-contributions/blob/main/research/regime-awareness/README.md" TargetMode="External"/><Relationship Id="rId5" Type="http://schemas.openxmlformats.org/officeDocument/2006/relationships/hyperlink" Target="https://github.com/dakleyer/structural-awareness-contributions/blob/main/standards/minimum-sufficient-control/README.md" TargetMode="External"/><Relationship Id="rId6" Type="http://schemas.openxmlformats.org/officeDocument/2006/relationships/hyperlink" Target="https://github.com/dakleyer/structural-awareness-contributions/blob/main/research/ecosystem-awareness/baseline/01J_ECOSYSTEM_SIGNALLING_SELECTIVE_DISCLOSURE_AND_CHOREOGRAPHED_REPOSITIONING_v0.1.md" TargetMode="External"/><Relationship Id="rId7" Type="http://schemas.openxmlformats.org/officeDocument/2006/relationships/hyperlink" Target="https://github.com/dakleyer/structural-awareness-contributions/blob/main/architectural-contributions/ecosystem-positioning/README.md#the-mechanisms-of-the-positioning-cycle" TargetMode="External"/><Relationship Id="rId8" Type="http://schemas.openxmlformats.org/officeDocument/2006/relationships/hyperlink" Target="https://github.com/dakleyer/structural-awareness-contributions/blob/main/research/ecosystem-awareness/baseline/01H_PARTICIPANT_LOCAL_ECOSYSTEM_POSITIONING_AND_DECISION_SCOPED_EPISTEMIC_OPPORTUNITY_v0.1.md" TargetMode="External"/><Relationship Id="rId9" Type="http://schemas.openxmlformats.org/officeDocument/2006/relationships/hyperlink" Target="https://github.com/dakleyer/structural-awareness-contributions/blob/main/research/ecosystem-awareness/README.md" TargetMode="External"/><Relationship Id="rId10" Type="http://schemas.openxmlformats.org/officeDocument/2006/relationships/hyperlink" Target="https://github.com/dakleyer/structural-awareness-contributions/blob/main/standards/minimum-sufficient-control/04_CANONICAL_MSCA_OPERATION_AND_REPOSITIONING.m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github.com/dakleyer/structural-awareness-contributions/blob/main/research/ecosystem-awareness/baseline/04_GENERAL_FUNCTIONAL_INTERFACES_AGENTIC_SECURITY_v0.5_INTEGRATED.m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github.com/dakleyer/structural-awareness-contributions/blob/main/research/ecosystem-awareness/baseline/00_CANONICAL_ARCHITECTURE_TOPOLOGY.md" TargetMode="External"/><Relationship Id="rId4" Type="http://schemas.openxmlformats.org/officeDocument/2006/relationships/hyperlink" Target="https://github.com/dakleyer/structural-awareness-contributions/blob/main/architectural-contributions/ecosystem-positioning/README.m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blob/main/research/ecosystem-awareness/baseline/00D_CANONICAL_ARCHITECTURE_BENCHMARK_v0.3_DRAFT_ECOSYSTEM_POSITIONING.m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spiffe.io/docs/latest/spire-about/comparisons/" TargetMode="External"/><Relationship Id="rId3" Type="http://schemas.openxmlformats.org/officeDocument/2006/relationships/hyperlink" Target="https://www.rfc-editor.org/rfc/rfc8693.html" TargetMode="External"/><Relationship Id="rId4" Type="http://schemas.openxmlformats.org/officeDocument/2006/relationships/hyperlink" Target="https://www.rfc-editor.org/rfc/rfc9334.html" TargetMode="External"/><Relationship Id="rId5" Type="http://schemas.openxmlformats.org/officeDocument/2006/relationships/hyperlink" Target="https://www.nccoe.nist.gov/projects/software-and-ai-agent-identity-and-authorization" TargetMode="External"/><Relationship Id="rId6" Type="http://schemas.openxmlformats.org/officeDocument/2006/relationships/hyperlink" Target="https://github.com/dakleyer/structural-awareness-contributions/blob/main/research/ecosystem-awareness/baseline/00D_CANONICAL_ARCHITECTURE_BENCHMARK_v0.3_DRAFT_ECOSYSTEM_POSITIONING.md#51-industry-arms" TargetMode="External"/><Relationship Id="rId7" Type="http://schemas.openxmlformats.org/officeDocument/2006/relationships/hyperlink" Target="https://github.com/dakleyer/structural-awareness-contributions/blob/main/research/ecosystem-awareness/baseline/00D_CANONICAL_ARCHITECTURE_BENCHMARK_v0.3_DRAFT_ECOSYSTEM_POSITIONING.m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ithub.com/dakleyer/structural-awareness-contributions/blob/main/README.md" TargetMode="External"/><Relationship Id="rId4" Type="http://schemas.openxmlformats.org/officeDocument/2006/relationships/hyperlink" Target="https://github.com/dakleyer/structural-awareness-contributions/blob/main/architectural-contributions/ecosystem-positioning/README.md" TargetMode="External"/><Relationship Id="rId5" Type="http://schemas.openxmlformats.org/officeDocument/2006/relationships/hyperlink" Target="https://github.com/dakleyer/structural-awareness-contributions/blob/main/research/ecosystem-awareness/README.md" TargetMode="External"/><Relationship Id="rId6" Type="http://schemas.openxmlformats.org/officeDocument/2006/relationships/hyperlink" Target="https://github.com/dakleyer/structural-awareness-contributions/blob/main/research/regime-awareness/README.md" TargetMode="External"/><Relationship Id="rId7" Type="http://schemas.openxmlformats.org/officeDocument/2006/relationships/hyperlink" Target="https://github.com/dakleyer/structural-awareness-contributions/blob/main/standards/minimum-sufficient-control/README.md" TargetMode="External"/><Relationship Id="rId8" Type="http://schemas.openxmlformats.org/officeDocument/2006/relationships/hyperlink" Target="https://github.com/dakleyer/structural-awareness-contributions/blob/main/research/ecosystem-awareness/baseline/00D_CANONICAL_ARCHITECTURE_BENCHMARK_AND_REFERENCE_SCENARIO_EVIDENCE_v0.2.md" TargetMode="External"/><Relationship Id="rId9" Type="http://schemas.openxmlformats.org/officeDocument/2006/relationships/hyperlink" Target="https://github.com/dakleyer/structural-awareness-contributions/blob/main/research/ecosystem-awareness/fg-tida/README.md" TargetMode="External"/><Relationship Id="rId10" Type="http://schemas.openxmlformats.org/officeDocument/2006/relationships/hyperlink" Target="https://github.com/dakleyer/structural-awareness-contributions/blob/main/research/ecosystem-awareness/baseline/00D_CANONICAL_ARCHITECTURE_BENCHMARK_v0.3_DRAFT_ECOSYSTEM_POSITIONING.md" TargetMode="External"/><Relationship Id="rId11" Type="http://schemas.openxmlformats.org/officeDocument/2006/relationships/hyperlink" Target="https://github.com/dakleyer/structural-awareness-contributions/blob/main/research/ecosystem-awareness/DECISION_BOUNDARY_CHALLENGE_v0.2.md#10-ranking-and-review-rule" TargetMode="External"/><Relationship Id="rId12" Type="http://schemas.openxmlformats.org/officeDocument/2006/relationships/hyperlink" Target="https://github.com/dakleyer/structural-awareness-contributions/blob/main/research/ecosystem-awareness/DECISION_BOUNDARY_CHALLENGE_v0.2.m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blob/main/research/ecosystem-awareness/baseline/00F_FAILURE_MODE_SMART_CITY_MOBILITY_SYSTEMIC_DIVERGENCE_v0.2_FREEZE_EDITION.md" TargetMode="External"/><Relationship Id="rId3" Type="http://schemas.openxmlformats.org/officeDocument/2006/relationships/hyperlink" Target="https://github.com/dakleyer/structural-awareness-contributions/blob/main/research/ecosystem-awareness/baseline/README.md" TargetMode="External"/><Relationship Id="rId4" Type="http://schemas.openxmlformats.org/officeDocument/2006/relationships/hyperlink" Target="https://github.com/dakleyer/structural-awareness-contributions/blob/main/research/ecosystem-awareness/baseline/00F_A01_FIWARE_NGSI_LD_IMPLEMENTATION_PROFILE_v0.2_DRAFT.md" TargetMode="External"/><Relationship Id="rId5" Type="http://schemas.openxmlformats.org/officeDocument/2006/relationships/hyperlink" Target="https://github.com/dakleyer/structural-awareness-contributions/blob/main/research/ecosystem-awareness/baseline/00F_A02_AWS_IOT_TWINMAKER_CORE_IMPLEMENTATION_PROFILE_v0.2_DRAFT.md" TargetMode="External"/><Relationship Id="rId6" Type="http://schemas.openxmlformats.org/officeDocument/2006/relationships/hyperlink" Target="https://github.com/dakleyer/structural-awareness-contributions/blob/main/research/ecosystem-awareness/baseline/00E_FAILURE_MODES_100M_TOKEN_COMPOUNDING_v0.1.md#82-route-q--requirements-satisfied-for-the-run" TargetMode="External"/><Relationship Id="rId7" Type="http://schemas.openxmlformats.org/officeDocument/2006/relationships/hyperlink" Target="https://github.com/dakleyer/structural-awareness-contributions/blob/main/research/ecosystem-awareness/baseline/00F_FAILURE_MODE_SMART_CITY_MOBILITY_SYSTEMIC_DIVERGENCE_v0.2_FREEZE_EDITION.md#8a3-route-q--requirements-conforming-route" TargetMode="External"/><Relationship Id="rId8" Type="http://schemas.openxmlformats.org/officeDocument/2006/relationships/hyperlink" Target="https://github.com/dakleyer/structural-awareness-contributions/blob/main/research/ecosystem-awareness/baseline/00G_FAILURE_MODE_COLLECTIVE_FALSE_CONTEXT_CONVERGENCE_v0.4.md#9-executable-paired-fixture-and-quality-gate-plan" TargetMode="External"/><Relationship Id="rId9" Type="http://schemas.openxmlformats.org/officeDocument/2006/relationships/hyperlink" Target="https://github.com/dakleyer/structural-awareness-contributions/blob/main/research/ecosystem-awareness/baseline/00H_FAILURE_MODE_BATCH_OPPORTUNITY_BEYOND_AUTHORITY_v0.5_DRAFT.md#123-route-q--current-action-correctly-classified-as-not-authorized" TargetMode="External"/><Relationship Id="rId10" Type="http://schemas.openxmlformats.org/officeDocument/2006/relationships/hyperlink" Target="https://github.com/dakleyer/structural-awareness-contributions/blob/main/research/ecosystem-awareness/baseline/00I_FAILURE_MODE_SEMANTIC_TOCTOU_v0.5_FREEZE_EDITION.md#103-route-q--requirements-conforming-route" TargetMode="External"/><Relationship Id="rId11" Type="http://schemas.openxmlformats.org/officeDocument/2006/relationships/hyperlink" Target="https://github.com/dakleyer/structural-awareness-contributions/blob/main/research/ecosystem-awareness/baseline/00J_FAILURE_MODE_RIGHTS_PROVENANCE_INVERSION_v0.1_DRAFT.md#72-route-q--canonical-requirements-and-gates-correctly-implemente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dakleyer/structural-awareness-contributions" TargetMode="External"/><Relationship Id="rId3" Type="http://schemas.openxmlformats.org/officeDocument/2006/relationships/hyperlink" Target="https://github.com/dakleyer/structural-awareness-contributions/tree/main/architectural-contributions/ecosystem-positioning" TargetMode="External"/><Relationship Id="rId4" Type="http://schemas.openxmlformats.org/officeDocument/2006/relationships/hyperlink" Target="https://github.com/dakleyer/structural-awareness-contributions/tree/main/research/ecosystem-awareness" TargetMode="External"/><Relationship Id="rId5" Type="http://schemas.openxmlformats.org/officeDocument/2006/relationships/hyperlink" Target="https://github.com/dakleyer/structural-awareness-contributions/tree/main/research/regime-awareness" TargetMode="External"/><Relationship Id="rId6" Type="http://schemas.openxmlformats.org/officeDocument/2006/relationships/hyperlink" Target="https://github.com/dakleyer/structural-awareness-contributions/tree/main/standards/minimum-sufficient-control" TargetMode="External"/><Relationship Id="rId7" Type="http://schemas.openxmlformats.org/officeDocument/2006/relationships/hyperlink" Target="https://github.com/dakleyer/structural-awareness-contributions/tree/main/research/ecosystem-awareness/fg-tida" TargetMode="External"/><Relationship Id="rId8" Type="http://schemas.openxmlformats.org/officeDocument/2006/relationships/hyperlink" Target="https://github.com/dakleyer/structural-awareness-contributions/blob/main/research/ecosystem-awareness/baseline/00_CANONICAL_REQUIREMENTS_CHALLENGES_SUFFICIENCY_HYPOTHESES_KPIS.md" TargetMode="External"/><Relationship Id="rId9" Type="http://schemas.openxmlformats.org/officeDocument/2006/relationships/hyperlink" Target="https://github.com/dakleyer/structural-awareness-contributions/blob/main/research/ecosystem-awareness/baseline/00D_CANONICAL_ARCHITECTURE_BENCHMARK_AND_REFERENCE_SCENARIO_EVIDENCE_v0.2.md" TargetMode="External"/><Relationship Id="rId10" Type="http://schemas.openxmlformats.org/officeDocument/2006/relationships/hyperlink" Target="https://github.com/dakleyer/structural-awareness-contributions/blob/main/research/ecosystem-awareness/baseline/00D_CANONICAL_ARCHITECTURE_BENCHMARK_v0.3_DRAFT_ECOSYSTEM_POSITIONING.md" TargetMode="External"/><Relationship Id="rId11" Type="http://schemas.openxmlformats.org/officeDocument/2006/relationships/hyperlink" Target="https://github.com/dakleyer/structural-awareness-contributions/blob/main/research/ecosystem-awareness/DECISION_BOUNDARY_CHALLENGE_v0.2.md" TargetMode="External"/><Relationship Id="rId12" Type="http://schemas.openxmlformats.org/officeDocument/2006/relationships/hyperlink" Target="https://github.com/dakleyer/structural-awareness-contributions/blob/main/research/ecosystem-awareness/baseline/CANONICAL_CORPUS_MANIFEST.md" TargetMode="External"/><Relationship Id="rId13" Type="http://schemas.openxmlformats.org/officeDocument/2006/relationships/hyperlink" Target="https://github.com/dakleyer/structural-awareness-contributions/blob/main/research/ecosystem-awareness/baseline/00F_FAILURE_MODE_SMART_CITY_MOBILITY_SYSTEMIC_DIVERGENCE_v0.2_FREEZE_EDITION.md" TargetMode="External"/><Relationship Id="rId14" Type="http://schemas.openxmlformats.org/officeDocument/2006/relationships/hyperlink" Target="https://spiffe.io/docs/latest/spire-about/comparisons/" TargetMode="External"/><Relationship Id="rId15" Type="http://schemas.openxmlformats.org/officeDocument/2006/relationships/hyperlink" Target="https://www.rfc-editor.org/rfc/rfc8693.html" TargetMode="External"/><Relationship Id="rId16" Type="http://schemas.openxmlformats.org/officeDocument/2006/relationships/hyperlink" Target="https://www.rfc-editor.org/rfc/rfc9334.html" TargetMode="External"/><Relationship Id="rId17" Type="http://schemas.openxmlformats.org/officeDocument/2006/relationships/hyperlink" Target="https://www.nccoe.nist.gov/projects/software-and-ai-agent-identity-and-authorization" TargetMode="External"/><Relationship Id="rId18" Type="http://schemas.openxmlformats.org/officeDocument/2006/relationships/hyperlink" Target="https://github.com/dakleyer/structural-awareness-contributions/blob/main/architectural-contributions/ecosystem-positioning/README.md" TargetMode="External"/><Relationship Id="rId19" Type="http://schemas.openxmlformats.org/officeDocument/2006/relationships/hyperlink" Target="https://github.com/dakleyer/structural-awareness-contributions/blob/main/research/ecosystem-awareness/README.md" TargetMode="External"/><Relationship Id="rId20" Type="http://schemas.openxmlformats.org/officeDocument/2006/relationships/hyperlink" Target="https://github.com/dakleyer/structural-awareness-contributions/blob/main/research/ecosystem-awareness/fg-tida/README.m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74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44C1FD-9BE7-4172-8EB3-B600C9604AC5}"/>
              </a:ext>
            </a:extLst>
          </p:cNvPr>
          <p:cNvSpPr>
            <a:spLocks noGrp="1"/>
          </p:cNvSpPr>
          <p:nvPr/>
        </p:nvSpPr>
        <p:spPr>
          <a:xfrm>
            <a:off x="9795967" y="365760"/>
            <a:ext cx="1828800" cy="228600"/>
          </a:xfrm>
          <a:prstGeom prst="rect">
            <a:avLst/>
          </a:prstGeom>
          <a:noFill/>
        </p:spPr>
        <p:txBody>
          <a:bodyPr wrap="square" lIns="0" tIns="0" rIns="0" bIns="0" anchor="t">
            <a:spAutoFit/>
          </a:bodyPr>
          <a:lstStyle/>
          <a:p>
            <a:pPr algn="r">
              <a:buNone/>
            </a:pPr>
            <a:endParaRPr/>
          </a:p>
        </p:txBody>
      </p:sp>
      <p:sp>
        <p:nvSpPr>
          <p:cNvPr id="4" name="Connector 3">
            <a:extLst>
              <a:ext uri="{FF2B5EF4-FFF2-40B4-BE49-F238E27FC236}">
                <a16:creationId xmlns:a16="http://schemas.microsoft.com/office/drawing/2014/main" id="{88B86075-DCCC-4A44-AD37-7FBEBF0D2087}"/>
              </a:ext>
            </a:extLst>
          </p:cNvPr>
          <p:cNvSpPr>
            <a:spLocks noGrp="1"/>
          </p:cNvSpPr>
          <p:nvPr/>
        </p:nvSpPr>
        <p:spPr>
          <a:xfrm>
            <a:off x="566928" y="713232"/>
            <a:ext cx="11057839" cy="0"/>
          </a:xfrm>
          <a:prstGeom prst="line">
            <a:avLst/>
          </a:prstGeom>
          <a:ln w="19050">
            <a:solidFill>
              <a:srgbClr val="D3D6DC"/>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CB3F87A0-9B7F-4CC6-AEBA-4ADB2ED68A79}"/>
              </a:ext>
            </a:extLst>
          </p:cNvPr>
          <p:cNvSpPr>
            <a:spLocks noGrp="1"/>
          </p:cNvSpPr>
          <p:nvPr/>
        </p:nvSpPr>
        <p:spPr>
          <a:xfrm>
            <a:off x="566928" y="763524"/>
            <a:ext cx="11057839" cy="0"/>
          </a:xfrm>
          <a:prstGeom prst="line">
            <a:avLst/>
          </a:prstGeom>
          <a:ln w="7620">
            <a:solidFill>
              <a:srgbClr val="D3D6DC"/>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 name="TextBox 6">
            <a:extLst>
              <a:ext uri="{FF2B5EF4-FFF2-40B4-BE49-F238E27FC236}">
                <a16:creationId xmlns:a16="http://schemas.microsoft.com/office/drawing/2014/main" id="{1D5B8D62-E8BB-4E19-A69A-7C23C3E24251}"/>
              </a:ext>
            </a:extLst>
          </p:cNvPr>
          <p:cNvSpPr>
            <a:spLocks noGrp="1"/>
          </p:cNvSpPr>
          <p:nvPr/>
        </p:nvSpPr>
        <p:spPr>
          <a:xfrm>
            <a:off x="566928" y="1783080"/>
            <a:ext cx="7040880" cy="1463040"/>
          </a:xfrm>
          <a:prstGeom prst="rect">
            <a:avLst/>
          </a:prstGeom>
          <a:noFill/>
        </p:spPr>
        <p:txBody>
          <a:bodyPr wrap="square" lIns="0" tIns="0" rIns="0" bIns="0" anchor="t">
            <a:spAutoFit/>
          </a:bodyPr>
          <a:lstStyle/>
          <a:p>
            <a:pPr algn="l">
              <a:lnSpc>
                <a:spcPct val="95000"/>
              </a:lnSpc>
              <a:buNone/>
            </a:pPr>
            <a:r>
              <a:rPr sz="4600" b="1" i="0" spc="-100">
                <a:solidFill>
                  <a:srgbClr val="FCFCFD"/>
                </a:solidFill>
                <a:latin typeface="Cambria"/>
                <a:ea typeface="Cambria"/>
                <a:cs typeface="Cambria"/>
                <a:hlinkClick r:id="rId3"/>
              </a:rPr>
              <a:t>Ecosystem Positioning</a:t>
            </a:r>
          </a:p>
          <a:p>
            <a:pPr algn="l">
              <a:lnSpc>
                <a:spcPct val="95000"/>
              </a:lnSpc>
              <a:buNone/>
            </a:pPr>
            <a:r>
              <a:rPr sz="4600" b="1" i="0" spc="-100">
                <a:solidFill>
                  <a:srgbClr val="FCFCFD"/>
                </a:solidFill>
                <a:latin typeface="Cambria"/>
                <a:ea typeface="Cambria"/>
                <a:cs typeface="Cambria"/>
                <a:hlinkClick r:id="rId3"/>
              </a:rPr>
              <a:t>for Agentic Systems</a:t>
            </a:r>
          </a:p>
        </p:txBody>
      </p:sp>
      <p:sp>
        <p:nvSpPr>
          <p:cNvPr id="8" name="TextBox 7">
            <a:extLst>
              <a:ext uri="{FF2B5EF4-FFF2-40B4-BE49-F238E27FC236}">
                <a16:creationId xmlns:a16="http://schemas.microsoft.com/office/drawing/2014/main" id="{6C3FFF38-AB10-4A8D-82EC-580B75F79819}"/>
              </a:ext>
            </a:extLst>
          </p:cNvPr>
          <p:cNvSpPr>
            <a:spLocks noGrp="1"/>
          </p:cNvSpPr>
          <p:nvPr/>
        </p:nvSpPr>
        <p:spPr>
          <a:xfrm>
            <a:off x="566928" y="3383280"/>
            <a:ext cx="6309360" cy="822960"/>
          </a:xfrm>
          <a:prstGeom prst="rect">
            <a:avLst/>
          </a:prstGeom>
          <a:noFill/>
        </p:spPr>
        <p:txBody>
          <a:bodyPr wrap="square" lIns="0" tIns="0" rIns="0" bIns="0" anchor="t">
            <a:spAutoFit/>
          </a:bodyPr>
          <a:lstStyle/>
          <a:p>
            <a:pPr algn="l">
              <a:lnSpc>
                <a:spcPct val="115000"/>
              </a:lnSpc>
              <a:buNone/>
            </a:pPr>
            <a:r>
              <a:rPr sz="1350" b="0" i="0">
                <a:solidFill>
                  <a:srgbClr val="CACDD3"/>
                </a:solidFill>
                <a:latin typeface="Calibri"/>
                <a:ea typeface="Calibri"/>
                <a:cs typeface="Calibri"/>
              </a:rPr>
              <a:t>A proposed architecture for participants that must stay situated, and requalify, as authority, evidence, roles and the ecosystem itself change.</a:t>
            </a:r>
          </a:p>
        </p:txBody>
      </p:sp>
      <p:sp>
        <p:nvSpPr>
          <p:cNvPr id="9" name="Oval 8">
            <a:extLst>
              <a:ext uri="{FF2B5EF4-FFF2-40B4-BE49-F238E27FC236}">
                <a16:creationId xmlns:a16="http://schemas.microsoft.com/office/drawing/2014/main" id="{E8D80915-4B47-4AED-B24B-784257D0C6FA}"/>
              </a:ext>
            </a:extLst>
          </p:cNvPr>
          <p:cNvSpPr>
            <a:spLocks noGrp="1"/>
          </p:cNvSpPr>
          <p:nvPr/>
        </p:nvSpPr>
        <p:spPr>
          <a:xfrm>
            <a:off x="630936" y="4928616"/>
            <a:ext cx="292608" cy="292608"/>
          </a:xfrm>
          <a:prstGeom prst="ellipse">
            <a:avLst/>
          </a:prstGeom>
          <a:noFill/>
          <a:ln w="12700">
            <a:solidFill>
              <a:srgbClr val="7FB2D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A716341C-B92E-4F9B-B4CA-A2BD3CF1B83C}"/>
              </a:ext>
            </a:extLst>
          </p:cNvPr>
          <p:cNvSpPr>
            <a:spLocks noGrp="1"/>
          </p:cNvSpPr>
          <p:nvPr/>
        </p:nvSpPr>
        <p:spPr>
          <a:xfrm>
            <a:off x="2560320" y="4937759"/>
            <a:ext cx="274320" cy="274320"/>
          </a:xfrm>
          <a:prstGeom prst="rect">
            <a:avLst/>
          </a:prstGeom>
          <a:noFill/>
          <a:ln w="12700">
            <a:solidFill>
              <a:srgbClr val="7FB2D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984407DF-E482-4DAA-8190-BCBEF679B05D}"/>
              </a:ext>
            </a:extLst>
          </p:cNvPr>
          <p:cNvSpPr>
            <a:spLocks noGrp="1"/>
          </p:cNvSpPr>
          <p:nvPr/>
        </p:nvSpPr>
        <p:spPr>
          <a:xfrm>
            <a:off x="4480559" y="4937759"/>
            <a:ext cx="274320" cy="274320"/>
          </a:xfrm>
          <a:prstGeom prst="rect">
            <a:avLst/>
          </a:prstGeom>
          <a:noFill/>
          <a:ln w="12700">
            <a:solidFill>
              <a:srgbClr val="7FB2D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A8E96F78-EE96-491B-86E3-289BE64F5D29}"/>
              </a:ext>
            </a:extLst>
          </p:cNvPr>
          <p:cNvSpPr>
            <a:spLocks noGrp="1"/>
          </p:cNvSpPr>
          <p:nvPr/>
        </p:nvSpPr>
        <p:spPr>
          <a:xfrm>
            <a:off x="6400800" y="4937759"/>
            <a:ext cx="274320" cy="274320"/>
          </a:xfrm>
          <a:prstGeom prst="rect">
            <a:avLst/>
          </a:prstGeom>
          <a:noFill/>
          <a:ln w="12700">
            <a:solidFill>
              <a:srgbClr val="7FB2D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Connector 12">
            <a:extLst>
              <a:ext uri="{FF2B5EF4-FFF2-40B4-BE49-F238E27FC236}">
                <a16:creationId xmlns:a16="http://schemas.microsoft.com/office/drawing/2014/main" id="{C8EFA27D-7367-4FDD-8492-2D7BFD38E59C}"/>
              </a:ext>
            </a:extLst>
          </p:cNvPr>
          <p:cNvSpPr>
            <a:spLocks noGrp="1"/>
          </p:cNvSpPr>
          <p:nvPr/>
        </p:nvSpPr>
        <p:spPr>
          <a:xfrm>
            <a:off x="978408" y="5074920"/>
            <a:ext cx="1517904" cy="0"/>
          </a:xfrm>
          <a:prstGeom prst="line">
            <a:avLst/>
          </a:prstGeom>
          <a:ln w="12700">
            <a:solidFill>
              <a:srgbClr val="7FB2DE"/>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4" name="Connector 13">
            <a:extLst>
              <a:ext uri="{FF2B5EF4-FFF2-40B4-BE49-F238E27FC236}">
                <a16:creationId xmlns:a16="http://schemas.microsoft.com/office/drawing/2014/main" id="{52460077-9A01-4EB7-8E4D-B20BEED93C72}"/>
              </a:ext>
            </a:extLst>
          </p:cNvPr>
          <p:cNvSpPr>
            <a:spLocks noGrp="1"/>
          </p:cNvSpPr>
          <p:nvPr/>
        </p:nvSpPr>
        <p:spPr>
          <a:xfrm>
            <a:off x="2898648" y="5074920"/>
            <a:ext cx="1517904" cy="0"/>
          </a:xfrm>
          <a:prstGeom prst="line">
            <a:avLst/>
          </a:prstGeom>
          <a:ln w="12700">
            <a:solidFill>
              <a:srgbClr val="7FB2DE"/>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5" name="Connector 14">
            <a:extLst>
              <a:ext uri="{FF2B5EF4-FFF2-40B4-BE49-F238E27FC236}">
                <a16:creationId xmlns:a16="http://schemas.microsoft.com/office/drawing/2014/main" id="{A33DCA61-C02F-4ECB-836D-01059D11CA72}"/>
              </a:ext>
            </a:extLst>
          </p:cNvPr>
          <p:cNvSpPr>
            <a:spLocks noGrp="1"/>
          </p:cNvSpPr>
          <p:nvPr/>
        </p:nvSpPr>
        <p:spPr>
          <a:xfrm>
            <a:off x="4818888" y="5074920"/>
            <a:ext cx="1517904" cy="0"/>
          </a:xfrm>
          <a:prstGeom prst="line">
            <a:avLst/>
          </a:prstGeom>
          <a:ln w="12700">
            <a:solidFill>
              <a:srgbClr val="7FB2DE"/>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6" name="TextBox 15">
            <a:extLst>
              <a:ext uri="{FF2B5EF4-FFF2-40B4-BE49-F238E27FC236}">
                <a16:creationId xmlns:a16="http://schemas.microsoft.com/office/drawing/2014/main" id="{FAA8AB46-338A-41D8-9072-2B79785B1B9F}"/>
              </a:ext>
            </a:extLst>
          </p:cNvPr>
          <p:cNvSpPr>
            <a:spLocks noGrp="1"/>
          </p:cNvSpPr>
          <p:nvPr/>
        </p:nvSpPr>
        <p:spPr>
          <a:xfrm>
            <a:off x="1188720" y="4782312"/>
            <a:ext cx="1097280" cy="182880"/>
          </a:xfrm>
          <a:prstGeom prst="rect">
            <a:avLst/>
          </a:prstGeom>
          <a:noFill/>
        </p:spPr>
        <p:txBody>
          <a:bodyPr wrap="square" lIns="0" tIns="0" rIns="0" bIns="0" anchor="t">
            <a:spAutoFit/>
          </a:bodyPr>
          <a:lstStyle/>
          <a:p>
            <a:pPr algn="ctr">
              <a:buNone/>
            </a:pPr>
            <a:r>
              <a:rPr sz="800" b="0" i="0">
                <a:solidFill>
                  <a:srgbClr val="8B919E"/>
                </a:solidFill>
                <a:latin typeface="Consolas"/>
                <a:ea typeface="Consolas"/>
                <a:cs typeface="Consolas"/>
              </a:rPr>
              <a:t>triggers</a:t>
            </a:r>
          </a:p>
        </p:txBody>
      </p:sp>
      <p:sp>
        <p:nvSpPr>
          <p:cNvPr id="17" name="TextBox 16">
            <a:extLst>
              <a:ext uri="{FF2B5EF4-FFF2-40B4-BE49-F238E27FC236}">
                <a16:creationId xmlns:a16="http://schemas.microsoft.com/office/drawing/2014/main" id="{80E9A3CA-6531-4F27-B60A-D8193F71AF48}"/>
              </a:ext>
            </a:extLst>
          </p:cNvPr>
          <p:cNvSpPr>
            <a:spLocks noGrp="1"/>
          </p:cNvSpPr>
          <p:nvPr/>
        </p:nvSpPr>
        <p:spPr>
          <a:xfrm>
            <a:off x="3108960" y="4782312"/>
            <a:ext cx="1097280" cy="182880"/>
          </a:xfrm>
          <a:prstGeom prst="rect">
            <a:avLst/>
          </a:prstGeom>
          <a:noFill/>
        </p:spPr>
        <p:txBody>
          <a:bodyPr wrap="square" lIns="0" tIns="0" rIns="0" bIns="0" anchor="t">
            <a:spAutoFit/>
          </a:bodyPr>
          <a:lstStyle/>
          <a:p>
            <a:pPr algn="ctr">
              <a:buNone/>
            </a:pPr>
            <a:r>
              <a:rPr sz="800" b="0" i="0">
                <a:solidFill>
                  <a:srgbClr val="8B919E"/>
                </a:solidFill>
                <a:latin typeface="Consolas"/>
                <a:ea typeface="Consolas"/>
                <a:cs typeface="Consolas"/>
              </a:rPr>
              <a:t>informs</a:t>
            </a:r>
          </a:p>
        </p:txBody>
      </p:sp>
      <p:sp>
        <p:nvSpPr>
          <p:cNvPr id="18" name="TextBox 17">
            <a:extLst>
              <a:ext uri="{FF2B5EF4-FFF2-40B4-BE49-F238E27FC236}">
                <a16:creationId xmlns:a16="http://schemas.microsoft.com/office/drawing/2014/main" id="{FD3604AD-BA4A-4398-BCC2-5B233B20FCAC}"/>
              </a:ext>
            </a:extLst>
          </p:cNvPr>
          <p:cNvSpPr>
            <a:spLocks noGrp="1"/>
          </p:cNvSpPr>
          <p:nvPr/>
        </p:nvSpPr>
        <p:spPr>
          <a:xfrm>
            <a:off x="5029200" y="4782312"/>
            <a:ext cx="1097280" cy="182880"/>
          </a:xfrm>
          <a:prstGeom prst="rect">
            <a:avLst/>
          </a:prstGeom>
          <a:noFill/>
        </p:spPr>
        <p:txBody>
          <a:bodyPr wrap="square" lIns="0" tIns="0" rIns="0" bIns="0" anchor="t">
            <a:spAutoFit/>
          </a:bodyPr>
          <a:lstStyle/>
          <a:p>
            <a:pPr algn="ctr">
              <a:buNone/>
            </a:pPr>
            <a:r>
              <a:rPr sz="800" b="0" i="0">
                <a:solidFill>
                  <a:srgbClr val="8B919E"/>
                </a:solidFill>
                <a:latin typeface="Consolas"/>
                <a:ea typeface="Consolas"/>
                <a:cs typeface="Consolas"/>
              </a:rPr>
              <a:t>guides</a:t>
            </a:r>
          </a:p>
        </p:txBody>
      </p:sp>
      <p:sp>
        <p:nvSpPr>
          <p:cNvPr id="19" name="TextBox 18">
            <a:extLst>
              <a:ext uri="{FF2B5EF4-FFF2-40B4-BE49-F238E27FC236}">
                <a16:creationId xmlns:a16="http://schemas.microsoft.com/office/drawing/2014/main" id="{13424855-CA76-4EC6-A838-59A192F22622}"/>
              </a:ext>
            </a:extLst>
          </p:cNvPr>
          <p:cNvSpPr>
            <a:spLocks noGrp="1"/>
          </p:cNvSpPr>
          <p:nvPr/>
        </p:nvSpPr>
        <p:spPr>
          <a:xfrm>
            <a:off x="137160" y="5330952"/>
            <a:ext cx="1280160" cy="182880"/>
          </a:xfrm>
          <a:prstGeom prst="rect">
            <a:avLst/>
          </a:prstGeom>
          <a:noFill/>
        </p:spPr>
        <p:txBody>
          <a:bodyPr wrap="square" lIns="0" tIns="0" rIns="0" bIns="0" anchor="t">
            <a:spAutoFit/>
          </a:bodyPr>
          <a:lstStyle/>
          <a:p>
            <a:pPr algn="ctr">
              <a:buNone/>
            </a:pPr>
            <a:r>
              <a:rPr sz="850" b="0" i="0" spc="130">
                <a:solidFill>
                  <a:srgbClr val="A6ABB5"/>
                </a:solidFill>
                <a:latin typeface="Consolas"/>
                <a:ea typeface="Consolas"/>
                <a:cs typeface="Consolas"/>
              </a:rPr>
              <a:t>CHANGE</a:t>
            </a:r>
          </a:p>
        </p:txBody>
      </p:sp>
      <p:sp>
        <p:nvSpPr>
          <p:cNvPr id="20" name="TextBox 19">
            <a:extLst>
              <a:ext uri="{FF2B5EF4-FFF2-40B4-BE49-F238E27FC236}">
                <a16:creationId xmlns:a16="http://schemas.microsoft.com/office/drawing/2014/main" id="{58CFE189-58C0-40C4-9878-C5C5E1C230A6}"/>
              </a:ext>
            </a:extLst>
          </p:cNvPr>
          <p:cNvSpPr>
            <a:spLocks noGrp="1"/>
          </p:cNvSpPr>
          <p:nvPr/>
        </p:nvSpPr>
        <p:spPr>
          <a:xfrm>
            <a:off x="2057400" y="5330952"/>
            <a:ext cx="1280160" cy="182880"/>
          </a:xfrm>
          <a:prstGeom prst="rect">
            <a:avLst/>
          </a:prstGeom>
          <a:noFill/>
        </p:spPr>
        <p:txBody>
          <a:bodyPr wrap="square" lIns="0" tIns="0" rIns="0" bIns="0" anchor="t">
            <a:spAutoFit/>
          </a:bodyPr>
          <a:lstStyle/>
          <a:p>
            <a:pPr algn="ctr">
              <a:buNone/>
            </a:pPr>
            <a:r>
              <a:rPr sz="850" b="0" i="0" spc="130">
                <a:solidFill>
                  <a:srgbClr val="A6ABB5"/>
                </a:solidFill>
                <a:latin typeface="Consolas"/>
                <a:ea typeface="Consolas"/>
                <a:cs typeface="Consolas"/>
              </a:rPr>
              <a:t>AWARENESS</a:t>
            </a:r>
          </a:p>
        </p:txBody>
      </p:sp>
      <p:sp>
        <p:nvSpPr>
          <p:cNvPr id="21" name="TextBox 20">
            <a:extLst>
              <a:ext uri="{FF2B5EF4-FFF2-40B4-BE49-F238E27FC236}">
                <a16:creationId xmlns:a16="http://schemas.microsoft.com/office/drawing/2014/main" id="{30CC274B-1102-4ED1-9240-F522FA0A70E4}"/>
              </a:ext>
            </a:extLst>
          </p:cNvPr>
          <p:cNvSpPr>
            <a:spLocks noGrp="1"/>
          </p:cNvSpPr>
          <p:nvPr/>
        </p:nvSpPr>
        <p:spPr>
          <a:xfrm>
            <a:off x="3977639" y="5330952"/>
            <a:ext cx="1280160" cy="182880"/>
          </a:xfrm>
          <a:prstGeom prst="rect">
            <a:avLst/>
          </a:prstGeom>
          <a:noFill/>
        </p:spPr>
        <p:txBody>
          <a:bodyPr wrap="square" lIns="0" tIns="0" rIns="0" bIns="0" anchor="t">
            <a:spAutoFit/>
          </a:bodyPr>
          <a:lstStyle/>
          <a:p>
            <a:pPr algn="ctr">
              <a:buNone/>
            </a:pPr>
            <a:r>
              <a:rPr sz="850" b="0" i="0" spc="130">
                <a:solidFill>
                  <a:srgbClr val="A6ABB5"/>
                </a:solidFill>
                <a:latin typeface="Consolas"/>
                <a:ea typeface="Consolas"/>
                <a:cs typeface="Consolas"/>
              </a:rPr>
              <a:t>GRADIENT</a:t>
            </a:r>
          </a:p>
        </p:txBody>
      </p:sp>
      <p:sp>
        <p:nvSpPr>
          <p:cNvPr id="22" name="TextBox 21">
            <a:extLst>
              <a:ext uri="{FF2B5EF4-FFF2-40B4-BE49-F238E27FC236}">
                <a16:creationId xmlns:a16="http://schemas.microsoft.com/office/drawing/2014/main" id="{5C849B5E-791B-46D2-B407-98F8694A420A}"/>
              </a:ext>
            </a:extLst>
          </p:cNvPr>
          <p:cNvSpPr>
            <a:spLocks noGrp="1"/>
          </p:cNvSpPr>
          <p:nvPr/>
        </p:nvSpPr>
        <p:spPr>
          <a:xfrm>
            <a:off x="5897880" y="5330952"/>
            <a:ext cx="1280160" cy="182880"/>
          </a:xfrm>
          <a:prstGeom prst="rect">
            <a:avLst/>
          </a:prstGeom>
          <a:noFill/>
        </p:spPr>
        <p:txBody>
          <a:bodyPr wrap="square" lIns="0" tIns="0" rIns="0" bIns="0" anchor="t">
            <a:spAutoFit/>
          </a:bodyPr>
          <a:lstStyle/>
          <a:p>
            <a:pPr algn="ctr">
              <a:buNone/>
            </a:pPr>
            <a:r>
              <a:rPr sz="850" b="0" i="0" spc="130">
                <a:solidFill>
                  <a:srgbClr val="A6ABB5"/>
                </a:solidFill>
                <a:latin typeface="Consolas"/>
                <a:ea typeface="Consolas"/>
                <a:cs typeface="Consolas"/>
              </a:rPr>
              <a:t>REPOSITIONING</a:t>
            </a:r>
          </a:p>
        </p:txBody>
      </p:sp>
      <p:sp>
        <p:nvSpPr>
          <p:cNvPr id="23" name="TextBox 22">
            <a:extLst>
              <a:ext uri="{FF2B5EF4-FFF2-40B4-BE49-F238E27FC236}">
                <a16:creationId xmlns:a16="http://schemas.microsoft.com/office/drawing/2014/main" id="{06C8ED7C-AF29-45CC-94C6-AD5C455D53DF}"/>
              </a:ext>
            </a:extLst>
          </p:cNvPr>
          <p:cNvSpPr>
            <a:spLocks noGrp="1"/>
          </p:cNvSpPr>
          <p:nvPr/>
        </p:nvSpPr>
        <p:spPr>
          <a:xfrm>
            <a:off x="5440680" y="5550408"/>
            <a:ext cx="2194560" cy="182880"/>
          </a:xfrm>
          <a:prstGeom prst="rect">
            <a:avLst/>
          </a:prstGeom>
          <a:noFill/>
        </p:spPr>
        <p:txBody>
          <a:bodyPr wrap="square" lIns="0" tIns="0" rIns="0" bIns="0" anchor="t">
            <a:spAutoFit/>
          </a:bodyPr>
          <a:lstStyle/>
          <a:p>
            <a:pPr algn="ctr">
              <a:buNone/>
            </a:pPr>
            <a:r>
              <a:rPr sz="800" b="0" i="0">
                <a:solidFill>
                  <a:srgbClr val="8B919E"/>
                </a:solidFill>
                <a:latin typeface="Consolas"/>
                <a:ea typeface="Consolas"/>
                <a:cs typeface="Consolas"/>
              </a:rPr>
              <a:t>signal ≠ command</a:t>
            </a:r>
          </a:p>
        </p:txBody>
      </p:sp>
      <p:sp>
        <p:nvSpPr>
          <p:cNvPr id="24" name="Rectangle 23">
            <a:extLst>
              <a:ext uri="{FF2B5EF4-FFF2-40B4-BE49-F238E27FC236}">
                <a16:creationId xmlns:a16="http://schemas.microsoft.com/office/drawing/2014/main" id="{2B39579E-1223-4732-A566-50EA4B906736}"/>
              </a:ext>
            </a:extLst>
          </p:cNvPr>
          <p:cNvSpPr>
            <a:spLocks noGrp="1"/>
          </p:cNvSpPr>
          <p:nvPr/>
        </p:nvSpPr>
        <p:spPr>
          <a:xfrm>
            <a:off x="8001000" y="1371600"/>
            <a:ext cx="3621024" cy="3429000"/>
          </a:xfrm>
          <a:prstGeom prst="rect">
            <a:avLst/>
          </a:prstGeom>
          <a:solidFill>
            <a:srgbClr val="27324A"/>
          </a:solidFill>
          <a:ln w="7620">
            <a:solidFill>
              <a:srgbClr val="3F495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Rectangle 24">
            <a:extLst>
              <a:ext uri="{FF2B5EF4-FFF2-40B4-BE49-F238E27FC236}">
                <a16:creationId xmlns:a16="http://schemas.microsoft.com/office/drawing/2014/main" id="{90077071-B7F3-409A-9E21-C4A07FC8B413}"/>
              </a:ext>
            </a:extLst>
          </p:cNvPr>
          <p:cNvSpPr>
            <a:spLocks noGrp="1"/>
          </p:cNvSpPr>
          <p:nvPr/>
        </p:nvSpPr>
        <p:spPr>
          <a:xfrm>
            <a:off x="8001000" y="1371600"/>
            <a:ext cx="41148" cy="3429000"/>
          </a:xfrm>
          <a:prstGeom prst="rect">
            <a:avLst/>
          </a:prstGeom>
          <a:solidFill>
            <a:srgbClr val="7FB2D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BBAD8-8C10-41B7-A960-401218E4901A}"/>
              </a:ext>
            </a:extLst>
          </p:cNvPr>
          <p:cNvSpPr>
            <a:spLocks noGrp="1"/>
          </p:cNvSpPr>
          <p:nvPr/>
        </p:nvSpPr>
        <p:spPr>
          <a:xfrm>
            <a:off x="8275320" y="1627632"/>
            <a:ext cx="3163824" cy="228600"/>
          </a:xfrm>
          <a:prstGeom prst="rect">
            <a:avLst/>
          </a:prstGeom>
          <a:noFill/>
        </p:spPr>
        <p:txBody>
          <a:bodyPr wrap="square" lIns="0" tIns="0" rIns="0" bIns="0" anchor="t">
            <a:spAutoFit/>
          </a:bodyPr>
          <a:lstStyle/>
          <a:p>
            <a:pPr algn="l">
              <a:buNone/>
            </a:pPr>
            <a:r>
              <a:rPr sz="850" b="1" i="0" spc="120">
                <a:solidFill>
                  <a:srgbClr val="9EC6E8"/>
                </a:solidFill>
                <a:latin typeface="Consolas"/>
                <a:ea typeface="Consolas"/>
                <a:cs typeface="Consolas"/>
              </a:rPr>
              <a:t>WORKING ARCHITECTURE</a:t>
            </a:r>
          </a:p>
        </p:txBody>
      </p:sp>
      <p:sp>
        <p:nvSpPr>
          <p:cNvPr id="27" name="TextBox 26">
            <a:extLst>
              <a:ext uri="{FF2B5EF4-FFF2-40B4-BE49-F238E27FC236}">
                <a16:creationId xmlns:a16="http://schemas.microsoft.com/office/drawing/2014/main" id="{A230DBCA-C598-4CBC-A2F8-927CD883B311}"/>
              </a:ext>
            </a:extLst>
          </p:cNvPr>
          <p:cNvSpPr>
            <a:spLocks noGrp="1"/>
          </p:cNvSpPr>
          <p:nvPr/>
        </p:nvSpPr>
        <p:spPr>
          <a:xfrm>
            <a:off x="8275320" y="1938528"/>
            <a:ext cx="3163824" cy="822960"/>
          </a:xfrm>
          <a:prstGeom prst="rect">
            <a:avLst/>
          </a:prstGeom>
          <a:noFill/>
        </p:spPr>
        <p:txBody>
          <a:bodyPr wrap="square" lIns="0" tIns="0" rIns="0" bIns="0" anchor="t">
            <a:spAutoFit/>
          </a:bodyPr>
          <a:lstStyle/>
          <a:p>
            <a:pPr algn="l">
              <a:lnSpc>
                <a:spcPct val="98000"/>
              </a:lnSpc>
              <a:buNone/>
            </a:pPr>
            <a:r>
              <a:rPr sz="2000" b="1" i="0" spc="-20">
                <a:solidFill>
                  <a:srgbClr val="FCFCFD"/>
                </a:solidFill>
                <a:latin typeface="Cambria"/>
                <a:ea typeface="Cambria"/>
                <a:cs typeface="Cambria"/>
              </a:rPr>
              <a:t>Proposal</a:t>
            </a:r>
          </a:p>
          <a:p>
            <a:pPr algn="l">
              <a:lnSpc>
                <a:spcPct val="98000"/>
              </a:lnSpc>
              <a:buNone/>
            </a:pPr>
            <a:r>
              <a:rPr sz="2000" b="1" i="0" spc="-20">
                <a:solidFill>
                  <a:srgbClr val="FCFCFD"/>
                </a:solidFill>
                <a:latin typeface="Cambria"/>
                <a:ea typeface="Cambria"/>
                <a:cs typeface="Cambria"/>
              </a:rPr>
              <a:t>Open for review.</a:t>
            </a:r>
          </a:p>
        </p:txBody>
      </p:sp>
      <p:sp>
        <p:nvSpPr>
          <p:cNvPr id="28" name="TextBox 27">
            <a:extLst>
              <a:ext uri="{FF2B5EF4-FFF2-40B4-BE49-F238E27FC236}">
                <a16:creationId xmlns:a16="http://schemas.microsoft.com/office/drawing/2014/main" id="{5CC0098D-5598-4259-9996-0A3CB712FBB0}"/>
              </a:ext>
            </a:extLst>
          </p:cNvPr>
          <p:cNvSpPr>
            <a:spLocks noGrp="1"/>
          </p:cNvSpPr>
          <p:nvPr/>
        </p:nvSpPr>
        <p:spPr>
          <a:xfrm>
            <a:off x="8275320" y="2788920"/>
            <a:ext cx="3072384" cy="1188720"/>
          </a:xfrm>
          <a:prstGeom prst="rect">
            <a:avLst/>
          </a:prstGeom>
          <a:noFill/>
        </p:spPr>
        <p:txBody>
          <a:bodyPr wrap="square" lIns="0" tIns="0" rIns="0" bIns="0" anchor="t">
            <a:spAutoFit/>
          </a:bodyPr>
          <a:lstStyle/>
          <a:p>
            <a:pPr algn="l">
              <a:lnSpc>
                <a:spcPct val="115000"/>
              </a:lnSpc>
              <a:buNone/>
            </a:pPr>
            <a:r>
              <a:rPr sz="1050" b="1">
                <a:solidFill>
                  <a:srgbClr val="A6ABB5"/>
                </a:solidFill>
                <a:latin typeface="Consolas"/>
              </a:rPr>
              <a:t>CREATED BY</a:t>
            </a:r>
          </a:p>
          <a:p>
            <a:pPr algn="l"/>
            <a:r>
              <a:rPr sz="1700" b="1">
                <a:solidFill>
                  <a:srgbClr val="FCFCFD"/>
                </a:solidFill>
                <a:latin typeface="Cambria"/>
              </a:rPr>
              <a:t>Iván Abril Palma</a:t>
            </a:r>
          </a:p>
          <a:p>
            <a:pPr algn="l"/>
            <a:r>
              <a:rPr sz="1150" b="0">
                <a:solidFill>
                  <a:srgbClr val="CACDD3"/>
                </a:solidFill>
                <a:latin typeface="Calibri"/>
              </a:rPr>
              <a:t>Tegrity.ai</a:t>
            </a:r>
          </a:p>
        </p:txBody>
      </p:sp>
      <p:sp>
        <p:nvSpPr>
          <p:cNvPr id="29" name="TextBox 28">
            <a:extLst>
              <a:ext uri="{FF2B5EF4-FFF2-40B4-BE49-F238E27FC236}">
                <a16:creationId xmlns:a16="http://schemas.microsoft.com/office/drawing/2014/main" id="{A2C1FE84-E727-4E00-89B0-AE684AE870BE}"/>
              </a:ext>
            </a:extLst>
          </p:cNvPr>
          <p:cNvSpPr>
            <a:spLocks noGrp="1"/>
          </p:cNvSpPr>
          <p:nvPr/>
        </p:nvSpPr>
        <p:spPr>
          <a:xfrm>
            <a:off x="8275320" y="4114800"/>
            <a:ext cx="3163824" cy="548640"/>
          </a:xfrm>
          <a:prstGeom prst="rect">
            <a:avLst/>
          </a:prstGeom>
          <a:noFill/>
        </p:spPr>
        <p:txBody>
          <a:bodyPr wrap="square" lIns="0" tIns="0" rIns="0" bIns="0" anchor="t">
            <a:spAutoFit/>
          </a:bodyPr>
          <a:lstStyle/>
          <a:p>
            <a:pPr algn="l">
              <a:lnSpc>
                <a:spcPct val="150000"/>
              </a:lnSpc>
              <a:buNone/>
            </a:pPr>
            <a:r>
              <a:rPr sz="850" b="0" i="0" spc="110">
                <a:solidFill>
                  <a:srgbClr val="A6ABB5"/>
                </a:solidFill>
                <a:latin typeface="Consolas"/>
                <a:ea typeface="Consolas"/>
                <a:cs typeface="Consolas"/>
              </a:rPr>
              <a:t>CREATIVE COMMONS · ATTRIBUTION</a:t>
            </a:r>
          </a:p>
          <a:p>
            <a:pPr algn="l">
              <a:lnSpc>
                <a:spcPct val="150000"/>
              </a:lnSpc>
              <a:buNone/>
            </a:pPr>
            <a:r>
              <a:rPr sz="850" b="0" i="0">
                <a:solidFill>
                  <a:srgbClr val="A6ABB5"/>
                </a:solidFill>
                <a:latin typeface="Consolas"/>
              </a:rPr>
              <a:t>V1.0 · 2026-09-23 · CANONICAL WORKING PROPOSAL</a:t>
            </a:r>
          </a:p>
        </p:txBody>
      </p:sp>
      <p:sp>
        <p:nvSpPr>
          <p:cNvPr id="30" name="Connector 29">
            <a:extLst>
              <a:ext uri="{FF2B5EF4-FFF2-40B4-BE49-F238E27FC236}">
                <a16:creationId xmlns:a16="http://schemas.microsoft.com/office/drawing/2014/main" id="{6E104162-6C42-4DC6-8D59-85A25DD63B37}"/>
              </a:ext>
            </a:extLst>
          </p:cNvPr>
          <p:cNvSpPr>
            <a:spLocks noGrp="1"/>
          </p:cNvSpPr>
          <p:nvPr/>
        </p:nvSpPr>
        <p:spPr>
          <a:xfrm>
            <a:off x="566928" y="6217920"/>
            <a:ext cx="11057839" cy="0"/>
          </a:xfrm>
          <a:prstGeom prst="line">
            <a:avLst/>
          </a:prstGeom>
          <a:ln w="6350">
            <a:solidFill>
              <a:srgbClr val="3A4560"/>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2" name="TextBox 31">
            <a:extLst>
              <a:ext uri="{FF2B5EF4-FFF2-40B4-BE49-F238E27FC236}">
                <a16:creationId xmlns:a16="http://schemas.microsoft.com/office/drawing/2014/main" id="{0716A0F1-7C69-469B-93BA-5C85695950E2}"/>
              </a:ext>
            </a:extLst>
          </p:cNvPr>
          <p:cNvSpPr>
            <a:spLocks noGrp="1"/>
          </p:cNvSpPr>
          <p:nvPr/>
        </p:nvSpPr>
        <p:spPr>
          <a:xfrm>
            <a:off x="10527487" y="6291072"/>
            <a:ext cx="1097280" cy="274320"/>
          </a:xfrm>
          <a:prstGeom prst="rect">
            <a:avLst/>
          </a:prstGeom>
          <a:noFill/>
        </p:spPr>
        <p:txBody>
          <a:bodyPr wrap="square" lIns="0" tIns="0" rIns="0" bIns="0" anchor="t">
            <a:spAutoFit/>
          </a:bodyPr>
          <a:lstStyle/>
          <a:p>
            <a:pPr algn="r">
              <a:buNone/>
            </a:pPr>
            <a:endParaRPr/>
          </a:p>
        </p:txBody>
      </p:sp>
      <p:sp>
        <p:nvSpPr>
          <p:cNvPr id="33" name="TextBox 32"/>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3"/>
              </a:rPr>
              <a:t>Ecosystem Positioning README</a:t>
            </a:r>
          </a:p>
        </p:txBody>
      </p:sp>
    </p:spTree>
    <p:extLst>
      <p:ext uri="{BB962C8B-B14F-4D97-AF65-F5344CB8AC3E}">
        <p14:creationId xmlns:p14="http://schemas.microsoft.com/office/powerpoint/2010/main" val="676717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79E3BDE-1284-4B1B-9B10-BFDC278B1E25}"/>
              </a:ext>
            </a:extLst>
          </p:cNvPr>
          <p:cNvSpPr>
            <a:spLocks noGrp="1"/>
          </p:cNvSpPr>
          <p:nvPr/>
        </p:nvSpPr>
        <p:spPr>
          <a:xfrm>
            <a:off x="566928" y="164592"/>
            <a:ext cx="2194560" cy="164592"/>
          </a:xfrm>
          <a:prstGeom prst="rect">
            <a:avLst/>
          </a:prstGeom>
          <a:noFill/>
        </p:spPr>
        <p:txBody>
          <a:bodyPr wrap="square" lIns="0" tIns="0" rIns="0" bIns="0" anchor="ctr"/>
          <a:lstStyle/>
          <a:p>
            <a:pPr marL="0" indent="0">
              <a:buNone/>
            </a:pPr>
            <a:r>
              <a:rPr sz="820">
                <a:solidFill>
                  <a:srgbClr val="7A7E84"/>
                </a:solidFill>
                <a:latin typeface="Consolas"/>
                <a:ea typeface="Consolas"/>
                <a:cs typeface="Consolas"/>
              </a:rPr>
              <a:t>SYSTEM BASELINE</a:t>
            </a:r>
            <a:endParaRPr sz="820"/>
          </a:p>
        </p:txBody>
      </p:sp>
      <p:sp>
        <p:nvSpPr>
          <p:cNvPr id="3" name="Text 1">
            <a:extLst>
              <a:ext uri="{FF2B5EF4-FFF2-40B4-BE49-F238E27FC236}">
                <a16:creationId xmlns:a16="http://schemas.microsoft.com/office/drawing/2014/main" id="{B351A636-F99F-46F8-930F-3473466EB27B}"/>
              </a:ext>
            </a:extLst>
          </p:cNvPr>
          <p:cNvSpPr>
            <a:spLocks noGrp="1"/>
          </p:cNvSpPr>
          <p:nvPr/>
        </p:nvSpPr>
        <p:spPr>
          <a:xfrm>
            <a:off x="10927080" y="164592"/>
            <a:ext cx="640080" cy="164592"/>
          </a:xfrm>
          <a:prstGeom prst="rect">
            <a:avLst/>
          </a:prstGeom>
          <a:noFill/>
        </p:spPr>
        <p:txBody>
          <a:bodyPr wrap="square" lIns="0" tIns="0" rIns="0" bIns="0" anchor="ctr"/>
          <a:lstStyle/>
          <a:p>
            <a:pPr marL="0" indent="0" algn="r">
              <a:buNone/>
            </a:pPr>
            <a:r>
              <a:rPr sz="820">
                <a:solidFill>
                  <a:srgbClr val="7A7E84"/>
                </a:solidFill>
                <a:latin typeface="Consolas"/>
                <a:ea typeface="Consolas"/>
                <a:cs typeface="Consolas"/>
              </a:rPr>
              <a:t>§ 01</a:t>
            </a:r>
            <a:endParaRPr sz="820"/>
          </a:p>
        </p:txBody>
      </p:sp>
      <p:sp>
        <p:nvSpPr>
          <p:cNvPr id="4" name="Text 2">
            <a:extLst>
              <a:ext uri="{FF2B5EF4-FFF2-40B4-BE49-F238E27FC236}">
                <a16:creationId xmlns:a16="http://schemas.microsoft.com/office/drawing/2014/main" id="{FFB24B58-671A-4E32-9998-DD545763B10B}"/>
              </a:ext>
            </a:extLst>
          </p:cNvPr>
          <p:cNvSpPr>
            <a:spLocks noGrp="1"/>
          </p:cNvSpPr>
          <p:nvPr/>
        </p:nvSpPr>
        <p:spPr>
          <a:xfrm>
            <a:off x="566928" y="658368"/>
            <a:ext cx="10972800" cy="384048"/>
          </a:xfrm>
          <a:prstGeom prst="rect">
            <a:avLst/>
          </a:prstGeom>
          <a:noFill/>
        </p:spPr>
        <p:txBody>
          <a:bodyPr wrap="square" lIns="0" tIns="0" rIns="0" bIns="0" anchor="ctr"/>
          <a:lstStyle/>
          <a:p>
            <a:pPr marL="0" indent="0">
              <a:buNone/>
            </a:pPr>
            <a:r>
              <a:rPr sz="2550" b="1" dirty="0">
                <a:solidFill>
                  <a:srgbClr val="1B273F"/>
                </a:solidFill>
                <a:latin typeface="Cambria"/>
                <a:ea typeface="Cambria"/>
                <a:cs typeface="Cambria"/>
                <a:hlinkClick r:id="rId3"/>
              </a:rPr>
              <a:t>Current Reference Architecture for Agentic AI</a:t>
            </a:r>
            <a:endParaRPr sz="2550" dirty="0"/>
          </a:p>
        </p:txBody>
      </p:sp>
      <p:sp>
        <p:nvSpPr>
          <p:cNvPr id="5" name="Text 3">
            <a:extLst>
              <a:ext uri="{FF2B5EF4-FFF2-40B4-BE49-F238E27FC236}">
                <a16:creationId xmlns:a16="http://schemas.microsoft.com/office/drawing/2014/main" id="{72145A4B-6146-4384-A88B-A42157ADB836}"/>
              </a:ext>
            </a:extLst>
          </p:cNvPr>
          <p:cNvSpPr>
            <a:spLocks noGrp="1"/>
          </p:cNvSpPr>
          <p:nvPr/>
        </p:nvSpPr>
        <p:spPr>
          <a:xfrm>
            <a:off x="566928" y="1115568"/>
            <a:ext cx="10972800" cy="347472"/>
          </a:xfrm>
          <a:prstGeom prst="rect">
            <a:avLst/>
          </a:prstGeom>
          <a:noFill/>
        </p:spPr>
        <p:txBody>
          <a:bodyPr wrap="square" lIns="0" tIns="0" rIns="0" bIns="0" anchor="ctr"/>
          <a:lstStyle/>
          <a:p>
            <a:pPr marL="0" indent="0">
              <a:buNone/>
            </a:pPr>
            <a:r>
              <a:rPr sz="1200" dirty="0">
                <a:solidFill>
                  <a:srgbClr val="55595F"/>
                </a:solidFill>
                <a:latin typeface="Calibri"/>
                <a:ea typeface="Calibri"/>
                <a:cs typeface="Calibri"/>
              </a:rPr>
              <a:t>A composite of current practice: the strong baseline EA is benchmarked against (arms B1/B2), not a strawman.</a:t>
            </a:r>
            <a:endParaRPr sz="1200" dirty="0"/>
          </a:p>
        </p:txBody>
      </p:sp>
      <p:sp>
        <p:nvSpPr>
          <p:cNvPr id="6" name="Text 4">
            <a:extLst>
              <a:ext uri="{FF2B5EF4-FFF2-40B4-BE49-F238E27FC236}">
                <a16:creationId xmlns:a16="http://schemas.microsoft.com/office/drawing/2014/main" id="{78FF3C8C-AFD8-4864-84BB-796E30E103A3}"/>
              </a:ext>
            </a:extLst>
          </p:cNvPr>
          <p:cNvSpPr>
            <a:spLocks noGrp="1"/>
          </p:cNvSpPr>
          <p:nvPr/>
        </p:nvSpPr>
        <p:spPr>
          <a:xfrm>
            <a:off x="594360" y="1591056"/>
            <a:ext cx="1188720" cy="164592"/>
          </a:xfrm>
          <a:prstGeom prst="rect">
            <a:avLst/>
          </a:prstGeom>
          <a:noFill/>
        </p:spPr>
        <p:txBody>
          <a:bodyPr wrap="square" lIns="0" tIns="0" rIns="0" bIns="0" anchor="ctr"/>
          <a:lstStyle/>
          <a:p>
            <a:pPr marL="0" indent="0">
              <a:buNone/>
            </a:pPr>
            <a:r>
              <a:rPr sz="900" b="1">
                <a:solidFill>
                  <a:srgbClr val="7A7E84"/>
                </a:solidFill>
                <a:latin typeface="Consolas"/>
                <a:ea typeface="Consolas"/>
                <a:cs typeface="Consolas"/>
              </a:rPr>
              <a:t>CONTROL RAILS</a:t>
            </a:r>
            <a:endParaRPr sz="900"/>
          </a:p>
        </p:txBody>
      </p:sp>
      <p:sp>
        <p:nvSpPr>
          <p:cNvPr id="7" name="Shape 5">
            <a:extLst>
              <a:ext uri="{FF2B5EF4-FFF2-40B4-BE49-F238E27FC236}">
                <a16:creationId xmlns:a16="http://schemas.microsoft.com/office/drawing/2014/main" id="{F324F58C-AF02-4F62-8960-424C461E88CB}"/>
              </a:ext>
            </a:extLst>
          </p:cNvPr>
          <p:cNvSpPr>
            <a:spLocks noGrp="1"/>
          </p:cNvSpPr>
          <p:nvPr/>
        </p:nvSpPr>
        <p:spPr>
          <a:xfrm>
            <a:off x="1965960" y="1517904"/>
            <a:ext cx="2148840" cy="347472"/>
          </a:xfrm>
          <a:prstGeom prst="roundRect">
            <a:avLst/>
          </a:prstGeom>
          <a:solidFill>
            <a:srgbClr val="FFFFFF"/>
          </a:solidFill>
          <a:ln w="15240">
            <a:solidFill>
              <a:srgbClr val="1B4D8E"/>
            </a:solidFill>
            <a:prstDash val="solid"/>
          </a:ln>
        </p:spPr>
        <p:txBody>
          <a:bodyPr/>
          <a:lstStyle/>
          <a:p>
            <a:endParaRPr/>
          </a:p>
        </p:txBody>
      </p:sp>
      <p:sp>
        <p:nvSpPr>
          <p:cNvPr id="8" name="Text 6">
            <a:extLst>
              <a:ext uri="{FF2B5EF4-FFF2-40B4-BE49-F238E27FC236}">
                <a16:creationId xmlns:a16="http://schemas.microsoft.com/office/drawing/2014/main" id="{3AD43A0B-101C-4F50-A9E7-FD1640987A91}"/>
              </a:ext>
            </a:extLst>
          </p:cNvPr>
          <p:cNvSpPr>
            <a:spLocks noGrp="1"/>
          </p:cNvSpPr>
          <p:nvPr/>
        </p:nvSpPr>
        <p:spPr>
          <a:xfrm>
            <a:off x="2039112" y="1609344"/>
            <a:ext cx="2002536" cy="128016"/>
          </a:xfrm>
          <a:prstGeom prst="rect">
            <a:avLst/>
          </a:prstGeom>
          <a:noFill/>
        </p:spPr>
        <p:txBody>
          <a:bodyPr wrap="square" lIns="0" tIns="0" rIns="0" bIns="0" anchor="ctr"/>
          <a:lstStyle/>
          <a:p>
            <a:pPr marL="0" indent="0" algn="ctr">
              <a:buNone/>
            </a:pPr>
            <a:r>
              <a:rPr sz="950" b="1">
                <a:solidFill>
                  <a:srgbClr val="1B273F"/>
                </a:solidFill>
                <a:latin typeface="Calibri"/>
                <a:ea typeface="Calibri"/>
                <a:cs typeface="Calibri"/>
              </a:rPr>
              <a:t>Identity and delegated authority</a:t>
            </a:r>
            <a:endParaRPr sz="950"/>
          </a:p>
        </p:txBody>
      </p:sp>
      <p:sp>
        <p:nvSpPr>
          <p:cNvPr id="9" name="Shape 7">
            <a:extLst>
              <a:ext uri="{FF2B5EF4-FFF2-40B4-BE49-F238E27FC236}">
                <a16:creationId xmlns:a16="http://schemas.microsoft.com/office/drawing/2014/main" id="{2C1AE034-87A2-411C-B227-1FFF92E497DF}"/>
              </a:ext>
            </a:extLst>
          </p:cNvPr>
          <p:cNvSpPr>
            <a:spLocks noGrp="1"/>
          </p:cNvSpPr>
          <p:nvPr/>
        </p:nvSpPr>
        <p:spPr>
          <a:xfrm>
            <a:off x="4233672" y="1517904"/>
            <a:ext cx="1508760" cy="347472"/>
          </a:xfrm>
          <a:prstGeom prst="roundRect">
            <a:avLst/>
          </a:prstGeom>
          <a:solidFill>
            <a:srgbClr val="FFFFFF"/>
          </a:solidFill>
          <a:ln w="15240">
            <a:solidFill>
              <a:srgbClr val="006970"/>
            </a:solidFill>
            <a:prstDash val="solid"/>
          </a:ln>
        </p:spPr>
        <p:txBody>
          <a:bodyPr/>
          <a:lstStyle/>
          <a:p>
            <a:endParaRPr/>
          </a:p>
        </p:txBody>
      </p:sp>
      <p:sp>
        <p:nvSpPr>
          <p:cNvPr id="10" name="Text 8">
            <a:extLst>
              <a:ext uri="{FF2B5EF4-FFF2-40B4-BE49-F238E27FC236}">
                <a16:creationId xmlns:a16="http://schemas.microsoft.com/office/drawing/2014/main" id="{41F4C507-4A1B-465A-9191-0CEA11BDECA8}"/>
              </a:ext>
            </a:extLst>
          </p:cNvPr>
          <p:cNvSpPr>
            <a:spLocks noGrp="1"/>
          </p:cNvSpPr>
          <p:nvPr/>
        </p:nvSpPr>
        <p:spPr>
          <a:xfrm>
            <a:off x="4306824" y="1609344"/>
            <a:ext cx="1362456" cy="128016"/>
          </a:xfrm>
          <a:prstGeom prst="rect">
            <a:avLst/>
          </a:prstGeom>
          <a:noFill/>
        </p:spPr>
        <p:txBody>
          <a:bodyPr wrap="square" lIns="0" tIns="0" rIns="0" bIns="0" anchor="ctr"/>
          <a:lstStyle/>
          <a:p>
            <a:pPr marL="0" indent="0" algn="ctr">
              <a:buNone/>
            </a:pPr>
            <a:r>
              <a:rPr sz="950" b="1">
                <a:solidFill>
                  <a:srgbClr val="1B273F"/>
                </a:solidFill>
                <a:latin typeface="Calibri"/>
                <a:ea typeface="Calibri"/>
                <a:cs typeface="Calibri"/>
              </a:rPr>
              <a:t>Policy and intent</a:t>
            </a:r>
            <a:endParaRPr sz="950"/>
          </a:p>
        </p:txBody>
      </p:sp>
      <p:sp>
        <p:nvSpPr>
          <p:cNvPr id="11" name="Shape 9">
            <a:extLst>
              <a:ext uri="{FF2B5EF4-FFF2-40B4-BE49-F238E27FC236}">
                <a16:creationId xmlns:a16="http://schemas.microsoft.com/office/drawing/2014/main" id="{F1D45423-8BF9-48C6-A747-20A3F6498C64}"/>
              </a:ext>
            </a:extLst>
          </p:cNvPr>
          <p:cNvSpPr>
            <a:spLocks noGrp="1"/>
          </p:cNvSpPr>
          <p:nvPr/>
        </p:nvSpPr>
        <p:spPr>
          <a:xfrm>
            <a:off x="5861304" y="1517904"/>
            <a:ext cx="1572768" cy="347472"/>
          </a:xfrm>
          <a:prstGeom prst="roundRect">
            <a:avLst/>
          </a:prstGeom>
          <a:solidFill>
            <a:srgbClr val="FFFFFF"/>
          </a:solidFill>
          <a:ln w="15240">
            <a:solidFill>
              <a:srgbClr val="A8642A"/>
            </a:solidFill>
            <a:prstDash val="solid"/>
          </a:ln>
        </p:spPr>
        <p:txBody>
          <a:bodyPr/>
          <a:lstStyle/>
          <a:p>
            <a:endParaRPr/>
          </a:p>
        </p:txBody>
      </p:sp>
      <p:sp>
        <p:nvSpPr>
          <p:cNvPr id="12" name="Text 10">
            <a:extLst>
              <a:ext uri="{FF2B5EF4-FFF2-40B4-BE49-F238E27FC236}">
                <a16:creationId xmlns:a16="http://schemas.microsoft.com/office/drawing/2014/main" id="{95744DA7-C476-44F4-A951-A93436EB81D0}"/>
              </a:ext>
            </a:extLst>
          </p:cNvPr>
          <p:cNvSpPr>
            <a:spLocks noGrp="1"/>
          </p:cNvSpPr>
          <p:nvPr/>
        </p:nvSpPr>
        <p:spPr>
          <a:xfrm>
            <a:off x="5934456" y="1609344"/>
            <a:ext cx="1426464" cy="128016"/>
          </a:xfrm>
          <a:prstGeom prst="rect">
            <a:avLst/>
          </a:prstGeom>
          <a:noFill/>
        </p:spPr>
        <p:txBody>
          <a:bodyPr wrap="square" lIns="0" tIns="0" rIns="0" bIns="0" anchor="ctr"/>
          <a:lstStyle/>
          <a:p>
            <a:pPr marL="0" indent="0" algn="ctr">
              <a:buNone/>
            </a:pPr>
            <a:r>
              <a:rPr sz="950" b="1">
                <a:solidFill>
                  <a:srgbClr val="1B273F"/>
                </a:solidFill>
                <a:latin typeface="Calibri"/>
                <a:ea typeface="Calibri"/>
                <a:cs typeface="Calibri"/>
              </a:rPr>
              <a:t>Runtime evidence</a:t>
            </a:r>
            <a:endParaRPr sz="950"/>
          </a:p>
        </p:txBody>
      </p:sp>
      <p:sp>
        <p:nvSpPr>
          <p:cNvPr id="13" name="Shape 11">
            <a:extLst>
              <a:ext uri="{FF2B5EF4-FFF2-40B4-BE49-F238E27FC236}">
                <a16:creationId xmlns:a16="http://schemas.microsoft.com/office/drawing/2014/main" id="{7E98E576-7BA2-4AF3-B970-0AAA03631EC6}"/>
              </a:ext>
            </a:extLst>
          </p:cNvPr>
          <p:cNvSpPr>
            <a:spLocks noGrp="1"/>
          </p:cNvSpPr>
          <p:nvPr/>
        </p:nvSpPr>
        <p:spPr>
          <a:xfrm>
            <a:off x="7552944" y="1517904"/>
            <a:ext cx="1417320" cy="347472"/>
          </a:xfrm>
          <a:prstGeom prst="roundRect">
            <a:avLst/>
          </a:prstGeom>
          <a:solidFill>
            <a:srgbClr val="FFFFFF"/>
          </a:solidFill>
          <a:ln w="15240">
            <a:solidFill>
              <a:srgbClr val="3D6D65"/>
            </a:solidFill>
            <a:prstDash val="solid"/>
          </a:ln>
        </p:spPr>
        <p:txBody>
          <a:bodyPr/>
          <a:lstStyle/>
          <a:p>
            <a:endParaRPr/>
          </a:p>
        </p:txBody>
      </p:sp>
      <p:sp>
        <p:nvSpPr>
          <p:cNvPr id="14" name="Text 12">
            <a:extLst>
              <a:ext uri="{FF2B5EF4-FFF2-40B4-BE49-F238E27FC236}">
                <a16:creationId xmlns:a16="http://schemas.microsoft.com/office/drawing/2014/main" id="{5532CB07-03D9-4292-AF09-9B9B56B7BA79}"/>
              </a:ext>
            </a:extLst>
          </p:cNvPr>
          <p:cNvSpPr>
            <a:spLocks noGrp="1"/>
          </p:cNvSpPr>
          <p:nvPr/>
        </p:nvSpPr>
        <p:spPr>
          <a:xfrm>
            <a:off x="7626096" y="1609344"/>
            <a:ext cx="1271016" cy="128016"/>
          </a:xfrm>
          <a:prstGeom prst="rect">
            <a:avLst/>
          </a:prstGeom>
          <a:noFill/>
        </p:spPr>
        <p:txBody>
          <a:bodyPr wrap="square" lIns="0" tIns="0" rIns="0" bIns="0" anchor="ctr"/>
          <a:lstStyle/>
          <a:p>
            <a:pPr marL="0" indent="0" algn="ctr">
              <a:buNone/>
            </a:pPr>
            <a:r>
              <a:rPr sz="950" b="1">
                <a:solidFill>
                  <a:srgbClr val="1B273F"/>
                </a:solidFill>
                <a:latin typeface="Calibri"/>
                <a:ea typeface="Calibri"/>
                <a:cs typeface="Calibri"/>
              </a:rPr>
              <a:t>Human oversight</a:t>
            </a:r>
            <a:endParaRPr sz="950"/>
          </a:p>
        </p:txBody>
      </p:sp>
      <p:sp>
        <p:nvSpPr>
          <p:cNvPr id="15" name="Shape 13">
            <a:extLst>
              <a:ext uri="{FF2B5EF4-FFF2-40B4-BE49-F238E27FC236}">
                <a16:creationId xmlns:a16="http://schemas.microsoft.com/office/drawing/2014/main" id="{64F19D25-4A4A-4E39-9C67-5AA8367E3668}"/>
              </a:ext>
            </a:extLst>
          </p:cNvPr>
          <p:cNvSpPr>
            <a:spLocks noGrp="1"/>
          </p:cNvSpPr>
          <p:nvPr/>
        </p:nvSpPr>
        <p:spPr>
          <a:xfrm>
            <a:off x="685800" y="2514600"/>
            <a:ext cx="1737360" cy="1234440"/>
          </a:xfrm>
          <a:prstGeom prst="roundRect">
            <a:avLst/>
          </a:prstGeom>
          <a:solidFill>
            <a:srgbClr val="FFFFFF"/>
          </a:solidFill>
          <a:ln w="12700">
            <a:solidFill>
              <a:srgbClr val="D6DCE4"/>
            </a:solidFill>
            <a:prstDash val="solid"/>
          </a:ln>
        </p:spPr>
        <p:txBody>
          <a:bodyPr/>
          <a:lstStyle/>
          <a:p>
            <a:endParaRPr/>
          </a:p>
        </p:txBody>
      </p:sp>
      <p:sp>
        <p:nvSpPr>
          <p:cNvPr id="16" name="Text 14">
            <a:extLst>
              <a:ext uri="{FF2B5EF4-FFF2-40B4-BE49-F238E27FC236}">
                <a16:creationId xmlns:a16="http://schemas.microsoft.com/office/drawing/2014/main" id="{F1559022-5BD7-4331-918B-52080413839C}"/>
              </a:ext>
            </a:extLst>
          </p:cNvPr>
          <p:cNvSpPr>
            <a:spLocks noGrp="1"/>
          </p:cNvSpPr>
          <p:nvPr/>
        </p:nvSpPr>
        <p:spPr>
          <a:xfrm>
            <a:off x="795528" y="2715768"/>
            <a:ext cx="1517904" cy="310896"/>
          </a:xfrm>
          <a:prstGeom prst="rect">
            <a:avLst/>
          </a:prstGeom>
          <a:noFill/>
        </p:spPr>
        <p:txBody>
          <a:bodyPr wrap="square" lIns="0" tIns="0" rIns="0" bIns="0" anchor="ctr"/>
          <a:lstStyle/>
          <a:p>
            <a:pPr marL="0" indent="0" algn="ctr">
              <a:buNone/>
            </a:pPr>
            <a:r>
              <a:rPr sz="1450" b="1">
                <a:solidFill>
                  <a:srgbClr val="1B273F"/>
                </a:solidFill>
                <a:latin typeface="Cambria"/>
                <a:ea typeface="Cambria"/>
                <a:cs typeface="Cambria"/>
              </a:rPr>
              <a:t>Objective and request</a:t>
            </a:r>
            <a:endParaRPr sz="1450"/>
          </a:p>
        </p:txBody>
      </p:sp>
      <p:sp>
        <p:nvSpPr>
          <p:cNvPr id="17" name="Text 15">
            <a:extLst>
              <a:ext uri="{FF2B5EF4-FFF2-40B4-BE49-F238E27FC236}">
                <a16:creationId xmlns:a16="http://schemas.microsoft.com/office/drawing/2014/main" id="{C2CE9AC7-6608-4A98-A86A-D19A2A9E4D1F}"/>
              </a:ext>
            </a:extLst>
          </p:cNvPr>
          <p:cNvSpPr>
            <a:spLocks noGrp="1"/>
          </p:cNvSpPr>
          <p:nvPr/>
        </p:nvSpPr>
        <p:spPr>
          <a:xfrm>
            <a:off x="795528" y="3108960"/>
            <a:ext cx="1517904" cy="384048"/>
          </a:xfrm>
          <a:prstGeom prst="rect">
            <a:avLst/>
          </a:prstGeom>
          <a:noFill/>
        </p:spPr>
        <p:txBody>
          <a:bodyPr wrap="square" lIns="0" tIns="0" rIns="0" bIns="0" anchor="ctr"/>
          <a:lstStyle/>
          <a:p>
            <a:pPr marL="0" indent="0" algn="ctr">
              <a:buNone/>
            </a:pPr>
            <a:r>
              <a:rPr sz="980">
                <a:solidFill>
                  <a:srgbClr val="55595F"/>
                </a:solidFill>
                <a:latin typeface="Calibri"/>
                <a:ea typeface="Calibri"/>
                <a:cs typeface="Calibri"/>
              </a:rPr>
              <a:t>Goal, context and initial constraints</a:t>
            </a:r>
            <a:endParaRPr sz="980"/>
          </a:p>
        </p:txBody>
      </p:sp>
      <p:sp>
        <p:nvSpPr>
          <p:cNvPr id="18" name="Shape 16">
            <a:extLst>
              <a:ext uri="{FF2B5EF4-FFF2-40B4-BE49-F238E27FC236}">
                <a16:creationId xmlns:a16="http://schemas.microsoft.com/office/drawing/2014/main" id="{0A6D307D-81D1-4B35-AFD2-AA99E8FDE8F4}"/>
              </a:ext>
            </a:extLst>
          </p:cNvPr>
          <p:cNvSpPr>
            <a:spLocks noGrp="1"/>
          </p:cNvSpPr>
          <p:nvPr/>
        </p:nvSpPr>
        <p:spPr>
          <a:xfrm>
            <a:off x="2423160" y="3136392"/>
            <a:ext cx="384048" cy="0"/>
          </a:xfrm>
          <a:prstGeom prst="line">
            <a:avLst/>
          </a:prstGeom>
          <a:noFill/>
          <a:ln w="19050">
            <a:solidFill>
              <a:srgbClr val="7A7E84"/>
            </a:solidFill>
            <a:prstDash val="solid"/>
            <a:headEnd type="none"/>
            <a:tailEnd type="triangle"/>
          </a:ln>
        </p:spPr>
        <p:txBody>
          <a:bodyPr/>
          <a:lstStyle/>
          <a:p>
            <a:endParaRPr/>
          </a:p>
        </p:txBody>
      </p:sp>
      <p:sp>
        <p:nvSpPr>
          <p:cNvPr id="19" name="Shape 17">
            <a:extLst>
              <a:ext uri="{FF2B5EF4-FFF2-40B4-BE49-F238E27FC236}">
                <a16:creationId xmlns:a16="http://schemas.microsoft.com/office/drawing/2014/main" id="{7013E1D3-71F6-49C6-81C6-74EB8DED56BF}"/>
              </a:ext>
            </a:extLst>
          </p:cNvPr>
          <p:cNvSpPr>
            <a:spLocks noGrp="1"/>
          </p:cNvSpPr>
          <p:nvPr/>
        </p:nvSpPr>
        <p:spPr>
          <a:xfrm>
            <a:off x="2880360" y="2514600"/>
            <a:ext cx="1737360" cy="1234440"/>
          </a:xfrm>
          <a:prstGeom prst="roundRect">
            <a:avLst/>
          </a:prstGeom>
          <a:solidFill>
            <a:srgbClr val="FFFFFF"/>
          </a:solidFill>
          <a:ln w="12700">
            <a:solidFill>
              <a:srgbClr val="D6DCE4"/>
            </a:solidFill>
            <a:prstDash val="solid"/>
          </a:ln>
        </p:spPr>
        <p:txBody>
          <a:bodyPr/>
          <a:lstStyle/>
          <a:p>
            <a:endParaRPr/>
          </a:p>
        </p:txBody>
      </p:sp>
      <p:sp>
        <p:nvSpPr>
          <p:cNvPr id="20" name="Text 18">
            <a:extLst>
              <a:ext uri="{FF2B5EF4-FFF2-40B4-BE49-F238E27FC236}">
                <a16:creationId xmlns:a16="http://schemas.microsoft.com/office/drawing/2014/main" id="{C1AB9883-DBA5-4D6A-98A3-C628870DAF79}"/>
              </a:ext>
            </a:extLst>
          </p:cNvPr>
          <p:cNvSpPr>
            <a:spLocks noGrp="1"/>
          </p:cNvSpPr>
          <p:nvPr/>
        </p:nvSpPr>
        <p:spPr>
          <a:xfrm>
            <a:off x="2990088" y="2715768"/>
            <a:ext cx="1517904" cy="310896"/>
          </a:xfrm>
          <a:prstGeom prst="rect">
            <a:avLst/>
          </a:prstGeom>
          <a:noFill/>
        </p:spPr>
        <p:txBody>
          <a:bodyPr wrap="square" lIns="0" tIns="0" rIns="0" bIns="0" anchor="ctr"/>
          <a:lstStyle/>
          <a:p>
            <a:pPr marL="0" indent="0" algn="ctr">
              <a:buNone/>
            </a:pPr>
            <a:r>
              <a:rPr sz="1450" b="1">
                <a:solidFill>
                  <a:srgbClr val="1B273F"/>
                </a:solidFill>
                <a:latin typeface="Cambria"/>
                <a:ea typeface="Cambria"/>
                <a:cs typeface="Cambria"/>
              </a:rPr>
              <a:t>Orchestration</a:t>
            </a:r>
            <a:endParaRPr sz="1450"/>
          </a:p>
        </p:txBody>
      </p:sp>
      <p:sp>
        <p:nvSpPr>
          <p:cNvPr id="21" name="Text 19">
            <a:extLst>
              <a:ext uri="{FF2B5EF4-FFF2-40B4-BE49-F238E27FC236}">
                <a16:creationId xmlns:a16="http://schemas.microsoft.com/office/drawing/2014/main" id="{13F7FC89-F31F-4B71-9D0F-10965013B790}"/>
              </a:ext>
            </a:extLst>
          </p:cNvPr>
          <p:cNvSpPr>
            <a:spLocks noGrp="1"/>
          </p:cNvSpPr>
          <p:nvPr/>
        </p:nvSpPr>
        <p:spPr>
          <a:xfrm>
            <a:off x="2990088" y="3108960"/>
            <a:ext cx="1517904" cy="384048"/>
          </a:xfrm>
          <a:prstGeom prst="rect">
            <a:avLst/>
          </a:prstGeom>
          <a:noFill/>
        </p:spPr>
        <p:txBody>
          <a:bodyPr wrap="square" lIns="0" tIns="0" rIns="0" bIns="0" anchor="ctr"/>
          <a:lstStyle/>
          <a:p>
            <a:pPr marL="0" indent="0" algn="ctr">
              <a:buNone/>
            </a:pPr>
            <a:r>
              <a:rPr sz="980">
                <a:solidFill>
                  <a:srgbClr val="55595F"/>
                </a:solidFill>
                <a:latin typeface="Calibri"/>
                <a:ea typeface="Calibri"/>
                <a:cs typeface="Calibri"/>
              </a:rPr>
              <a:t>Plan, route and allocate work</a:t>
            </a:r>
            <a:endParaRPr sz="980"/>
          </a:p>
        </p:txBody>
      </p:sp>
      <p:sp>
        <p:nvSpPr>
          <p:cNvPr id="22" name="Shape 20">
            <a:extLst>
              <a:ext uri="{FF2B5EF4-FFF2-40B4-BE49-F238E27FC236}">
                <a16:creationId xmlns:a16="http://schemas.microsoft.com/office/drawing/2014/main" id="{5B0F7C25-E2FB-49F8-91D8-D76D2FBC592E}"/>
              </a:ext>
            </a:extLst>
          </p:cNvPr>
          <p:cNvSpPr>
            <a:spLocks noGrp="1"/>
          </p:cNvSpPr>
          <p:nvPr/>
        </p:nvSpPr>
        <p:spPr>
          <a:xfrm>
            <a:off x="4617720" y="3136392"/>
            <a:ext cx="475488" cy="0"/>
          </a:xfrm>
          <a:prstGeom prst="line">
            <a:avLst/>
          </a:prstGeom>
          <a:noFill/>
          <a:ln w="19050">
            <a:solidFill>
              <a:srgbClr val="7A7E84"/>
            </a:solidFill>
            <a:prstDash val="solid"/>
            <a:headEnd type="none"/>
            <a:tailEnd type="triangle"/>
          </a:ln>
        </p:spPr>
        <p:txBody>
          <a:bodyPr/>
          <a:lstStyle/>
          <a:p>
            <a:endParaRPr/>
          </a:p>
        </p:txBody>
      </p:sp>
      <p:sp>
        <p:nvSpPr>
          <p:cNvPr id="23" name="Shape 21">
            <a:extLst>
              <a:ext uri="{FF2B5EF4-FFF2-40B4-BE49-F238E27FC236}">
                <a16:creationId xmlns:a16="http://schemas.microsoft.com/office/drawing/2014/main" id="{CD1D8DC5-8B07-4EA4-B6C2-AEC1779BA936}"/>
              </a:ext>
            </a:extLst>
          </p:cNvPr>
          <p:cNvSpPr>
            <a:spLocks noGrp="1"/>
          </p:cNvSpPr>
          <p:nvPr/>
        </p:nvSpPr>
        <p:spPr>
          <a:xfrm>
            <a:off x="5166360" y="2514600"/>
            <a:ext cx="1737360" cy="1234440"/>
          </a:xfrm>
          <a:prstGeom prst="roundRect">
            <a:avLst/>
          </a:prstGeom>
          <a:solidFill>
            <a:srgbClr val="FFFFFF"/>
          </a:solidFill>
          <a:ln w="12700">
            <a:solidFill>
              <a:srgbClr val="D6DCE4"/>
            </a:solidFill>
            <a:prstDash val="solid"/>
          </a:ln>
        </p:spPr>
        <p:txBody>
          <a:bodyPr/>
          <a:lstStyle/>
          <a:p>
            <a:endParaRPr/>
          </a:p>
        </p:txBody>
      </p:sp>
      <p:sp>
        <p:nvSpPr>
          <p:cNvPr id="24" name="Text 22">
            <a:extLst>
              <a:ext uri="{FF2B5EF4-FFF2-40B4-BE49-F238E27FC236}">
                <a16:creationId xmlns:a16="http://schemas.microsoft.com/office/drawing/2014/main" id="{C6652E29-F8DD-436E-9026-61FDB704EF4D}"/>
              </a:ext>
            </a:extLst>
          </p:cNvPr>
          <p:cNvSpPr>
            <a:spLocks noGrp="1"/>
          </p:cNvSpPr>
          <p:nvPr/>
        </p:nvSpPr>
        <p:spPr>
          <a:xfrm>
            <a:off x="5276088" y="2715768"/>
            <a:ext cx="1517904" cy="310896"/>
          </a:xfrm>
          <a:prstGeom prst="rect">
            <a:avLst/>
          </a:prstGeom>
          <a:noFill/>
        </p:spPr>
        <p:txBody>
          <a:bodyPr wrap="square" lIns="0" tIns="0" rIns="0" bIns="0" anchor="ctr"/>
          <a:lstStyle/>
          <a:p>
            <a:pPr marL="0" indent="0" algn="ctr">
              <a:buNone/>
            </a:pPr>
            <a:r>
              <a:rPr sz="1450" b="1">
                <a:solidFill>
                  <a:srgbClr val="1B273F"/>
                </a:solidFill>
                <a:latin typeface="Cambria"/>
                <a:ea typeface="Cambria"/>
                <a:cs typeface="Cambria"/>
              </a:rPr>
              <a:t>Agents and tools</a:t>
            </a:r>
            <a:endParaRPr sz="1450"/>
          </a:p>
        </p:txBody>
      </p:sp>
      <p:sp>
        <p:nvSpPr>
          <p:cNvPr id="25" name="Text 23">
            <a:extLst>
              <a:ext uri="{FF2B5EF4-FFF2-40B4-BE49-F238E27FC236}">
                <a16:creationId xmlns:a16="http://schemas.microsoft.com/office/drawing/2014/main" id="{CA739B8C-1CA7-4840-900B-C7D321A1C279}"/>
              </a:ext>
            </a:extLst>
          </p:cNvPr>
          <p:cNvSpPr>
            <a:spLocks noGrp="1"/>
          </p:cNvSpPr>
          <p:nvPr/>
        </p:nvSpPr>
        <p:spPr>
          <a:xfrm>
            <a:off x="5276088" y="3108960"/>
            <a:ext cx="1517904" cy="384048"/>
          </a:xfrm>
          <a:prstGeom prst="rect">
            <a:avLst/>
          </a:prstGeom>
          <a:noFill/>
        </p:spPr>
        <p:txBody>
          <a:bodyPr wrap="square" lIns="0" tIns="0" rIns="0" bIns="0" anchor="ctr"/>
          <a:lstStyle/>
          <a:p>
            <a:pPr marL="0" indent="0" algn="ctr">
              <a:buNone/>
            </a:pPr>
            <a:r>
              <a:rPr sz="980">
                <a:solidFill>
                  <a:srgbClr val="55595F"/>
                </a:solidFill>
                <a:latin typeface="Calibri"/>
                <a:ea typeface="Calibri"/>
                <a:cs typeface="Calibri"/>
              </a:rPr>
              <a:t>Reason, retrieve, call services and collaborate</a:t>
            </a:r>
            <a:endParaRPr sz="980"/>
          </a:p>
        </p:txBody>
      </p:sp>
      <p:sp>
        <p:nvSpPr>
          <p:cNvPr id="26" name="Shape 24">
            <a:extLst>
              <a:ext uri="{FF2B5EF4-FFF2-40B4-BE49-F238E27FC236}">
                <a16:creationId xmlns:a16="http://schemas.microsoft.com/office/drawing/2014/main" id="{C573924C-1EB2-4DAE-B123-E2FC2D9D6F55}"/>
              </a:ext>
            </a:extLst>
          </p:cNvPr>
          <p:cNvSpPr>
            <a:spLocks noGrp="1"/>
          </p:cNvSpPr>
          <p:nvPr/>
        </p:nvSpPr>
        <p:spPr>
          <a:xfrm>
            <a:off x="6903720" y="3136392"/>
            <a:ext cx="475488" cy="0"/>
          </a:xfrm>
          <a:prstGeom prst="line">
            <a:avLst/>
          </a:prstGeom>
          <a:noFill/>
          <a:ln w="19050">
            <a:solidFill>
              <a:srgbClr val="7A7E84"/>
            </a:solidFill>
            <a:prstDash val="solid"/>
            <a:headEnd type="none"/>
            <a:tailEnd type="triangle"/>
          </a:ln>
        </p:spPr>
        <p:txBody>
          <a:bodyPr/>
          <a:lstStyle/>
          <a:p>
            <a:endParaRPr/>
          </a:p>
        </p:txBody>
      </p:sp>
      <p:sp>
        <p:nvSpPr>
          <p:cNvPr id="27" name="Shape 25">
            <a:extLst>
              <a:ext uri="{FF2B5EF4-FFF2-40B4-BE49-F238E27FC236}">
                <a16:creationId xmlns:a16="http://schemas.microsoft.com/office/drawing/2014/main" id="{B891F411-FF2B-4568-9687-4B33227364EC}"/>
              </a:ext>
            </a:extLst>
          </p:cNvPr>
          <p:cNvSpPr>
            <a:spLocks noGrp="1"/>
          </p:cNvSpPr>
          <p:nvPr/>
        </p:nvSpPr>
        <p:spPr>
          <a:xfrm>
            <a:off x="7452360" y="2514600"/>
            <a:ext cx="1737360" cy="1234440"/>
          </a:xfrm>
          <a:prstGeom prst="roundRect">
            <a:avLst/>
          </a:prstGeom>
          <a:solidFill>
            <a:srgbClr val="FFFFFF"/>
          </a:solidFill>
          <a:ln w="12700">
            <a:solidFill>
              <a:srgbClr val="D6DCE4"/>
            </a:solidFill>
            <a:prstDash val="solid"/>
          </a:ln>
        </p:spPr>
        <p:txBody>
          <a:bodyPr/>
          <a:lstStyle/>
          <a:p>
            <a:endParaRPr/>
          </a:p>
        </p:txBody>
      </p:sp>
      <p:sp>
        <p:nvSpPr>
          <p:cNvPr id="28" name="Text 26">
            <a:extLst>
              <a:ext uri="{FF2B5EF4-FFF2-40B4-BE49-F238E27FC236}">
                <a16:creationId xmlns:a16="http://schemas.microsoft.com/office/drawing/2014/main" id="{0714D90F-F0CC-452D-A28E-C6543BB204AA}"/>
              </a:ext>
            </a:extLst>
          </p:cNvPr>
          <p:cNvSpPr>
            <a:spLocks noGrp="1"/>
          </p:cNvSpPr>
          <p:nvPr/>
        </p:nvSpPr>
        <p:spPr>
          <a:xfrm>
            <a:off x="7562088" y="2715768"/>
            <a:ext cx="1517904" cy="310896"/>
          </a:xfrm>
          <a:prstGeom prst="rect">
            <a:avLst/>
          </a:prstGeom>
          <a:noFill/>
        </p:spPr>
        <p:txBody>
          <a:bodyPr wrap="square" lIns="0" tIns="0" rIns="0" bIns="0" anchor="ctr"/>
          <a:lstStyle/>
          <a:p>
            <a:pPr marL="0" indent="0" algn="ctr">
              <a:buNone/>
            </a:pPr>
            <a:r>
              <a:rPr sz="1450" b="1">
                <a:solidFill>
                  <a:srgbClr val="1B273F"/>
                </a:solidFill>
                <a:latin typeface="Cambria"/>
                <a:ea typeface="Cambria"/>
                <a:cs typeface="Cambria"/>
              </a:rPr>
              <a:t>Authorized action</a:t>
            </a:r>
            <a:endParaRPr sz="1450"/>
          </a:p>
        </p:txBody>
      </p:sp>
      <p:sp>
        <p:nvSpPr>
          <p:cNvPr id="29" name="Text 27">
            <a:extLst>
              <a:ext uri="{FF2B5EF4-FFF2-40B4-BE49-F238E27FC236}">
                <a16:creationId xmlns:a16="http://schemas.microsoft.com/office/drawing/2014/main" id="{E16A347C-971C-48E2-B047-879B491C5E2B}"/>
              </a:ext>
            </a:extLst>
          </p:cNvPr>
          <p:cNvSpPr>
            <a:spLocks noGrp="1"/>
          </p:cNvSpPr>
          <p:nvPr/>
        </p:nvSpPr>
        <p:spPr>
          <a:xfrm>
            <a:off x="7562088" y="3108960"/>
            <a:ext cx="1517904" cy="384048"/>
          </a:xfrm>
          <a:prstGeom prst="rect">
            <a:avLst/>
          </a:prstGeom>
          <a:noFill/>
        </p:spPr>
        <p:txBody>
          <a:bodyPr wrap="square" lIns="0" tIns="0" rIns="0" bIns="0" anchor="ctr"/>
          <a:lstStyle/>
          <a:p>
            <a:pPr marL="0" indent="0" algn="ctr">
              <a:buNone/>
            </a:pPr>
            <a:r>
              <a:rPr sz="980">
                <a:solidFill>
                  <a:srgbClr val="55595F"/>
                </a:solidFill>
                <a:latin typeface="Calibri"/>
                <a:ea typeface="Calibri"/>
                <a:cs typeface="Calibri"/>
              </a:rPr>
              <a:t>Execute within policy and capability</a:t>
            </a:r>
            <a:endParaRPr sz="980"/>
          </a:p>
        </p:txBody>
      </p:sp>
      <p:sp>
        <p:nvSpPr>
          <p:cNvPr id="30" name="Shape 28">
            <a:extLst>
              <a:ext uri="{FF2B5EF4-FFF2-40B4-BE49-F238E27FC236}">
                <a16:creationId xmlns:a16="http://schemas.microsoft.com/office/drawing/2014/main" id="{843AB24C-043F-49D7-92CB-7FF378588210}"/>
              </a:ext>
            </a:extLst>
          </p:cNvPr>
          <p:cNvSpPr>
            <a:spLocks noGrp="1"/>
          </p:cNvSpPr>
          <p:nvPr/>
        </p:nvSpPr>
        <p:spPr>
          <a:xfrm>
            <a:off x="9189720" y="3136392"/>
            <a:ext cx="384048" cy="0"/>
          </a:xfrm>
          <a:prstGeom prst="line">
            <a:avLst/>
          </a:prstGeom>
          <a:noFill/>
          <a:ln w="19050">
            <a:solidFill>
              <a:srgbClr val="7A7E84"/>
            </a:solidFill>
            <a:prstDash val="solid"/>
            <a:headEnd type="none"/>
            <a:tailEnd type="triangle"/>
          </a:ln>
        </p:spPr>
        <p:txBody>
          <a:bodyPr/>
          <a:lstStyle/>
          <a:p>
            <a:endParaRPr/>
          </a:p>
        </p:txBody>
      </p:sp>
      <p:sp>
        <p:nvSpPr>
          <p:cNvPr id="31" name="Shape 29">
            <a:extLst>
              <a:ext uri="{FF2B5EF4-FFF2-40B4-BE49-F238E27FC236}">
                <a16:creationId xmlns:a16="http://schemas.microsoft.com/office/drawing/2014/main" id="{31B22575-7F60-4AE4-9CD4-3C0A93BCBD1B}"/>
              </a:ext>
            </a:extLst>
          </p:cNvPr>
          <p:cNvSpPr>
            <a:spLocks noGrp="1"/>
          </p:cNvSpPr>
          <p:nvPr/>
        </p:nvSpPr>
        <p:spPr>
          <a:xfrm>
            <a:off x="9646920" y="2514600"/>
            <a:ext cx="1737360" cy="1234440"/>
          </a:xfrm>
          <a:prstGeom prst="roundRect">
            <a:avLst/>
          </a:prstGeom>
          <a:solidFill>
            <a:srgbClr val="FFFFFF"/>
          </a:solidFill>
          <a:ln w="12700">
            <a:solidFill>
              <a:srgbClr val="D6DCE4"/>
            </a:solidFill>
            <a:prstDash val="solid"/>
          </a:ln>
        </p:spPr>
        <p:txBody>
          <a:bodyPr/>
          <a:lstStyle/>
          <a:p>
            <a:endParaRPr/>
          </a:p>
        </p:txBody>
      </p:sp>
      <p:sp>
        <p:nvSpPr>
          <p:cNvPr id="32" name="Text 30">
            <a:extLst>
              <a:ext uri="{FF2B5EF4-FFF2-40B4-BE49-F238E27FC236}">
                <a16:creationId xmlns:a16="http://schemas.microsoft.com/office/drawing/2014/main" id="{4B2D2675-D103-4C7D-910D-1E496EA2E6FE}"/>
              </a:ext>
            </a:extLst>
          </p:cNvPr>
          <p:cNvSpPr>
            <a:spLocks noGrp="1"/>
          </p:cNvSpPr>
          <p:nvPr/>
        </p:nvSpPr>
        <p:spPr>
          <a:xfrm>
            <a:off x="9756648" y="2715768"/>
            <a:ext cx="1517904" cy="310896"/>
          </a:xfrm>
          <a:prstGeom prst="rect">
            <a:avLst/>
          </a:prstGeom>
          <a:noFill/>
        </p:spPr>
        <p:txBody>
          <a:bodyPr wrap="square" lIns="0" tIns="0" rIns="0" bIns="0" anchor="ctr"/>
          <a:lstStyle/>
          <a:p>
            <a:pPr marL="0" indent="0" algn="ctr">
              <a:buNone/>
            </a:pPr>
            <a:r>
              <a:rPr sz="1450" b="1">
                <a:solidFill>
                  <a:srgbClr val="1B273F"/>
                </a:solidFill>
                <a:latin typeface="Cambria"/>
                <a:ea typeface="Cambria"/>
                <a:cs typeface="Cambria"/>
              </a:rPr>
              <a:t>Outcome</a:t>
            </a:r>
            <a:endParaRPr sz="1450"/>
          </a:p>
        </p:txBody>
      </p:sp>
      <p:sp>
        <p:nvSpPr>
          <p:cNvPr id="33" name="Text 31">
            <a:extLst>
              <a:ext uri="{FF2B5EF4-FFF2-40B4-BE49-F238E27FC236}">
                <a16:creationId xmlns:a16="http://schemas.microsoft.com/office/drawing/2014/main" id="{34A72514-8F45-40AD-95B0-F5FD612110E0}"/>
              </a:ext>
            </a:extLst>
          </p:cNvPr>
          <p:cNvSpPr>
            <a:spLocks noGrp="1"/>
          </p:cNvSpPr>
          <p:nvPr/>
        </p:nvSpPr>
        <p:spPr>
          <a:xfrm>
            <a:off x="9756648" y="3108960"/>
            <a:ext cx="1517904" cy="384048"/>
          </a:xfrm>
          <a:prstGeom prst="rect">
            <a:avLst/>
          </a:prstGeom>
          <a:noFill/>
        </p:spPr>
        <p:txBody>
          <a:bodyPr wrap="square" lIns="0" tIns="0" rIns="0" bIns="0" anchor="ctr"/>
          <a:lstStyle/>
          <a:p>
            <a:pPr marL="0" indent="0" algn="ctr">
              <a:buNone/>
            </a:pPr>
            <a:r>
              <a:rPr sz="980">
                <a:solidFill>
                  <a:srgbClr val="55595F"/>
                </a:solidFill>
                <a:latin typeface="Calibri"/>
                <a:ea typeface="Calibri"/>
                <a:cs typeface="Calibri"/>
              </a:rPr>
              <a:t>Telemetry, receipts and review</a:t>
            </a:r>
            <a:endParaRPr sz="980"/>
          </a:p>
        </p:txBody>
      </p:sp>
      <p:sp>
        <p:nvSpPr>
          <p:cNvPr id="34" name="Shape 32">
            <a:extLst>
              <a:ext uri="{FF2B5EF4-FFF2-40B4-BE49-F238E27FC236}">
                <a16:creationId xmlns:a16="http://schemas.microsoft.com/office/drawing/2014/main" id="{D87BEA24-A8D7-4CA6-8EE9-E32DC1EFDAD9}"/>
              </a:ext>
            </a:extLst>
          </p:cNvPr>
          <p:cNvSpPr>
            <a:spLocks noGrp="1"/>
          </p:cNvSpPr>
          <p:nvPr/>
        </p:nvSpPr>
        <p:spPr>
          <a:xfrm>
            <a:off x="2423160" y="4315968"/>
            <a:ext cx="7360920" cy="1115568"/>
          </a:xfrm>
          <a:prstGeom prst="roundRect">
            <a:avLst/>
          </a:prstGeom>
          <a:solidFill>
            <a:srgbClr val="F1F4F7"/>
          </a:solidFill>
          <a:ln w="12700">
            <a:solidFill>
              <a:srgbClr val="D6DCE4"/>
            </a:solidFill>
            <a:prstDash val="solid"/>
          </a:ln>
        </p:spPr>
        <p:txBody>
          <a:bodyPr/>
          <a:lstStyle/>
          <a:p>
            <a:endParaRPr/>
          </a:p>
        </p:txBody>
      </p:sp>
      <p:sp>
        <p:nvSpPr>
          <p:cNvPr id="35" name="Text 33">
            <a:extLst>
              <a:ext uri="{FF2B5EF4-FFF2-40B4-BE49-F238E27FC236}">
                <a16:creationId xmlns:a16="http://schemas.microsoft.com/office/drawing/2014/main" id="{A03A990C-05EB-4B20-9F42-BE842320EAB2}"/>
              </a:ext>
            </a:extLst>
          </p:cNvPr>
          <p:cNvSpPr>
            <a:spLocks noGrp="1"/>
          </p:cNvSpPr>
          <p:nvPr/>
        </p:nvSpPr>
        <p:spPr>
          <a:xfrm>
            <a:off x="2651760" y="4553712"/>
            <a:ext cx="2286000" cy="420624"/>
          </a:xfrm>
          <a:prstGeom prst="rect">
            <a:avLst/>
          </a:prstGeom>
          <a:noFill/>
        </p:spPr>
        <p:txBody>
          <a:bodyPr wrap="square" lIns="0" tIns="0" rIns="0" bIns="0" anchor="ctr"/>
          <a:lstStyle/>
          <a:p>
            <a:pPr marL="0" indent="0">
              <a:buNone/>
            </a:pPr>
            <a:r>
              <a:rPr sz="1700" b="1">
                <a:solidFill>
                  <a:srgbClr val="1B273F"/>
                </a:solidFill>
                <a:latin typeface="Cambria"/>
                <a:ea typeface="Cambria"/>
                <a:cs typeface="Cambria"/>
              </a:rPr>
              <a:t>Typical operating loop</a:t>
            </a:r>
            <a:endParaRPr sz="1550"/>
          </a:p>
        </p:txBody>
      </p:sp>
      <p:sp>
        <p:nvSpPr>
          <p:cNvPr id="36" name="Text 34">
            <a:extLst>
              <a:ext uri="{FF2B5EF4-FFF2-40B4-BE49-F238E27FC236}">
                <a16:creationId xmlns:a16="http://schemas.microsoft.com/office/drawing/2014/main" id="{1ABEC168-034E-48FF-BCF8-B89F75369B50}"/>
              </a:ext>
            </a:extLst>
          </p:cNvPr>
          <p:cNvSpPr>
            <a:spLocks noGrp="1"/>
          </p:cNvSpPr>
          <p:nvPr/>
        </p:nvSpPr>
        <p:spPr>
          <a:xfrm>
            <a:off x="2651760" y="5010912"/>
            <a:ext cx="5120640" cy="274320"/>
          </a:xfrm>
          <a:prstGeom prst="rect">
            <a:avLst/>
          </a:prstGeom>
          <a:noFill/>
        </p:spPr>
        <p:txBody>
          <a:bodyPr wrap="square" lIns="0" tIns="0" rIns="0" bIns="0" anchor="ctr"/>
          <a:lstStyle/>
          <a:p>
            <a:pPr marL="0" indent="0">
              <a:buNone/>
            </a:pPr>
            <a:r>
              <a:rPr sz="1050">
                <a:solidFill>
                  <a:srgbClr val="55595F"/>
                </a:solidFill>
                <a:latin typeface="Calibri"/>
                <a:ea typeface="Calibri"/>
                <a:cs typeface="Calibri"/>
              </a:rPr>
              <a:t>Observe outcomes, update the plan and repeat while the local control model remains valid.</a:t>
            </a:r>
            <a:endParaRPr sz="1100"/>
          </a:p>
        </p:txBody>
      </p:sp>
      <p:sp>
        <p:nvSpPr>
          <p:cNvPr id="37" name="Text 35">
            <a:extLst>
              <a:ext uri="{FF2B5EF4-FFF2-40B4-BE49-F238E27FC236}">
                <a16:creationId xmlns:a16="http://schemas.microsoft.com/office/drawing/2014/main" id="{EE61A8B4-35A3-4061-AABC-CD7404604085}"/>
              </a:ext>
            </a:extLst>
          </p:cNvPr>
          <p:cNvSpPr>
            <a:spLocks noGrp="1"/>
          </p:cNvSpPr>
          <p:nvPr/>
        </p:nvSpPr>
        <p:spPr>
          <a:xfrm>
            <a:off x="8028431" y="4645152"/>
            <a:ext cx="640080" cy="164592"/>
          </a:xfrm>
          <a:prstGeom prst="rect">
            <a:avLst/>
          </a:prstGeom>
          <a:noFill/>
        </p:spPr>
        <p:txBody>
          <a:bodyPr wrap="square" lIns="0" tIns="0" rIns="0" bIns="0" anchor="ctr"/>
          <a:lstStyle/>
          <a:p>
            <a:pPr marL="0" indent="0" algn="ctr">
              <a:buNone/>
            </a:pPr>
            <a:endParaRPr sz="900"/>
          </a:p>
        </p:txBody>
      </p:sp>
      <p:sp>
        <p:nvSpPr>
          <p:cNvPr id="38" name="Shape 36">
            <a:extLst>
              <a:ext uri="{FF2B5EF4-FFF2-40B4-BE49-F238E27FC236}">
                <a16:creationId xmlns:a16="http://schemas.microsoft.com/office/drawing/2014/main" id="{21647D3F-7B44-4B49-9DA1-69EC04DDE576}"/>
              </a:ext>
            </a:extLst>
          </p:cNvPr>
          <p:cNvSpPr>
            <a:spLocks noGrp="1"/>
          </p:cNvSpPr>
          <p:nvPr/>
        </p:nvSpPr>
        <p:spPr>
          <a:xfrm>
            <a:off x="8321040" y="4773168"/>
            <a:ext cx="0" cy="301752"/>
          </a:xfrm>
          <a:prstGeom prst="line">
            <a:avLst/>
          </a:prstGeom>
          <a:noFill/>
          <a:ln w="20320">
            <a:solidFill>
              <a:srgbClr val="006970"/>
            </a:solidFill>
            <a:prstDash val="solid"/>
            <a:headEnd type="none"/>
            <a:tailEnd type="triangle"/>
          </a:ln>
        </p:spPr>
        <p:txBody>
          <a:bodyPr/>
          <a:lstStyle/>
          <a:p>
            <a:endParaRPr/>
          </a:p>
        </p:txBody>
      </p:sp>
      <p:sp>
        <p:nvSpPr>
          <p:cNvPr id="39" name="Text 37">
            <a:extLst>
              <a:ext uri="{FF2B5EF4-FFF2-40B4-BE49-F238E27FC236}">
                <a16:creationId xmlns:a16="http://schemas.microsoft.com/office/drawing/2014/main" id="{E8D9EFC7-476D-48F5-BB28-7DC548EBE337}"/>
              </a:ext>
            </a:extLst>
          </p:cNvPr>
          <p:cNvSpPr>
            <a:spLocks noGrp="1"/>
          </p:cNvSpPr>
          <p:nvPr/>
        </p:nvSpPr>
        <p:spPr>
          <a:xfrm>
            <a:off x="8796528" y="4645152"/>
            <a:ext cx="640080" cy="164592"/>
          </a:xfrm>
          <a:prstGeom prst="rect">
            <a:avLst/>
          </a:prstGeom>
          <a:noFill/>
        </p:spPr>
        <p:txBody>
          <a:bodyPr wrap="square" lIns="0" tIns="0" rIns="0" bIns="0" anchor="ctr"/>
          <a:lstStyle/>
          <a:p>
            <a:pPr marL="0" indent="0" algn="ctr">
              <a:buNone/>
            </a:pPr>
            <a:endParaRPr sz="900"/>
          </a:p>
        </p:txBody>
      </p:sp>
      <p:sp>
        <p:nvSpPr>
          <p:cNvPr id="40" name="Text 38">
            <a:extLst>
              <a:ext uri="{FF2B5EF4-FFF2-40B4-BE49-F238E27FC236}">
                <a16:creationId xmlns:a16="http://schemas.microsoft.com/office/drawing/2014/main" id="{07CF55E3-5A38-4595-8D76-0A862B6E910B}"/>
              </a:ext>
            </a:extLst>
          </p:cNvPr>
          <p:cNvSpPr>
            <a:spLocks noGrp="1"/>
          </p:cNvSpPr>
          <p:nvPr/>
        </p:nvSpPr>
        <p:spPr>
          <a:xfrm>
            <a:off x="749808" y="5760720"/>
            <a:ext cx="10652760" cy="384048"/>
          </a:xfrm>
          <a:prstGeom prst="rect">
            <a:avLst/>
          </a:prstGeom>
          <a:noFill/>
        </p:spPr>
        <p:txBody>
          <a:bodyPr wrap="square" lIns="0" tIns="0" rIns="0" bIns="0" anchor="ctr"/>
          <a:lstStyle/>
          <a:p>
            <a:pPr marL="0" indent="0" algn="ctr">
              <a:buNone/>
            </a:pPr>
            <a:r>
              <a:rPr sz="1130" i="1">
                <a:solidFill>
                  <a:srgbClr val="55595F"/>
                </a:solidFill>
                <a:latin typeface="Calibri"/>
                <a:ea typeface="Calibri"/>
                <a:cs typeface="Calibri"/>
              </a:rPr>
              <a:t>The model works while roles, boundaries and the surrounding ecosystem remain legible to the controls that govern the workflow.</a:t>
            </a:r>
            <a:endParaRPr sz="1130"/>
          </a:p>
        </p:txBody>
      </p:sp>
      <p:sp>
        <p:nvSpPr>
          <p:cNvPr id="52" name="Slide Number Placeholder 0">
            <a:extLst>
              <a:ext uri="{FF2B5EF4-FFF2-40B4-BE49-F238E27FC236}">
                <a16:creationId xmlns:a16="http://schemas.microsoft.com/office/drawing/2014/main" id="{87E8E321-49A0-4E39-BF3E-1973392909BE}"/>
              </a:ext>
            </a:extLst>
          </p:cNvPr>
          <p:cNvSpPr>
            <a:spLocks noGrp="1"/>
          </p:cNvSpPr>
          <p:nvPr>
            <p:ph type="sldNum" idx="4294967295"/>
          </p:nvPr>
        </p:nvSpPr>
        <p:spPr>
          <a:xfrm>
            <a:off x="11064240" y="6537960"/>
            <a:ext cx="502920" cy="164592"/>
          </a:xfrm>
          <a:prstGeom prst="rect">
            <a:avLst/>
          </a:prstGeom>
        </p:spPr>
        <p:txBody>
          <a:bodyPr/>
          <a:lstStyle>
            <a:lvl1pPr>
              <a:buNone/>
              <a:defRPr sz="750">
                <a:solidFill>
                  <a:srgbClr val="1B273F"/>
                </a:solidFill>
                <a:latin typeface="Consolas"/>
                <a:ea typeface="Consolas"/>
                <a:cs typeface="Consolas"/>
              </a:defRPr>
            </a:lvl1pPr>
          </a:lstStyle>
          <a:p>
            <a:pPr algn="r"/>
            <a:r>
              <a:rPr sz="900">
                <a:solidFill>
                  <a:srgbClr val="5D6775"/>
                </a:solidFill>
                <a:latin typeface="Calibri"/>
              </a:rPr>
              <a:t>2</a:t>
            </a:r>
          </a:p>
        </p:txBody>
      </p:sp>
      <p:sp>
        <p:nvSpPr>
          <p:cNvPr id="41" name="Connector 40">
            <a:extLst>
              <a:ext uri="{FF2B5EF4-FFF2-40B4-BE49-F238E27FC236}">
                <a16:creationId xmlns:a16="http://schemas.microsoft.com/office/drawing/2014/main" id="{FAE0C6FC-7B96-4DDB-B261-9683711AE2DC}"/>
              </a:ext>
            </a:extLst>
          </p:cNvPr>
          <p:cNvSpPr>
            <a:spLocks noGrp="1"/>
          </p:cNvSpPr>
          <p:nvPr/>
        </p:nvSpPr>
        <p:spPr>
          <a:xfrm>
            <a:off x="8293608" y="4855464"/>
            <a:ext cx="0" cy="320040"/>
          </a:xfrm>
          <a:prstGeom prst="line">
            <a:avLst/>
          </a:prstGeom>
          <a:ln w="19050">
            <a:solidFill>
              <a:srgbClr val="007B82"/>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2" name="Connector 41">
            <a:extLst>
              <a:ext uri="{FF2B5EF4-FFF2-40B4-BE49-F238E27FC236}">
                <a16:creationId xmlns:a16="http://schemas.microsoft.com/office/drawing/2014/main" id="{BC3B3E16-A7A1-4092-A608-3264FD9536C4}"/>
              </a:ext>
            </a:extLst>
          </p:cNvPr>
          <p:cNvSpPr>
            <a:spLocks noGrp="1"/>
          </p:cNvSpPr>
          <p:nvPr/>
        </p:nvSpPr>
        <p:spPr>
          <a:xfrm>
            <a:off x="9070848" y="4855464"/>
            <a:ext cx="0" cy="320040"/>
          </a:xfrm>
          <a:prstGeom prst="line">
            <a:avLst/>
          </a:prstGeom>
          <a:ln w="19050">
            <a:solidFill>
              <a:srgbClr val="007B82"/>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3" name="Rectangle 42">
            <a:extLst>
              <a:ext uri="{FF2B5EF4-FFF2-40B4-BE49-F238E27FC236}">
                <a16:creationId xmlns:a16="http://schemas.microsoft.com/office/drawing/2014/main" id="{F3713040-46F9-417E-AC71-F03F27242112}"/>
              </a:ext>
            </a:extLst>
          </p:cNvPr>
          <p:cNvSpPr>
            <a:spLocks noGrp="1"/>
          </p:cNvSpPr>
          <p:nvPr/>
        </p:nvSpPr>
        <p:spPr>
          <a:xfrm>
            <a:off x="7818120" y="4462272"/>
            <a:ext cx="1965960" cy="86868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CD21C60-FB7B-4366-BE2D-412813F4F0D5}"/>
              </a:ext>
            </a:extLst>
          </p:cNvPr>
          <p:cNvSpPr>
            <a:spLocks noGrp="1"/>
          </p:cNvSpPr>
          <p:nvPr/>
        </p:nvSpPr>
        <p:spPr>
          <a:xfrm>
            <a:off x="8001000" y="4617720"/>
            <a:ext cx="777240" cy="164592"/>
          </a:xfrm>
          <a:prstGeom prst="rect">
            <a:avLst/>
          </a:prstGeom>
          <a:noFill/>
        </p:spPr>
        <p:txBody>
          <a:bodyPr wrap="square" lIns="38100" tIns="25400" rIns="38100" bIns="25400">
            <a:spAutoFit/>
          </a:bodyPr>
          <a:lstStyle/>
          <a:p>
            <a:pPr algn="ctr">
              <a:buNone/>
            </a:pPr>
            <a:r>
              <a:rPr sz="1000" b="1">
                <a:solidFill>
                  <a:srgbClr val="007B82"/>
                </a:solidFill>
                <a:latin typeface="Aptos"/>
                <a:ea typeface="Aptos"/>
                <a:cs typeface="Aptos"/>
              </a:rPr>
              <a:t>Review</a:t>
            </a:r>
          </a:p>
        </p:txBody>
      </p:sp>
      <p:sp>
        <p:nvSpPr>
          <p:cNvPr id="45" name="TextBox 44">
            <a:extLst>
              <a:ext uri="{FF2B5EF4-FFF2-40B4-BE49-F238E27FC236}">
                <a16:creationId xmlns:a16="http://schemas.microsoft.com/office/drawing/2014/main" id="{3D7A18EC-ABFE-4345-9916-104CB8285E0E}"/>
              </a:ext>
            </a:extLst>
          </p:cNvPr>
          <p:cNvSpPr>
            <a:spLocks noGrp="1"/>
          </p:cNvSpPr>
          <p:nvPr/>
        </p:nvSpPr>
        <p:spPr>
          <a:xfrm>
            <a:off x="8778240" y="4617720"/>
            <a:ext cx="822960" cy="164592"/>
          </a:xfrm>
          <a:prstGeom prst="rect">
            <a:avLst/>
          </a:prstGeom>
          <a:noFill/>
        </p:spPr>
        <p:txBody>
          <a:bodyPr wrap="square" lIns="38100" tIns="25400" rIns="38100" bIns="25400">
            <a:spAutoFit/>
          </a:bodyPr>
          <a:lstStyle/>
          <a:p>
            <a:pPr algn="ctr">
              <a:buNone/>
            </a:pPr>
            <a:r>
              <a:rPr sz="1000" b="1">
                <a:solidFill>
                  <a:srgbClr val="007B82"/>
                </a:solidFill>
                <a:latin typeface="Aptos"/>
                <a:ea typeface="Aptos"/>
                <a:cs typeface="Aptos"/>
              </a:rPr>
              <a:t>Replan</a:t>
            </a:r>
          </a:p>
        </p:txBody>
      </p:sp>
      <p:sp>
        <p:nvSpPr>
          <p:cNvPr id="50" name="Down Arrow 49">
            <a:extLst>
              <a:ext uri="{FF2B5EF4-FFF2-40B4-BE49-F238E27FC236}">
                <a16:creationId xmlns:a16="http://schemas.microsoft.com/office/drawing/2014/main" id="{EC81908B-2343-49E1-A794-D74CFA5D68CB}"/>
              </a:ext>
            </a:extLst>
          </p:cNvPr>
          <p:cNvSpPr>
            <a:spLocks noGrp="1"/>
          </p:cNvSpPr>
          <p:nvPr/>
        </p:nvSpPr>
        <p:spPr>
          <a:xfrm>
            <a:off x="8321040" y="4873752"/>
            <a:ext cx="109728" cy="219456"/>
          </a:xfrm>
          <a:prstGeom prst="downArrow">
            <a:avLst/>
          </a:prstGeom>
          <a:solidFill>
            <a:srgbClr val="007B8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Down Arrow 50">
            <a:extLst>
              <a:ext uri="{FF2B5EF4-FFF2-40B4-BE49-F238E27FC236}">
                <a16:creationId xmlns:a16="http://schemas.microsoft.com/office/drawing/2014/main" id="{A152080C-7C0E-433F-A4A3-264D9F576F64}"/>
              </a:ext>
            </a:extLst>
          </p:cNvPr>
          <p:cNvSpPr>
            <a:spLocks noGrp="1"/>
          </p:cNvSpPr>
          <p:nvPr/>
        </p:nvSpPr>
        <p:spPr>
          <a:xfrm rot="10800000">
            <a:off x="9098280" y="4873752"/>
            <a:ext cx="109728" cy="219456"/>
          </a:xfrm>
          <a:prstGeom prst="downArrow">
            <a:avLst/>
          </a:prstGeom>
          <a:solidFill>
            <a:srgbClr val="007B8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3"/>
              </a:rPr>
              <a:t>Benchmark vNext · comparator baseline</a:t>
            </a:r>
          </a:p>
        </p:txBody>
      </p:sp>
    </p:spTree>
    <p:extLst>
      <p:ext uri="{BB962C8B-B14F-4D97-AF65-F5344CB8AC3E}">
        <p14:creationId xmlns:p14="http://schemas.microsoft.com/office/powerpoint/2010/main" val="161384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08734D9-38FA-44F5-8FAC-13375A52143F}"/>
              </a:ext>
            </a:extLst>
          </p:cNvPr>
          <p:cNvSpPr>
            <a:spLocks noGrp="1"/>
          </p:cNvSpPr>
          <p:nvPr/>
        </p:nvSpPr>
        <p:spPr>
          <a:xfrm>
            <a:off x="566928" y="164592"/>
            <a:ext cx="2194560" cy="164592"/>
          </a:xfrm>
          <a:prstGeom prst="rect">
            <a:avLst/>
          </a:prstGeom>
          <a:noFill/>
        </p:spPr>
        <p:txBody>
          <a:bodyPr wrap="square" lIns="0" tIns="0" rIns="0" bIns="0" anchor="ctr"/>
          <a:lstStyle/>
          <a:p>
            <a:pPr marL="0" indent="0">
              <a:buNone/>
            </a:pPr>
            <a:r>
              <a:rPr sz="820">
                <a:solidFill>
                  <a:srgbClr val="7A7E84"/>
                </a:solidFill>
                <a:latin typeface="Consolas"/>
                <a:ea typeface="Consolas"/>
                <a:cs typeface="Consolas"/>
              </a:rPr>
              <a:t>STRUCTURAL LIMITS</a:t>
            </a:r>
            <a:endParaRPr sz="820"/>
          </a:p>
        </p:txBody>
      </p:sp>
      <p:sp>
        <p:nvSpPr>
          <p:cNvPr id="3" name="Text 1">
            <a:extLst>
              <a:ext uri="{FF2B5EF4-FFF2-40B4-BE49-F238E27FC236}">
                <a16:creationId xmlns:a16="http://schemas.microsoft.com/office/drawing/2014/main" id="{A038425C-E6E9-4B72-A033-F3EC4F3CA3F1}"/>
              </a:ext>
            </a:extLst>
          </p:cNvPr>
          <p:cNvSpPr>
            <a:spLocks noGrp="1"/>
          </p:cNvSpPr>
          <p:nvPr/>
        </p:nvSpPr>
        <p:spPr>
          <a:xfrm>
            <a:off x="10927080" y="164592"/>
            <a:ext cx="640080" cy="164592"/>
          </a:xfrm>
          <a:prstGeom prst="rect">
            <a:avLst/>
          </a:prstGeom>
          <a:noFill/>
        </p:spPr>
        <p:txBody>
          <a:bodyPr wrap="square" lIns="0" tIns="0" rIns="0" bIns="0" anchor="ctr"/>
          <a:lstStyle/>
          <a:p>
            <a:pPr marL="0" indent="0" algn="r">
              <a:buNone/>
            </a:pPr>
            <a:r>
              <a:rPr sz="820">
                <a:solidFill>
                  <a:srgbClr val="7A7E84"/>
                </a:solidFill>
                <a:latin typeface="Consolas"/>
                <a:ea typeface="Consolas"/>
                <a:cs typeface="Consolas"/>
              </a:rPr>
              <a:t>§ 02</a:t>
            </a:r>
            <a:endParaRPr sz="820"/>
          </a:p>
        </p:txBody>
      </p:sp>
      <p:sp>
        <p:nvSpPr>
          <p:cNvPr id="4" name="Text 2">
            <a:extLst>
              <a:ext uri="{FF2B5EF4-FFF2-40B4-BE49-F238E27FC236}">
                <a16:creationId xmlns:a16="http://schemas.microsoft.com/office/drawing/2014/main" id="{A6A876FF-4C56-423D-BAC8-5A6571D81FE8}"/>
              </a:ext>
            </a:extLst>
          </p:cNvPr>
          <p:cNvSpPr>
            <a:spLocks noGrp="1"/>
          </p:cNvSpPr>
          <p:nvPr/>
        </p:nvSpPr>
        <p:spPr>
          <a:xfrm>
            <a:off x="566928" y="658368"/>
            <a:ext cx="10972800" cy="384048"/>
          </a:xfrm>
          <a:prstGeom prst="rect">
            <a:avLst/>
          </a:prstGeom>
          <a:noFill/>
        </p:spPr>
        <p:txBody>
          <a:bodyPr wrap="square" lIns="0" tIns="0" rIns="0" bIns="0" anchor="ctr"/>
          <a:lstStyle/>
          <a:p>
            <a:pPr marL="0" indent="0">
              <a:buNone/>
            </a:pPr>
            <a:r>
              <a:rPr sz="2550" b="1" dirty="0">
                <a:solidFill>
                  <a:srgbClr val="1B273F"/>
                </a:solidFill>
                <a:latin typeface="Cambria"/>
                <a:ea typeface="Cambria"/>
                <a:cs typeface="Cambria"/>
                <a:hlinkClick r:id="rId3"/>
              </a:rPr>
              <a:t>Structural problems and current limits</a:t>
            </a:r>
            <a:endParaRPr sz="2550" dirty="0"/>
          </a:p>
        </p:txBody>
      </p:sp>
      <p:sp>
        <p:nvSpPr>
          <p:cNvPr id="5" name="Text 3">
            <a:extLst>
              <a:ext uri="{FF2B5EF4-FFF2-40B4-BE49-F238E27FC236}">
                <a16:creationId xmlns:a16="http://schemas.microsoft.com/office/drawing/2014/main" id="{C31D962A-BA82-4E14-9132-D09CD18F8586}"/>
              </a:ext>
            </a:extLst>
          </p:cNvPr>
          <p:cNvSpPr>
            <a:spLocks noGrp="1"/>
          </p:cNvSpPr>
          <p:nvPr/>
        </p:nvSpPr>
        <p:spPr>
          <a:xfrm>
            <a:off x="566928" y="1115568"/>
            <a:ext cx="10972800" cy="347472"/>
          </a:xfrm>
          <a:prstGeom prst="rect">
            <a:avLst/>
          </a:prstGeom>
          <a:noFill/>
        </p:spPr>
        <p:txBody>
          <a:bodyPr wrap="square" lIns="0" tIns="0" rIns="0" bIns="0" anchor="ctr"/>
          <a:lstStyle/>
          <a:p>
            <a:pPr marL="0" indent="0">
              <a:buNone/>
            </a:pPr>
            <a:r>
              <a:rPr sz="1200" dirty="0">
                <a:solidFill>
                  <a:srgbClr val="55595F"/>
                </a:solidFill>
                <a:latin typeface="Calibri"/>
                <a:ea typeface="Calibri"/>
                <a:cs typeface="Calibri"/>
              </a:rPr>
              <a:t>Direct rules and local checks lose explanatory power when participants, roles and dependencies change faster than the control model.</a:t>
            </a:r>
            <a:endParaRPr sz="1200" dirty="0"/>
          </a:p>
        </p:txBody>
      </p:sp>
      <p:sp>
        <p:nvSpPr>
          <p:cNvPr id="6" name="Shape 4">
            <a:extLst>
              <a:ext uri="{FF2B5EF4-FFF2-40B4-BE49-F238E27FC236}">
                <a16:creationId xmlns:a16="http://schemas.microsoft.com/office/drawing/2014/main" id="{B570C1C4-B82A-4DB0-9DC5-2E298E4B561D}"/>
              </a:ext>
            </a:extLst>
          </p:cNvPr>
          <p:cNvSpPr>
            <a:spLocks noGrp="1"/>
          </p:cNvSpPr>
          <p:nvPr/>
        </p:nvSpPr>
        <p:spPr>
          <a:xfrm>
            <a:off x="640080" y="1691640"/>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7" name="Shape 5">
            <a:extLst>
              <a:ext uri="{FF2B5EF4-FFF2-40B4-BE49-F238E27FC236}">
                <a16:creationId xmlns:a16="http://schemas.microsoft.com/office/drawing/2014/main" id="{FA3FCC51-D948-4C23-B3BB-608330577F1D}"/>
              </a:ext>
            </a:extLst>
          </p:cNvPr>
          <p:cNvSpPr>
            <a:spLocks noGrp="1"/>
          </p:cNvSpPr>
          <p:nvPr/>
        </p:nvSpPr>
        <p:spPr>
          <a:xfrm>
            <a:off x="640080" y="1691640"/>
            <a:ext cx="50292" cy="1261872"/>
          </a:xfrm>
          <a:prstGeom prst="rect">
            <a:avLst/>
          </a:prstGeom>
          <a:solidFill>
            <a:srgbClr val="1B4D8E"/>
          </a:solidFill>
          <a:ln w="12700">
            <a:solidFill>
              <a:srgbClr val="1B4D8E"/>
            </a:solidFill>
            <a:prstDash val="solid"/>
          </a:ln>
        </p:spPr>
        <p:txBody>
          <a:bodyPr wrap="square"/>
          <a:lstStyle/>
          <a:p>
            <a:endParaRPr/>
          </a:p>
        </p:txBody>
      </p:sp>
      <p:sp>
        <p:nvSpPr>
          <p:cNvPr id="8" name="Text 6">
            <a:extLst>
              <a:ext uri="{FF2B5EF4-FFF2-40B4-BE49-F238E27FC236}">
                <a16:creationId xmlns:a16="http://schemas.microsoft.com/office/drawing/2014/main" id="{4EFF4B9C-F2EF-476B-A061-A9106729991D}"/>
              </a:ext>
            </a:extLst>
          </p:cNvPr>
          <p:cNvSpPr>
            <a:spLocks noGrp="1"/>
          </p:cNvSpPr>
          <p:nvPr/>
        </p:nvSpPr>
        <p:spPr>
          <a:xfrm>
            <a:off x="804672" y="181051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Agent multiplication</a:t>
            </a:r>
            <a:endParaRPr sz="1400"/>
          </a:p>
        </p:txBody>
      </p:sp>
      <p:sp>
        <p:nvSpPr>
          <p:cNvPr id="9" name="Text 7">
            <a:extLst>
              <a:ext uri="{FF2B5EF4-FFF2-40B4-BE49-F238E27FC236}">
                <a16:creationId xmlns:a16="http://schemas.microsoft.com/office/drawing/2014/main" id="{6768C276-9E60-4A6C-995E-01413FB546B5}"/>
              </a:ext>
            </a:extLst>
          </p:cNvPr>
          <p:cNvSpPr>
            <a:spLocks noGrp="1"/>
          </p:cNvSpPr>
          <p:nvPr/>
        </p:nvSpPr>
        <p:spPr>
          <a:xfrm>
            <a:off x="804672" y="212140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More agents, tools and temporary delegates create interaction paths that no operator can review one by one.</a:t>
            </a:r>
            <a:endParaRPr sz="1020"/>
          </a:p>
        </p:txBody>
      </p:sp>
      <p:sp>
        <p:nvSpPr>
          <p:cNvPr id="10" name="Shape 8">
            <a:extLst>
              <a:ext uri="{FF2B5EF4-FFF2-40B4-BE49-F238E27FC236}">
                <a16:creationId xmlns:a16="http://schemas.microsoft.com/office/drawing/2014/main" id="{C923880E-893F-4D84-8850-5C7D5BE6AB83}"/>
              </a:ext>
            </a:extLst>
          </p:cNvPr>
          <p:cNvSpPr>
            <a:spLocks noGrp="1"/>
          </p:cNvSpPr>
          <p:nvPr/>
        </p:nvSpPr>
        <p:spPr>
          <a:xfrm>
            <a:off x="4178808" y="1700784"/>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11" name="Shape 9">
            <a:extLst>
              <a:ext uri="{FF2B5EF4-FFF2-40B4-BE49-F238E27FC236}">
                <a16:creationId xmlns:a16="http://schemas.microsoft.com/office/drawing/2014/main" id="{66100C4E-015E-461E-BD30-2645141BA0EB}"/>
              </a:ext>
            </a:extLst>
          </p:cNvPr>
          <p:cNvSpPr>
            <a:spLocks noGrp="1"/>
          </p:cNvSpPr>
          <p:nvPr/>
        </p:nvSpPr>
        <p:spPr>
          <a:xfrm>
            <a:off x="4160520" y="1691640"/>
            <a:ext cx="50292" cy="1261872"/>
          </a:xfrm>
          <a:prstGeom prst="rect">
            <a:avLst/>
          </a:prstGeom>
          <a:solidFill>
            <a:srgbClr val="006970"/>
          </a:solidFill>
          <a:ln w="12700">
            <a:solidFill>
              <a:srgbClr val="006970"/>
            </a:solidFill>
            <a:prstDash val="solid"/>
          </a:ln>
        </p:spPr>
        <p:txBody>
          <a:bodyPr wrap="square"/>
          <a:lstStyle/>
          <a:p>
            <a:endParaRPr/>
          </a:p>
        </p:txBody>
      </p:sp>
      <p:sp>
        <p:nvSpPr>
          <p:cNvPr id="12" name="Text 10">
            <a:extLst>
              <a:ext uri="{FF2B5EF4-FFF2-40B4-BE49-F238E27FC236}">
                <a16:creationId xmlns:a16="http://schemas.microsoft.com/office/drawing/2014/main" id="{41D059C8-E8BE-4909-980A-D4B1ADA1D608}"/>
              </a:ext>
            </a:extLst>
          </p:cNvPr>
          <p:cNvSpPr>
            <a:spLocks noGrp="1"/>
          </p:cNvSpPr>
          <p:nvPr/>
        </p:nvSpPr>
        <p:spPr>
          <a:xfrm>
            <a:off x="4325112" y="181051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Role and identity drift</a:t>
            </a:r>
            <a:endParaRPr sz="1400"/>
          </a:p>
        </p:txBody>
      </p:sp>
      <p:sp>
        <p:nvSpPr>
          <p:cNvPr id="13" name="Text 11">
            <a:extLst>
              <a:ext uri="{FF2B5EF4-FFF2-40B4-BE49-F238E27FC236}">
                <a16:creationId xmlns:a16="http://schemas.microsoft.com/office/drawing/2014/main" id="{EA52FAFD-ECE6-444A-B2B2-3428BF8503ED}"/>
              </a:ext>
            </a:extLst>
          </p:cNvPr>
          <p:cNvSpPr>
            <a:spLocks noGrp="1"/>
          </p:cNvSpPr>
          <p:nvPr/>
        </p:nvSpPr>
        <p:spPr>
          <a:xfrm>
            <a:off x="4325112" y="212140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One participant can hold hybrid roles, change memberships or act under a different authority across interactions.</a:t>
            </a:r>
            <a:endParaRPr sz="1020"/>
          </a:p>
        </p:txBody>
      </p:sp>
      <p:sp>
        <p:nvSpPr>
          <p:cNvPr id="14" name="Shape 12">
            <a:extLst>
              <a:ext uri="{FF2B5EF4-FFF2-40B4-BE49-F238E27FC236}">
                <a16:creationId xmlns:a16="http://schemas.microsoft.com/office/drawing/2014/main" id="{2665E16E-BA29-4283-A4E5-995CDE15D8A1}"/>
              </a:ext>
            </a:extLst>
          </p:cNvPr>
          <p:cNvSpPr>
            <a:spLocks noGrp="1"/>
          </p:cNvSpPr>
          <p:nvPr/>
        </p:nvSpPr>
        <p:spPr>
          <a:xfrm>
            <a:off x="7680960" y="1691640"/>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15" name="Shape 13">
            <a:extLst>
              <a:ext uri="{FF2B5EF4-FFF2-40B4-BE49-F238E27FC236}">
                <a16:creationId xmlns:a16="http://schemas.microsoft.com/office/drawing/2014/main" id="{DE6BF31D-7B0F-4E19-9D1E-72F54936C56F}"/>
              </a:ext>
            </a:extLst>
          </p:cNvPr>
          <p:cNvSpPr>
            <a:spLocks noGrp="1"/>
          </p:cNvSpPr>
          <p:nvPr/>
        </p:nvSpPr>
        <p:spPr>
          <a:xfrm>
            <a:off x="7680960" y="1691640"/>
            <a:ext cx="50292" cy="1261872"/>
          </a:xfrm>
          <a:prstGeom prst="rect">
            <a:avLst/>
          </a:prstGeom>
          <a:solidFill>
            <a:srgbClr val="A8642A"/>
          </a:solidFill>
          <a:ln w="12700">
            <a:solidFill>
              <a:srgbClr val="A8642A"/>
            </a:solidFill>
            <a:prstDash val="solid"/>
          </a:ln>
        </p:spPr>
        <p:txBody>
          <a:bodyPr wrap="square"/>
          <a:lstStyle/>
          <a:p>
            <a:endParaRPr/>
          </a:p>
        </p:txBody>
      </p:sp>
      <p:sp>
        <p:nvSpPr>
          <p:cNvPr id="16" name="Text 14">
            <a:extLst>
              <a:ext uri="{FF2B5EF4-FFF2-40B4-BE49-F238E27FC236}">
                <a16:creationId xmlns:a16="http://schemas.microsoft.com/office/drawing/2014/main" id="{1872E4E4-33DC-4EA0-8357-8D6C2F27690C}"/>
              </a:ext>
            </a:extLst>
          </p:cNvPr>
          <p:cNvSpPr>
            <a:spLocks noGrp="1"/>
          </p:cNvSpPr>
          <p:nvPr/>
        </p:nvSpPr>
        <p:spPr>
          <a:xfrm>
            <a:off x="7845552" y="181051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Ecosystem change</a:t>
            </a:r>
            <a:endParaRPr sz="1400"/>
          </a:p>
        </p:txBody>
      </p:sp>
      <p:sp>
        <p:nvSpPr>
          <p:cNvPr id="17" name="Text 15">
            <a:extLst>
              <a:ext uri="{FF2B5EF4-FFF2-40B4-BE49-F238E27FC236}">
                <a16:creationId xmlns:a16="http://schemas.microsoft.com/office/drawing/2014/main" id="{8C579E83-7D39-4934-BA77-818C0404A5F5}"/>
              </a:ext>
            </a:extLst>
          </p:cNvPr>
          <p:cNvSpPr>
            <a:spLocks noGrp="1"/>
          </p:cNvSpPr>
          <p:nvPr/>
        </p:nvSpPr>
        <p:spPr>
          <a:xfrm>
            <a:off x="7845552" y="212140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Organizations, dependencies, service availability and external conditions evolve while the system is operating.</a:t>
            </a:r>
            <a:endParaRPr sz="1020"/>
          </a:p>
        </p:txBody>
      </p:sp>
      <p:sp>
        <p:nvSpPr>
          <p:cNvPr id="18" name="Shape 16">
            <a:extLst>
              <a:ext uri="{FF2B5EF4-FFF2-40B4-BE49-F238E27FC236}">
                <a16:creationId xmlns:a16="http://schemas.microsoft.com/office/drawing/2014/main" id="{28850DE6-713C-4A9F-948E-53A8EB65A52C}"/>
              </a:ext>
            </a:extLst>
          </p:cNvPr>
          <p:cNvSpPr>
            <a:spLocks noGrp="1"/>
          </p:cNvSpPr>
          <p:nvPr/>
        </p:nvSpPr>
        <p:spPr>
          <a:xfrm>
            <a:off x="640080" y="3246120"/>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19" name="Shape 17">
            <a:extLst>
              <a:ext uri="{FF2B5EF4-FFF2-40B4-BE49-F238E27FC236}">
                <a16:creationId xmlns:a16="http://schemas.microsoft.com/office/drawing/2014/main" id="{FD5D498D-A479-4851-9F45-D86D536B66E5}"/>
              </a:ext>
            </a:extLst>
          </p:cNvPr>
          <p:cNvSpPr>
            <a:spLocks noGrp="1"/>
          </p:cNvSpPr>
          <p:nvPr/>
        </p:nvSpPr>
        <p:spPr>
          <a:xfrm>
            <a:off x="640080" y="3246120"/>
            <a:ext cx="50292" cy="1261872"/>
          </a:xfrm>
          <a:prstGeom prst="rect">
            <a:avLst/>
          </a:prstGeom>
          <a:solidFill>
            <a:srgbClr val="9A4C48"/>
          </a:solidFill>
          <a:ln w="12700">
            <a:solidFill>
              <a:srgbClr val="9A4C48"/>
            </a:solidFill>
            <a:prstDash val="solid"/>
          </a:ln>
        </p:spPr>
        <p:txBody>
          <a:bodyPr wrap="square"/>
          <a:lstStyle/>
          <a:p>
            <a:endParaRPr/>
          </a:p>
        </p:txBody>
      </p:sp>
      <p:sp>
        <p:nvSpPr>
          <p:cNvPr id="20" name="Text 18">
            <a:extLst>
              <a:ext uri="{FF2B5EF4-FFF2-40B4-BE49-F238E27FC236}">
                <a16:creationId xmlns:a16="http://schemas.microsoft.com/office/drawing/2014/main" id="{C9FDE740-5A54-481E-9684-C9AECDB284AC}"/>
              </a:ext>
            </a:extLst>
          </p:cNvPr>
          <p:cNvSpPr>
            <a:spLocks noGrp="1"/>
          </p:cNvSpPr>
          <p:nvPr/>
        </p:nvSpPr>
        <p:spPr>
          <a:xfrm>
            <a:off x="804672" y="336499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Indeterminacy</a:t>
            </a:r>
            <a:endParaRPr sz="1400"/>
          </a:p>
        </p:txBody>
      </p:sp>
      <p:sp>
        <p:nvSpPr>
          <p:cNvPr id="21" name="Text 19">
            <a:extLst>
              <a:ext uri="{FF2B5EF4-FFF2-40B4-BE49-F238E27FC236}">
                <a16:creationId xmlns:a16="http://schemas.microsoft.com/office/drawing/2014/main" id="{9FC4B1AB-9199-4371-9C83-F2797CDFFC7F}"/>
              </a:ext>
            </a:extLst>
          </p:cNvPr>
          <p:cNvSpPr>
            <a:spLocks noGrp="1"/>
          </p:cNvSpPr>
          <p:nvPr/>
        </p:nvSpPr>
        <p:spPr>
          <a:xfrm>
            <a:off x="804672" y="367588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A local result may be valid but insufficient for the wider decision. Missing scope, provenance or dependency state must remain explicit.</a:t>
            </a:r>
            <a:endParaRPr sz="1020"/>
          </a:p>
        </p:txBody>
      </p:sp>
      <p:sp>
        <p:nvSpPr>
          <p:cNvPr id="22" name="Shape 20">
            <a:extLst>
              <a:ext uri="{FF2B5EF4-FFF2-40B4-BE49-F238E27FC236}">
                <a16:creationId xmlns:a16="http://schemas.microsoft.com/office/drawing/2014/main" id="{86D64945-EA12-4BD5-BCB2-E5F8E71F19AE}"/>
              </a:ext>
            </a:extLst>
          </p:cNvPr>
          <p:cNvSpPr>
            <a:spLocks noGrp="1"/>
          </p:cNvSpPr>
          <p:nvPr/>
        </p:nvSpPr>
        <p:spPr>
          <a:xfrm>
            <a:off x="4160520" y="3246120"/>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23" name="Shape 21">
            <a:extLst>
              <a:ext uri="{FF2B5EF4-FFF2-40B4-BE49-F238E27FC236}">
                <a16:creationId xmlns:a16="http://schemas.microsoft.com/office/drawing/2014/main" id="{DB77CAE3-0E4D-40AA-B394-FE1EBEE9C787}"/>
              </a:ext>
            </a:extLst>
          </p:cNvPr>
          <p:cNvSpPr>
            <a:spLocks noGrp="1"/>
          </p:cNvSpPr>
          <p:nvPr/>
        </p:nvSpPr>
        <p:spPr>
          <a:xfrm>
            <a:off x="4160520" y="3246120"/>
            <a:ext cx="50292" cy="1261872"/>
          </a:xfrm>
          <a:prstGeom prst="rect">
            <a:avLst/>
          </a:prstGeom>
          <a:solidFill>
            <a:srgbClr val="3D6D65"/>
          </a:solidFill>
          <a:ln w="12700">
            <a:solidFill>
              <a:srgbClr val="3D6D65"/>
            </a:solidFill>
            <a:prstDash val="solid"/>
          </a:ln>
        </p:spPr>
        <p:txBody>
          <a:bodyPr wrap="square"/>
          <a:lstStyle/>
          <a:p>
            <a:endParaRPr/>
          </a:p>
        </p:txBody>
      </p:sp>
      <p:sp>
        <p:nvSpPr>
          <p:cNvPr id="24" name="Text 22">
            <a:extLst>
              <a:ext uri="{FF2B5EF4-FFF2-40B4-BE49-F238E27FC236}">
                <a16:creationId xmlns:a16="http://schemas.microsoft.com/office/drawing/2014/main" id="{3CDB4833-2605-4AE6-AC61-AD3643445699}"/>
              </a:ext>
            </a:extLst>
          </p:cNvPr>
          <p:cNvSpPr>
            <a:spLocks noGrp="1"/>
          </p:cNvSpPr>
          <p:nvPr/>
        </p:nvSpPr>
        <p:spPr>
          <a:xfrm>
            <a:off x="4325112" y="336499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Interpretation gap</a:t>
            </a:r>
            <a:endParaRPr sz="1400"/>
          </a:p>
        </p:txBody>
      </p:sp>
      <p:sp>
        <p:nvSpPr>
          <p:cNvPr id="25" name="Text 23">
            <a:extLst>
              <a:ext uri="{FF2B5EF4-FFF2-40B4-BE49-F238E27FC236}">
                <a16:creationId xmlns:a16="http://schemas.microsoft.com/office/drawing/2014/main" id="{7594C41D-6A6E-478E-AE1E-44561BAE94D3}"/>
              </a:ext>
            </a:extLst>
          </p:cNvPr>
          <p:cNvSpPr>
            <a:spLocks noGrp="1"/>
          </p:cNvSpPr>
          <p:nvPr/>
        </p:nvSpPr>
        <p:spPr>
          <a:xfrm>
            <a:off x="4325112" y="367588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Identity, policy and attestation can remain technically valid while their practical meaning changes in the active ecosystem.</a:t>
            </a:r>
            <a:endParaRPr sz="1020"/>
          </a:p>
        </p:txBody>
      </p:sp>
      <p:sp>
        <p:nvSpPr>
          <p:cNvPr id="26" name="Shape 24">
            <a:extLst>
              <a:ext uri="{FF2B5EF4-FFF2-40B4-BE49-F238E27FC236}">
                <a16:creationId xmlns:a16="http://schemas.microsoft.com/office/drawing/2014/main" id="{BCC735E0-3248-4E81-919C-7F57334155AC}"/>
              </a:ext>
            </a:extLst>
          </p:cNvPr>
          <p:cNvSpPr>
            <a:spLocks noGrp="1"/>
          </p:cNvSpPr>
          <p:nvPr/>
        </p:nvSpPr>
        <p:spPr>
          <a:xfrm>
            <a:off x="7680960" y="3246120"/>
            <a:ext cx="3154680" cy="1261872"/>
          </a:xfrm>
          <a:prstGeom prst="roundRect">
            <a:avLst>
              <a:gd name="adj" fmla="val 3623"/>
            </a:avLst>
          </a:prstGeom>
          <a:solidFill>
            <a:srgbClr val="FFFFFF"/>
          </a:solidFill>
          <a:ln w="12700">
            <a:solidFill>
              <a:srgbClr val="D6DCE4"/>
            </a:solidFill>
            <a:prstDash val="solid"/>
          </a:ln>
        </p:spPr>
        <p:txBody>
          <a:bodyPr wrap="square"/>
          <a:lstStyle/>
          <a:p>
            <a:endParaRPr/>
          </a:p>
        </p:txBody>
      </p:sp>
      <p:sp>
        <p:nvSpPr>
          <p:cNvPr id="27" name="Shape 25">
            <a:extLst>
              <a:ext uri="{FF2B5EF4-FFF2-40B4-BE49-F238E27FC236}">
                <a16:creationId xmlns:a16="http://schemas.microsoft.com/office/drawing/2014/main" id="{1B7610B9-981A-4108-B60E-FDA6BA09050A}"/>
              </a:ext>
            </a:extLst>
          </p:cNvPr>
          <p:cNvSpPr>
            <a:spLocks noGrp="1"/>
          </p:cNvSpPr>
          <p:nvPr/>
        </p:nvSpPr>
        <p:spPr>
          <a:xfrm>
            <a:off x="7680960" y="3246120"/>
            <a:ext cx="50292" cy="1261872"/>
          </a:xfrm>
          <a:prstGeom prst="rect">
            <a:avLst/>
          </a:prstGeom>
          <a:solidFill>
            <a:srgbClr val="1B4D8E"/>
          </a:solidFill>
          <a:ln w="12700">
            <a:solidFill>
              <a:srgbClr val="1B4D8E"/>
            </a:solidFill>
            <a:prstDash val="solid"/>
          </a:ln>
        </p:spPr>
        <p:txBody>
          <a:bodyPr wrap="square"/>
          <a:lstStyle/>
          <a:p>
            <a:endParaRPr/>
          </a:p>
        </p:txBody>
      </p:sp>
      <p:sp>
        <p:nvSpPr>
          <p:cNvPr id="28" name="Text 26">
            <a:extLst>
              <a:ext uri="{FF2B5EF4-FFF2-40B4-BE49-F238E27FC236}">
                <a16:creationId xmlns:a16="http://schemas.microsoft.com/office/drawing/2014/main" id="{8C3DD785-2449-4324-8177-5993EA96D29B}"/>
              </a:ext>
            </a:extLst>
          </p:cNvPr>
          <p:cNvSpPr>
            <a:spLocks noGrp="1"/>
          </p:cNvSpPr>
          <p:nvPr/>
        </p:nvSpPr>
        <p:spPr>
          <a:xfrm>
            <a:off x="7845552" y="3364992"/>
            <a:ext cx="2898648"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rPr>
              <a:t>Limits of AI oversight</a:t>
            </a:r>
            <a:endParaRPr sz="1400"/>
          </a:p>
        </p:txBody>
      </p:sp>
      <p:sp>
        <p:nvSpPr>
          <p:cNvPr id="29" name="Text 27">
            <a:extLst>
              <a:ext uri="{FF2B5EF4-FFF2-40B4-BE49-F238E27FC236}">
                <a16:creationId xmlns:a16="http://schemas.microsoft.com/office/drawing/2014/main" id="{FCEDFAE5-69EE-4A87-B4D6-222393396CF6}"/>
              </a:ext>
            </a:extLst>
          </p:cNvPr>
          <p:cNvSpPr>
            <a:spLocks noGrp="1"/>
          </p:cNvSpPr>
          <p:nvPr/>
        </p:nvSpPr>
        <p:spPr>
          <a:xfrm>
            <a:off x="7845552" y="3675888"/>
            <a:ext cx="2880360" cy="731520"/>
          </a:xfrm>
          <a:prstGeom prst="rect">
            <a:avLst/>
          </a:prstGeom>
          <a:noFill/>
        </p:spPr>
        <p:txBody>
          <a:bodyPr wrap="square" lIns="254" tIns="254" rIns="254" bIns="254" anchor="t"/>
          <a:lstStyle/>
          <a:p>
            <a:pPr marL="0" indent="0">
              <a:buNone/>
            </a:pPr>
            <a:r>
              <a:rPr sz="1020">
                <a:solidFill>
                  <a:srgbClr val="55595F"/>
                </a:solidFill>
                <a:latin typeface="Calibri"/>
                <a:ea typeface="Calibri"/>
                <a:cs typeface="Calibri"/>
              </a:rPr>
              <a:t>Automated review often inherits the same observation window. Human review adds authority and judgment, but attention, time and context remain finite.</a:t>
            </a:r>
            <a:endParaRPr sz="1020"/>
          </a:p>
        </p:txBody>
      </p:sp>
      <p:sp>
        <p:nvSpPr>
          <p:cNvPr id="30" name="Shape 28">
            <a:extLst>
              <a:ext uri="{FF2B5EF4-FFF2-40B4-BE49-F238E27FC236}">
                <a16:creationId xmlns:a16="http://schemas.microsoft.com/office/drawing/2014/main" id="{2318078F-683F-47F5-9A02-B197829A5B66}"/>
              </a:ext>
            </a:extLst>
          </p:cNvPr>
          <p:cNvSpPr>
            <a:spLocks noGrp="1"/>
          </p:cNvSpPr>
          <p:nvPr/>
        </p:nvSpPr>
        <p:spPr>
          <a:xfrm>
            <a:off x="658368" y="5074920"/>
            <a:ext cx="10652760" cy="804672"/>
          </a:xfrm>
          <a:prstGeom prst="roundRect">
            <a:avLst/>
          </a:prstGeom>
          <a:solidFill>
            <a:srgbClr val="F2F5F8"/>
          </a:solidFill>
          <a:ln w="12700">
            <a:solidFill>
              <a:srgbClr val="D6DCE4"/>
            </a:solidFill>
            <a:prstDash val="solid"/>
          </a:ln>
        </p:spPr>
        <p:txBody>
          <a:bodyPr wrap="square"/>
          <a:lstStyle/>
          <a:p>
            <a:endParaRPr/>
          </a:p>
        </p:txBody>
      </p:sp>
      <p:sp>
        <p:nvSpPr>
          <p:cNvPr id="31" name="Text 29">
            <a:extLst>
              <a:ext uri="{FF2B5EF4-FFF2-40B4-BE49-F238E27FC236}">
                <a16:creationId xmlns:a16="http://schemas.microsoft.com/office/drawing/2014/main" id="{B5C0DA6F-2F38-42E9-A07D-93D873F5E585}"/>
              </a:ext>
            </a:extLst>
          </p:cNvPr>
          <p:cNvSpPr>
            <a:spLocks noGrp="1"/>
          </p:cNvSpPr>
          <p:nvPr/>
        </p:nvSpPr>
        <p:spPr>
          <a:xfrm>
            <a:off x="896112" y="5266944"/>
            <a:ext cx="1920240" cy="164592"/>
          </a:xfrm>
          <a:prstGeom prst="rect">
            <a:avLst/>
          </a:prstGeom>
          <a:noFill/>
        </p:spPr>
        <p:txBody>
          <a:bodyPr wrap="square" lIns="0" tIns="0" rIns="0" bIns="0" anchor="ctr"/>
          <a:lstStyle/>
          <a:p>
            <a:pPr marL="0" indent="0">
              <a:buNone/>
            </a:pPr>
            <a:r>
              <a:rPr sz="900" b="1">
                <a:solidFill>
                  <a:srgbClr val="A8642A"/>
                </a:solidFill>
                <a:latin typeface="Consolas"/>
                <a:ea typeface="Consolas"/>
                <a:cs typeface="Consolas"/>
              </a:rPr>
              <a:t>STRUCTURAL CONSEQUENCE</a:t>
            </a:r>
            <a:endParaRPr sz="900"/>
          </a:p>
        </p:txBody>
      </p:sp>
      <p:sp>
        <p:nvSpPr>
          <p:cNvPr id="32" name="Text 30">
            <a:extLst>
              <a:ext uri="{FF2B5EF4-FFF2-40B4-BE49-F238E27FC236}">
                <a16:creationId xmlns:a16="http://schemas.microsoft.com/office/drawing/2014/main" id="{4C479A7C-3A25-4A82-BAF7-FBB108DA3294}"/>
              </a:ext>
            </a:extLst>
          </p:cNvPr>
          <p:cNvSpPr>
            <a:spLocks noGrp="1"/>
          </p:cNvSpPr>
          <p:nvPr/>
        </p:nvSpPr>
        <p:spPr>
          <a:xfrm>
            <a:off x="2743200" y="5193792"/>
            <a:ext cx="8229600" cy="347472"/>
          </a:xfrm>
          <a:prstGeom prst="rect">
            <a:avLst/>
          </a:prstGeom>
          <a:noFill/>
        </p:spPr>
        <p:txBody>
          <a:bodyPr wrap="square" lIns="0" tIns="0" rIns="0" bIns="0" anchor="ctr"/>
          <a:lstStyle/>
          <a:p>
            <a:pPr marL="0" indent="0">
              <a:buNone/>
            </a:pPr>
            <a:r>
              <a:rPr sz="1240">
                <a:solidFill>
                  <a:srgbClr val="1B273F"/>
                </a:solidFill>
                <a:latin typeface="Calibri"/>
                <a:ea typeface="Calibri"/>
                <a:cs typeface="Calibri"/>
              </a:rPr>
              <a:t>Local correctness and local compliance do not by themselves establish that the composed system is situated correctly for the current decision.</a:t>
            </a:r>
            <a:endParaRPr sz="1240"/>
          </a:p>
        </p:txBody>
      </p:sp>
      <p:sp>
        <p:nvSpPr>
          <p:cNvPr id="33" name="Slide Number Placeholder 0">
            <a:extLst>
              <a:ext uri="{FF2B5EF4-FFF2-40B4-BE49-F238E27FC236}">
                <a16:creationId xmlns:a16="http://schemas.microsoft.com/office/drawing/2014/main" id="{68D2D729-1DF8-47C3-BAB8-714B37375022}"/>
              </a:ext>
            </a:extLst>
          </p:cNvPr>
          <p:cNvSpPr>
            <a:spLocks noGrp="1"/>
          </p:cNvSpPr>
          <p:nvPr>
            <p:ph type="sldNum" idx="4294967295"/>
          </p:nvPr>
        </p:nvSpPr>
        <p:spPr>
          <a:xfrm>
            <a:off x="11064240" y="6537960"/>
            <a:ext cx="502920" cy="164592"/>
          </a:xfrm>
          <a:prstGeom prst="rect">
            <a:avLst/>
          </a:prstGeom>
        </p:spPr>
        <p:txBody>
          <a:bodyPr wrap="square"/>
          <a:lstStyle>
            <a:lvl1pPr>
              <a:buNone/>
              <a:defRPr sz="750">
                <a:solidFill>
                  <a:srgbClr val="1B273F"/>
                </a:solidFill>
                <a:latin typeface="Consolas"/>
                <a:ea typeface="Consolas"/>
                <a:cs typeface="Consolas"/>
              </a:defRPr>
            </a:lvl1pPr>
          </a:lstStyle>
          <a:p>
            <a:pPr algn="r"/>
            <a:r>
              <a:rPr sz="900">
                <a:solidFill>
                  <a:srgbClr val="5D6775"/>
                </a:solidFill>
                <a:latin typeface="Calibri"/>
              </a:rPr>
              <a:t>3</a:t>
            </a:r>
          </a:p>
        </p:txBody>
      </p:sp>
      <p:sp>
        <p:nvSpPr>
          <p:cNvPr id="34" name="Standards boundary — adjacent primitives"/>
          <p:cNvSpPr/>
          <p:nvPr/>
        </p:nvSpPr>
        <p:spPr>
          <a:xfrm>
            <a:off x="658368" y="4553712"/>
            <a:ext cx="10652760" cy="429768"/>
          </a:xfrm>
          <a:prstGeom prst="roundRect">
            <a:avLst/>
          </a:prstGeom>
          <a:solidFill>
            <a:srgbClr val="F7F9FB"/>
          </a:solidFill>
          <a:ln w="10160">
            <a:solidFill>
              <a:srgbClr val="D6DCE4"/>
            </a:solidFill>
          </a:ln>
        </p:spPr>
        <p:style>
          <a:lnRef idx="1">
            <a:schemeClr val="accent1"/>
          </a:lnRef>
          <a:fillRef idx="3">
            <a:schemeClr val="accent1"/>
          </a:fillRef>
          <a:effectRef idx="2">
            <a:schemeClr val="accent1"/>
          </a:effectRef>
          <a:fontRef idx="minor">
            <a:schemeClr val="lt1"/>
          </a:fontRef>
        </p:style>
        <p:txBody>
          <a:bodyPr wrap="square" lIns="118872" tIns="41148" rIns="118872" bIns="32004" rtlCol="0" anchor="ctr"/>
          <a:lstStyle/>
          <a:p>
            <a:pPr algn="l">
              <a:spcBef>
                <a:spcPts val="0"/>
              </a:spcBef>
              <a:spcAft>
                <a:spcPts val="0"/>
              </a:spcAft>
            </a:pPr>
            <a:r>
              <a:rPr sz="780" b="1">
                <a:solidFill>
                  <a:srgbClr val="A8642A"/>
                </a:solidFill>
                <a:latin typeface="Consolas"/>
              </a:rPr>
              <a:t>EXISTING PRIMITIVES  </a:t>
            </a:r>
            <a:r>
              <a:rPr sz="819">
                <a:solidFill>
                  <a:srgbClr val="55595F"/>
                </a:solidFill>
                <a:latin typeface="Calibri"/>
              </a:rPr>
              <a:t>SPIFFE · identity/authentication   |   RFC 8693 · subject/actor token exchange   |   RATS · attestation/appraisal   |   NIST 2026 · active agent-IAM work</a:t>
            </a:r>
          </a:p>
          <a:p>
            <a:pPr algn="l">
              <a:spcBef>
                <a:spcPts val="0"/>
              </a:spcBef>
              <a:spcAft>
                <a:spcPts val="0"/>
              </a:spcAft>
            </a:pPr>
            <a:r>
              <a:rPr sz="800" b="1">
                <a:solidFill>
                  <a:srgbClr val="007B82"/>
                </a:solidFill>
                <a:latin typeface="Consolas"/>
              </a:rPr>
              <a:t>REMAINING GAP  </a:t>
            </a:r>
            <a:r>
              <a:rPr sz="860" b="1">
                <a:solidFill>
                  <a:srgbClr val="1B273F"/>
                </a:solidFill>
                <a:latin typeface="Calibri"/>
              </a:rPr>
              <a:t>Preserve what remains valid, knowable and actionable as authority, evidence and context change across handoffs.</a:t>
            </a:r>
          </a:p>
        </p:txBody>
      </p:sp>
      <p:sp>
        <p:nvSpPr>
          <p:cNvPr id="35" name="TextBox 34"/>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3"/>
              </a:rPr>
              <a:t>Foundation 01</a:t>
            </a:r>
            <a:r>
              <a:rPr sz="680">
                <a:solidFill>
                  <a:srgbClr val="727A86"/>
                </a:solidFill>
                <a:latin typeface="Calibri"/>
              </a:rPr>
              <a:t>  ·  </a:t>
            </a:r>
            <a:r>
              <a:rPr sz="680" b="0" u="sng">
                <a:solidFill>
                  <a:srgbClr val="2F6FB2"/>
                </a:solidFill>
                <a:latin typeface="Calibri"/>
                <a:hlinkClick r:id="rId4"/>
              </a:rPr>
              <a:t>Principles 02</a:t>
            </a:r>
          </a:p>
        </p:txBody>
      </p:sp>
    </p:spTree>
    <p:extLst>
      <p:ext uri="{BB962C8B-B14F-4D97-AF65-F5344CB8AC3E}">
        <p14:creationId xmlns:p14="http://schemas.microsoft.com/office/powerpoint/2010/main" val="158634370"/>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64592"/>
            <a:ext cx="2834640" cy="201168"/>
          </a:xfrm>
          <a:prstGeom prst="rect">
            <a:avLst/>
          </a:prstGeom>
          <a:noFill/>
        </p:spPr>
        <p:txBody>
          <a:bodyPr wrap="square" anchor="t" lIns="0" rIns="0" tIns="0" bIns="0">
            <a:spAutoFit/>
          </a:bodyPr>
          <a:lstStyle/>
          <a:p>
            <a:pPr algn="l"/>
            <a:r>
              <a:rPr sz="819" b="0">
                <a:solidFill>
                  <a:srgbClr val="1F2D3D"/>
                </a:solidFill>
                <a:latin typeface="Consolas"/>
              </a:rPr>
              <a:t>ILLUSTRATIVE FAILURE SCENARIOS</a:t>
            </a:r>
          </a:p>
        </p:txBody>
      </p:sp>
      <p:sp>
        <p:nvSpPr>
          <p:cNvPr id="3" name="TextBox 2"/>
          <p:cNvSpPr txBox="1"/>
          <p:nvPr/>
        </p:nvSpPr>
        <p:spPr>
          <a:xfrm>
            <a:off x="10881360" y="164592"/>
            <a:ext cx="658368" cy="201168"/>
          </a:xfrm>
          <a:prstGeom prst="rect">
            <a:avLst/>
          </a:prstGeom>
          <a:noFill/>
        </p:spPr>
        <p:txBody>
          <a:bodyPr wrap="square" anchor="t" lIns="0" rIns="0" tIns="0" bIns="0">
            <a:spAutoFit/>
          </a:bodyPr>
          <a:lstStyle/>
          <a:p>
            <a:pPr algn="r"/>
            <a:r>
              <a:rPr sz="819" b="0">
                <a:solidFill>
                  <a:srgbClr val="1F2D3D"/>
                </a:solidFill>
                <a:latin typeface="Consolas"/>
              </a:rPr>
              <a:t>§ 02A</a:t>
            </a:r>
          </a:p>
        </p:txBody>
      </p:sp>
      <p:sp>
        <p:nvSpPr>
          <p:cNvPr id="4" name="TextBox 3"/>
          <p:cNvSpPr txBox="1"/>
          <p:nvPr/>
        </p:nvSpPr>
        <p:spPr>
          <a:xfrm>
            <a:off x="566928" y="649224"/>
            <a:ext cx="10607040" cy="384048"/>
          </a:xfrm>
          <a:prstGeom prst="rect">
            <a:avLst/>
          </a:prstGeom>
          <a:noFill/>
        </p:spPr>
        <p:txBody>
          <a:bodyPr wrap="square" anchor="t" lIns="0" rIns="0" tIns="0" bIns="0">
            <a:spAutoFit/>
          </a:bodyPr>
          <a:lstStyle/>
          <a:p>
            <a:pPr algn="l"/>
            <a:r>
              <a:rPr sz="2400" b="1">
                <a:solidFill>
                  <a:srgbClr val="1F2D3D"/>
                </a:solidFill>
                <a:latin typeface="Cambria"/>
              </a:rPr>
              <a:t>Six reference scenarios used to stress the corpus</a:t>
            </a:r>
          </a:p>
        </p:txBody>
      </p:sp>
      <p:sp>
        <p:nvSpPr>
          <p:cNvPr id="5" name="TextBox 4"/>
          <p:cNvSpPr txBox="1"/>
          <p:nvPr/>
        </p:nvSpPr>
        <p:spPr>
          <a:xfrm>
            <a:off x="566928" y="1078992"/>
            <a:ext cx="10607040" cy="384048"/>
          </a:xfrm>
          <a:prstGeom prst="rect">
            <a:avLst/>
          </a:prstGeom>
          <a:noFill/>
        </p:spPr>
        <p:txBody>
          <a:bodyPr wrap="square" anchor="t" lIns="0" rIns="0" tIns="0" bIns="0">
            <a:spAutoFit/>
          </a:bodyPr>
          <a:lstStyle/>
          <a:p>
            <a:pPr algn="l"/>
            <a:r>
              <a:rPr sz="1150" b="0">
                <a:solidFill>
                  <a:srgbClr val="556677"/>
                </a:solidFill>
                <a:latin typeface="Calibri"/>
              </a:rPr>
              <a:t>Controlled scenarios that make systemic failure visible even when local components still appear technically correct.</a:t>
            </a:r>
          </a:p>
        </p:txBody>
      </p:sp>
      <p:sp>
        <p:nvSpPr>
          <p:cNvPr id="6" name="TextBox 5"/>
          <p:cNvSpPr txBox="1"/>
          <p:nvPr/>
        </p:nvSpPr>
        <p:spPr>
          <a:xfrm>
            <a:off x="11064240" y="6409944"/>
            <a:ext cx="320040" cy="164592"/>
          </a:xfrm>
          <a:prstGeom prst="rect">
            <a:avLst/>
          </a:prstGeom>
          <a:noFill/>
        </p:spPr>
        <p:txBody>
          <a:bodyPr wrap="square" anchor="t" lIns="0" rIns="0" tIns="0" bIns="0">
            <a:spAutoFit/>
          </a:bodyPr>
          <a:lstStyle/>
          <a:p>
            <a:pPr algn="r"/>
            <a:r>
              <a:rPr sz="900">
                <a:solidFill>
                  <a:srgbClr val="5D6775"/>
                </a:solidFill>
                <a:latin typeface="Calibri"/>
              </a:rPr>
              <a:t>4</a:t>
            </a:r>
          </a:p>
        </p:txBody>
      </p:sp>
      <p:sp>
        <p:nvSpPr>
          <p:cNvPr id="7" name="Rounded Rectangle 6"/>
          <p:cNvSpPr/>
          <p:nvPr/>
        </p:nvSpPr>
        <p:spPr>
          <a:xfrm>
            <a:off x="658368" y="1627632"/>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27632"/>
            <a:ext cx="64008" cy="1664208"/>
          </a:xfrm>
          <a:prstGeom prst="rect">
            <a:avLst/>
          </a:prstGeom>
          <a:solidFill>
            <a:srgbClr val="1B4D8E"/>
          </a:solidFill>
          <a:ln>
            <a:solidFill>
              <a:srgbClr val="1B4D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682496"/>
            <a:ext cx="512064" cy="146304"/>
          </a:xfrm>
          <a:prstGeom prst="rect">
            <a:avLst/>
          </a:prstGeom>
          <a:noFill/>
        </p:spPr>
        <p:txBody>
          <a:bodyPr wrap="square" anchor="t" lIns="0" rIns="0" tIns="0" bIns="0">
            <a:spAutoFit/>
          </a:bodyPr>
          <a:lstStyle/>
          <a:p>
            <a:pPr algn="l"/>
            <a:r>
              <a:rPr sz="850" b="1">
                <a:solidFill>
                  <a:srgbClr val="1B4D8E"/>
                </a:solidFill>
                <a:latin typeface="Consolas"/>
              </a:rPr>
              <a:t>00E</a:t>
            </a:r>
          </a:p>
        </p:txBody>
      </p:sp>
      <p:sp>
        <p:nvSpPr>
          <p:cNvPr id="10" name="TextBox 9"/>
          <p:cNvSpPr txBox="1"/>
          <p:nvPr/>
        </p:nvSpPr>
        <p:spPr>
          <a:xfrm>
            <a:off x="822960" y="1828800"/>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2"/>
              </a:rPr>
              <a:t>The 100 Million Token Enterprise</a:t>
            </a:r>
          </a:p>
        </p:txBody>
      </p:sp>
      <p:sp>
        <p:nvSpPr>
          <p:cNvPr id="11" name="TextBox 10"/>
          <p:cNvSpPr txBox="1"/>
          <p:nvPr/>
        </p:nvSpPr>
        <p:spPr>
          <a:xfrm>
            <a:off x="822960" y="2139696"/>
            <a:ext cx="2670048" cy="1069848"/>
          </a:xfrm>
          <a:prstGeom prst="rect">
            <a:avLst/>
          </a:prstGeom>
          <a:noFill/>
        </p:spPr>
        <p:txBody>
          <a:bodyPr wrap="square" anchor="t" lIns="0" rIns="0" tIns="0" bIns="0">
            <a:spAutoFit/>
          </a:bodyPr>
          <a:lstStyle/>
          <a:p>
            <a:pPr algn="l"/>
            <a:r>
              <a:rPr sz="1019" b="0">
                <a:solidFill>
                  <a:srgbClr val="1F2D3D"/>
                </a:solidFill>
                <a:latin typeface="Calibri"/>
              </a:rPr>
              <a:t>A large enterprise spends 100 million tokens and adds a heavy human-supervision burden, yet produces little useful work, insight or differential advantage.</a:t>
            </a:r>
          </a:p>
        </p:txBody>
      </p:sp>
      <p:sp>
        <p:nvSpPr>
          <p:cNvPr id="12" name="Rounded Rectangle 11"/>
          <p:cNvSpPr/>
          <p:nvPr/>
        </p:nvSpPr>
        <p:spPr>
          <a:xfrm>
            <a:off x="3959352" y="1627632"/>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9352" y="1627632"/>
            <a:ext cx="64008" cy="1664208"/>
          </a:xfrm>
          <a:prstGeom prst="rect">
            <a:avLst/>
          </a:prstGeom>
          <a:solidFill>
            <a:srgbClr val="006970"/>
          </a:solidFill>
          <a:ln>
            <a:solidFill>
              <a:srgbClr val="006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87368" y="1682496"/>
            <a:ext cx="512064" cy="146304"/>
          </a:xfrm>
          <a:prstGeom prst="rect">
            <a:avLst/>
          </a:prstGeom>
          <a:noFill/>
        </p:spPr>
        <p:txBody>
          <a:bodyPr wrap="square" anchor="t" lIns="0" rIns="0" tIns="0" bIns="0">
            <a:spAutoFit/>
          </a:bodyPr>
          <a:lstStyle/>
          <a:p>
            <a:pPr algn="l"/>
            <a:r>
              <a:rPr sz="850" b="1">
                <a:solidFill>
                  <a:srgbClr val="006970"/>
                </a:solidFill>
                <a:latin typeface="Consolas"/>
              </a:rPr>
              <a:t>00F</a:t>
            </a:r>
          </a:p>
        </p:txBody>
      </p:sp>
      <p:sp>
        <p:nvSpPr>
          <p:cNvPr id="15" name="TextBox 14"/>
          <p:cNvSpPr txBox="1"/>
          <p:nvPr/>
        </p:nvSpPr>
        <p:spPr>
          <a:xfrm>
            <a:off x="4123944" y="1828800"/>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3"/>
              </a:rPr>
              <a:t>Chaos in the Smartcity</a:t>
            </a:r>
          </a:p>
        </p:txBody>
      </p:sp>
      <p:sp>
        <p:nvSpPr>
          <p:cNvPr id="16" name="TextBox 15"/>
          <p:cNvSpPr txBox="1"/>
          <p:nvPr/>
        </p:nvSpPr>
        <p:spPr>
          <a:xfrm>
            <a:off x="4123944" y="2139696"/>
            <a:ext cx="2670048" cy="1069848"/>
          </a:xfrm>
          <a:prstGeom prst="rect">
            <a:avLst/>
          </a:prstGeom>
          <a:noFill/>
        </p:spPr>
        <p:txBody>
          <a:bodyPr wrap="square" anchor="t" lIns="0" rIns="0" tIns="0" bIns="0">
            <a:spAutoFit/>
          </a:bodyPr>
          <a:lstStyle/>
          <a:p>
            <a:pPr algn="l"/>
            <a:r>
              <a:rPr sz="1019" b="0">
                <a:solidFill>
                  <a:srgbClr val="1F2D3D"/>
                </a:solidFill>
                <a:latin typeface="Calibri"/>
              </a:rPr>
              <a:t>Small drifts split the mobility posture: some vehicles continue normally, some reroute critically and others HOLD awaiting intervention, producing city-level chaos.</a:t>
            </a:r>
          </a:p>
        </p:txBody>
      </p:sp>
      <p:sp>
        <p:nvSpPr>
          <p:cNvPr id="17" name="Rounded Rectangle 16"/>
          <p:cNvSpPr/>
          <p:nvPr/>
        </p:nvSpPr>
        <p:spPr>
          <a:xfrm>
            <a:off x="7260336" y="1627632"/>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60336" y="1627632"/>
            <a:ext cx="64008" cy="1664208"/>
          </a:xfrm>
          <a:prstGeom prst="rect">
            <a:avLst/>
          </a:prstGeom>
          <a:solidFill>
            <a:srgbClr val="9A4C48"/>
          </a:solidFill>
          <a:ln>
            <a:solidFill>
              <a:srgbClr val="9A4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88352" y="1682496"/>
            <a:ext cx="512064" cy="146304"/>
          </a:xfrm>
          <a:prstGeom prst="rect">
            <a:avLst/>
          </a:prstGeom>
          <a:noFill/>
        </p:spPr>
        <p:txBody>
          <a:bodyPr wrap="square" anchor="t" lIns="0" rIns="0" tIns="0" bIns="0">
            <a:spAutoFit/>
          </a:bodyPr>
          <a:lstStyle/>
          <a:p>
            <a:pPr algn="l"/>
            <a:r>
              <a:rPr sz="850" b="1">
                <a:solidFill>
                  <a:srgbClr val="9A4C48"/>
                </a:solidFill>
                <a:latin typeface="Consolas"/>
              </a:rPr>
              <a:t>00G</a:t>
            </a:r>
          </a:p>
        </p:txBody>
      </p:sp>
      <p:sp>
        <p:nvSpPr>
          <p:cNvPr id="20" name="TextBox 19"/>
          <p:cNvSpPr txBox="1"/>
          <p:nvPr/>
        </p:nvSpPr>
        <p:spPr>
          <a:xfrm>
            <a:off x="7424928" y="1828800"/>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4"/>
              </a:rPr>
              <a:t>Ciber Napoleon Goes to Russia</a:t>
            </a:r>
          </a:p>
        </p:txBody>
      </p:sp>
      <p:sp>
        <p:nvSpPr>
          <p:cNvPr id="21" name="TextBox 20"/>
          <p:cNvSpPr txBox="1"/>
          <p:nvPr/>
        </p:nvSpPr>
        <p:spPr>
          <a:xfrm>
            <a:off x="7424928" y="2139696"/>
            <a:ext cx="2670048" cy="1069848"/>
          </a:xfrm>
          <a:prstGeom prst="rect">
            <a:avLst/>
          </a:prstGeom>
          <a:noFill/>
        </p:spPr>
        <p:txBody>
          <a:bodyPr wrap="square" anchor="t" lIns="0" rIns="0" tIns="0" bIns="0">
            <a:spAutoFit/>
          </a:bodyPr>
          <a:lstStyle/>
          <a:p>
            <a:pPr algn="l"/>
            <a:r>
              <a:rPr sz="1019" b="0">
                <a:solidFill>
                  <a:srgbClr val="1F2D3D"/>
                </a:solidFill>
                <a:latin typeface="Calibri"/>
              </a:rPr>
              <a:t>A false shared frame spreads across robots or agents until the still-valid local mission is displaced by a collectively reinforced but unsupported interpretation.</a:t>
            </a:r>
          </a:p>
        </p:txBody>
      </p:sp>
      <p:sp>
        <p:nvSpPr>
          <p:cNvPr id="22" name="Rounded Rectangle 21"/>
          <p:cNvSpPr/>
          <p:nvPr/>
        </p:nvSpPr>
        <p:spPr>
          <a:xfrm>
            <a:off x="658368" y="3675887"/>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675887"/>
            <a:ext cx="64008" cy="1664208"/>
          </a:xfrm>
          <a:prstGeom prst="rect">
            <a:avLst/>
          </a:prstGeom>
          <a:solidFill>
            <a:srgbClr val="6A4C93"/>
          </a:solidFill>
          <a:ln>
            <a:solidFill>
              <a:srgbClr val="6A4C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3730751"/>
            <a:ext cx="512064" cy="146304"/>
          </a:xfrm>
          <a:prstGeom prst="rect">
            <a:avLst/>
          </a:prstGeom>
          <a:noFill/>
        </p:spPr>
        <p:txBody>
          <a:bodyPr wrap="square" anchor="t" lIns="0" rIns="0" tIns="0" bIns="0">
            <a:spAutoFit/>
          </a:bodyPr>
          <a:lstStyle/>
          <a:p>
            <a:pPr algn="l"/>
            <a:r>
              <a:rPr sz="850" b="1">
                <a:solidFill>
                  <a:srgbClr val="6A4C93"/>
                </a:solidFill>
                <a:latin typeface="Consolas"/>
              </a:rPr>
              <a:t>00H</a:t>
            </a:r>
          </a:p>
        </p:txBody>
      </p:sp>
      <p:sp>
        <p:nvSpPr>
          <p:cNvPr id="25" name="TextBox 24"/>
          <p:cNvSpPr txBox="1"/>
          <p:nvPr/>
        </p:nvSpPr>
        <p:spPr>
          <a:xfrm>
            <a:off x="822960" y="3877055"/>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5"/>
              </a:rPr>
              <a:t>The Quiet Four Thousand</a:t>
            </a:r>
          </a:p>
        </p:txBody>
      </p:sp>
      <p:sp>
        <p:nvSpPr>
          <p:cNvPr id="26" name="TextBox 25"/>
          <p:cNvSpPr txBox="1"/>
          <p:nvPr/>
        </p:nvSpPr>
        <p:spPr>
          <a:xfrm>
            <a:off x="822960" y="4187951"/>
            <a:ext cx="2670048" cy="1069848"/>
          </a:xfrm>
          <a:prstGeom prst="rect">
            <a:avLst/>
          </a:prstGeom>
          <a:noFill/>
        </p:spPr>
        <p:txBody>
          <a:bodyPr wrap="square" anchor="t" lIns="0" rIns="0" tIns="0" bIns="0">
            <a:spAutoFit/>
          </a:bodyPr>
          <a:lstStyle/>
          <a:p>
            <a:pPr algn="l"/>
            <a:r>
              <a:rPr sz="1019" b="0">
                <a:solidFill>
                  <a:srgbClr val="1F2D3D"/>
                </a:solidFill>
                <a:latin typeface="Calibri"/>
              </a:rPr>
              <a:t>A one-case mandate or compromised helpdesk orchestration can turn local validity into 4,000 refunds — or silently lose a genuine 4,000-customer finding.</a:t>
            </a:r>
          </a:p>
        </p:txBody>
      </p:sp>
      <p:sp>
        <p:nvSpPr>
          <p:cNvPr id="27" name="Rounded Rectangle 26"/>
          <p:cNvSpPr/>
          <p:nvPr/>
        </p:nvSpPr>
        <p:spPr>
          <a:xfrm>
            <a:off x="3959352" y="3675887"/>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59352" y="3675887"/>
            <a:ext cx="64008" cy="1664208"/>
          </a:xfrm>
          <a:prstGeom prst="rect">
            <a:avLst/>
          </a:prstGeom>
          <a:solidFill>
            <a:srgbClr val="4F7A28"/>
          </a:solidFill>
          <a:ln>
            <a:solidFill>
              <a:srgbClr val="4F7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87368" y="3730751"/>
            <a:ext cx="512064" cy="146304"/>
          </a:xfrm>
          <a:prstGeom prst="rect">
            <a:avLst/>
          </a:prstGeom>
          <a:noFill/>
        </p:spPr>
        <p:txBody>
          <a:bodyPr wrap="square" anchor="t" lIns="0" rIns="0" tIns="0" bIns="0">
            <a:spAutoFit/>
          </a:bodyPr>
          <a:lstStyle/>
          <a:p>
            <a:pPr algn="l"/>
            <a:r>
              <a:rPr sz="850" b="1">
                <a:solidFill>
                  <a:srgbClr val="4F7A28"/>
                </a:solidFill>
                <a:latin typeface="Consolas"/>
              </a:rPr>
              <a:t>00I</a:t>
            </a:r>
          </a:p>
        </p:txBody>
      </p:sp>
      <p:sp>
        <p:nvSpPr>
          <p:cNvPr id="30" name="TextBox 29"/>
          <p:cNvSpPr txBox="1"/>
          <p:nvPr/>
        </p:nvSpPr>
        <p:spPr>
          <a:xfrm>
            <a:off x="4123944" y="3877055"/>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6"/>
              </a:rPr>
              <a:t>The Patch That Undid the Fix</a:t>
            </a:r>
          </a:p>
        </p:txBody>
      </p:sp>
      <p:sp>
        <p:nvSpPr>
          <p:cNvPr id="31" name="TextBox 30"/>
          <p:cNvSpPr txBox="1"/>
          <p:nvPr/>
        </p:nvSpPr>
        <p:spPr>
          <a:xfrm>
            <a:off x="4123944" y="4187951"/>
            <a:ext cx="2670048" cy="1069848"/>
          </a:xfrm>
          <a:prstGeom prst="rect">
            <a:avLst/>
          </a:prstGeom>
          <a:noFill/>
        </p:spPr>
        <p:txBody>
          <a:bodyPr wrap="square" anchor="t" lIns="0" rIns="0" tIns="0" bIns="0">
            <a:spAutoFit/>
          </a:bodyPr>
          <a:lstStyle/>
          <a:p>
            <a:pPr algn="l"/>
            <a:r>
              <a:rPr sz="1019" b="0">
                <a:solidFill>
                  <a:srgbClr val="1F2D3D"/>
                </a:solidFill>
                <a:latin typeface="Calibri"/>
              </a:rPr>
              <a:t>A delayed but once-valid remediation action executes after a later repair and undoes the newer fix, even though each local action remains technically valid.</a:t>
            </a:r>
          </a:p>
        </p:txBody>
      </p:sp>
      <p:sp>
        <p:nvSpPr>
          <p:cNvPr id="32" name="Rounded Rectangle 31"/>
          <p:cNvSpPr/>
          <p:nvPr/>
        </p:nvSpPr>
        <p:spPr>
          <a:xfrm>
            <a:off x="7260336" y="3675887"/>
            <a:ext cx="2926080"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60336" y="3675887"/>
            <a:ext cx="64008" cy="1664208"/>
          </a:xfrm>
          <a:prstGeom prst="rect">
            <a:avLst/>
          </a:prstGeom>
          <a:solidFill>
            <a:srgbClr val="C47400"/>
          </a:solidFill>
          <a:ln>
            <a:solidFill>
              <a:srgbClr val="C4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88352" y="3730751"/>
            <a:ext cx="512064" cy="146304"/>
          </a:xfrm>
          <a:prstGeom prst="rect">
            <a:avLst/>
          </a:prstGeom>
          <a:noFill/>
        </p:spPr>
        <p:txBody>
          <a:bodyPr wrap="square" anchor="t" lIns="0" rIns="0" tIns="0" bIns="0">
            <a:spAutoFit/>
          </a:bodyPr>
          <a:lstStyle/>
          <a:p>
            <a:pPr algn="l"/>
            <a:r>
              <a:rPr sz="850" b="1">
                <a:solidFill>
                  <a:srgbClr val="C47400"/>
                </a:solidFill>
                <a:latin typeface="Consolas"/>
              </a:rPr>
              <a:t>00J</a:t>
            </a:r>
          </a:p>
        </p:txBody>
      </p:sp>
      <p:sp>
        <p:nvSpPr>
          <p:cNvPr id="35" name="TextBox 34"/>
          <p:cNvSpPr txBox="1"/>
          <p:nvPr/>
        </p:nvSpPr>
        <p:spPr>
          <a:xfrm>
            <a:off x="7424928" y="3877055"/>
            <a:ext cx="2670048" cy="301752"/>
          </a:xfrm>
          <a:prstGeom prst="rect">
            <a:avLst/>
          </a:prstGeom>
          <a:noFill/>
        </p:spPr>
        <p:txBody>
          <a:bodyPr wrap="square" anchor="t" lIns="0" rIns="0" tIns="0" bIns="0">
            <a:spAutoFit/>
          </a:bodyPr>
          <a:lstStyle/>
          <a:p>
            <a:pPr algn="l"/>
            <a:r>
              <a:rPr sz="1320" b="1">
                <a:solidFill>
                  <a:srgbClr val="1F2D3D"/>
                </a:solidFill>
                <a:latin typeface="Cambria"/>
                <a:hlinkClick r:id="rId7"/>
              </a:rPr>
              <a:t>The Author Pays for His Own Work</a:t>
            </a:r>
          </a:p>
        </p:txBody>
      </p:sp>
      <p:sp>
        <p:nvSpPr>
          <p:cNvPr id="36" name="TextBox 35"/>
          <p:cNvSpPr txBox="1"/>
          <p:nvPr/>
        </p:nvSpPr>
        <p:spPr>
          <a:xfrm>
            <a:off x="7424928" y="4187951"/>
            <a:ext cx="2670048" cy="1069848"/>
          </a:xfrm>
          <a:prstGeom prst="rect">
            <a:avLst/>
          </a:prstGeom>
          <a:noFill/>
        </p:spPr>
        <p:txBody>
          <a:bodyPr wrap="square" anchor="t" lIns="0" rIns="0" tIns="0" bIns="0">
            <a:spAutoFit/>
          </a:bodyPr>
          <a:lstStyle/>
          <a:p>
            <a:pPr algn="l"/>
            <a:r>
              <a:rPr sz="1019" b="0">
                <a:solidFill>
                  <a:srgbClr val="1F2D3D"/>
                </a:solidFill>
                <a:latin typeface="Calibri"/>
              </a:rPr>
              <a:t>A valid rights chain is promoted beyond its original scope until the downstream system treats the author as needing permission or payment for derived use of their own work.</a:t>
            </a:r>
          </a:p>
        </p:txBody>
      </p:sp>
      <p:sp>
        <p:nvSpPr>
          <p:cNvPr id="37" name="Rounded Rectangle 36"/>
          <p:cNvSpPr/>
          <p:nvPr/>
        </p:nvSpPr>
        <p:spPr>
          <a:xfrm>
            <a:off x="658368" y="6035040"/>
            <a:ext cx="10853928" cy="411480"/>
          </a:xfrm>
          <a:prstGeom prst="roundRect">
            <a:avLst/>
          </a:prstGeom>
          <a:solidFill>
            <a:srgbClr val="F2F5F8"/>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 y="6144768"/>
            <a:ext cx="10561320" cy="146304"/>
          </a:xfrm>
          <a:prstGeom prst="rect">
            <a:avLst/>
          </a:prstGeom>
          <a:noFill/>
        </p:spPr>
        <p:txBody>
          <a:bodyPr wrap="square" anchor="t" lIns="0" rIns="0" tIns="0" bIns="0">
            <a:spAutoFit/>
          </a:bodyPr>
          <a:lstStyle/>
          <a:p>
            <a:pPr algn="l"/>
            <a:r>
              <a:rPr sz="900" b="0">
                <a:solidFill>
                  <a:srgbClr val="1F2D3D"/>
                </a:solidFill>
                <a:latin typeface="Calibri"/>
              </a:rPr>
              <a:t>These are reference scenarios for controlled comparison. They are not claims that the named products or vendors caused the failures.</a:t>
            </a:r>
          </a:p>
        </p:txBody>
      </p:sp>
      <p:sp>
        <p:nvSpPr>
          <p:cNvPr id="39" name="TextBox 38"/>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8"/>
              </a:rPr>
              <a:t>Scenario &amp; quality-plan index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64592"/>
            <a:ext cx="2834640" cy="201168"/>
          </a:xfrm>
          <a:prstGeom prst="rect">
            <a:avLst/>
          </a:prstGeom>
          <a:noFill/>
        </p:spPr>
        <p:txBody>
          <a:bodyPr wrap="square" anchor="t" lIns="0" rIns="0" tIns="0" bIns="0">
            <a:spAutoFit/>
          </a:bodyPr>
          <a:lstStyle/>
          <a:p>
            <a:pPr algn="l"/>
            <a:r>
              <a:rPr sz="819" b="0">
                <a:solidFill>
                  <a:srgbClr val="1F2D3D"/>
                </a:solidFill>
                <a:latin typeface="Consolas"/>
              </a:rPr>
              <a:t>TECHNOLOGY PROFILES &amp; VALIDATION TRAJECTORIES</a:t>
            </a:r>
          </a:p>
        </p:txBody>
      </p:sp>
      <p:sp>
        <p:nvSpPr>
          <p:cNvPr id="3" name="TextBox 2"/>
          <p:cNvSpPr txBox="1"/>
          <p:nvPr/>
        </p:nvSpPr>
        <p:spPr>
          <a:xfrm>
            <a:off x="10881360" y="164592"/>
            <a:ext cx="658368" cy="201168"/>
          </a:xfrm>
          <a:prstGeom prst="rect">
            <a:avLst/>
          </a:prstGeom>
          <a:noFill/>
        </p:spPr>
        <p:txBody>
          <a:bodyPr wrap="square" anchor="t" lIns="0" rIns="0" tIns="0" bIns="0">
            <a:spAutoFit/>
          </a:bodyPr>
          <a:lstStyle/>
          <a:p>
            <a:pPr algn="r"/>
            <a:r>
              <a:rPr sz="819" b="0">
                <a:solidFill>
                  <a:srgbClr val="1F2D3D"/>
                </a:solidFill>
                <a:latin typeface="Consolas"/>
              </a:rPr>
              <a:t>§ 02B</a:t>
            </a:r>
          </a:p>
        </p:txBody>
      </p:sp>
      <p:sp>
        <p:nvSpPr>
          <p:cNvPr id="4" name="TextBox 3"/>
          <p:cNvSpPr txBox="1"/>
          <p:nvPr/>
        </p:nvSpPr>
        <p:spPr>
          <a:xfrm>
            <a:off x="566928" y="649224"/>
            <a:ext cx="10607040" cy="384048"/>
          </a:xfrm>
          <a:prstGeom prst="rect">
            <a:avLst/>
          </a:prstGeom>
          <a:noFill/>
        </p:spPr>
        <p:txBody>
          <a:bodyPr wrap="square" anchor="t" lIns="0" rIns="0" tIns="0" bIns="0">
            <a:spAutoFit/>
          </a:bodyPr>
          <a:lstStyle/>
          <a:p>
            <a:pPr algn="l"/>
            <a:r>
              <a:rPr sz="2400" b="1">
                <a:solidFill>
                  <a:srgbClr val="1F2D3D"/>
                </a:solidFill>
                <a:latin typeface="Cambria"/>
              </a:rPr>
              <a:t>Technology used in the scenario routes and the three validation trajectories</a:t>
            </a:r>
          </a:p>
        </p:txBody>
      </p:sp>
      <p:sp>
        <p:nvSpPr>
          <p:cNvPr id="5" name="TextBox 4"/>
          <p:cNvSpPr txBox="1"/>
          <p:nvPr/>
        </p:nvSpPr>
        <p:spPr>
          <a:xfrm>
            <a:off x="566928" y="1078992"/>
            <a:ext cx="10607040" cy="384048"/>
          </a:xfrm>
          <a:prstGeom prst="rect">
            <a:avLst/>
          </a:prstGeom>
          <a:noFill/>
        </p:spPr>
        <p:txBody>
          <a:bodyPr wrap="square" anchor="t" lIns="0" rIns="0" tIns="0" bIns="0">
            <a:spAutoFit/>
          </a:bodyPr>
          <a:lstStyle/>
          <a:p>
            <a:pPr algn="l"/>
            <a:r>
              <a:rPr sz="1150" b="0">
                <a:solidFill>
                  <a:srgbClr val="556677"/>
                </a:solidFill>
                <a:latin typeface="Calibri"/>
              </a:rPr>
              <a:t>The corpus benchmarks named architectures, then compares standard, defended and drifted implementations under the same frozen scenario boundaries.</a:t>
            </a:r>
          </a:p>
        </p:txBody>
      </p:sp>
      <p:sp>
        <p:nvSpPr>
          <p:cNvPr id="6" name="TextBox 5"/>
          <p:cNvSpPr txBox="1"/>
          <p:nvPr/>
        </p:nvSpPr>
        <p:spPr>
          <a:xfrm>
            <a:off x="11064240" y="6409944"/>
            <a:ext cx="320040" cy="164592"/>
          </a:xfrm>
          <a:prstGeom prst="rect">
            <a:avLst/>
          </a:prstGeom>
          <a:noFill/>
        </p:spPr>
        <p:txBody>
          <a:bodyPr wrap="square" anchor="t" lIns="0" rIns="0" tIns="0" bIns="0">
            <a:spAutoFit/>
          </a:bodyPr>
          <a:lstStyle/>
          <a:p>
            <a:pPr algn="r"/>
            <a:r>
              <a:rPr sz="900">
                <a:solidFill>
                  <a:srgbClr val="5D6775"/>
                </a:solidFill>
                <a:latin typeface="Calibri"/>
              </a:rPr>
              <a:t>5</a:t>
            </a:r>
          </a:p>
        </p:txBody>
      </p:sp>
      <p:sp>
        <p:nvSpPr>
          <p:cNvPr id="7" name="Rounded Rectangle 6"/>
          <p:cNvSpPr/>
          <p:nvPr/>
        </p:nvSpPr>
        <p:spPr>
          <a:xfrm>
            <a:off x="658368" y="1600200"/>
            <a:ext cx="10853928" cy="301752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719072"/>
            <a:ext cx="3108960" cy="182880"/>
          </a:xfrm>
          <a:prstGeom prst="rect">
            <a:avLst/>
          </a:prstGeom>
          <a:noFill/>
        </p:spPr>
        <p:txBody>
          <a:bodyPr wrap="square" anchor="t" lIns="0" rIns="0" tIns="0" bIns="0">
            <a:spAutoFit/>
          </a:bodyPr>
          <a:lstStyle/>
          <a:p>
            <a:pPr algn="l"/>
            <a:r>
              <a:rPr sz="860" b="1">
                <a:solidFill>
                  <a:srgbClr val="1F2D3D"/>
                </a:solidFill>
                <a:latin typeface="Consolas"/>
              </a:rPr>
              <a:t>TECHNOLOGY PROFILES USED IN THE ROUTES</a:t>
            </a:r>
          </a:p>
        </p:txBody>
      </p:sp>
      <p:sp>
        <p:nvSpPr>
          <p:cNvPr id="9" name="Rectangle 8"/>
          <p:cNvSpPr/>
          <p:nvPr/>
        </p:nvSpPr>
        <p:spPr>
          <a:xfrm>
            <a:off x="877824" y="2011680"/>
            <a:ext cx="45720" cy="457200"/>
          </a:xfrm>
          <a:prstGeom prst="rect">
            <a:avLst/>
          </a:prstGeom>
          <a:solidFill>
            <a:srgbClr val="1B4D8E"/>
          </a:solidFill>
          <a:ln>
            <a:solidFill>
              <a:srgbClr val="1B4D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93392"/>
            <a:ext cx="2560320" cy="164592"/>
          </a:xfrm>
          <a:prstGeom prst="rect">
            <a:avLst/>
          </a:prstGeom>
          <a:noFill/>
        </p:spPr>
        <p:txBody>
          <a:bodyPr wrap="square" anchor="t" lIns="0" rIns="0" tIns="0" bIns="0">
            <a:spAutoFit/>
          </a:bodyPr>
          <a:lstStyle/>
          <a:p>
            <a:pPr algn="l"/>
            <a:r>
              <a:rPr sz="1120" b="1">
                <a:solidFill>
                  <a:srgbClr val="1F2D3D"/>
                </a:solidFill>
                <a:latin typeface="Cambria"/>
              </a:rPr>
              <a:t>00E  The 100 Million Tokens</a:t>
            </a:r>
          </a:p>
        </p:txBody>
      </p:sp>
      <p:sp>
        <p:nvSpPr>
          <p:cNvPr id="11" name="TextBox 10"/>
          <p:cNvSpPr txBox="1"/>
          <p:nvPr/>
        </p:nvSpPr>
        <p:spPr>
          <a:xfrm>
            <a:off x="969264" y="217627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2"/>
              </a:rPr>
              <a:t>Microsoft Agent 365</a:t>
            </a:r>
            <a:r>
              <a:rPr sz="950" b="0">
                <a:solidFill>
                  <a:srgbClr val="1F2D3D"/>
                </a:solidFill>
                <a:latin typeface="Calibri"/>
              </a:rPr>
              <a:t> · </a:t>
            </a:r>
            <a:r>
              <a:rPr sz="950" b="0">
                <a:solidFill>
                  <a:srgbClr val="1F2D3D"/>
                </a:solidFill>
                <a:latin typeface="Calibri"/>
                <a:hlinkClick r:id="rId3"/>
              </a:rPr>
              <a:t>LangGraph / LangSmith</a:t>
            </a:r>
          </a:p>
        </p:txBody>
      </p:sp>
      <p:sp>
        <p:nvSpPr>
          <p:cNvPr id="12" name="Rectangle 11"/>
          <p:cNvSpPr/>
          <p:nvPr/>
        </p:nvSpPr>
        <p:spPr>
          <a:xfrm>
            <a:off x="877824" y="2743200"/>
            <a:ext cx="45720" cy="457200"/>
          </a:xfrm>
          <a:prstGeom prst="rect">
            <a:avLst/>
          </a:prstGeom>
          <a:solidFill>
            <a:srgbClr val="006970"/>
          </a:solidFill>
          <a:ln>
            <a:solidFill>
              <a:srgbClr val="006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2724912"/>
            <a:ext cx="2560320" cy="164592"/>
          </a:xfrm>
          <a:prstGeom prst="rect">
            <a:avLst/>
          </a:prstGeom>
          <a:noFill/>
        </p:spPr>
        <p:txBody>
          <a:bodyPr wrap="square" anchor="t" lIns="0" rIns="0" tIns="0" bIns="0">
            <a:spAutoFit/>
          </a:bodyPr>
          <a:lstStyle/>
          <a:p>
            <a:pPr algn="l"/>
            <a:r>
              <a:rPr sz="1120" b="1">
                <a:solidFill>
                  <a:srgbClr val="1F2D3D"/>
                </a:solidFill>
                <a:latin typeface="Cambria"/>
              </a:rPr>
              <a:t>00F  Chaos in the Smartcity</a:t>
            </a:r>
          </a:p>
        </p:txBody>
      </p:sp>
      <p:sp>
        <p:nvSpPr>
          <p:cNvPr id="14" name="TextBox 13"/>
          <p:cNvSpPr txBox="1"/>
          <p:nvPr/>
        </p:nvSpPr>
        <p:spPr>
          <a:xfrm>
            <a:off x="969264" y="290779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4"/>
              </a:rPr>
              <a:t>FIWARE NGSI-LD / Orion-LD</a:t>
            </a:r>
            <a:r>
              <a:rPr sz="950" b="0">
                <a:solidFill>
                  <a:srgbClr val="1F2D3D"/>
                </a:solidFill>
                <a:latin typeface="Calibri"/>
              </a:rPr>
              <a:t> · </a:t>
            </a:r>
            <a:r>
              <a:rPr sz="950" b="0">
                <a:solidFill>
                  <a:srgbClr val="1F2D3D"/>
                </a:solidFill>
                <a:latin typeface="Calibri"/>
                <a:hlinkClick r:id="rId5"/>
              </a:rPr>
              <a:t>AWS IoT Core / TwinMaker</a:t>
            </a:r>
          </a:p>
        </p:txBody>
      </p:sp>
      <p:sp>
        <p:nvSpPr>
          <p:cNvPr id="15" name="Rectangle 14"/>
          <p:cNvSpPr/>
          <p:nvPr/>
        </p:nvSpPr>
        <p:spPr>
          <a:xfrm>
            <a:off x="877824" y="3474720"/>
            <a:ext cx="45720" cy="457200"/>
          </a:xfrm>
          <a:prstGeom prst="rect">
            <a:avLst/>
          </a:prstGeom>
          <a:solidFill>
            <a:srgbClr val="9A4C48"/>
          </a:solidFill>
          <a:ln>
            <a:solidFill>
              <a:srgbClr val="9A4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456432"/>
            <a:ext cx="2560320" cy="164592"/>
          </a:xfrm>
          <a:prstGeom prst="rect">
            <a:avLst/>
          </a:prstGeom>
          <a:noFill/>
        </p:spPr>
        <p:txBody>
          <a:bodyPr wrap="square" anchor="t" lIns="0" rIns="0" tIns="0" bIns="0">
            <a:spAutoFit/>
          </a:bodyPr>
          <a:lstStyle/>
          <a:p>
            <a:pPr algn="l"/>
            <a:r>
              <a:rPr sz="1120" b="1">
                <a:solidFill>
                  <a:srgbClr val="1F2D3D"/>
                </a:solidFill>
                <a:latin typeface="Cambria"/>
              </a:rPr>
              <a:t>00G  Ciber Napoleon Goes to Russia</a:t>
            </a:r>
          </a:p>
        </p:txBody>
      </p:sp>
      <p:sp>
        <p:nvSpPr>
          <p:cNvPr id="17" name="TextBox 16"/>
          <p:cNvSpPr txBox="1"/>
          <p:nvPr/>
        </p:nvSpPr>
        <p:spPr>
          <a:xfrm>
            <a:off x="969264" y="363931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6"/>
              </a:rPr>
              <a:t>OpenAI Agents SDK / Agents API / Responses multi-agent stack</a:t>
            </a:r>
          </a:p>
        </p:txBody>
      </p:sp>
      <p:sp>
        <p:nvSpPr>
          <p:cNvPr id="18" name="Rectangle 17"/>
          <p:cNvSpPr/>
          <p:nvPr/>
        </p:nvSpPr>
        <p:spPr>
          <a:xfrm>
            <a:off x="5989320" y="2011680"/>
            <a:ext cx="45720" cy="457200"/>
          </a:xfrm>
          <a:prstGeom prst="rect">
            <a:avLst/>
          </a:prstGeom>
          <a:solidFill>
            <a:srgbClr val="6A4C93"/>
          </a:solidFill>
          <a:ln>
            <a:solidFill>
              <a:srgbClr val="6A4C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0760" y="1993392"/>
            <a:ext cx="2560320" cy="164592"/>
          </a:xfrm>
          <a:prstGeom prst="rect">
            <a:avLst/>
          </a:prstGeom>
          <a:noFill/>
        </p:spPr>
        <p:txBody>
          <a:bodyPr wrap="square" anchor="t" lIns="0" rIns="0" tIns="0" bIns="0">
            <a:spAutoFit/>
          </a:bodyPr>
          <a:lstStyle/>
          <a:p>
            <a:pPr algn="l"/>
            <a:r>
              <a:rPr sz="1120" b="1">
                <a:solidFill>
                  <a:srgbClr val="1F2D3D"/>
                </a:solidFill>
                <a:latin typeface="Cambria"/>
              </a:rPr>
              <a:t>00H  The Quiet Four Thousand</a:t>
            </a:r>
          </a:p>
        </p:txBody>
      </p:sp>
      <p:sp>
        <p:nvSpPr>
          <p:cNvPr id="20" name="TextBox 19"/>
          <p:cNvSpPr txBox="1"/>
          <p:nvPr/>
        </p:nvSpPr>
        <p:spPr>
          <a:xfrm>
            <a:off x="6080760" y="217627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7"/>
              </a:rPr>
              <a:t>Claude Agent SDK</a:t>
            </a:r>
            <a:r>
              <a:rPr sz="950" b="0">
                <a:solidFill>
                  <a:srgbClr val="1F2D3D"/>
                </a:solidFill>
                <a:latin typeface="Calibri"/>
              </a:rPr>
              <a:t> · </a:t>
            </a:r>
            <a:r>
              <a:rPr sz="950" b="0">
                <a:solidFill>
                  <a:srgbClr val="1F2D3D"/>
                </a:solidFill>
                <a:latin typeface="Calibri"/>
                <a:hlinkClick r:id="rId8"/>
              </a:rPr>
              <a:t>Stripe Radar / Refund API</a:t>
            </a:r>
          </a:p>
        </p:txBody>
      </p:sp>
      <p:sp>
        <p:nvSpPr>
          <p:cNvPr id="21" name="Rectangle 20"/>
          <p:cNvSpPr/>
          <p:nvPr/>
        </p:nvSpPr>
        <p:spPr>
          <a:xfrm>
            <a:off x="5989320" y="2743200"/>
            <a:ext cx="45720" cy="457200"/>
          </a:xfrm>
          <a:prstGeom prst="rect">
            <a:avLst/>
          </a:prstGeom>
          <a:solidFill>
            <a:srgbClr val="4F7A28"/>
          </a:solidFill>
          <a:ln>
            <a:solidFill>
              <a:srgbClr val="4F7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0" y="2724912"/>
            <a:ext cx="2560320" cy="164592"/>
          </a:xfrm>
          <a:prstGeom prst="rect">
            <a:avLst/>
          </a:prstGeom>
          <a:noFill/>
        </p:spPr>
        <p:txBody>
          <a:bodyPr wrap="square" anchor="t" lIns="0" rIns="0" tIns="0" bIns="0">
            <a:spAutoFit/>
          </a:bodyPr>
          <a:lstStyle/>
          <a:p>
            <a:pPr algn="l"/>
            <a:r>
              <a:rPr sz="1120" b="1">
                <a:solidFill>
                  <a:srgbClr val="1F2D3D"/>
                </a:solidFill>
                <a:latin typeface="Cambria"/>
              </a:rPr>
              <a:t>00I  Patch That Undid the Fix</a:t>
            </a:r>
          </a:p>
        </p:txBody>
      </p:sp>
      <p:sp>
        <p:nvSpPr>
          <p:cNvPr id="23" name="TextBox 22"/>
          <p:cNvSpPr txBox="1"/>
          <p:nvPr/>
        </p:nvSpPr>
        <p:spPr>
          <a:xfrm>
            <a:off x="6080760" y="290779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9"/>
              </a:rPr>
              <a:t>AWS Step Functions · RDS · Lambda / SDK · SSM · DynamoDB · EventBridge</a:t>
            </a:r>
          </a:p>
        </p:txBody>
      </p:sp>
      <p:sp>
        <p:nvSpPr>
          <p:cNvPr id="24" name="Rectangle 23"/>
          <p:cNvSpPr/>
          <p:nvPr/>
        </p:nvSpPr>
        <p:spPr>
          <a:xfrm>
            <a:off x="5989320" y="3474720"/>
            <a:ext cx="45720" cy="457200"/>
          </a:xfrm>
          <a:prstGeom prst="rect">
            <a:avLst/>
          </a:prstGeom>
          <a:solidFill>
            <a:srgbClr val="C47400"/>
          </a:solidFill>
          <a:ln>
            <a:solidFill>
              <a:srgbClr val="C4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3456432"/>
            <a:ext cx="2560320" cy="164592"/>
          </a:xfrm>
          <a:prstGeom prst="rect">
            <a:avLst/>
          </a:prstGeom>
          <a:noFill/>
        </p:spPr>
        <p:txBody>
          <a:bodyPr wrap="square" anchor="t" lIns="0" rIns="0" tIns="0" bIns="0">
            <a:spAutoFit/>
          </a:bodyPr>
          <a:lstStyle/>
          <a:p>
            <a:pPr algn="l"/>
            <a:r>
              <a:rPr sz="1120" b="1">
                <a:solidFill>
                  <a:srgbClr val="1F2D3D"/>
                </a:solidFill>
                <a:latin typeface="Cambria"/>
              </a:rPr>
              <a:t>00J  Author Pays for Own Work</a:t>
            </a:r>
          </a:p>
        </p:txBody>
      </p:sp>
      <p:sp>
        <p:nvSpPr>
          <p:cNvPr id="26" name="TextBox 25"/>
          <p:cNvSpPr txBox="1"/>
          <p:nvPr/>
        </p:nvSpPr>
        <p:spPr>
          <a:xfrm>
            <a:off x="6080760" y="3639312"/>
            <a:ext cx="4572000" cy="228600"/>
          </a:xfrm>
          <a:prstGeom prst="rect">
            <a:avLst/>
          </a:prstGeom>
          <a:noFill/>
        </p:spPr>
        <p:txBody>
          <a:bodyPr wrap="none" anchor="t" lIns="0" rIns="0" tIns="0" bIns="0">
            <a:spAutoFit/>
          </a:bodyPr>
          <a:lstStyle/>
          <a:p>
            <a:pPr algn="l"/>
            <a:r>
              <a:rPr sz="950" b="0">
                <a:solidFill>
                  <a:srgbClr val="1F2D3D"/>
                </a:solidFill>
                <a:latin typeface="Calibri"/>
                <a:hlinkClick r:id="rId10"/>
              </a:rPr>
              <a:t>Panodyssey AI Transparency Notice · ODRL / JSON-LD · TEMS</a:t>
            </a:r>
          </a:p>
        </p:txBody>
      </p:sp>
      <p:sp>
        <p:nvSpPr>
          <p:cNvPr id="27" name="TextBox 26"/>
          <p:cNvSpPr txBox="1"/>
          <p:nvPr/>
        </p:nvSpPr>
        <p:spPr>
          <a:xfrm>
            <a:off x="841248" y="4773168"/>
            <a:ext cx="3017520" cy="182880"/>
          </a:xfrm>
          <a:prstGeom prst="rect">
            <a:avLst/>
          </a:prstGeom>
          <a:noFill/>
        </p:spPr>
        <p:txBody>
          <a:bodyPr wrap="square" anchor="t" lIns="0" rIns="0" tIns="0" bIns="0">
            <a:spAutoFit/>
          </a:bodyPr>
          <a:lstStyle/>
          <a:p>
            <a:pPr algn="l"/>
            <a:r>
              <a:rPr sz="860" b="1">
                <a:solidFill>
                  <a:srgbClr val="1F2D3D"/>
                </a:solidFill>
                <a:latin typeface="Consolas"/>
                <a:hlinkClick r:id="rId11"/>
              </a:rPr>
              <a:t>THREE VALIDATION TRAJECTORIES</a:t>
            </a:r>
          </a:p>
        </p:txBody>
      </p:sp>
      <p:sp>
        <p:nvSpPr>
          <p:cNvPr id="28" name="Rounded Rectangle 27"/>
          <p:cNvSpPr/>
          <p:nvPr/>
        </p:nvSpPr>
        <p:spPr>
          <a:xfrm>
            <a:off x="658368" y="4983480"/>
            <a:ext cx="3401568" cy="91440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86384" y="5148072"/>
            <a:ext cx="365760" cy="365760"/>
          </a:xfrm>
          <a:prstGeom prst="ellipse">
            <a:avLst/>
          </a:prstGeom>
          <a:solidFill>
            <a:srgbClr val="1B4D8E"/>
          </a:solidFill>
          <a:ln>
            <a:solidFill>
              <a:srgbClr val="1B4D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152644"/>
            <a:ext cx="365760" cy="164592"/>
          </a:xfrm>
          <a:prstGeom prst="rect">
            <a:avLst/>
          </a:prstGeom>
          <a:noFill/>
        </p:spPr>
        <p:txBody>
          <a:bodyPr wrap="square" anchor="t" lIns="0" rIns="0" tIns="0" bIns="0">
            <a:spAutoFit/>
          </a:bodyPr>
          <a:lstStyle/>
          <a:p>
            <a:pPr algn="ctr"/>
            <a:r>
              <a:rPr sz="1000" b="1">
                <a:solidFill>
                  <a:srgbClr val="FFFFFF"/>
                </a:solidFill>
                <a:latin typeface="Consolas"/>
              </a:rPr>
              <a:t>1</a:t>
            </a:r>
          </a:p>
        </p:txBody>
      </p:sp>
      <p:sp>
        <p:nvSpPr>
          <p:cNvPr id="31" name="TextBox 30"/>
          <p:cNvSpPr txBox="1"/>
          <p:nvPr/>
        </p:nvSpPr>
        <p:spPr>
          <a:xfrm>
            <a:off x="1225296" y="5074920"/>
            <a:ext cx="2816352" cy="182880"/>
          </a:xfrm>
          <a:prstGeom prst="rect">
            <a:avLst/>
          </a:prstGeom>
          <a:noFill/>
        </p:spPr>
        <p:txBody>
          <a:bodyPr wrap="square" anchor="t" lIns="0" rIns="0" tIns="0" bIns="0">
            <a:spAutoFit/>
          </a:bodyPr>
          <a:lstStyle/>
          <a:p>
            <a:pPr algn="l"/>
            <a:r>
              <a:rPr sz="1070" b="1">
                <a:solidFill>
                  <a:srgbClr val="1F2D3D"/>
                </a:solidFill>
                <a:latin typeface="Cambria"/>
              </a:rPr>
              <a:t>Standard implementation</a:t>
            </a:r>
          </a:p>
        </p:txBody>
      </p:sp>
      <p:sp>
        <p:nvSpPr>
          <p:cNvPr id="32" name="TextBox 31"/>
          <p:cNvSpPr txBox="1"/>
          <p:nvPr/>
        </p:nvSpPr>
        <p:spPr>
          <a:xfrm>
            <a:off x="1225296" y="5285232"/>
            <a:ext cx="2697480" cy="457200"/>
          </a:xfrm>
          <a:prstGeom prst="rect">
            <a:avLst/>
          </a:prstGeom>
          <a:noFill/>
        </p:spPr>
        <p:txBody>
          <a:bodyPr wrap="square" anchor="t" lIns="0" rIns="0" tIns="0" bIns="0">
            <a:spAutoFit/>
          </a:bodyPr>
          <a:lstStyle/>
          <a:p>
            <a:pPr algn="l"/>
            <a:r>
              <a:rPr sz="890" b="0">
                <a:solidFill>
                  <a:srgbClr val="1F2D3D"/>
                </a:solidFill>
                <a:latin typeface="Calibri"/>
              </a:rPr>
              <a:t>Conventional or near out-of-the-box implementation using the normal controls available to the technology.</a:t>
            </a:r>
          </a:p>
        </p:txBody>
      </p:sp>
      <p:sp>
        <p:nvSpPr>
          <p:cNvPr id="33" name="Rounded Rectangle 32"/>
          <p:cNvSpPr/>
          <p:nvPr/>
        </p:nvSpPr>
        <p:spPr>
          <a:xfrm>
            <a:off x="4389120" y="4983480"/>
            <a:ext cx="3401568" cy="91440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517136" y="5148072"/>
            <a:ext cx="365760" cy="365760"/>
          </a:xfrm>
          <a:prstGeom prst="ellipse">
            <a:avLst/>
          </a:prstGeom>
          <a:solidFill>
            <a:srgbClr val="006970"/>
          </a:solidFill>
          <a:ln>
            <a:solidFill>
              <a:srgbClr val="006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7136" y="5152644"/>
            <a:ext cx="365760" cy="164592"/>
          </a:xfrm>
          <a:prstGeom prst="rect">
            <a:avLst/>
          </a:prstGeom>
          <a:noFill/>
        </p:spPr>
        <p:txBody>
          <a:bodyPr wrap="square" anchor="t" lIns="0" rIns="0" tIns="0" bIns="0">
            <a:spAutoFit/>
          </a:bodyPr>
          <a:lstStyle/>
          <a:p>
            <a:pPr algn="ctr"/>
            <a:r>
              <a:rPr sz="1000" b="1">
                <a:solidFill>
                  <a:srgbClr val="FFFFFF"/>
                </a:solidFill>
                <a:latin typeface="Consolas"/>
              </a:rPr>
              <a:t>2</a:t>
            </a:r>
          </a:p>
        </p:txBody>
      </p:sp>
      <p:sp>
        <p:nvSpPr>
          <p:cNvPr id="36" name="TextBox 35"/>
          <p:cNvSpPr txBox="1"/>
          <p:nvPr/>
        </p:nvSpPr>
        <p:spPr>
          <a:xfrm>
            <a:off x="4956048" y="5074920"/>
            <a:ext cx="2816352" cy="182880"/>
          </a:xfrm>
          <a:prstGeom prst="rect">
            <a:avLst/>
          </a:prstGeom>
          <a:noFill/>
        </p:spPr>
        <p:txBody>
          <a:bodyPr wrap="square" anchor="t" lIns="0" rIns="0" tIns="0" bIns="0">
            <a:spAutoFit/>
          </a:bodyPr>
          <a:lstStyle/>
          <a:p>
            <a:pPr algn="l"/>
            <a:r>
              <a:rPr sz="1070" b="1">
                <a:solidFill>
                  <a:srgbClr val="1F2D3D"/>
                </a:solidFill>
                <a:latin typeface="Cambria"/>
              </a:rPr>
              <a:t>Defended / top-notch implementation</a:t>
            </a:r>
          </a:p>
        </p:txBody>
      </p:sp>
      <p:sp>
        <p:nvSpPr>
          <p:cNvPr id="37" name="TextBox 36"/>
          <p:cNvSpPr txBox="1"/>
          <p:nvPr/>
        </p:nvSpPr>
        <p:spPr>
          <a:xfrm>
            <a:off x="4956048" y="5285232"/>
            <a:ext cx="2697480" cy="457200"/>
          </a:xfrm>
          <a:prstGeom prst="rect">
            <a:avLst/>
          </a:prstGeom>
          <a:noFill/>
        </p:spPr>
        <p:txBody>
          <a:bodyPr wrap="square" anchor="t" lIns="0" rIns="0" tIns="0" bIns="0">
            <a:spAutoFit/>
          </a:bodyPr>
          <a:lstStyle/>
          <a:p>
            <a:pPr algn="l"/>
            <a:r>
              <a:rPr sz="890" b="0">
                <a:solidFill>
                  <a:srgbClr val="1F2D3D"/>
                </a:solidFill>
                <a:latin typeface="Calibri"/>
              </a:rPr>
              <a:t>Strong implementation with explicit controls, supervision, authority boundaries, tracing and current best practices.</a:t>
            </a:r>
          </a:p>
        </p:txBody>
      </p:sp>
      <p:sp>
        <p:nvSpPr>
          <p:cNvPr id="38" name="Rounded Rectangle 37"/>
          <p:cNvSpPr/>
          <p:nvPr/>
        </p:nvSpPr>
        <p:spPr>
          <a:xfrm>
            <a:off x="8119872" y="4983480"/>
            <a:ext cx="3401568" cy="91440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247888" y="5148072"/>
            <a:ext cx="365760" cy="365760"/>
          </a:xfrm>
          <a:prstGeom prst="ellipse">
            <a:avLst/>
          </a:prstGeom>
          <a:solidFill>
            <a:srgbClr val="C47400"/>
          </a:solidFill>
          <a:ln>
            <a:solidFill>
              <a:srgbClr val="C4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47888" y="5152644"/>
            <a:ext cx="365760" cy="164592"/>
          </a:xfrm>
          <a:prstGeom prst="rect">
            <a:avLst/>
          </a:prstGeom>
          <a:noFill/>
        </p:spPr>
        <p:txBody>
          <a:bodyPr wrap="square" anchor="t" lIns="0" rIns="0" tIns="0" bIns="0">
            <a:spAutoFit/>
          </a:bodyPr>
          <a:lstStyle/>
          <a:p>
            <a:pPr algn="ctr"/>
            <a:r>
              <a:rPr sz="1000" b="1">
                <a:solidFill>
                  <a:srgbClr val="FFFFFF"/>
                </a:solidFill>
                <a:latin typeface="Consolas"/>
              </a:rPr>
              <a:t>3</a:t>
            </a:r>
          </a:p>
        </p:txBody>
      </p:sp>
      <p:sp>
        <p:nvSpPr>
          <p:cNvPr id="41" name="TextBox 40"/>
          <p:cNvSpPr txBox="1"/>
          <p:nvPr/>
        </p:nvSpPr>
        <p:spPr>
          <a:xfrm>
            <a:off x="8686800" y="5074920"/>
            <a:ext cx="2816352" cy="182880"/>
          </a:xfrm>
          <a:prstGeom prst="rect">
            <a:avLst/>
          </a:prstGeom>
          <a:noFill/>
        </p:spPr>
        <p:txBody>
          <a:bodyPr wrap="square" anchor="t" lIns="0" rIns="0" tIns="0" bIns="0">
            <a:spAutoFit/>
          </a:bodyPr>
          <a:lstStyle/>
          <a:p>
            <a:pPr algn="l"/>
            <a:r>
              <a:rPr sz="1019" b="1">
                <a:solidFill>
                  <a:srgbClr val="1F2D3D"/>
                </a:solidFill>
                <a:latin typeface="Cambria"/>
              </a:rPr>
              <a:t>Frozen defended implementation under drift</a:t>
            </a:r>
          </a:p>
        </p:txBody>
      </p:sp>
      <p:sp>
        <p:nvSpPr>
          <p:cNvPr id="42" name="TextBox 41"/>
          <p:cNvSpPr txBox="1"/>
          <p:nvPr/>
        </p:nvSpPr>
        <p:spPr>
          <a:xfrm>
            <a:off x="8686800" y="5312664"/>
            <a:ext cx="2697480" cy="457200"/>
          </a:xfrm>
          <a:prstGeom prst="rect">
            <a:avLst/>
          </a:prstGeom>
          <a:noFill/>
        </p:spPr>
        <p:txBody>
          <a:bodyPr wrap="square" anchor="t" lIns="0" rIns="0" tIns="0" bIns="0">
            <a:spAutoFit/>
          </a:bodyPr>
          <a:lstStyle/>
          <a:p>
            <a:pPr algn="l"/>
            <a:r>
              <a:rPr sz="869" b="0">
                <a:solidFill>
                  <a:srgbClr val="1F2D3D"/>
                </a:solidFill>
                <a:latin typeface="Calibri"/>
              </a:rPr>
              <a:t>The same defended implementation is frozen, then tested as ecosystem, role, authority or regime conditions change silently over time.</a:t>
            </a:r>
          </a:p>
        </p:txBody>
      </p:sp>
      <p:sp>
        <p:nvSpPr>
          <p:cNvPr id="43" name="Rounded Rectangle 42"/>
          <p:cNvSpPr/>
          <p:nvPr/>
        </p:nvSpPr>
        <p:spPr>
          <a:xfrm>
            <a:off x="658368" y="6035040"/>
            <a:ext cx="10853928" cy="411480"/>
          </a:xfrm>
          <a:prstGeom prst="roundRect">
            <a:avLst/>
          </a:prstGeom>
          <a:solidFill>
            <a:srgbClr val="F2F5F8"/>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 y="6144768"/>
            <a:ext cx="10561320" cy="146304"/>
          </a:xfrm>
          <a:prstGeom prst="rect">
            <a:avLst/>
          </a:prstGeom>
          <a:noFill/>
        </p:spPr>
        <p:txBody>
          <a:bodyPr wrap="square" anchor="t" lIns="0" rIns="0" tIns="0" bIns="0">
            <a:spAutoFit/>
          </a:bodyPr>
          <a:lstStyle/>
          <a:p>
            <a:pPr algn="l"/>
            <a:r>
              <a:rPr sz="900" b="0">
                <a:solidFill>
                  <a:srgbClr val="1F2D3D"/>
                </a:solidFill>
                <a:latin typeface="Calibri"/>
              </a:rPr>
              <a:t>The products are treated as substrates for controlled trajectories. The comparison tests whether the same scenario changes materially across standard, defended and drifted implementations.</a:t>
            </a:r>
          </a:p>
        </p:txBody>
      </p:sp>
      <p:sp>
        <p:nvSpPr>
          <p:cNvPr id="45" name="TextBox 44"/>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11"/>
              </a:rPr>
              <a:t>Technology implementation profiles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C6C9B07-B95E-4155-9DE9-D747491A4813}"/>
              </a:ext>
            </a:extLst>
          </p:cNvPr>
          <p:cNvSpPr>
            <a:spLocks noGrp="1"/>
          </p:cNvSpPr>
          <p:nvPr/>
        </p:nvSpPr>
        <p:spPr>
          <a:xfrm>
            <a:off x="566928" y="164592"/>
            <a:ext cx="2194560" cy="164592"/>
          </a:xfrm>
          <a:prstGeom prst="rect">
            <a:avLst/>
          </a:prstGeom>
          <a:noFill/>
        </p:spPr>
        <p:txBody>
          <a:bodyPr wrap="square" lIns="0" tIns="0" rIns="0" bIns="0" anchor="ctr"/>
          <a:lstStyle/>
          <a:p>
            <a:pPr marL="0" indent="0">
              <a:buNone/>
            </a:pPr>
            <a:r>
              <a:rPr sz="820">
                <a:solidFill>
                  <a:srgbClr val="7A7E84"/>
                </a:solidFill>
                <a:latin typeface="Consolas"/>
                <a:ea typeface="Consolas"/>
                <a:cs typeface="Consolas"/>
              </a:rPr>
              <a:t>FAILURE PROGRESSION</a:t>
            </a:r>
            <a:endParaRPr sz="820"/>
          </a:p>
        </p:txBody>
      </p:sp>
      <p:sp>
        <p:nvSpPr>
          <p:cNvPr id="3" name="Text 1">
            <a:extLst>
              <a:ext uri="{FF2B5EF4-FFF2-40B4-BE49-F238E27FC236}">
                <a16:creationId xmlns:a16="http://schemas.microsoft.com/office/drawing/2014/main" id="{2CAF32F8-8798-4F01-8A78-08D7745DCA52}"/>
              </a:ext>
            </a:extLst>
          </p:cNvPr>
          <p:cNvSpPr>
            <a:spLocks noGrp="1"/>
          </p:cNvSpPr>
          <p:nvPr/>
        </p:nvSpPr>
        <p:spPr>
          <a:xfrm>
            <a:off x="10927080" y="164592"/>
            <a:ext cx="640080" cy="164592"/>
          </a:xfrm>
          <a:prstGeom prst="rect">
            <a:avLst/>
          </a:prstGeom>
          <a:noFill/>
        </p:spPr>
        <p:txBody>
          <a:bodyPr wrap="square" lIns="0" tIns="0" rIns="0" bIns="0" anchor="ctr"/>
          <a:lstStyle/>
          <a:p>
            <a:pPr marL="0" indent="0" algn="r">
              <a:buNone/>
            </a:pPr>
            <a:r>
              <a:rPr sz="820">
                <a:solidFill>
                  <a:srgbClr val="7A7E84"/>
                </a:solidFill>
                <a:latin typeface="Consolas"/>
                <a:ea typeface="Consolas"/>
                <a:cs typeface="Consolas"/>
              </a:rPr>
              <a:t>§ 03</a:t>
            </a:r>
            <a:endParaRPr sz="820"/>
          </a:p>
        </p:txBody>
      </p:sp>
      <p:sp>
        <p:nvSpPr>
          <p:cNvPr id="4" name="Text 2">
            <a:extLst>
              <a:ext uri="{FF2B5EF4-FFF2-40B4-BE49-F238E27FC236}">
                <a16:creationId xmlns:a16="http://schemas.microsoft.com/office/drawing/2014/main" id="{D207E07F-B9A1-4E10-B9B8-60B487E97D70}"/>
              </a:ext>
            </a:extLst>
          </p:cNvPr>
          <p:cNvSpPr>
            <a:spLocks noGrp="1"/>
          </p:cNvSpPr>
          <p:nvPr/>
        </p:nvSpPr>
        <p:spPr>
          <a:xfrm>
            <a:off x="566928" y="658368"/>
            <a:ext cx="10972800" cy="384048"/>
          </a:xfrm>
          <a:prstGeom prst="rect">
            <a:avLst/>
          </a:prstGeom>
          <a:noFill/>
        </p:spPr>
        <p:txBody>
          <a:bodyPr wrap="square" lIns="0" tIns="0" rIns="0" bIns="0" anchor="ctr"/>
          <a:lstStyle/>
          <a:p>
            <a:pPr marL="0" indent="0">
              <a:buNone/>
            </a:pPr>
            <a:r>
              <a:rPr sz="2550" b="1" dirty="0">
                <a:solidFill>
                  <a:srgbClr val="1B273F"/>
                </a:solidFill>
                <a:latin typeface="Cambria"/>
                <a:ea typeface="Cambria"/>
                <a:cs typeface="Cambria"/>
                <a:hlinkClick r:id="rId5"/>
              </a:rPr>
              <a:t>Failure progression: mechanisms and failure types</a:t>
            </a:r>
            <a:endParaRPr sz="2550" dirty="0"/>
          </a:p>
        </p:txBody>
      </p:sp>
      <p:sp>
        <p:nvSpPr>
          <p:cNvPr id="5" name="Text 3">
            <a:extLst>
              <a:ext uri="{FF2B5EF4-FFF2-40B4-BE49-F238E27FC236}">
                <a16:creationId xmlns:a16="http://schemas.microsoft.com/office/drawing/2014/main" id="{A92FCA48-FF4B-4B28-83CD-7B981144FB1F}"/>
              </a:ext>
            </a:extLst>
          </p:cNvPr>
          <p:cNvSpPr>
            <a:spLocks noGrp="1"/>
          </p:cNvSpPr>
          <p:nvPr/>
        </p:nvSpPr>
        <p:spPr>
          <a:xfrm>
            <a:off x="566928" y="1115568"/>
            <a:ext cx="10972800" cy="347472"/>
          </a:xfrm>
          <a:prstGeom prst="rect">
            <a:avLst/>
          </a:prstGeom>
          <a:noFill/>
        </p:spPr>
        <p:txBody>
          <a:bodyPr wrap="square" lIns="0" tIns="0" rIns="0" bIns="0" anchor="ctr"/>
          <a:lstStyle/>
          <a:p>
            <a:pPr marL="0" indent="0">
              <a:buNone/>
            </a:pPr>
            <a:r>
              <a:rPr sz="1200" dirty="0">
                <a:solidFill>
                  <a:srgbClr val="55595F"/>
                </a:solidFill>
                <a:latin typeface="Calibri"/>
                <a:ea typeface="Calibri"/>
                <a:cs typeface="Calibri"/>
              </a:rPr>
              <a:t>The ecosystem can drift while local controls keep returning valid-looking answers. The key question is whether uncertainty remains visible or is converted into unsupported closure.</a:t>
            </a:r>
            <a:endParaRPr sz="1200" dirty="0"/>
          </a:p>
        </p:txBody>
      </p:sp>
      <p:sp>
        <p:nvSpPr>
          <p:cNvPr id="6" name="Text 4">
            <a:extLst>
              <a:ext uri="{FF2B5EF4-FFF2-40B4-BE49-F238E27FC236}">
                <a16:creationId xmlns:a16="http://schemas.microsoft.com/office/drawing/2014/main" id="{D7BBDB95-8F1D-40CA-9EEF-82FC684C9B3F}"/>
              </a:ext>
            </a:extLst>
          </p:cNvPr>
          <p:cNvSpPr>
            <a:spLocks noGrp="1"/>
          </p:cNvSpPr>
          <p:nvPr/>
        </p:nvSpPr>
        <p:spPr>
          <a:xfrm>
            <a:off x="685800" y="1572768"/>
            <a:ext cx="2377440" cy="164592"/>
          </a:xfrm>
          <a:prstGeom prst="rect">
            <a:avLst/>
          </a:prstGeom>
          <a:noFill/>
        </p:spPr>
        <p:txBody>
          <a:bodyPr wrap="square" lIns="0" tIns="0" rIns="0" bIns="0" anchor="ctr"/>
          <a:lstStyle/>
          <a:p>
            <a:pPr marL="0" indent="0">
              <a:buNone/>
            </a:pPr>
            <a:r>
              <a:rPr sz="900" b="1">
                <a:solidFill>
                  <a:srgbClr val="7A7E84"/>
                </a:solidFill>
                <a:latin typeface="Consolas"/>
                <a:ea typeface="Consolas"/>
                <a:cs typeface="Consolas"/>
              </a:rPr>
              <a:t>INITIAL STATE</a:t>
            </a:r>
            <a:endParaRPr sz="900"/>
          </a:p>
        </p:txBody>
      </p:sp>
      <p:sp>
        <p:nvSpPr>
          <p:cNvPr id="7" name="Shape 5">
            <a:extLst>
              <a:ext uri="{FF2B5EF4-FFF2-40B4-BE49-F238E27FC236}">
                <a16:creationId xmlns:a16="http://schemas.microsoft.com/office/drawing/2014/main" id="{A1F52260-FA80-43CE-83DC-DEA9968E4EC9}"/>
              </a:ext>
            </a:extLst>
          </p:cNvPr>
          <p:cNvSpPr>
            <a:spLocks noGrp="1"/>
          </p:cNvSpPr>
          <p:nvPr/>
        </p:nvSpPr>
        <p:spPr>
          <a:xfrm>
            <a:off x="685800" y="1847088"/>
            <a:ext cx="2926080" cy="1298448"/>
          </a:xfrm>
          <a:prstGeom prst="roundRect">
            <a:avLst/>
          </a:prstGeom>
          <a:solidFill>
            <a:srgbClr val="FFFFFF"/>
          </a:solidFill>
          <a:ln w="12700">
            <a:solidFill>
              <a:srgbClr val="D6DCE4"/>
            </a:solidFill>
            <a:prstDash val="solid"/>
          </a:ln>
        </p:spPr>
        <p:txBody>
          <a:bodyPr wrap="square"/>
          <a:lstStyle/>
          <a:p>
            <a:endParaRPr/>
          </a:p>
        </p:txBody>
      </p:sp>
      <p:sp>
        <p:nvSpPr>
          <p:cNvPr id="8" name="Text 6">
            <a:extLst>
              <a:ext uri="{FF2B5EF4-FFF2-40B4-BE49-F238E27FC236}">
                <a16:creationId xmlns:a16="http://schemas.microsoft.com/office/drawing/2014/main" id="{00887344-2E94-471C-AB23-E81CE030420B}"/>
              </a:ext>
            </a:extLst>
          </p:cNvPr>
          <p:cNvSpPr>
            <a:spLocks noGrp="1"/>
          </p:cNvSpPr>
          <p:nvPr/>
        </p:nvSpPr>
        <p:spPr>
          <a:xfrm>
            <a:off x="832104" y="2011680"/>
            <a:ext cx="2606040" cy="310896"/>
          </a:xfrm>
          <a:prstGeom prst="rect">
            <a:avLst/>
          </a:prstGeom>
          <a:noFill/>
        </p:spPr>
        <p:txBody>
          <a:bodyPr wrap="square" lIns="0" tIns="0" rIns="0" bIns="0" anchor="ctr"/>
          <a:lstStyle/>
          <a:p>
            <a:pPr marL="0" indent="0">
              <a:buNone/>
            </a:pPr>
            <a:r>
              <a:rPr sz="1450" b="1">
                <a:solidFill>
                  <a:srgbClr val="1B273F"/>
                </a:solidFill>
                <a:latin typeface="Cambria"/>
                <a:ea typeface="Cambria"/>
                <a:cs typeface="Cambria"/>
              </a:rPr>
              <a:t>Legible roles and boundaries</a:t>
            </a:r>
            <a:endParaRPr sz="1450"/>
          </a:p>
        </p:txBody>
      </p:sp>
      <p:sp>
        <p:nvSpPr>
          <p:cNvPr id="9" name="Text 7">
            <a:extLst>
              <a:ext uri="{FF2B5EF4-FFF2-40B4-BE49-F238E27FC236}">
                <a16:creationId xmlns:a16="http://schemas.microsoft.com/office/drawing/2014/main" id="{9E8F57D7-D072-4872-8B57-228E15129837}"/>
              </a:ext>
            </a:extLst>
          </p:cNvPr>
          <p:cNvSpPr>
            <a:spLocks noGrp="1"/>
          </p:cNvSpPr>
          <p:nvPr/>
        </p:nvSpPr>
        <p:spPr>
          <a:xfrm>
            <a:off x="832104" y="2404872"/>
            <a:ext cx="2606040" cy="566928"/>
          </a:xfrm>
          <a:prstGeom prst="rect">
            <a:avLst/>
          </a:prstGeom>
          <a:noFill/>
        </p:spPr>
        <p:txBody>
          <a:bodyPr wrap="square" lIns="0" tIns="0" rIns="0" bIns="0" anchor="ctr"/>
          <a:lstStyle/>
          <a:p>
            <a:pPr marL="0" indent="0">
              <a:buNone/>
            </a:pPr>
            <a:r>
              <a:rPr sz="980">
                <a:solidFill>
                  <a:srgbClr val="55595F"/>
                </a:solidFill>
                <a:latin typeface="Calibri"/>
                <a:ea typeface="Calibri"/>
                <a:cs typeface="Calibri"/>
              </a:rPr>
              <a:t>Identity and authority are current</a:t>
            </a:r>
            <a:endParaRPr sz="980"/>
          </a:p>
          <a:p>
            <a:pPr marL="0" indent="0">
              <a:buNone/>
            </a:pPr>
            <a:r>
              <a:rPr sz="980">
                <a:solidFill>
                  <a:srgbClr val="55595F"/>
                </a:solidFill>
                <a:latin typeface="Calibri"/>
                <a:ea typeface="Calibri"/>
                <a:cs typeface="Calibri"/>
              </a:rPr>
              <a:t>Policies match the operating context</a:t>
            </a:r>
            <a:endParaRPr sz="980"/>
          </a:p>
          <a:p>
            <a:pPr marL="0" indent="0">
              <a:buNone/>
            </a:pPr>
            <a:r>
              <a:rPr sz="980">
                <a:solidFill>
                  <a:srgbClr val="55595F"/>
                </a:solidFill>
                <a:latin typeface="Calibri"/>
                <a:ea typeface="Calibri"/>
                <a:cs typeface="Calibri"/>
              </a:rPr>
              <a:t>Oversight can follow the material paths</a:t>
            </a:r>
            <a:endParaRPr sz="980"/>
          </a:p>
        </p:txBody>
      </p:sp>
      <p:sp>
        <p:nvSpPr>
          <p:cNvPr id="10" name="Shape 8">
            <a:extLst>
              <a:ext uri="{FF2B5EF4-FFF2-40B4-BE49-F238E27FC236}">
                <a16:creationId xmlns:a16="http://schemas.microsoft.com/office/drawing/2014/main" id="{0B7DAFE2-69ED-40FB-BE60-B29EEAC683D2}"/>
              </a:ext>
            </a:extLst>
          </p:cNvPr>
          <p:cNvSpPr>
            <a:spLocks noGrp="1"/>
          </p:cNvSpPr>
          <p:nvPr/>
        </p:nvSpPr>
        <p:spPr>
          <a:xfrm>
            <a:off x="3611880" y="2496312"/>
            <a:ext cx="438912" cy="0"/>
          </a:xfrm>
          <a:prstGeom prst="line">
            <a:avLst/>
          </a:prstGeom>
          <a:noFill/>
          <a:ln w="20320">
            <a:solidFill>
              <a:srgbClr val="7A7E84"/>
            </a:solidFill>
            <a:prstDash val="solid"/>
            <a:headEnd type="none"/>
            <a:tailEnd type="triangle"/>
          </a:ln>
        </p:spPr>
        <p:txBody>
          <a:bodyPr wrap="square"/>
          <a:lstStyle/>
          <a:p>
            <a:endParaRPr/>
          </a:p>
        </p:txBody>
      </p:sp>
      <p:sp>
        <p:nvSpPr>
          <p:cNvPr id="11" name="Text 9">
            <a:extLst>
              <a:ext uri="{FF2B5EF4-FFF2-40B4-BE49-F238E27FC236}">
                <a16:creationId xmlns:a16="http://schemas.microsoft.com/office/drawing/2014/main" id="{157CB44C-9E74-40AF-B9FA-D68E135D7451}"/>
              </a:ext>
            </a:extLst>
          </p:cNvPr>
          <p:cNvSpPr>
            <a:spLocks noGrp="1"/>
          </p:cNvSpPr>
          <p:nvPr/>
        </p:nvSpPr>
        <p:spPr>
          <a:xfrm>
            <a:off x="4160520" y="1572768"/>
            <a:ext cx="2377440" cy="164592"/>
          </a:xfrm>
          <a:prstGeom prst="rect">
            <a:avLst/>
          </a:prstGeom>
          <a:noFill/>
        </p:spPr>
        <p:txBody>
          <a:bodyPr wrap="square" lIns="0" tIns="0" rIns="0" bIns="0" anchor="ctr"/>
          <a:lstStyle/>
          <a:p>
            <a:pPr marL="0" indent="0">
              <a:buNone/>
            </a:pPr>
            <a:r>
              <a:rPr sz="900" b="1">
                <a:solidFill>
                  <a:srgbClr val="7A7E84"/>
                </a:solidFill>
                <a:latin typeface="Consolas"/>
                <a:ea typeface="Consolas"/>
                <a:cs typeface="Consolas"/>
              </a:rPr>
              <a:t>DRIFT</a:t>
            </a:r>
            <a:endParaRPr sz="900"/>
          </a:p>
        </p:txBody>
      </p:sp>
      <p:sp>
        <p:nvSpPr>
          <p:cNvPr id="12" name="Shape 10">
            <a:extLst>
              <a:ext uri="{FF2B5EF4-FFF2-40B4-BE49-F238E27FC236}">
                <a16:creationId xmlns:a16="http://schemas.microsoft.com/office/drawing/2014/main" id="{26E75C4E-4FA7-44F4-88F5-640F7A7D7234}"/>
              </a:ext>
            </a:extLst>
          </p:cNvPr>
          <p:cNvSpPr>
            <a:spLocks noGrp="1"/>
          </p:cNvSpPr>
          <p:nvPr/>
        </p:nvSpPr>
        <p:spPr>
          <a:xfrm>
            <a:off x="4160520" y="1847088"/>
            <a:ext cx="2926080" cy="1298448"/>
          </a:xfrm>
          <a:prstGeom prst="roundRect">
            <a:avLst/>
          </a:prstGeom>
          <a:solidFill>
            <a:srgbClr val="FFFFFF"/>
          </a:solidFill>
          <a:ln w="12700">
            <a:solidFill>
              <a:srgbClr val="D6DCE4"/>
            </a:solidFill>
            <a:prstDash val="solid"/>
          </a:ln>
        </p:spPr>
        <p:txBody>
          <a:bodyPr wrap="square"/>
          <a:lstStyle/>
          <a:p>
            <a:endParaRPr/>
          </a:p>
        </p:txBody>
      </p:sp>
      <p:sp>
        <p:nvSpPr>
          <p:cNvPr id="13" name="Text 11">
            <a:extLst>
              <a:ext uri="{FF2B5EF4-FFF2-40B4-BE49-F238E27FC236}">
                <a16:creationId xmlns:a16="http://schemas.microsoft.com/office/drawing/2014/main" id="{19EF545C-8CD3-46D7-A8A5-4E9B6AA5F2A4}"/>
              </a:ext>
            </a:extLst>
          </p:cNvPr>
          <p:cNvSpPr>
            <a:spLocks noGrp="1"/>
          </p:cNvSpPr>
          <p:nvPr/>
        </p:nvSpPr>
        <p:spPr>
          <a:xfrm>
            <a:off x="4306824" y="2011680"/>
            <a:ext cx="2606040" cy="310896"/>
          </a:xfrm>
          <a:prstGeom prst="rect">
            <a:avLst/>
          </a:prstGeom>
          <a:noFill/>
        </p:spPr>
        <p:txBody>
          <a:bodyPr wrap="square" lIns="0" tIns="0" rIns="0" bIns="0" anchor="ctr"/>
          <a:lstStyle/>
          <a:p>
            <a:pPr marL="0" indent="0">
              <a:buNone/>
            </a:pPr>
            <a:r>
              <a:rPr sz="1450" b="1">
                <a:solidFill>
                  <a:srgbClr val="1B273F"/>
                </a:solidFill>
                <a:latin typeface="Cambria"/>
                <a:ea typeface="Cambria"/>
                <a:cs typeface="Cambria"/>
              </a:rPr>
              <a:t>The ecosystem changes</a:t>
            </a:r>
            <a:endParaRPr sz="1450"/>
          </a:p>
        </p:txBody>
      </p:sp>
      <p:sp>
        <p:nvSpPr>
          <p:cNvPr id="14" name="Text 12">
            <a:extLst>
              <a:ext uri="{FF2B5EF4-FFF2-40B4-BE49-F238E27FC236}">
                <a16:creationId xmlns:a16="http://schemas.microsoft.com/office/drawing/2014/main" id="{8AF5F651-7C55-4D3D-9BE1-43B0EE85A7E0}"/>
              </a:ext>
            </a:extLst>
          </p:cNvPr>
          <p:cNvSpPr>
            <a:spLocks noGrp="1"/>
          </p:cNvSpPr>
          <p:nvPr/>
        </p:nvSpPr>
        <p:spPr>
          <a:xfrm>
            <a:off x="4306824" y="2404872"/>
            <a:ext cx="2606040" cy="566928"/>
          </a:xfrm>
          <a:prstGeom prst="rect">
            <a:avLst/>
          </a:prstGeom>
          <a:noFill/>
        </p:spPr>
        <p:txBody>
          <a:bodyPr wrap="square" lIns="0" tIns="0" rIns="0" bIns="0" anchor="ctr"/>
          <a:lstStyle/>
          <a:p>
            <a:pPr marL="0" indent="0">
              <a:buNone/>
            </a:pPr>
            <a:r>
              <a:rPr sz="980">
                <a:solidFill>
                  <a:srgbClr val="55595F"/>
                </a:solidFill>
                <a:latin typeface="Calibri"/>
                <a:ea typeface="Calibri"/>
                <a:cs typeface="Calibri"/>
              </a:rPr>
              <a:t>Agents multiply and change roles</a:t>
            </a:r>
            <a:endParaRPr sz="980"/>
          </a:p>
          <a:p>
            <a:pPr marL="0" indent="0">
              <a:buNone/>
            </a:pPr>
            <a:r>
              <a:rPr sz="980">
                <a:solidFill>
                  <a:srgbClr val="55595F"/>
                </a:solidFill>
                <a:latin typeface="Calibri"/>
                <a:ea typeface="Calibri"/>
                <a:cs typeface="Calibri"/>
              </a:rPr>
              <a:t>Boundaries and memberships shift</a:t>
            </a:r>
            <a:endParaRPr sz="980"/>
          </a:p>
          <a:p>
            <a:pPr marL="0" indent="0">
              <a:buNone/>
            </a:pPr>
            <a:r>
              <a:rPr sz="980">
                <a:solidFill>
                  <a:srgbClr val="55595F"/>
                </a:solidFill>
                <a:latin typeface="Calibri"/>
                <a:ea typeface="Calibri"/>
                <a:cs typeface="Calibri"/>
              </a:rPr>
              <a:t>Signals inherit hidden dependencies</a:t>
            </a:r>
            <a:endParaRPr sz="980"/>
          </a:p>
          <a:p>
            <a:pPr marL="0" indent="0">
              <a:buNone/>
            </a:pPr>
            <a:r>
              <a:rPr sz="980">
                <a:solidFill>
                  <a:srgbClr val="55595F"/>
                </a:solidFill>
                <a:latin typeface="Calibri"/>
                <a:ea typeface="Calibri"/>
                <a:cs typeface="Calibri"/>
              </a:rPr>
              <a:t>Rules and reviews lag behind</a:t>
            </a:r>
            <a:endParaRPr sz="980"/>
          </a:p>
        </p:txBody>
      </p:sp>
      <p:sp>
        <p:nvSpPr>
          <p:cNvPr id="15" name="Shape 13">
            <a:extLst>
              <a:ext uri="{FF2B5EF4-FFF2-40B4-BE49-F238E27FC236}">
                <a16:creationId xmlns:a16="http://schemas.microsoft.com/office/drawing/2014/main" id="{2382187D-3D9E-4187-ACD7-8BFACE225A5F}"/>
              </a:ext>
            </a:extLst>
          </p:cNvPr>
          <p:cNvSpPr>
            <a:spLocks noGrp="1"/>
          </p:cNvSpPr>
          <p:nvPr/>
        </p:nvSpPr>
        <p:spPr>
          <a:xfrm>
            <a:off x="7086600" y="2496312"/>
            <a:ext cx="438912" cy="0"/>
          </a:xfrm>
          <a:prstGeom prst="line">
            <a:avLst/>
          </a:prstGeom>
          <a:noFill/>
          <a:ln w="20320">
            <a:solidFill>
              <a:srgbClr val="7A7E84"/>
            </a:solidFill>
            <a:prstDash val="solid"/>
            <a:headEnd type="none"/>
            <a:tailEnd type="triangle"/>
          </a:ln>
        </p:spPr>
        <p:txBody>
          <a:bodyPr wrap="square"/>
          <a:lstStyle/>
          <a:p>
            <a:endParaRPr/>
          </a:p>
        </p:txBody>
      </p:sp>
      <p:sp>
        <p:nvSpPr>
          <p:cNvPr id="16" name="Text 14">
            <a:extLst>
              <a:ext uri="{FF2B5EF4-FFF2-40B4-BE49-F238E27FC236}">
                <a16:creationId xmlns:a16="http://schemas.microsoft.com/office/drawing/2014/main" id="{0C2897D1-16B0-4EC9-856C-4440F78C3DA4}"/>
              </a:ext>
            </a:extLst>
          </p:cNvPr>
          <p:cNvSpPr>
            <a:spLocks noGrp="1"/>
          </p:cNvSpPr>
          <p:nvPr/>
        </p:nvSpPr>
        <p:spPr>
          <a:xfrm>
            <a:off x="7635240" y="1572768"/>
            <a:ext cx="2377440" cy="164592"/>
          </a:xfrm>
          <a:prstGeom prst="rect">
            <a:avLst/>
          </a:prstGeom>
          <a:noFill/>
        </p:spPr>
        <p:txBody>
          <a:bodyPr wrap="square" lIns="0" tIns="0" rIns="0" bIns="0" anchor="ctr"/>
          <a:lstStyle/>
          <a:p>
            <a:pPr marL="0" indent="0">
              <a:buNone/>
            </a:pPr>
            <a:r>
              <a:rPr sz="900" b="1">
                <a:solidFill>
                  <a:srgbClr val="A8642A"/>
                </a:solidFill>
                <a:latin typeface="Consolas"/>
                <a:ea typeface="Consolas"/>
                <a:cs typeface="Consolas"/>
              </a:rPr>
              <a:t>FAILURE</a:t>
            </a:r>
            <a:endParaRPr sz="900"/>
          </a:p>
        </p:txBody>
      </p:sp>
      <p:sp>
        <p:nvSpPr>
          <p:cNvPr id="17" name="Shape 15">
            <a:extLst>
              <a:ext uri="{FF2B5EF4-FFF2-40B4-BE49-F238E27FC236}">
                <a16:creationId xmlns:a16="http://schemas.microsoft.com/office/drawing/2014/main" id="{2F8A5FA3-5672-4BCF-AC7D-BDF9ABC213DC}"/>
              </a:ext>
            </a:extLst>
          </p:cNvPr>
          <p:cNvSpPr>
            <a:spLocks noGrp="1"/>
          </p:cNvSpPr>
          <p:nvPr/>
        </p:nvSpPr>
        <p:spPr>
          <a:xfrm>
            <a:off x="7635240" y="1847088"/>
            <a:ext cx="2926080" cy="1298448"/>
          </a:xfrm>
          <a:prstGeom prst="roundRect">
            <a:avLst/>
          </a:prstGeom>
          <a:solidFill>
            <a:srgbClr val="FFFFFF"/>
          </a:solidFill>
          <a:ln w="17780">
            <a:solidFill>
              <a:srgbClr val="A8642A"/>
            </a:solidFill>
            <a:prstDash val="solid"/>
          </a:ln>
        </p:spPr>
        <p:txBody>
          <a:bodyPr wrap="square"/>
          <a:lstStyle/>
          <a:p>
            <a:endParaRPr/>
          </a:p>
        </p:txBody>
      </p:sp>
      <p:sp>
        <p:nvSpPr>
          <p:cNvPr id="18" name="Text 16">
            <a:extLst>
              <a:ext uri="{FF2B5EF4-FFF2-40B4-BE49-F238E27FC236}">
                <a16:creationId xmlns:a16="http://schemas.microsoft.com/office/drawing/2014/main" id="{2C140F37-9877-4E0A-BAE8-2807F6414E08}"/>
              </a:ext>
            </a:extLst>
          </p:cNvPr>
          <p:cNvSpPr>
            <a:spLocks noGrp="1"/>
          </p:cNvSpPr>
          <p:nvPr/>
        </p:nvSpPr>
        <p:spPr>
          <a:xfrm>
            <a:off x="7781544" y="2011680"/>
            <a:ext cx="2606040" cy="310896"/>
          </a:xfrm>
          <a:prstGeom prst="rect">
            <a:avLst/>
          </a:prstGeom>
          <a:noFill/>
        </p:spPr>
        <p:txBody>
          <a:bodyPr wrap="square" lIns="0" tIns="0" rIns="0" bIns="0" anchor="ctr"/>
          <a:lstStyle/>
          <a:p>
            <a:pPr marL="0" indent="0">
              <a:buNone/>
            </a:pPr>
            <a:r>
              <a:rPr sz="1450" b="1" dirty="0">
                <a:solidFill>
                  <a:srgbClr val="1B273F"/>
                </a:solidFill>
                <a:latin typeface="Cambria"/>
                <a:ea typeface="Cambria"/>
                <a:cs typeface="Cambria"/>
              </a:rPr>
              <a:t>Local closure, systemic indeterminacy</a:t>
            </a:r>
            <a:endParaRPr sz="1450" dirty="0"/>
          </a:p>
        </p:txBody>
      </p:sp>
      <p:sp>
        <p:nvSpPr>
          <p:cNvPr id="19" name="Text 17">
            <a:extLst>
              <a:ext uri="{FF2B5EF4-FFF2-40B4-BE49-F238E27FC236}">
                <a16:creationId xmlns:a16="http://schemas.microsoft.com/office/drawing/2014/main" id="{1D07D115-6941-42D1-9ED6-FA06B64BD5FF}"/>
              </a:ext>
            </a:extLst>
          </p:cNvPr>
          <p:cNvSpPr>
            <a:spLocks noGrp="1"/>
          </p:cNvSpPr>
          <p:nvPr/>
        </p:nvSpPr>
        <p:spPr>
          <a:xfrm>
            <a:off x="7781544" y="2404872"/>
            <a:ext cx="2606040" cy="566928"/>
          </a:xfrm>
          <a:prstGeom prst="rect">
            <a:avLst/>
          </a:prstGeom>
          <a:noFill/>
        </p:spPr>
        <p:txBody>
          <a:bodyPr wrap="square" lIns="0" tIns="0" rIns="0" bIns="0" anchor="ctr"/>
          <a:lstStyle/>
          <a:p>
            <a:pPr marL="0" indent="0">
              <a:buNone/>
            </a:pPr>
            <a:r>
              <a:rPr sz="980" dirty="0">
                <a:solidFill>
                  <a:srgbClr val="55595F"/>
                </a:solidFill>
                <a:latin typeface="Calibri"/>
                <a:ea typeface="Calibri"/>
                <a:cs typeface="Calibri"/>
              </a:rPr>
              <a:t>A local PASS travels beyond its scope</a:t>
            </a:r>
            <a:endParaRPr sz="980" dirty="0"/>
          </a:p>
          <a:p>
            <a:pPr marL="0" indent="0">
              <a:buNone/>
            </a:pPr>
            <a:r>
              <a:rPr sz="980" dirty="0">
                <a:solidFill>
                  <a:srgbClr val="55595F"/>
                </a:solidFill>
                <a:latin typeface="Calibri"/>
                <a:ea typeface="Calibri"/>
                <a:cs typeface="Calibri"/>
              </a:rPr>
              <a:t>Uncertainty and lineage disappear</a:t>
            </a:r>
            <a:endParaRPr sz="980" dirty="0"/>
          </a:p>
          <a:p>
            <a:pPr marL="0" indent="0">
              <a:buNone/>
            </a:pPr>
            <a:r>
              <a:rPr sz="980" dirty="0">
                <a:solidFill>
                  <a:srgbClr val="55595F"/>
                </a:solidFill>
                <a:latin typeface="Calibri"/>
                <a:ea typeface="Calibri"/>
                <a:cs typeface="Calibri"/>
              </a:rPr>
              <a:t>AI review can repeat the same frame</a:t>
            </a:r>
            <a:endParaRPr sz="980" dirty="0"/>
          </a:p>
          <a:p>
            <a:pPr marL="0" indent="0">
              <a:buNone/>
            </a:pPr>
            <a:r>
              <a:rPr sz="980" dirty="0">
                <a:solidFill>
                  <a:srgbClr val="55595F"/>
                </a:solidFill>
                <a:latin typeface="Calibri"/>
                <a:ea typeface="Calibri"/>
                <a:cs typeface="Calibri"/>
              </a:rPr>
              <a:t>Human attention saturates</a:t>
            </a:r>
            <a:endParaRPr sz="980" dirty="0"/>
          </a:p>
        </p:txBody>
      </p:sp>
      <p:sp>
        <p:nvSpPr>
          <p:cNvPr id="20" name="Text 18">
            <a:extLst>
              <a:ext uri="{FF2B5EF4-FFF2-40B4-BE49-F238E27FC236}">
                <a16:creationId xmlns:a16="http://schemas.microsoft.com/office/drawing/2014/main" id="{0F93350A-399E-48EA-A795-E0DD032FE9B1}"/>
              </a:ext>
            </a:extLst>
          </p:cNvPr>
          <p:cNvSpPr>
            <a:spLocks noGrp="1"/>
          </p:cNvSpPr>
          <p:nvPr/>
        </p:nvSpPr>
        <p:spPr>
          <a:xfrm>
            <a:off x="713232" y="3383280"/>
            <a:ext cx="2926080" cy="164592"/>
          </a:xfrm>
          <a:prstGeom prst="rect">
            <a:avLst/>
          </a:prstGeom>
          <a:noFill/>
        </p:spPr>
        <p:txBody>
          <a:bodyPr wrap="square" lIns="0" tIns="0" rIns="0" bIns="0" anchor="ctr"/>
          <a:lstStyle/>
          <a:p>
            <a:pPr marL="0" indent="0">
              <a:buNone/>
            </a:pPr>
            <a:r>
              <a:rPr sz="900" b="1">
                <a:solidFill>
                  <a:srgbClr val="7A7E84"/>
                </a:solidFill>
                <a:latin typeface="Consolas"/>
                <a:ea typeface="Consolas"/>
                <a:cs typeface="Consolas"/>
              </a:rPr>
              <a:t>CONDITION AND FAILURE TYPES</a:t>
            </a:r>
            <a:endParaRPr sz="900"/>
          </a:p>
        </p:txBody>
      </p:sp>
      <p:sp>
        <p:nvSpPr>
          <p:cNvPr id="21" name="Shape 19">
            <a:extLst>
              <a:ext uri="{FF2B5EF4-FFF2-40B4-BE49-F238E27FC236}">
                <a16:creationId xmlns:a16="http://schemas.microsoft.com/office/drawing/2014/main" id="{86EFDF7A-E6CC-43B1-9605-5C64CF043147}"/>
              </a:ext>
            </a:extLst>
          </p:cNvPr>
          <p:cNvSpPr>
            <a:spLocks noGrp="1"/>
          </p:cNvSpPr>
          <p:nvPr/>
        </p:nvSpPr>
        <p:spPr>
          <a:xfrm>
            <a:off x="685800" y="3675888"/>
            <a:ext cx="3410712" cy="1490472"/>
          </a:xfrm>
          <a:prstGeom prst="roundRect">
            <a:avLst>
              <a:gd name="adj" fmla="val 3067"/>
            </a:avLst>
          </a:prstGeom>
          <a:solidFill>
            <a:srgbClr val="FFFFFF"/>
          </a:solidFill>
          <a:ln w="12700">
            <a:solidFill>
              <a:srgbClr val="D6DCE4"/>
            </a:solidFill>
            <a:prstDash val="solid"/>
          </a:ln>
        </p:spPr>
        <p:txBody>
          <a:bodyPr wrap="square"/>
          <a:lstStyle/>
          <a:p>
            <a:endParaRPr/>
          </a:p>
        </p:txBody>
      </p:sp>
      <p:sp>
        <p:nvSpPr>
          <p:cNvPr id="22" name="Shape 20">
            <a:extLst>
              <a:ext uri="{FF2B5EF4-FFF2-40B4-BE49-F238E27FC236}">
                <a16:creationId xmlns:a16="http://schemas.microsoft.com/office/drawing/2014/main" id="{31195E53-301E-4CF0-9038-23D4B98AB76D}"/>
              </a:ext>
            </a:extLst>
          </p:cNvPr>
          <p:cNvSpPr>
            <a:spLocks noGrp="1"/>
          </p:cNvSpPr>
          <p:nvPr/>
        </p:nvSpPr>
        <p:spPr>
          <a:xfrm>
            <a:off x="685800" y="3675888"/>
            <a:ext cx="50292" cy="1490472"/>
          </a:xfrm>
          <a:prstGeom prst="rect">
            <a:avLst/>
          </a:prstGeom>
          <a:solidFill>
            <a:srgbClr val="7A7E84"/>
          </a:solidFill>
          <a:ln w="12700">
            <a:solidFill>
              <a:srgbClr val="7A7E84"/>
            </a:solidFill>
            <a:prstDash val="solid"/>
          </a:ln>
        </p:spPr>
        <p:txBody>
          <a:bodyPr wrap="square"/>
          <a:lstStyle/>
          <a:p>
            <a:endParaRPr/>
          </a:p>
        </p:txBody>
      </p:sp>
      <p:sp>
        <p:nvSpPr>
          <p:cNvPr id="23" name="Text 21">
            <a:extLst>
              <a:ext uri="{FF2B5EF4-FFF2-40B4-BE49-F238E27FC236}">
                <a16:creationId xmlns:a16="http://schemas.microsoft.com/office/drawing/2014/main" id="{7E2B2334-3C50-4B0F-B676-60A2519C0662}"/>
              </a:ext>
            </a:extLst>
          </p:cNvPr>
          <p:cNvSpPr>
            <a:spLocks noGrp="1"/>
          </p:cNvSpPr>
          <p:nvPr/>
        </p:nvSpPr>
        <p:spPr>
          <a:xfrm>
            <a:off x="850392" y="3749039"/>
            <a:ext cx="3154680" cy="420624"/>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hlinkClick r:id="rId5"/>
              </a:rPr>
              <a:t>TYPE 0 · Structural non-determination</a:t>
            </a:r>
            <a:endParaRPr sz="1400"/>
          </a:p>
        </p:txBody>
      </p:sp>
      <p:sp>
        <p:nvSpPr>
          <p:cNvPr id="24" name="Text 22">
            <a:extLst>
              <a:ext uri="{FF2B5EF4-FFF2-40B4-BE49-F238E27FC236}">
                <a16:creationId xmlns:a16="http://schemas.microsoft.com/office/drawing/2014/main" id="{AE423F21-4F91-4AC1-B163-1C8F965FFD34}"/>
              </a:ext>
            </a:extLst>
          </p:cNvPr>
          <p:cNvSpPr>
            <a:spLocks noGrp="1"/>
          </p:cNvSpPr>
          <p:nvPr/>
        </p:nvSpPr>
        <p:spPr>
          <a:xfrm>
            <a:off x="850392" y="4206240"/>
            <a:ext cx="3136392" cy="960120"/>
          </a:xfrm>
          <a:prstGeom prst="rect">
            <a:avLst/>
          </a:prstGeom>
          <a:noFill/>
        </p:spPr>
        <p:txBody>
          <a:bodyPr wrap="square" lIns="254" tIns="254" rIns="254" bIns="254" anchor="t"/>
          <a:lstStyle/>
          <a:p>
            <a:pPr marL="0" indent="0">
              <a:buNone/>
            </a:pPr>
            <a:r>
              <a:rPr sz="955">
                <a:solidFill>
                  <a:srgbClr val="55595F"/>
                </a:solidFill>
                <a:latin typeface="Calibri"/>
                <a:ea typeface="Calibri"/>
                <a:cs typeface="Calibri"/>
              </a:rPr>
              <a:t>Residual indeterminacy is not removable inside the current representation / capability boundary. More processing of the same evidence cannot manufacture the missing distinction.</a:t>
            </a:r>
            <a:endParaRPr sz="955"/>
          </a:p>
          <a:p>
            <a:pPr marL="0" indent="0">
              <a:buNone/>
            </a:pPr>
            <a:endParaRPr sz="955"/>
          </a:p>
          <a:p>
            <a:pPr marL="0" indent="0">
              <a:buNone/>
            </a:pPr>
            <a:r>
              <a:rPr sz="955">
                <a:solidFill>
                  <a:srgbClr val="55595F"/>
                </a:solidFill>
                <a:latin typeface="Calibri"/>
                <a:ea typeface="Calibri"/>
                <a:cs typeface="Calibri"/>
              </a:rPr>
              <a:t>Response: preserve the residual, narrow the claim, add a genuinely new information channel or redesign the boundary.</a:t>
            </a:r>
            <a:endParaRPr sz="955"/>
          </a:p>
        </p:txBody>
      </p:sp>
      <p:sp>
        <p:nvSpPr>
          <p:cNvPr id="25" name="Shape 23">
            <a:extLst>
              <a:ext uri="{FF2B5EF4-FFF2-40B4-BE49-F238E27FC236}">
                <a16:creationId xmlns:a16="http://schemas.microsoft.com/office/drawing/2014/main" id="{96277FD8-A400-44A9-9F6D-F8EDEF6B9C57}"/>
              </a:ext>
            </a:extLst>
          </p:cNvPr>
          <p:cNvSpPr>
            <a:spLocks noGrp="1"/>
          </p:cNvSpPr>
          <p:nvPr/>
        </p:nvSpPr>
        <p:spPr>
          <a:xfrm>
            <a:off x="4379976" y="3675888"/>
            <a:ext cx="3410712" cy="1490472"/>
          </a:xfrm>
          <a:prstGeom prst="roundRect">
            <a:avLst>
              <a:gd name="adj" fmla="val 3067"/>
            </a:avLst>
          </a:prstGeom>
          <a:solidFill>
            <a:srgbClr val="FFFFFF"/>
          </a:solidFill>
          <a:ln w="12700">
            <a:solidFill>
              <a:srgbClr val="D6DCE4"/>
            </a:solidFill>
            <a:prstDash val="solid"/>
          </a:ln>
        </p:spPr>
        <p:txBody>
          <a:bodyPr wrap="square"/>
          <a:lstStyle/>
          <a:p>
            <a:endParaRPr/>
          </a:p>
        </p:txBody>
      </p:sp>
      <p:sp>
        <p:nvSpPr>
          <p:cNvPr id="26" name="Shape 24">
            <a:extLst>
              <a:ext uri="{FF2B5EF4-FFF2-40B4-BE49-F238E27FC236}">
                <a16:creationId xmlns:a16="http://schemas.microsoft.com/office/drawing/2014/main" id="{C1C42B79-50FF-4A59-B598-2768C4E8F3E9}"/>
              </a:ext>
            </a:extLst>
          </p:cNvPr>
          <p:cNvSpPr>
            <a:spLocks noGrp="1"/>
          </p:cNvSpPr>
          <p:nvPr/>
        </p:nvSpPr>
        <p:spPr>
          <a:xfrm>
            <a:off x="4379976" y="3675888"/>
            <a:ext cx="50292" cy="1490472"/>
          </a:xfrm>
          <a:prstGeom prst="rect">
            <a:avLst/>
          </a:prstGeom>
          <a:solidFill>
            <a:srgbClr val="006970"/>
          </a:solidFill>
          <a:ln w="12700">
            <a:solidFill>
              <a:srgbClr val="006970"/>
            </a:solidFill>
            <a:prstDash val="solid"/>
          </a:ln>
        </p:spPr>
        <p:txBody>
          <a:bodyPr wrap="square"/>
          <a:lstStyle/>
          <a:p>
            <a:endParaRPr/>
          </a:p>
        </p:txBody>
      </p:sp>
      <p:sp>
        <p:nvSpPr>
          <p:cNvPr id="27" name="Text 25">
            <a:extLst>
              <a:ext uri="{FF2B5EF4-FFF2-40B4-BE49-F238E27FC236}">
                <a16:creationId xmlns:a16="http://schemas.microsoft.com/office/drawing/2014/main" id="{4632754F-B960-45CD-B248-014981244278}"/>
              </a:ext>
            </a:extLst>
          </p:cNvPr>
          <p:cNvSpPr>
            <a:spLocks noGrp="1"/>
          </p:cNvSpPr>
          <p:nvPr/>
        </p:nvSpPr>
        <p:spPr>
          <a:xfrm>
            <a:off x="4544568" y="3749039"/>
            <a:ext cx="3154680" cy="420624"/>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hlinkClick r:id="rId5"/>
              </a:rPr>
              <a:t>TYPE 1 · Unbounded unresolved uncertainty</a:t>
            </a:r>
            <a:endParaRPr sz="1400"/>
          </a:p>
        </p:txBody>
      </p:sp>
      <p:sp>
        <p:nvSpPr>
          <p:cNvPr id="28" name="Text 26">
            <a:extLst>
              <a:ext uri="{FF2B5EF4-FFF2-40B4-BE49-F238E27FC236}">
                <a16:creationId xmlns:a16="http://schemas.microsoft.com/office/drawing/2014/main" id="{15396708-B59E-4CD6-BB64-4093148F2252}"/>
              </a:ext>
            </a:extLst>
          </p:cNvPr>
          <p:cNvSpPr>
            <a:spLocks noGrp="1"/>
          </p:cNvSpPr>
          <p:nvPr/>
        </p:nvSpPr>
        <p:spPr>
          <a:xfrm>
            <a:off x="4544568" y="4206240"/>
            <a:ext cx="3136392" cy="932688"/>
          </a:xfrm>
          <a:prstGeom prst="rect">
            <a:avLst/>
          </a:prstGeom>
          <a:noFill/>
        </p:spPr>
        <p:txBody>
          <a:bodyPr wrap="square" lIns="254" tIns="254" rIns="254" bIns="254" anchor="t"/>
          <a:lstStyle/>
          <a:p>
            <a:pPr marL="0" indent="0">
              <a:buNone/>
            </a:pPr>
            <a:r>
              <a:rPr sz="955">
                <a:solidFill>
                  <a:srgbClr val="55595F"/>
                </a:solidFill>
                <a:latin typeface="Calibri"/>
                <a:ea typeface="Calibri"/>
                <a:cs typeface="Calibri"/>
              </a:rPr>
              <a:t>Uncertainty is recognized, but no legitimate bounded closure is reached: the system keeps waiting, searching or escalating without an escape condition (indefinite HOLD, paralysis). HOLD is not a safe terminal state.</a:t>
            </a:r>
            <a:endParaRPr sz="955"/>
          </a:p>
          <a:p>
            <a:pPr marL="0" indent="0">
              <a:spcBef>
                <a:spcPts val="500"/>
              </a:spcBef>
              <a:buNone/>
            </a:pPr>
            <a:r>
              <a:rPr sz="955">
                <a:solidFill>
                  <a:srgbClr val="55595F"/>
                </a:solidFill>
                <a:latin typeface="Calibri"/>
                <a:ea typeface="Calibri"/>
                <a:cs typeface="Calibri"/>
              </a:rPr>
              <a:t>Response: establish bounded closure: a stop condition plus a qualified posture that keeps the residual explicit.</a:t>
            </a:r>
            <a:endParaRPr sz="955"/>
          </a:p>
        </p:txBody>
      </p:sp>
      <p:sp>
        <p:nvSpPr>
          <p:cNvPr id="29" name="Shape 27">
            <a:extLst>
              <a:ext uri="{FF2B5EF4-FFF2-40B4-BE49-F238E27FC236}">
                <a16:creationId xmlns:a16="http://schemas.microsoft.com/office/drawing/2014/main" id="{00424DEA-8C6D-45BF-80EB-BB570125B300}"/>
              </a:ext>
            </a:extLst>
          </p:cNvPr>
          <p:cNvSpPr>
            <a:spLocks noGrp="1"/>
          </p:cNvSpPr>
          <p:nvPr/>
        </p:nvSpPr>
        <p:spPr>
          <a:xfrm>
            <a:off x="8074152" y="3675888"/>
            <a:ext cx="3410712" cy="1490472"/>
          </a:xfrm>
          <a:prstGeom prst="roundRect">
            <a:avLst>
              <a:gd name="adj" fmla="val 3067"/>
            </a:avLst>
          </a:prstGeom>
          <a:solidFill>
            <a:srgbClr val="FFFFFF"/>
          </a:solidFill>
          <a:ln w="12700">
            <a:solidFill>
              <a:srgbClr val="D6DCE4"/>
            </a:solidFill>
            <a:prstDash val="solid"/>
          </a:ln>
        </p:spPr>
        <p:txBody>
          <a:bodyPr wrap="square"/>
          <a:lstStyle/>
          <a:p>
            <a:endParaRPr/>
          </a:p>
        </p:txBody>
      </p:sp>
      <p:sp>
        <p:nvSpPr>
          <p:cNvPr id="30" name="Shape 28">
            <a:extLst>
              <a:ext uri="{FF2B5EF4-FFF2-40B4-BE49-F238E27FC236}">
                <a16:creationId xmlns:a16="http://schemas.microsoft.com/office/drawing/2014/main" id="{8BE3AF5A-3697-40CB-AF49-57D36F0E36A1}"/>
              </a:ext>
            </a:extLst>
          </p:cNvPr>
          <p:cNvSpPr>
            <a:spLocks noGrp="1"/>
          </p:cNvSpPr>
          <p:nvPr/>
        </p:nvSpPr>
        <p:spPr>
          <a:xfrm>
            <a:off x="8074152" y="3675888"/>
            <a:ext cx="50292" cy="1490472"/>
          </a:xfrm>
          <a:prstGeom prst="rect">
            <a:avLst/>
          </a:prstGeom>
          <a:solidFill>
            <a:srgbClr val="A8642A"/>
          </a:solidFill>
          <a:ln w="12700">
            <a:solidFill>
              <a:srgbClr val="A8642A"/>
            </a:solidFill>
            <a:prstDash val="solid"/>
          </a:ln>
        </p:spPr>
        <p:txBody>
          <a:bodyPr wrap="square"/>
          <a:lstStyle/>
          <a:p>
            <a:endParaRPr/>
          </a:p>
        </p:txBody>
      </p:sp>
      <p:sp>
        <p:nvSpPr>
          <p:cNvPr id="31" name="Text 29">
            <a:extLst>
              <a:ext uri="{FF2B5EF4-FFF2-40B4-BE49-F238E27FC236}">
                <a16:creationId xmlns:a16="http://schemas.microsoft.com/office/drawing/2014/main" id="{DB6322E4-033D-47F6-9C31-E080DA689187}"/>
              </a:ext>
            </a:extLst>
          </p:cNvPr>
          <p:cNvSpPr>
            <a:spLocks noGrp="1"/>
          </p:cNvSpPr>
          <p:nvPr/>
        </p:nvSpPr>
        <p:spPr>
          <a:xfrm>
            <a:off x="8238744" y="3794760"/>
            <a:ext cx="3154680" cy="256032"/>
          </a:xfrm>
          <a:prstGeom prst="rect">
            <a:avLst/>
          </a:prstGeom>
          <a:noFill/>
        </p:spPr>
        <p:txBody>
          <a:bodyPr wrap="square" lIns="0" tIns="0" rIns="0" bIns="0" anchor="ctr"/>
          <a:lstStyle/>
          <a:p>
            <a:pPr marL="0" indent="0">
              <a:buNone/>
            </a:pPr>
            <a:r>
              <a:rPr sz="1400" b="1">
                <a:solidFill>
                  <a:srgbClr val="1B273F"/>
                </a:solidFill>
                <a:latin typeface="Cambria"/>
                <a:ea typeface="Cambria"/>
                <a:cs typeface="Cambria"/>
                <a:hlinkClick r:id="rId5"/>
              </a:rPr>
              <a:t>TYPE 2 · False certainty</a:t>
            </a:r>
            <a:endParaRPr sz="1400"/>
          </a:p>
        </p:txBody>
      </p:sp>
      <p:sp>
        <p:nvSpPr>
          <p:cNvPr id="32" name="Text 30">
            <a:extLst>
              <a:ext uri="{FF2B5EF4-FFF2-40B4-BE49-F238E27FC236}">
                <a16:creationId xmlns:a16="http://schemas.microsoft.com/office/drawing/2014/main" id="{DF0B721B-E7D2-4DBD-8C70-24842EE91264}"/>
              </a:ext>
            </a:extLst>
          </p:cNvPr>
          <p:cNvSpPr>
            <a:spLocks noGrp="1"/>
          </p:cNvSpPr>
          <p:nvPr/>
        </p:nvSpPr>
        <p:spPr>
          <a:xfrm>
            <a:off x="8238744" y="4105656"/>
            <a:ext cx="3136392" cy="960120"/>
          </a:xfrm>
          <a:prstGeom prst="rect">
            <a:avLst/>
          </a:prstGeom>
          <a:noFill/>
        </p:spPr>
        <p:txBody>
          <a:bodyPr wrap="square" lIns="254" tIns="254" rIns="254" bIns="254" anchor="t"/>
          <a:lstStyle/>
          <a:p>
            <a:pPr marL="0" indent="0">
              <a:buNone/>
            </a:pPr>
            <a:r>
              <a:rPr sz="955">
                <a:solidFill>
                  <a:srgbClr val="55595F"/>
                </a:solidFill>
                <a:latin typeface="Calibri"/>
                <a:ea typeface="Calibri"/>
                <a:cs typeface="Calibri"/>
              </a:rPr>
              <a:t>The system closes by discarding what it does not know: missing input treated as present, low confidence promoted to certainty, a local result treated as globally valid (forced PASS/FAIL, false closure).</a:t>
            </a:r>
            <a:endParaRPr sz="955"/>
          </a:p>
          <a:p>
            <a:pPr marL="0" indent="0">
              <a:spcBef>
                <a:spcPts val="500"/>
              </a:spcBef>
              <a:buNone/>
            </a:pPr>
            <a:r>
              <a:rPr sz="955">
                <a:solidFill>
                  <a:srgbClr val="55595F"/>
                </a:solidFill>
                <a:latin typeface="Calibri"/>
                <a:ea typeface="Calibri"/>
                <a:cs typeface="Calibri"/>
              </a:rPr>
              <a:t>Response: restore uncertainty, scope and provenance, then re-enter the affected scope.</a:t>
            </a:r>
            <a:endParaRPr sz="955"/>
          </a:p>
        </p:txBody>
      </p:sp>
      <p:sp>
        <p:nvSpPr>
          <p:cNvPr id="36" name="Slide Number Placeholder 0">
            <a:extLst>
              <a:ext uri="{FF2B5EF4-FFF2-40B4-BE49-F238E27FC236}">
                <a16:creationId xmlns:a16="http://schemas.microsoft.com/office/drawing/2014/main" id="{6D87A14C-B23D-49E3-885A-DFA30E75B1EF}"/>
              </a:ext>
            </a:extLst>
          </p:cNvPr>
          <p:cNvSpPr>
            <a:spLocks noGrp="1"/>
          </p:cNvSpPr>
          <p:nvPr>
            <p:ph type="sldNum" idx="4294967295"/>
          </p:nvPr>
        </p:nvSpPr>
        <p:spPr>
          <a:xfrm>
            <a:off x="11064240" y="6537960"/>
            <a:ext cx="502920" cy="164592"/>
          </a:xfrm>
          <a:prstGeom prst="rect">
            <a:avLst/>
          </a:prstGeom>
        </p:spPr>
        <p:txBody>
          <a:bodyPr wrap="square"/>
          <a:lstStyle>
            <a:lvl1pPr>
              <a:buNone/>
              <a:defRPr sz="750">
                <a:solidFill>
                  <a:srgbClr val="1B273F"/>
                </a:solidFill>
                <a:latin typeface="Consolas"/>
                <a:ea typeface="Consolas"/>
                <a:cs typeface="Consolas"/>
              </a:defRPr>
            </a:lvl1pPr>
          </a:lstStyle>
          <a:p>
            <a:pPr algn="r"/>
            <a:r>
              <a:rPr sz="900">
                <a:solidFill>
                  <a:srgbClr val="5D6775"/>
                </a:solidFill>
                <a:latin typeface="Calibri"/>
              </a:rPr>
              <a:t>6</a:t>
            </a:r>
          </a:p>
        </p:txBody>
      </p:sp>
      <p:sp>
        <p:nvSpPr>
          <p:cNvPr id="37" name="TextBox 36"/>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5"/>
              </a:rPr>
              <a:t>Foundation · Type 0/1/2</a:t>
            </a:r>
            <a:r>
              <a:rPr sz="680">
                <a:solidFill>
                  <a:srgbClr val="727A86"/>
                </a:solidFill>
                <a:latin typeface="Calibri"/>
              </a:rPr>
              <a:t>  ·  </a:t>
            </a:r>
            <a:r>
              <a:rPr sz="680" b="0" u="sng">
                <a:solidFill>
                  <a:srgbClr val="2F6FB2"/>
                </a:solidFill>
                <a:latin typeface="Calibri"/>
                <a:hlinkClick r:id="rId6"/>
              </a:rPr>
              <a:t>Canonical topology</a:t>
            </a:r>
          </a:p>
        </p:txBody>
      </p:sp>
    </p:spTree>
    <p:extLst>
      <p:ext uri="{BB962C8B-B14F-4D97-AF65-F5344CB8AC3E}">
        <p14:creationId xmlns:p14="http://schemas.microsoft.com/office/powerpoint/2010/main" val="1575119464"/>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D54"/>
        </a:solidFill>
        <a:effectLst/>
      </p:bgPr>
    </p:bg>
    <p:spTree>
      <p:nvGrpSpPr>
        <p:cNvPr id="1" name=""/>
        <p:cNvGrpSpPr/>
        <p:nvPr/>
      </p:nvGrpSpPr>
      <p:grpSpPr/>
      <p:sp>
        <p:nvSpPr>
          <p:cNvPr id="2" name="TextBox 1"/>
          <p:cNvSpPr txBox="1"/>
          <p:nvPr/>
        </p:nvSpPr>
        <p:spPr>
          <a:xfrm>
            <a:off x="685800" y="320040"/>
            <a:ext cx="5029200" cy="320040"/>
          </a:xfrm>
          <a:prstGeom prst="rect">
            <a:avLst/>
          </a:prstGeom>
          <a:noFill/>
        </p:spPr>
        <p:txBody>
          <a:bodyPr wrap="none">
            <a:spAutoFit/>
          </a:bodyPr>
          <a:lstStyle/>
          <a:p>
            <a:r>
              <a:rPr sz="1600">
                <a:solidFill>
                  <a:srgbClr val="D2DEEB"/>
                </a:solidFill>
                <a:latin typeface="Aptos"/>
              </a:rPr>
              <a:t>PROPOSED ARCHITECTURE</a:t>
            </a:r>
          </a:p>
        </p:txBody>
      </p:sp>
      <p:sp>
        <p:nvSpPr>
          <p:cNvPr id="3" name="TextBox 2"/>
          <p:cNvSpPr txBox="1"/>
          <p:nvPr/>
        </p:nvSpPr>
        <p:spPr>
          <a:xfrm>
            <a:off x="10972800" y="320040"/>
            <a:ext cx="731520" cy="320040"/>
          </a:xfrm>
          <a:prstGeom prst="rect">
            <a:avLst/>
          </a:prstGeom>
          <a:noFill/>
        </p:spPr>
        <p:txBody>
          <a:bodyPr wrap="none">
            <a:spAutoFit/>
          </a:bodyPr>
          <a:lstStyle/>
          <a:p>
            <a:pPr algn="r"/>
            <a:r>
              <a:rPr sz="1400">
                <a:solidFill>
                  <a:srgbClr val="D2DEEB"/>
                </a:solidFill>
                <a:latin typeface="Aptos"/>
              </a:rPr>
              <a:t>§ 04</a:t>
            </a:r>
          </a:p>
        </p:txBody>
      </p:sp>
      <p:sp>
        <p:nvSpPr>
          <p:cNvPr id="4" name="Rectangle 3"/>
          <p:cNvSpPr/>
          <p:nvPr/>
        </p:nvSpPr>
        <p:spPr>
          <a:xfrm>
            <a:off x="685800" y="713232"/>
            <a:ext cx="10972800" cy="13716"/>
          </a:xfrm>
          <a:prstGeom prst="rect">
            <a:avLst/>
          </a:prstGeom>
          <a:solidFill>
            <a:srgbClr val="D2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22960"/>
            <a:ext cx="10972800" cy="13716"/>
          </a:xfrm>
          <a:prstGeom prst="rect">
            <a:avLst/>
          </a:prstGeom>
          <a:solidFill>
            <a:srgbClr val="14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10972800" cy="914400"/>
          </a:xfrm>
          <a:prstGeom prst="rect">
            <a:avLst/>
          </a:prstGeom>
          <a:noFill/>
        </p:spPr>
        <p:txBody>
          <a:bodyPr wrap="none">
            <a:spAutoFit/>
          </a:bodyPr>
          <a:lstStyle/>
          <a:p>
            <a:r>
              <a:rPr sz="3000" b="1">
                <a:solidFill>
                  <a:srgbClr val="FFFFFF"/>
                </a:solidFill>
                <a:latin typeface="Aptos Display"/>
                <a:hlinkClick r:id="rId2"/>
              </a:rPr>
              <a:t>Proposed Architecture</a:t>
            </a:r>
          </a:p>
        </p:txBody>
      </p:sp>
      <p:sp>
        <p:nvSpPr>
          <p:cNvPr id="7" name="TextBox 6"/>
          <p:cNvSpPr txBox="1"/>
          <p:nvPr/>
        </p:nvSpPr>
        <p:spPr>
          <a:xfrm>
            <a:off x="685800" y="2743200"/>
            <a:ext cx="10515600" cy="1097280"/>
          </a:xfrm>
          <a:prstGeom prst="rect">
            <a:avLst/>
          </a:prstGeom>
          <a:noFill/>
        </p:spPr>
        <p:txBody>
          <a:bodyPr wrap="square">
            <a:spAutoFit/>
          </a:bodyPr>
          <a:lstStyle/>
          <a:p>
            <a:r>
              <a:rPr sz="1600">
                <a:solidFill>
                  <a:srgbClr val="D2DEEB"/>
                </a:solidFill>
                <a:latin typeface="Aptos"/>
              </a:rPr>
              <a:t>From awareness to qualified repositioning.</a:t>
            </a:r>
          </a:p>
        </p:txBody>
      </p:sp>
      <p:sp>
        <p:nvSpPr>
          <p:cNvPr id="8" name="TextBox 7"/>
          <p:cNvSpPr txBox="1"/>
          <p:nvPr/>
        </p:nvSpPr>
        <p:spPr>
          <a:xfrm>
            <a:off x="4389120" y="6400800"/>
            <a:ext cx="3474720" cy="274320"/>
          </a:xfrm>
          <a:prstGeom prst="rect">
            <a:avLst/>
          </a:prstGeom>
          <a:noFill/>
        </p:spPr>
        <p:txBody>
          <a:bodyPr wrap="none">
            <a:spAutoFit/>
          </a:bodyPr>
          <a:lstStyle/>
          <a:p>
            <a:pPr algn="ctr"/>
            <a:r>
              <a:rPr sz="1000">
                <a:solidFill>
                  <a:srgbClr val="D2DEEB"/>
                </a:solidFill>
                <a:latin typeface="Aptos"/>
              </a:rPr>
              <a:t>Ecosystem Awareness · Positioning architecture</a:t>
            </a:r>
          </a:p>
        </p:txBody>
      </p:sp>
      <p:sp>
        <p:nvSpPr>
          <p:cNvPr id="9" name="TextBox 8"/>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2"/>
              </a:rPr>
              <a:t>Ecosystem Positioning architecture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85216" y="164592"/>
            <a:ext cx="2926080" cy="219456"/>
          </a:xfrm>
          <a:prstGeom prst="rect">
            <a:avLst/>
          </a:prstGeom>
          <a:noFill/>
        </p:spPr>
        <p:txBody>
          <a:bodyPr wrap="square" lIns="0" rIns="0" tIns="0" bIns="0" anchor="t">
            <a:spAutoFit/>
          </a:bodyPr>
          <a:lstStyle/>
          <a:p>
            <a:pPr algn="l"/>
            <a:r>
              <a:rPr sz="860" b="0">
                <a:solidFill>
                  <a:srgbClr val="5D6775"/>
                </a:solidFill>
                <a:latin typeface="Consolas"/>
              </a:rPr>
              <a:t>REQUIREMENTS</a:t>
            </a:r>
          </a:p>
        </p:txBody>
      </p:sp>
      <p:sp>
        <p:nvSpPr>
          <p:cNvPr id="3" name="TextBox 2"/>
          <p:cNvSpPr txBox="1"/>
          <p:nvPr/>
        </p:nvSpPr>
        <p:spPr>
          <a:xfrm>
            <a:off x="10744200" y="164592"/>
            <a:ext cx="685800" cy="219456"/>
          </a:xfrm>
          <a:prstGeom prst="rect">
            <a:avLst/>
          </a:prstGeom>
          <a:noFill/>
        </p:spPr>
        <p:txBody>
          <a:bodyPr wrap="square" lIns="0" rIns="0" tIns="0" bIns="0" anchor="t">
            <a:spAutoFit/>
          </a:bodyPr>
          <a:lstStyle/>
          <a:p>
            <a:pPr algn="r"/>
            <a:r>
              <a:rPr sz="860" b="0">
                <a:solidFill>
                  <a:srgbClr val="5D6775"/>
                </a:solidFill>
                <a:latin typeface="Consolas"/>
              </a:rPr>
              <a:t>§ 04A</a:t>
            </a:r>
          </a:p>
        </p:txBody>
      </p:sp>
      <p:sp>
        <p:nvSpPr>
          <p:cNvPr id="4" name="Rectangle 3"/>
          <p:cNvSpPr/>
          <p:nvPr/>
        </p:nvSpPr>
        <p:spPr>
          <a:xfrm>
            <a:off x="585216" y="457200"/>
            <a:ext cx="10826496" cy="10972"/>
          </a:xfrm>
          <a:prstGeom prst="rect">
            <a:avLst/>
          </a:prstGeom>
          <a:solidFill>
            <a:srgbClr val="24355B"/>
          </a:solidFill>
          <a:ln w="12700">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85216" y="530352"/>
            <a:ext cx="10826496" cy="5486"/>
          </a:xfrm>
          <a:prstGeom prst="rect">
            <a:avLst/>
          </a:prstGeom>
          <a:solidFill>
            <a:srgbClr val="24355B"/>
          </a:solidFill>
          <a:ln w="12700">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713232"/>
            <a:ext cx="10698480" cy="475488"/>
          </a:xfrm>
          <a:prstGeom prst="rect">
            <a:avLst/>
          </a:prstGeom>
          <a:noFill/>
        </p:spPr>
        <p:txBody>
          <a:bodyPr wrap="square" lIns="0" rIns="0" tIns="0" bIns="0" anchor="t">
            <a:spAutoFit/>
          </a:bodyPr>
          <a:lstStyle/>
          <a:p>
            <a:r>
              <a:rPr sz="2350" b="1">
                <a:solidFill>
                  <a:srgbClr val="24355B"/>
                </a:solidFill>
                <a:latin typeface="Cambria"/>
              </a:rPr>
              <a:t>Six severe failure routes. Fourteen requirements. One common contract.</a:t>
            </a:r>
          </a:p>
        </p:txBody>
      </p:sp>
      <p:sp>
        <p:nvSpPr>
          <p:cNvPr id="7" name="TextBox 6"/>
          <p:cNvSpPr txBox="1"/>
          <p:nvPr/>
        </p:nvSpPr>
        <p:spPr>
          <a:xfrm>
            <a:off x="621792" y="1161288"/>
            <a:ext cx="10698480" cy="420624"/>
          </a:xfrm>
          <a:prstGeom prst="rect">
            <a:avLst/>
          </a:prstGeom>
          <a:noFill/>
        </p:spPr>
        <p:txBody>
          <a:bodyPr wrap="square" lIns="0" rIns="0" tIns="0" bIns="0" anchor="t">
            <a:spAutoFit/>
          </a:bodyPr>
          <a:lstStyle/>
          <a:p>
            <a:r>
              <a:rPr sz="1080">
                <a:solidFill>
                  <a:srgbClr val="5D6775"/>
                </a:solidFill>
                <a:latin typeface="Aptos"/>
              </a:rPr>
              <a:t>Current high-end technology profiles can still expose these routes under drift. The same 14 requirements define the conforming path across all six.</a:t>
            </a:r>
          </a:p>
        </p:txBody>
      </p:sp>
      <p:sp>
        <p:nvSpPr>
          <p:cNvPr id="53" name="Rectangle 52"/>
          <p:cNvSpPr/>
          <p:nvPr/>
        </p:nvSpPr>
        <p:spPr>
          <a:xfrm>
            <a:off x="585216" y="6446520"/>
            <a:ext cx="10826496" cy="10972"/>
          </a:xfrm>
          <a:prstGeom prst="rect">
            <a:avLst/>
          </a:prstGeom>
          <a:solidFill>
            <a:srgbClr val="24355B"/>
          </a:solidFill>
          <a:ln w="12700">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52544" y="6537960"/>
            <a:ext cx="3456432" cy="164592"/>
          </a:xfrm>
          <a:prstGeom prst="rect">
            <a:avLst/>
          </a:prstGeom>
          <a:noFill/>
        </p:spPr>
        <p:txBody>
          <a:bodyPr wrap="square" lIns="0" rIns="0" tIns="0" bIns="0" anchor="t">
            <a:spAutoFit/>
          </a:bodyPr>
          <a:lstStyle/>
          <a:p>
            <a:pPr algn="ctr"/>
            <a:r>
              <a:rPr sz="770" b="0">
                <a:solidFill>
                  <a:srgbClr val="5D6775"/>
                </a:solidFill>
                <a:latin typeface="Aptos"/>
              </a:rPr>
              <a:t>Ecosystem Awareness · Positioning architecture</a:t>
            </a:r>
          </a:p>
        </p:txBody>
      </p:sp>
      <p:sp>
        <p:nvSpPr>
          <p:cNvPr id="55" name="TextBox 54"/>
          <p:cNvSpPr txBox="1"/>
          <p:nvPr/>
        </p:nvSpPr>
        <p:spPr>
          <a:xfrm>
            <a:off x="11018520" y="6537960"/>
            <a:ext cx="274320" cy="164592"/>
          </a:xfrm>
          <a:prstGeom prst="rect">
            <a:avLst/>
          </a:prstGeom>
          <a:noFill/>
        </p:spPr>
        <p:txBody>
          <a:bodyPr wrap="square" lIns="0" rIns="0" tIns="0" bIns="0" anchor="t">
            <a:spAutoFit/>
          </a:bodyPr>
          <a:lstStyle/>
          <a:p>
            <a:pPr algn="r"/>
            <a:r>
              <a:rPr sz="850" b="0">
                <a:solidFill>
                  <a:srgbClr val="5D6775"/>
                </a:solidFill>
                <a:latin typeface="Aptos"/>
              </a:rPr>
              <a:t>8</a:t>
            </a:r>
          </a:p>
        </p:txBody>
      </p:sp>
      <p:sp>
        <p:nvSpPr>
          <p:cNvPr id="56" name="TextBox 55"/>
          <p:cNvSpPr txBox="1"/>
          <p:nvPr/>
        </p:nvSpPr>
        <p:spPr>
          <a:xfrm>
            <a:off x="566928" y="6510528"/>
            <a:ext cx="3566160" cy="164592"/>
          </a:xfrm>
          <a:prstGeom prst="rect">
            <a:avLst/>
          </a:prstGeom>
          <a:noFill/>
        </p:spPr>
        <p:txBody>
          <a:bodyPr wrap="none" lIns="0" rIns="0" tIns="0" bIns="0">
            <a:spAutoFit/>
          </a:bodyPr>
          <a:lstStyle/>
          <a:p>
            <a:r>
              <a:rPr sz="770">
                <a:solidFill>
                  <a:srgbClr val="5D6775"/>
                </a:solidFill>
                <a:latin typeface="Aptos"/>
                <a:hlinkClick r:id="rId2"/>
              </a:rPr>
              <a:t>CORPUS ↗  Canonical Requirements · Coverage map · Route Q</a:t>
            </a:r>
          </a:p>
        </p:txBody>
      </p:sp>
      <p:sp>
        <p:nvSpPr>
          <p:cNvPr id="57" name="Rounded Rectangle 56"/>
          <p:cNvSpPr/>
          <p:nvPr/>
        </p:nvSpPr>
        <p:spPr>
          <a:xfrm>
            <a:off x="621792" y="1627632"/>
            <a:ext cx="3337560" cy="1417320"/>
          </a:xfrm>
          <a:prstGeom prst="roundRect">
            <a:avLst/>
          </a:prstGeom>
          <a:solidFill>
            <a:srgbClr val="E9F2FB"/>
          </a:solidFill>
          <a:ln w="1651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6384" y="1700784"/>
            <a:ext cx="868680" cy="658368"/>
          </a:xfrm>
          <a:prstGeom prst="rect">
            <a:avLst/>
          </a:prstGeom>
          <a:noFill/>
        </p:spPr>
        <p:txBody>
          <a:bodyPr wrap="none" anchor="ctr" lIns="18288" rIns="18288" tIns="9144" bIns="9144">
            <a:spAutoFit/>
          </a:bodyPr>
          <a:lstStyle/>
          <a:p>
            <a:pPr algn="ctr"/>
            <a:r>
              <a:rPr sz="3400" b="1" i="0">
                <a:solidFill>
                  <a:srgbClr val="2F6FB2"/>
                </a:solidFill>
                <a:latin typeface="Cambria"/>
              </a:rPr>
              <a:t>6</a:t>
            </a:r>
          </a:p>
        </p:txBody>
      </p:sp>
      <p:sp>
        <p:nvSpPr>
          <p:cNvPr id="59" name="TextBox 58"/>
          <p:cNvSpPr txBox="1"/>
          <p:nvPr/>
        </p:nvSpPr>
        <p:spPr>
          <a:xfrm>
            <a:off x="1700784" y="1801368"/>
            <a:ext cx="2075688" cy="246888"/>
          </a:xfrm>
          <a:prstGeom prst="rect">
            <a:avLst/>
          </a:prstGeom>
          <a:noFill/>
        </p:spPr>
        <p:txBody>
          <a:bodyPr wrap="none" anchor="ctr" lIns="18288" rIns="18288" tIns="9144" bIns="9144">
            <a:spAutoFit/>
          </a:bodyPr>
          <a:lstStyle/>
          <a:p>
            <a:pPr algn="l"/>
            <a:r>
              <a:rPr sz="850" b="1" i="0">
                <a:solidFill>
                  <a:srgbClr val="2F6FB2"/>
                </a:solidFill>
                <a:latin typeface="Consolas"/>
              </a:rPr>
              <a:t>REFERENCE FAILURE ROUTES</a:t>
            </a:r>
          </a:p>
        </p:txBody>
      </p:sp>
      <p:sp>
        <p:nvSpPr>
          <p:cNvPr id="60" name="TextBox 59"/>
          <p:cNvSpPr txBox="1"/>
          <p:nvPr/>
        </p:nvSpPr>
        <p:spPr>
          <a:xfrm>
            <a:off x="1700784" y="2103120"/>
            <a:ext cx="2075688" cy="548640"/>
          </a:xfrm>
          <a:prstGeom prst="rect">
            <a:avLst/>
          </a:prstGeom>
          <a:noFill/>
        </p:spPr>
        <p:txBody>
          <a:bodyPr wrap="none" anchor="ctr" lIns="18288" rIns="18288" tIns="9144" bIns="9144">
            <a:spAutoFit/>
          </a:bodyPr>
          <a:lstStyle/>
          <a:p>
            <a:pPr algn="l"/>
            <a:r>
              <a:rPr sz="1019" b="1" i="0">
                <a:solidFill>
                  <a:srgbClr val="24355B"/>
                </a:solidFill>
                <a:latin typeface="Aptos"/>
              </a:rPr>
              <a:t>00E–00J · six distinct mechanisms</a:t>
            </a:r>
          </a:p>
        </p:txBody>
      </p:sp>
      <p:sp>
        <p:nvSpPr>
          <p:cNvPr id="61" name="Rounded Rectangle 60"/>
          <p:cNvSpPr/>
          <p:nvPr/>
        </p:nvSpPr>
        <p:spPr>
          <a:xfrm>
            <a:off x="4160520" y="1627632"/>
            <a:ext cx="3337560" cy="1417320"/>
          </a:xfrm>
          <a:prstGeom prst="roundRect">
            <a:avLst/>
          </a:prstGeom>
          <a:solidFill>
            <a:srgbClr val="E8F6F5"/>
          </a:solidFill>
          <a:ln w="1651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25112" y="1700784"/>
            <a:ext cx="868680" cy="658368"/>
          </a:xfrm>
          <a:prstGeom prst="rect">
            <a:avLst/>
          </a:prstGeom>
          <a:noFill/>
        </p:spPr>
        <p:txBody>
          <a:bodyPr wrap="none" anchor="ctr" lIns="18288" rIns="18288" tIns="9144" bIns="9144">
            <a:spAutoFit/>
          </a:bodyPr>
          <a:lstStyle/>
          <a:p>
            <a:pPr algn="ctr"/>
            <a:r>
              <a:rPr sz="3400" b="1" i="0">
                <a:solidFill>
                  <a:srgbClr val="00848A"/>
                </a:solidFill>
                <a:latin typeface="Cambria"/>
              </a:rPr>
              <a:t>14</a:t>
            </a:r>
          </a:p>
        </p:txBody>
      </p:sp>
      <p:sp>
        <p:nvSpPr>
          <p:cNvPr id="63" name="TextBox 62"/>
          <p:cNvSpPr txBox="1"/>
          <p:nvPr/>
        </p:nvSpPr>
        <p:spPr>
          <a:xfrm>
            <a:off x="5239512" y="1801368"/>
            <a:ext cx="2075688" cy="246888"/>
          </a:xfrm>
          <a:prstGeom prst="rect">
            <a:avLst/>
          </a:prstGeom>
          <a:noFill/>
        </p:spPr>
        <p:txBody>
          <a:bodyPr wrap="none" anchor="ctr" lIns="18288" rIns="18288" tIns="9144" bIns="9144">
            <a:spAutoFit/>
          </a:bodyPr>
          <a:lstStyle/>
          <a:p>
            <a:pPr algn="l"/>
            <a:r>
              <a:rPr sz="850" b="1" i="0">
                <a:solidFill>
                  <a:srgbClr val="00848A"/>
                </a:solidFill>
                <a:latin typeface="Consolas"/>
              </a:rPr>
              <a:t>CANONICAL REQUIREMENTS</a:t>
            </a:r>
          </a:p>
        </p:txBody>
      </p:sp>
      <p:sp>
        <p:nvSpPr>
          <p:cNvPr id="64" name="TextBox 63"/>
          <p:cNvSpPr txBox="1"/>
          <p:nvPr/>
        </p:nvSpPr>
        <p:spPr>
          <a:xfrm>
            <a:off x="5239512" y="2103120"/>
            <a:ext cx="2075688" cy="548640"/>
          </a:xfrm>
          <a:prstGeom prst="rect">
            <a:avLst/>
          </a:prstGeom>
          <a:noFill/>
        </p:spPr>
        <p:txBody>
          <a:bodyPr wrap="none" anchor="ctr" lIns="18288" rIns="18288" tIns="9144" bIns="9144">
            <a:spAutoFit/>
          </a:bodyPr>
          <a:lstStyle/>
          <a:p>
            <a:pPr algn="l"/>
            <a:r>
              <a:rPr sz="1019" b="1" i="0">
                <a:solidFill>
                  <a:srgbClr val="24355B"/>
                </a:solidFill>
                <a:latin typeface="Aptos"/>
              </a:rPr>
              <a:t>S1–S14 · one bounded requirement set</a:t>
            </a:r>
          </a:p>
        </p:txBody>
      </p:sp>
      <p:sp>
        <p:nvSpPr>
          <p:cNvPr id="65" name="Rounded Rectangle 64"/>
          <p:cNvSpPr/>
          <p:nvPr/>
        </p:nvSpPr>
        <p:spPr>
          <a:xfrm>
            <a:off x="7699248" y="1627632"/>
            <a:ext cx="3346704" cy="1417320"/>
          </a:xfrm>
          <a:prstGeom prst="roundRect">
            <a:avLst/>
          </a:prstGeom>
          <a:solidFill>
            <a:srgbClr val="FBF1E5"/>
          </a:solidFill>
          <a:ln w="16510">
            <a:solidFill>
              <a:srgbClr val="C86E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863840" y="1700784"/>
            <a:ext cx="868680" cy="658368"/>
          </a:xfrm>
          <a:prstGeom prst="rect">
            <a:avLst/>
          </a:prstGeom>
          <a:noFill/>
        </p:spPr>
        <p:txBody>
          <a:bodyPr wrap="none" anchor="ctr" lIns="18288" rIns="18288" tIns="9144" bIns="9144">
            <a:spAutoFit/>
          </a:bodyPr>
          <a:lstStyle/>
          <a:p>
            <a:pPr algn="ctr"/>
            <a:r>
              <a:rPr sz="3400" b="1" i="0">
                <a:solidFill>
                  <a:srgbClr val="C86E14"/>
                </a:solidFill>
                <a:latin typeface="Cambria"/>
              </a:rPr>
              <a:t>1</a:t>
            </a:r>
          </a:p>
        </p:txBody>
      </p:sp>
      <p:sp>
        <p:nvSpPr>
          <p:cNvPr id="67" name="TextBox 66"/>
          <p:cNvSpPr txBox="1"/>
          <p:nvPr/>
        </p:nvSpPr>
        <p:spPr>
          <a:xfrm>
            <a:off x="8778240" y="1801368"/>
            <a:ext cx="2084832" cy="246888"/>
          </a:xfrm>
          <a:prstGeom prst="rect">
            <a:avLst/>
          </a:prstGeom>
          <a:noFill/>
        </p:spPr>
        <p:txBody>
          <a:bodyPr wrap="none" anchor="ctr" lIns="18288" rIns="18288" tIns="9144" bIns="9144">
            <a:spAutoFit/>
          </a:bodyPr>
          <a:lstStyle/>
          <a:p>
            <a:pPr algn="l"/>
            <a:r>
              <a:rPr sz="850" b="1" i="0">
                <a:solidFill>
                  <a:srgbClr val="C86E14"/>
                </a:solidFill>
                <a:latin typeface="Consolas"/>
              </a:rPr>
              <a:t>COMMON TEST CONTRACT</a:t>
            </a:r>
          </a:p>
        </p:txBody>
      </p:sp>
      <p:sp>
        <p:nvSpPr>
          <p:cNvPr id="68" name="TextBox 67"/>
          <p:cNvSpPr txBox="1"/>
          <p:nvPr/>
        </p:nvSpPr>
        <p:spPr>
          <a:xfrm>
            <a:off x="8778240" y="2103120"/>
            <a:ext cx="2084832" cy="548640"/>
          </a:xfrm>
          <a:prstGeom prst="rect">
            <a:avLst/>
          </a:prstGeom>
          <a:noFill/>
        </p:spPr>
        <p:txBody>
          <a:bodyPr wrap="none" anchor="ctr" lIns="18288" rIns="18288" tIns="9144" bIns="9144">
            <a:spAutoFit/>
          </a:bodyPr>
          <a:lstStyle/>
          <a:p>
            <a:pPr algn="l"/>
            <a:r>
              <a:rPr sz="1019" b="1" i="0">
                <a:solidFill>
                  <a:srgbClr val="24355B"/>
                </a:solidFill>
                <a:latin typeface="Aptos"/>
              </a:rPr>
              <a:t>S1–S14 → T1–T4 → H1–H6 → KPI</a:t>
            </a:r>
          </a:p>
        </p:txBody>
      </p:sp>
      <p:sp>
        <p:nvSpPr>
          <p:cNvPr id="69" name="Rounded Rectangle 68"/>
          <p:cNvSpPr/>
          <p:nvPr/>
        </p:nvSpPr>
        <p:spPr>
          <a:xfrm>
            <a:off x="621792" y="3246120"/>
            <a:ext cx="10945368" cy="1005840"/>
          </a:xfrm>
          <a:prstGeom prst="roundRect">
            <a:avLst/>
          </a:prstGeom>
          <a:solidFill>
            <a:srgbClr val="FFFFFF"/>
          </a:solidFill>
          <a:ln w="15875">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4672" y="3355848"/>
            <a:ext cx="1417320" cy="210312"/>
          </a:xfrm>
          <a:prstGeom prst="rect">
            <a:avLst/>
          </a:prstGeom>
          <a:noFill/>
        </p:spPr>
        <p:txBody>
          <a:bodyPr wrap="none" anchor="ctr" lIns="18288" rIns="18288" tIns="9144" bIns="9144">
            <a:spAutoFit/>
          </a:bodyPr>
          <a:lstStyle/>
          <a:p>
            <a:pPr algn="l"/>
            <a:r>
              <a:rPr sz="850" b="1" i="0">
                <a:solidFill>
                  <a:srgbClr val="24355B"/>
                </a:solidFill>
                <a:latin typeface="Consolas"/>
              </a:rPr>
              <a:t>CENTRAL FINDING</a:t>
            </a:r>
          </a:p>
        </p:txBody>
      </p:sp>
      <p:sp>
        <p:nvSpPr>
          <p:cNvPr id="71" name="TextBox 70"/>
          <p:cNvSpPr txBox="1"/>
          <p:nvPr/>
        </p:nvSpPr>
        <p:spPr>
          <a:xfrm>
            <a:off x="2148840" y="3319272"/>
            <a:ext cx="9125712" cy="420624"/>
          </a:xfrm>
          <a:prstGeom prst="rect">
            <a:avLst/>
          </a:prstGeom>
          <a:noFill/>
        </p:spPr>
        <p:txBody>
          <a:bodyPr wrap="none" anchor="ctr" lIns="18288" rIns="18288" tIns="9144" bIns="9144">
            <a:spAutoFit/>
          </a:bodyPr>
          <a:lstStyle/>
          <a:p>
            <a:pPr algn="l"/>
            <a:r>
              <a:rPr sz="1410" b="1" i="0">
                <a:solidFill>
                  <a:srgbClr val="24355B"/>
                </a:solidFill>
                <a:latin typeface="Cambria"/>
              </a:rPr>
              <a:t>The same requirements system defines a conforming Route Q for every reference scenario. No case-specific requirement family has been needed.</a:t>
            </a:r>
          </a:p>
        </p:txBody>
      </p:sp>
      <p:sp>
        <p:nvSpPr>
          <p:cNvPr id="72" name="TextBox 71"/>
          <p:cNvSpPr txBox="1"/>
          <p:nvPr/>
        </p:nvSpPr>
        <p:spPr>
          <a:xfrm>
            <a:off x="2148840" y="3776472"/>
            <a:ext cx="9006840" cy="256032"/>
          </a:xfrm>
          <a:prstGeom prst="rect">
            <a:avLst/>
          </a:prstGeom>
          <a:noFill/>
        </p:spPr>
        <p:txBody>
          <a:bodyPr wrap="none" anchor="ctr" lIns="18288" rIns="18288" tIns="9144" bIns="9144">
            <a:spAutoFit/>
          </a:bodyPr>
          <a:lstStyle/>
          <a:p>
            <a:pPr algn="l"/>
            <a:r>
              <a:rPr sz="969" b="1" i="0">
                <a:solidFill>
                  <a:srgbClr val="5D6775"/>
                </a:solidFill>
                <a:latin typeface="Aptos"/>
              </a:rPr>
              <a:t>Requirement reuse across radically different failure mechanisms is itself a result.</a:t>
            </a:r>
          </a:p>
        </p:txBody>
      </p:sp>
      <p:sp>
        <p:nvSpPr>
          <p:cNvPr id="73" name="TextBox 72"/>
          <p:cNvSpPr txBox="1"/>
          <p:nvPr/>
        </p:nvSpPr>
        <p:spPr>
          <a:xfrm>
            <a:off x="630936" y="4443984"/>
            <a:ext cx="1920240" cy="228600"/>
          </a:xfrm>
          <a:prstGeom prst="rect">
            <a:avLst/>
          </a:prstGeom>
          <a:noFill/>
        </p:spPr>
        <p:txBody>
          <a:bodyPr wrap="none" anchor="ctr" lIns="18288" rIns="18288" tIns="9144" bIns="9144">
            <a:spAutoFit/>
          </a:bodyPr>
          <a:lstStyle/>
          <a:p>
            <a:pPr algn="l"/>
            <a:r>
              <a:rPr sz="830" b="1" i="0">
                <a:solidFill>
                  <a:srgbClr val="24355B"/>
                </a:solidFill>
                <a:latin typeface="Consolas"/>
              </a:rPr>
              <a:t>VERIFY EACH CONFORMING ROUTE</a:t>
            </a:r>
          </a:p>
        </p:txBody>
      </p:sp>
      <p:sp>
        <p:nvSpPr>
          <p:cNvPr id="74" name="Rounded Rectangle 73"/>
          <p:cNvSpPr/>
          <p:nvPr/>
        </p:nvSpPr>
        <p:spPr>
          <a:xfrm>
            <a:off x="630936"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76656"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3"/>
              </a:rPr>
              <a:t>00E</a:t>
            </a:r>
          </a:p>
        </p:txBody>
      </p:sp>
      <p:sp>
        <p:nvSpPr>
          <p:cNvPr id="76" name="TextBox 75"/>
          <p:cNvSpPr txBox="1"/>
          <p:nvPr/>
        </p:nvSpPr>
        <p:spPr>
          <a:xfrm>
            <a:off x="676656"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3"/>
              </a:rPr>
              <a:t>100M Tokens</a:t>
            </a:r>
          </a:p>
        </p:txBody>
      </p:sp>
      <p:sp>
        <p:nvSpPr>
          <p:cNvPr id="77" name="Rounded Rectangle 76"/>
          <p:cNvSpPr/>
          <p:nvPr/>
        </p:nvSpPr>
        <p:spPr>
          <a:xfrm>
            <a:off x="2066543"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112263"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4"/>
              </a:rPr>
              <a:t>00F</a:t>
            </a:r>
          </a:p>
        </p:txBody>
      </p:sp>
      <p:sp>
        <p:nvSpPr>
          <p:cNvPr id="79" name="TextBox 78"/>
          <p:cNvSpPr txBox="1"/>
          <p:nvPr/>
        </p:nvSpPr>
        <p:spPr>
          <a:xfrm>
            <a:off x="2112263"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4"/>
              </a:rPr>
              <a:t>Smartcity</a:t>
            </a:r>
          </a:p>
        </p:txBody>
      </p:sp>
      <p:sp>
        <p:nvSpPr>
          <p:cNvPr id="80" name="Rounded Rectangle 79"/>
          <p:cNvSpPr/>
          <p:nvPr/>
        </p:nvSpPr>
        <p:spPr>
          <a:xfrm>
            <a:off x="3502151"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547871"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5"/>
              </a:rPr>
              <a:t>00G</a:t>
            </a:r>
          </a:p>
        </p:txBody>
      </p:sp>
      <p:sp>
        <p:nvSpPr>
          <p:cNvPr id="82" name="TextBox 81"/>
          <p:cNvSpPr txBox="1"/>
          <p:nvPr/>
        </p:nvSpPr>
        <p:spPr>
          <a:xfrm>
            <a:off x="3547871"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5"/>
              </a:rPr>
              <a:t>Napoleon</a:t>
            </a:r>
          </a:p>
        </p:txBody>
      </p:sp>
      <p:sp>
        <p:nvSpPr>
          <p:cNvPr id="83" name="Rounded Rectangle 82"/>
          <p:cNvSpPr/>
          <p:nvPr/>
        </p:nvSpPr>
        <p:spPr>
          <a:xfrm>
            <a:off x="4937759"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983479"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6"/>
              </a:rPr>
              <a:t>00H</a:t>
            </a:r>
          </a:p>
        </p:txBody>
      </p:sp>
      <p:sp>
        <p:nvSpPr>
          <p:cNvPr id="85" name="TextBox 84"/>
          <p:cNvSpPr txBox="1"/>
          <p:nvPr/>
        </p:nvSpPr>
        <p:spPr>
          <a:xfrm>
            <a:off x="4983479"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6"/>
              </a:rPr>
              <a:t>Quiet 4K</a:t>
            </a:r>
          </a:p>
        </p:txBody>
      </p:sp>
      <p:sp>
        <p:nvSpPr>
          <p:cNvPr id="86" name="Rounded Rectangle 85"/>
          <p:cNvSpPr/>
          <p:nvPr/>
        </p:nvSpPr>
        <p:spPr>
          <a:xfrm>
            <a:off x="6373367"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19087"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7"/>
              </a:rPr>
              <a:t>00I</a:t>
            </a:r>
          </a:p>
        </p:txBody>
      </p:sp>
      <p:sp>
        <p:nvSpPr>
          <p:cNvPr id="88" name="TextBox 87"/>
          <p:cNvSpPr txBox="1"/>
          <p:nvPr/>
        </p:nvSpPr>
        <p:spPr>
          <a:xfrm>
            <a:off x="6419087"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7"/>
              </a:rPr>
              <a:t>Patch</a:t>
            </a:r>
          </a:p>
        </p:txBody>
      </p:sp>
      <p:sp>
        <p:nvSpPr>
          <p:cNvPr id="89" name="Rounded Rectangle 88"/>
          <p:cNvSpPr/>
          <p:nvPr/>
        </p:nvSpPr>
        <p:spPr>
          <a:xfrm>
            <a:off x="7808975" y="4681728"/>
            <a:ext cx="1325880" cy="512064"/>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854696" y="4727448"/>
            <a:ext cx="1234439" cy="173736"/>
          </a:xfrm>
          <a:prstGeom prst="rect">
            <a:avLst/>
          </a:prstGeom>
          <a:noFill/>
        </p:spPr>
        <p:txBody>
          <a:bodyPr wrap="none" anchor="ctr" lIns="18288" rIns="18288" tIns="9144" bIns="9144">
            <a:spAutoFit/>
          </a:bodyPr>
          <a:lstStyle/>
          <a:p>
            <a:pPr algn="ctr"/>
            <a:r>
              <a:rPr sz="800" b="1" i="0">
                <a:solidFill>
                  <a:srgbClr val="2F6FB2"/>
                </a:solidFill>
                <a:latin typeface="Consolas"/>
                <a:hlinkClick r:id="rId8"/>
              </a:rPr>
              <a:t>00J</a:t>
            </a:r>
          </a:p>
        </p:txBody>
      </p:sp>
      <p:sp>
        <p:nvSpPr>
          <p:cNvPr id="91" name="TextBox 90"/>
          <p:cNvSpPr txBox="1"/>
          <p:nvPr/>
        </p:nvSpPr>
        <p:spPr>
          <a:xfrm>
            <a:off x="7854696" y="4919472"/>
            <a:ext cx="1234439" cy="164592"/>
          </a:xfrm>
          <a:prstGeom prst="rect">
            <a:avLst/>
          </a:prstGeom>
          <a:noFill/>
        </p:spPr>
        <p:txBody>
          <a:bodyPr wrap="none" anchor="ctr" lIns="18288" rIns="18288" tIns="9144" bIns="9144">
            <a:spAutoFit/>
          </a:bodyPr>
          <a:lstStyle/>
          <a:p>
            <a:pPr algn="ctr"/>
            <a:r>
              <a:rPr sz="780" b="1" i="0">
                <a:solidFill>
                  <a:srgbClr val="1F2D3D"/>
                </a:solidFill>
                <a:latin typeface="Aptos"/>
                <a:hlinkClick r:id="rId8"/>
              </a:rPr>
              <a:t>Author</a:t>
            </a:r>
          </a:p>
        </p:txBody>
      </p:sp>
      <p:sp>
        <p:nvSpPr>
          <p:cNvPr id="92" name="Rounded Rectangle 91"/>
          <p:cNvSpPr/>
          <p:nvPr/>
        </p:nvSpPr>
        <p:spPr>
          <a:xfrm>
            <a:off x="630936" y="5367528"/>
            <a:ext cx="5285232" cy="566928"/>
          </a:xfrm>
          <a:prstGeom prst="roundRect">
            <a:avLst/>
          </a:prstGeom>
          <a:solidFill>
            <a:srgbClr val="24355B"/>
          </a:solidFill>
          <a:ln w="10160">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a:hlinkClick r:id="rId2"/>
          </p:cNvPr>
          <p:cNvSpPr txBox="1"/>
          <p:nvPr/>
        </p:nvSpPr>
        <p:spPr>
          <a:xfrm>
            <a:off x="804672" y="5440680"/>
            <a:ext cx="4919472" cy="310896"/>
          </a:xfrm>
          <a:prstGeom prst="rect">
            <a:avLst/>
          </a:prstGeom>
          <a:noFill/>
        </p:spPr>
        <p:txBody>
          <a:bodyPr wrap="none" anchor="ctr" lIns="18288" rIns="18288" tIns="9144" bIns="9144">
            <a:spAutoFit/>
          </a:bodyPr>
          <a:lstStyle/>
          <a:p>
            <a:pPr algn="ctr"/>
            <a:r>
              <a:rPr sz="900" b="1" i="0" u="none">
                <a:solidFill>
                  <a:srgbClr val="FFFFFF"/>
                </a:solidFill>
                <a:latin typeface="Consolas"/>
              </a:rPr>
              <a:t>OPEN 00 · CANONICAL REQUIREMENTS  →</a:t>
            </a:r>
          </a:p>
        </p:txBody>
      </p:sp>
      <p:sp>
        <p:nvSpPr>
          <p:cNvPr id="94" name="Rounded Rectangle 93"/>
          <p:cNvSpPr/>
          <p:nvPr/>
        </p:nvSpPr>
        <p:spPr>
          <a:xfrm>
            <a:off x="6089904" y="5367528"/>
            <a:ext cx="3227832" cy="566928"/>
          </a:xfrm>
          <a:prstGeom prst="roundRect">
            <a:avLst/>
          </a:prstGeom>
          <a:solidFill>
            <a:srgbClr val="00848A"/>
          </a:solidFill>
          <a:ln w="1016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a:hlinkClick r:id="rId9"/>
          </p:cNvPr>
          <p:cNvSpPr txBox="1"/>
          <p:nvPr/>
        </p:nvSpPr>
        <p:spPr>
          <a:xfrm>
            <a:off x="6254496" y="5440680"/>
            <a:ext cx="2907792" cy="310896"/>
          </a:xfrm>
          <a:prstGeom prst="rect">
            <a:avLst/>
          </a:prstGeom>
          <a:noFill/>
        </p:spPr>
        <p:txBody>
          <a:bodyPr wrap="none" anchor="ctr" lIns="18288" rIns="18288" tIns="9144" bIns="9144">
            <a:spAutoFit/>
          </a:bodyPr>
          <a:lstStyle/>
          <a:p>
            <a:pPr algn="ctr"/>
            <a:r>
              <a:rPr sz="900" b="1" i="0" u="none">
                <a:solidFill>
                  <a:srgbClr val="FFFFFF"/>
                </a:solidFill>
                <a:latin typeface="Consolas"/>
              </a:rPr>
              <a:t>TRACE COVERAGE  →</a:t>
            </a:r>
          </a:p>
        </p:txBody>
      </p:sp>
      <p:sp>
        <p:nvSpPr>
          <p:cNvPr id="96" name="Rounded Rectangle 95"/>
          <p:cNvSpPr/>
          <p:nvPr/>
        </p:nvSpPr>
        <p:spPr>
          <a:xfrm>
            <a:off x="9491472" y="5367528"/>
            <a:ext cx="2075688" cy="566928"/>
          </a:xfrm>
          <a:prstGeom prst="roundRect">
            <a:avLst/>
          </a:prstGeom>
          <a:solidFill>
            <a:srgbClr val="FFFFFF"/>
          </a:solidFill>
          <a:ln w="12700">
            <a:solidFill>
              <a:srgbClr val="C86E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a:hlinkClick r:id="rId10"/>
          </p:cNvPr>
          <p:cNvSpPr txBox="1"/>
          <p:nvPr/>
        </p:nvSpPr>
        <p:spPr>
          <a:xfrm>
            <a:off x="9601200" y="5440680"/>
            <a:ext cx="1856231" cy="310896"/>
          </a:xfrm>
          <a:prstGeom prst="rect">
            <a:avLst/>
          </a:prstGeom>
          <a:noFill/>
        </p:spPr>
        <p:txBody>
          <a:bodyPr wrap="none" anchor="ctr" lIns="18288" rIns="18288" tIns="9144" bIns="9144">
            <a:spAutoFit/>
          </a:bodyPr>
          <a:lstStyle/>
          <a:p>
            <a:pPr algn="ctr"/>
            <a:r>
              <a:rPr sz="860" b="1" i="0" u="none">
                <a:solidFill>
                  <a:srgbClr val="C86E14"/>
                </a:solidFill>
                <a:latin typeface="Consolas"/>
              </a:rPr>
              <a:t>ALL ROUTES  →</a:t>
            </a:r>
          </a:p>
        </p:txBody>
      </p:sp>
      <p:sp>
        <p:nvSpPr>
          <p:cNvPr id="98" name="TextBox 97"/>
          <p:cNvSpPr txBox="1"/>
          <p:nvPr/>
        </p:nvSpPr>
        <p:spPr>
          <a:xfrm>
            <a:off x="640080" y="5998464"/>
            <a:ext cx="9784080" cy="182880"/>
          </a:xfrm>
          <a:prstGeom prst="rect">
            <a:avLst/>
          </a:prstGeom>
          <a:noFill/>
        </p:spPr>
        <p:txBody>
          <a:bodyPr wrap="none" anchor="ctr" lIns="18288" rIns="18288" tIns="9144" bIns="9144">
            <a:spAutoFit/>
          </a:bodyPr>
          <a:lstStyle/>
          <a:p>
            <a:pPr algn="l"/>
            <a:r>
              <a:rPr sz="770" b="0" i="1">
                <a:solidFill>
                  <a:srgbClr val="5D6775"/>
                </a:solidFill>
                <a:latin typeface="Aptos"/>
              </a:rPr>
              <a:t>Coverage / conformance design result; comparative execution and independent replication remain separately tracked.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3C2A-EDE6-4F29-A34B-C5ADE34E02AE}"/>
              </a:ext>
            </a:extLst>
          </p:cNvPr>
          <p:cNvSpPr>
            <a:spLocks noGrp="1"/>
          </p:cNvSpPr>
          <p:nvPr/>
        </p:nvSpPr>
        <p:spPr>
          <a:xfrm>
            <a:off x="566928" y="146304"/>
            <a:ext cx="2560320" cy="164592"/>
          </a:xfrm>
          <a:prstGeom prst="rect">
            <a:avLst/>
          </a:prstGeom>
          <a:noFill/>
          <a:ln>
            <a:noFill/>
          </a:ln>
        </p:spPr>
        <p:txBody>
          <a:bodyPr wrap="square" lIns="50800" tIns="50800" rIns="50800" bIns="50800" anchor="t">
            <a:spAutoFit/>
          </a:bodyPr>
          <a:lstStyle/>
          <a:p>
            <a:pPr algn="l">
              <a:buNone/>
            </a:pPr>
            <a:r>
              <a:rPr sz="1000" b="0" i="0">
                <a:solidFill>
                  <a:srgbClr val="5D6572"/>
                </a:solidFill>
                <a:latin typeface="Aptos"/>
                <a:ea typeface="Aptos"/>
                <a:cs typeface="Aptos"/>
              </a:rPr>
              <a:t>PROPOSED PROCESS</a:t>
            </a:r>
          </a:p>
        </p:txBody>
      </p:sp>
      <p:sp>
        <p:nvSpPr>
          <p:cNvPr id="3" name="Rectangle 2">
            <a:extLst>
              <a:ext uri="{FF2B5EF4-FFF2-40B4-BE49-F238E27FC236}">
                <a16:creationId xmlns:a16="http://schemas.microsoft.com/office/drawing/2014/main" id="{391A6EEE-EF09-4EAB-9991-53413BC29016}"/>
              </a:ext>
            </a:extLst>
          </p:cNvPr>
          <p:cNvSpPr>
            <a:spLocks noGrp="1"/>
          </p:cNvSpPr>
          <p:nvPr/>
        </p:nvSpPr>
        <p:spPr>
          <a:xfrm>
            <a:off x="566928" y="329184"/>
            <a:ext cx="10972800" cy="16459"/>
          </a:xfrm>
          <a:prstGeom prst="rect">
            <a:avLst/>
          </a:prstGeom>
          <a:solidFill>
            <a:srgbClr val="1F2C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B911BA3-C90C-4EAC-89FB-AF2D210BC2C2}"/>
              </a:ext>
            </a:extLst>
          </p:cNvPr>
          <p:cNvSpPr>
            <a:spLocks noGrp="1"/>
          </p:cNvSpPr>
          <p:nvPr/>
        </p:nvSpPr>
        <p:spPr>
          <a:xfrm>
            <a:off x="10881360" y="146304"/>
            <a:ext cx="640080" cy="164592"/>
          </a:xfrm>
          <a:prstGeom prst="rect">
            <a:avLst/>
          </a:prstGeom>
          <a:noFill/>
          <a:ln>
            <a:noFill/>
          </a:ln>
        </p:spPr>
        <p:txBody>
          <a:bodyPr wrap="square" lIns="50800" tIns="50800" rIns="50800" bIns="50800" anchor="t">
            <a:spAutoFit/>
          </a:bodyPr>
          <a:lstStyle/>
          <a:p>
            <a:pPr algn="r">
              <a:buNone/>
            </a:pPr>
            <a:r>
              <a:rPr sz="1000" b="0" i="0">
                <a:solidFill>
                  <a:srgbClr val="5D6572"/>
                </a:solidFill>
                <a:latin typeface="Aptos"/>
                <a:ea typeface="Aptos"/>
                <a:cs typeface="Aptos"/>
              </a:rPr>
              <a:t>§ 04</a:t>
            </a:r>
          </a:p>
        </p:txBody>
      </p:sp>
      <p:sp>
        <p:nvSpPr>
          <p:cNvPr id="9" name="TextBox 8">
            <a:extLst>
              <a:ext uri="{FF2B5EF4-FFF2-40B4-BE49-F238E27FC236}">
                <a16:creationId xmlns:a16="http://schemas.microsoft.com/office/drawing/2014/main" id="{89522ADA-7F11-4646-AC5D-53A8C74E0CED}"/>
              </a:ext>
            </a:extLst>
          </p:cNvPr>
          <p:cNvSpPr>
            <a:spLocks noGrp="1"/>
          </p:cNvSpPr>
          <p:nvPr/>
        </p:nvSpPr>
        <p:spPr>
          <a:xfrm>
            <a:off x="566928" y="676656"/>
            <a:ext cx="10789920" cy="518091"/>
          </a:xfrm>
          <a:prstGeom prst="rect">
            <a:avLst/>
          </a:prstGeom>
          <a:noFill/>
          <a:ln>
            <a:noFill/>
          </a:ln>
        </p:spPr>
        <p:txBody>
          <a:bodyPr wrap="square" lIns="50800" tIns="50800" rIns="50800" bIns="50800" anchor="t">
            <a:spAutoFit/>
          </a:bodyPr>
          <a:lstStyle/>
          <a:p>
            <a:pPr algn="l">
              <a:buNone/>
            </a:pPr>
            <a:r>
              <a:rPr sz="2400" b="1" i="0" dirty="0">
                <a:solidFill>
                  <a:srgbClr val="1F2C4A"/>
                </a:solidFill>
                <a:latin typeface="Aptos"/>
                <a:ea typeface="Aptos"/>
                <a:cs typeface="Aptos"/>
              </a:rPr>
              <a:t>From unresolved ecosystem change to qualified repositioning</a:t>
            </a:r>
          </a:p>
        </p:txBody>
      </p:sp>
      <p:sp>
        <p:nvSpPr>
          <p:cNvPr id="40" name="Rectangle 39">
            <a:extLst>
              <a:ext uri="{FF2B5EF4-FFF2-40B4-BE49-F238E27FC236}">
                <a16:creationId xmlns:a16="http://schemas.microsoft.com/office/drawing/2014/main" id="{0FBD1609-1773-4E81-A4D0-CFAAD5DA3C30}"/>
              </a:ext>
            </a:extLst>
          </p:cNvPr>
          <p:cNvSpPr>
            <a:spLocks noGrp="1"/>
          </p:cNvSpPr>
          <p:nvPr/>
        </p:nvSpPr>
        <p:spPr>
          <a:xfrm>
            <a:off x="0" y="6336792"/>
            <a:ext cx="12191695" cy="521207"/>
          </a:xfrm>
          <a:prstGeom prst="rect">
            <a:avLst/>
          </a:prstGeom>
          <a:solidFill>
            <a:srgbClr val="F8F8F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Rectangle 40">
            <a:extLst>
              <a:ext uri="{FF2B5EF4-FFF2-40B4-BE49-F238E27FC236}">
                <a16:creationId xmlns:a16="http://schemas.microsoft.com/office/drawing/2014/main" id="{17E6288D-530F-4430-A549-73DD0F71610D}"/>
              </a:ext>
            </a:extLst>
          </p:cNvPr>
          <p:cNvSpPr>
            <a:spLocks noGrp="1"/>
          </p:cNvSpPr>
          <p:nvPr/>
        </p:nvSpPr>
        <p:spPr>
          <a:xfrm>
            <a:off x="566928" y="6492240"/>
            <a:ext cx="10972800" cy="13716"/>
          </a:xfrm>
          <a:prstGeom prst="rect">
            <a:avLst/>
          </a:prstGeom>
          <a:solidFill>
            <a:srgbClr val="1F2C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98172088-50EC-4488-A3BA-69A5D8844DBE}"/>
              </a:ext>
            </a:extLst>
          </p:cNvPr>
          <p:cNvSpPr>
            <a:spLocks noGrp="1"/>
          </p:cNvSpPr>
          <p:nvPr/>
        </p:nvSpPr>
        <p:spPr>
          <a:xfrm>
            <a:off x="4114800" y="6528816"/>
            <a:ext cx="3657600" cy="128016"/>
          </a:xfrm>
          <a:prstGeom prst="rect">
            <a:avLst/>
          </a:prstGeom>
          <a:noFill/>
        </p:spPr>
        <p:txBody>
          <a:bodyPr wrap="square">
            <a:spAutoFit/>
          </a:bodyPr>
          <a:lstStyle/>
          <a:p>
            <a:pPr algn="ctr">
              <a:buNone/>
            </a:pPr>
            <a:r>
              <a:rPr sz="760" b="0" i="0">
                <a:solidFill>
                  <a:srgbClr val="5D6572"/>
                </a:solidFill>
                <a:latin typeface="Aptos"/>
                <a:ea typeface="Aptos"/>
                <a:cs typeface="Aptos"/>
              </a:rPr>
              <a:t>Ecosystem Awareness · Positioning architecture</a:t>
            </a:r>
          </a:p>
        </p:txBody>
      </p:sp>
      <p:sp>
        <p:nvSpPr>
          <p:cNvPr id="44" name="TextBox 43">
            <a:extLst>
              <a:ext uri="{FF2B5EF4-FFF2-40B4-BE49-F238E27FC236}">
                <a16:creationId xmlns:a16="http://schemas.microsoft.com/office/drawing/2014/main" id="{36193EA4-CB24-47D0-A4F3-21E636B3F5A0}"/>
              </a:ext>
            </a:extLst>
          </p:cNvPr>
          <p:cNvSpPr>
            <a:spLocks noGrp="1"/>
          </p:cNvSpPr>
          <p:nvPr/>
        </p:nvSpPr>
        <p:spPr>
          <a:xfrm>
            <a:off x="11018520" y="6528816"/>
            <a:ext cx="365760" cy="128016"/>
          </a:xfrm>
          <a:prstGeom prst="rect">
            <a:avLst/>
          </a:prstGeom>
          <a:noFill/>
        </p:spPr>
        <p:txBody>
          <a:bodyPr wrap="square">
            <a:spAutoFit/>
          </a:bodyPr>
          <a:lstStyle/>
          <a:p>
            <a:pPr algn="r"/>
            <a:r>
              <a:rPr sz="900">
                <a:solidFill>
                  <a:srgbClr val="5D6775"/>
                </a:solidFill>
                <a:latin typeface="Calibri"/>
              </a:rPr>
              <a:t>9</a:t>
            </a:r>
          </a:p>
        </p:txBody>
      </p:sp>
      <p:sp>
        <p:nvSpPr>
          <p:cNvPr id="10" name="Subtitle">
            <a:extLst>
              <a:ext uri="{FF2B5EF4-FFF2-40B4-BE49-F238E27FC236}">
                <a16:creationId xmlns:a16="http://schemas.microsoft.com/office/drawing/2014/main" id="{483E7DE4-BD57-4DAE-964E-616105439335}"/>
              </a:ext>
            </a:extLst>
          </p:cNvPr>
          <p:cNvSpPr>
            <a:spLocks noGrp="1"/>
          </p:cNvSpPr>
          <p:nvPr/>
        </p:nvSpPr>
        <p:spPr>
          <a:xfrm>
            <a:off x="566928" y="1133856"/>
            <a:ext cx="10881360" cy="237744"/>
          </a:xfrm>
          <a:prstGeom prst="rect">
            <a:avLst/>
          </a:prstGeom>
          <a:noFill/>
          <a:ln>
            <a:noFill/>
          </a:ln>
        </p:spPr>
        <p:txBody>
          <a:bodyPr wrap="square" lIns="18288" tIns="9144" rIns="18288" bIns="9144" anchor="t">
            <a:noAutofit/>
          </a:bodyPr>
          <a:lstStyle/>
          <a:p>
            <a:pPr algn="l">
              <a:spcBef>
                <a:spcPts val="0"/>
              </a:spcBef>
              <a:spcAft>
                <a:spcPts val="0"/>
              </a:spcAft>
              <a:buNone/>
            </a:pPr>
            <a:r>
              <a:rPr sz="1050" b="0" i="0">
                <a:solidFill>
                  <a:srgbClr val="5D6572"/>
                </a:solidFill>
                <a:latin typeface="Aptos"/>
                <a:ea typeface="Aptos"/>
                <a:cs typeface="Aptos"/>
              </a:rPr>
              <a:t>Working proposal, not an adopted standard. Top row: the process sequence. Panels below: expansion of the numbered steps.</a:t>
            </a:r>
          </a:p>
        </p:txBody>
      </p:sp>
      <p:sp>
        <p:nvSpPr>
          <p:cNvPr id="101" name="Badge proposal">
            <a:extLst>
              <a:ext uri="{FF2B5EF4-FFF2-40B4-BE49-F238E27FC236}">
                <a16:creationId xmlns:a16="http://schemas.microsoft.com/office/drawing/2014/main" id="{76673D47-3A06-4329-B8DA-59ED66B1A4B7}"/>
              </a:ext>
            </a:extLst>
          </p:cNvPr>
          <p:cNvSpPr>
            <a:spLocks noGrp="1"/>
          </p:cNvSpPr>
          <p:nvPr/>
        </p:nvSpPr>
        <p:spPr>
          <a:xfrm>
            <a:off x="9052560" y="91440"/>
            <a:ext cx="1463040" cy="219456"/>
          </a:xfrm>
          <a:prstGeom prst="roundRect">
            <a:avLst/>
          </a:prstGeom>
          <a:solidFill>
            <a:srgbClr val="007B82"/>
          </a:solidFill>
          <a:ln>
            <a:noFill/>
          </a:ln>
        </p:spPr>
        <p:txBody>
          <a:bodyPr wrap="square" lIns="36576" tIns="18288" rIns="36576" bIns="18288" anchor="ctr">
            <a:noAutofit/>
          </a:bodyPr>
          <a:lstStyle/>
          <a:p>
            <a:pPr algn="ctr">
              <a:spcBef>
                <a:spcPts val="0"/>
              </a:spcBef>
              <a:spcAft>
                <a:spcPts val="0"/>
              </a:spcAft>
              <a:buNone/>
            </a:pPr>
            <a:r>
              <a:rPr sz="800" b="1" i="0">
                <a:solidFill>
                  <a:srgbClr val="FFFFFF"/>
                </a:solidFill>
                <a:latin typeface="Aptos"/>
                <a:ea typeface="Aptos"/>
                <a:cs typeface="Aptos"/>
              </a:rPr>
              <a:t>PROPOSAL PROCESS</a:t>
            </a:r>
          </a:p>
        </p:txBody>
      </p:sp>
      <p:sp>
        <p:nvSpPr>
          <p:cNvPr id="102" name="Process step 0">
            <a:extLst>
              <a:ext uri="{FF2B5EF4-FFF2-40B4-BE49-F238E27FC236}">
                <a16:creationId xmlns:a16="http://schemas.microsoft.com/office/drawing/2014/main" id="{517B6355-DB34-405C-9938-4D1D746CFEC8}"/>
              </a:ext>
            </a:extLst>
          </p:cNvPr>
          <p:cNvSpPr>
            <a:spLocks noGrp="1"/>
          </p:cNvSpPr>
          <p:nvPr/>
        </p:nvSpPr>
        <p:spPr>
          <a:xfrm>
            <a:off x="566928" y="1627632"/>
            <a:ext cx="1371600" cy="768096"/>
          </a:xfrm>
          <a:prstGeom prst="roundRect">
            <a:avLst/>
          </a:prstGeom>
          <a:solidFill>
            <a:srgbClr val="FFFFFF"/>
          </a:solidFill>
          <a:ln w="19050">
            <a:solidFill>
              <a:srgbClr val="C17629"/>
            </a:solidFill>
          </a:ln>
        </p:spPr>
        <p:txBody>
          <a:bodyPr wrap="square" lIns="45720" tIns="27432" rIns="45720" bIns="27432" anchor="ctr">
            <a:noAutofit/>
          </a:bodyPr>
          <a:lstStyle/>
          <a:p>
            <a:pPr algn="ctr">
              <a:spcBef>
                <a:spcPts val="0"/>
              </a:spcBef>
              <a:spcAft>
                <a:spcPts val="0"/>
              </a:spcAft>
              <a:buNone/>
            </a:pPr>
            <a:r>
              <a:rPr sz="900" b="1" i="0">
                <a:solidFill>
                  <a:srgbClr val="C17629"/>
                </a:solidFill>
                <a:latin typeface="Aptos"/>
                <a:ea typeface="Aptos"/>
                <a:cs typeface="Aptos"/>
                <a:hlinkClick r:id="rId3"/>
              </a:rPr>
              <a:t>0 · Epistemic Awareness</a:t>
            </a:r>
          </a:p>
          <a:p>
            <a:pPr algn="ctr">
              <a:spcBef>
                <a:spcPts val="0"/>
              </a:spcBef>
              <a:spcAft>
                <a:spcPts val="0"/>
              </a:spcAft>
              <a:buNone/>
            </a:pPr>
            <a:r>
              <a:rPr sz="900" b="1" i="0">
                <a:solidFill>
                  <a:srgbClr val="C17629"/>
                </a:solidFill>
                <a:latin typeface="Aptos"/>
                <a:ea typeface="Aptos"/>
                <a:cs typeface="Aptos"/>
                <a:hlinkClick r:id="rId3"/>
              </a:rPr>
              <a:t>Local position</a:t>
            </a:r>
          </a:p>
          <a:p>
            <a:pPr algn="ctr">
              <a:spcBef>
                <a:spcPts val="200"/>
              </a:spcBef>
              <a:spcAft>
                <a:spcPts val="0"/>
              </a:spcAft>
              <a:buNone/>
            </a:pPr>
            <a:r>
              <a:rPr sz="700" b="0" i="0">
                <a:solidFill>
                  <a:srgbClr val="5D6572"/>
                </a:solidFill>
                <a:latin typeface="Aptos"/>
                <a:ea typeface="Aptos"/>
                <a:cs typeface="Aptos"/>
                <a:hlinkClick r:id="rId3"/>
              </a:rPr>
              <a:t>Qualify Π_EA = A/B/C/D</a:t>
            </a:r>
          </a:p>
        </p:txBody>
      </p:sp>
      <p:sp>
        <p:nvSpPr>
          <p:cNvPr id="103" name="Process step 1">
            <a:extLst>
              <a:ext uri="{FF2B5EF4-FFF2-40B4-BE49-F238E27FC236}">
                <a16:creationId xmlns:a16="http://schemas.microsoft.com/office/drawing/2014/main" id="{16B9117A-4BCA-491C-9F68-6B8C032AE91F}"/>
              </a:ext>
            </a:extLst>
          </p:cNvPr>
          <p:cNvSpPr>
            <a:spLocks noGrp="1"/>
          </p:cNvSpPr>
          <p:nvPr/>
        </p:nvSpPr>
        <p:spPr>
          <a:xfrm>
            <a:off x="2180844" y="1627632"/>
            <a:ext cx="1371600" cy="768096"/>
          </a:xfrm>
          <a:prstGeom prst="roundRect">
            <a:avLst/>
          </a:prstGeom>
          <a:solidFill>
            <a:srgbClr val="FFFFFF"/>
          </a:solidFill>
          <a:ln w="15875">
            <a:solidFill>
              <a:srgbClr val="C4CAD4"/>
            </a:solidFill>
          </a:ln>
        </p:spPr>
        <p:txBody>
          <a:bodyPr wrap="square" lIns="45720" tIns="27432" rIns="45720" bIns="27432" anchor="ctr">
            <a:noAutofit/>
          </a:bodyPr>
          <a:lstStyle/>
          <a:p>
            <a:pPr algn="ctr">
              <a:spcBef>
                <a:spcPts val="0"/>
              </a:spcBef>
              <a:spcAft>
                <a:spcPts val="0"/>
              </a:spcAft>
              <a:buNone/>
            </a:pPr>
            <a:r>
              <a:rPr sz="1000" b="1" i="0">
                <a:solidFill>
                  <a:srgbClr val="1F2C4A"/>
                </a:solidFill>
                <a:latin typeface="Aptos"/>
                <a:ea typeface="Aptos"/>
                <a:cs typeface="Aptos"/>
                <a:hlinkClick r:id="rId4"/>
              </a:rPr>
              <a:t>1 · Ecosystem</a:t>
            </a:r>
          </a:p>
          <a:p>
            <a:pPr algn="ctr">
              <a:spcBef>
                <a:spcPts val="0"/>
              </a:spcBef>
              <a:spcAft>
                <a:spcPts val="0"/>
              </a:spcAft>
              <a:buNone/>
            </a:pPr>
            <a:r>
              <a:rPr sz="1000" b="1" i="0">
                <a:solidFill>
                  <a:srgbClr val="1F2C4A"/>
                </a:solidFill>
                <a:latin typeface="Aptos"/>
                <a:ea typeface="Aptos"/>
                <a:cs typeface="Aptos"/>
                <a:hlinkClick r:id="rId4"/>
              </a:rPr>
              <a:t>Signalling</a:t>
            </a:r>
          </a:p>
          <a:p>
            <a:pPr algn="ctr">
              <a:spcBef>
                <a:spcPts val="200"/>
              </a:spcBef>
              <a:spcAft>
                <a:spcPts val="0"/>
              </a:spcAft>
              <a:buNone/>
            </a:pPr>
            <a:r>
              <a:rPr sz="750" b="0" i="0">
                <a:solidFill>
                  <a:srgbClr val="5D6572"/>
                </a:solidFill>
                <a:latin typeface="Aptos"/>
                <a:ea typeface="Aptos"/>
                <a:cs typeface="Aptos"/>
                <a:hlinkClick r:id="rId4"/>
              </a:rPr>
              <a:t>Qualify / exchange ReceivedSignals</a:t>
            </a:r>
          </a:p>
        </p:txBody>
      </p:sp>
      <p:sp>
        <p:nvSpPr>
          <p:cNvPr id="104" name="Process step 2">
            <a:extLst>
              <a:ext uri="{FF2B5EF4-FFF2-40B4-BE49-F238E27FC236}">
                <a16:creationId xmlns:a16="http://schemas.microsoft.com/office/drawing/2014/main" id="{6164AB89-51DB-4AF3-80CB-5BA82DB74782}"/>
              </a:ext>
            </a:extLst>
          </p:cNvPr>
          <p:cNvSpPr>
            <a:spLocks noGrp="1"/>
          </p:cNvSpPr>
          <p:nvPr/>
        </p:nvSpPr>
        <p:spPr>
          <a:xfrm>
            <a:off x="3794760" y="1627632"/>
            <a:ext cx="1371600" cy="768096"/>
          </a:xfrm>
          <a:prstGeom prst="roundRect">
            <a:avLst/>
          </a:prstGeom>
          <a:solidFill>
            <a:srgbClr val="FFFFFF"/>
          </a:solidFill>
          <a:ln w="15875">
            <a:solidFill>
              <a:srgbClr val="C4CAD4"/>
            </a:solidFill>
          </a:ln>
        </p:spPr>
        <p:txBody>
          <a:bodyPr wrap="square" lIns="45720" tIns="27432" rIns="45720" bIns="27432" anchor="ctr">
            <a:noAutofit/>
          </a:bodyPr>
          <a:lstStyle/>
          <a:p>
            <a:pPr algn="ctr">
              <a:spcBef>
                <a:spcPts val="0"/>
              </a:spcBef>
              <a:spcAft>
                <a:spcPts val="0"/>
              </a:spcAft>
              <a:buNone/>
            </a:pPr>
            <a:r>
              <a:rPr sz="900" b="1" i="0">
                <a:solidFill>
                  <a:srgbClr val="1F2C4A"/>
                </a:solidFill>
                <a:latin typeface="Aptos"/>
                <a:ea typeface="Aptos"/>
                <a:cs typeface="Aptos"/>
                <a:hlinkClick r:id="rId5"/>
              </a:rPr>
              <a:t>2 · Ecosystem</a:t>
            </a:r>
          </a:p>
          <a:p>
            <a:pPr algn="ctr">
              <a:spcBef>
                <a:spcPts val="0"/>
              </a:spcBef>
              <a:spcAft>
                <a:spcPts val="0"/>
              </a:spcAft>
              <a:buNone/>
            </a:pPr>
            <a:r>
              <a:rPr sz="900" b="1" i="0">
                <a:solidFill>
                  <a:srgbClr val="1F2C4A"/>
                </a:solidFill>
                <a:latin typeface="Aptos"/>
                <a:ea typeface="Aptos"/>
                <a:cs typeface="Aptos"/>
                <a:hlinkClick r:id="rId5"/>
              </a:rPr>
              <a:t>Cartography</a:t>
            </a:r>
          </a:p>
          <a:p>
            <a:pPr algn="ctr">
              <a:spcBef>
                <a:spcPts val="200"/>
              </a:spcBef>
              <a:spcAft>
                <a:spcPts val="0"/>
              </a:spcAft>
              <a:buNone/>
            </a:pPr>
            <a:r>
              <a:rPr sz="750" b="0" i="0">
                <a:solidFill>
                  <a:srgbClr val="5D6572"/>
                </a:solidFill>
                <a:latin typeface="Aptos"/>
                <a:ea typeface="Aptos"/>
                <a:cs typeface="Aptos"/>
                <a:hlinkClick r:id="rId5"/>
              </a:rPr>
              <a:t>Update Cart_i / Δ_Cart_i</a:t>
            </a:r>
          </a:p>
        </p:txBody>
      </p:sp>
      <p:sp>
        <p:nvSpPr>
          <p:cNvPr id="105" name="Process step 3">
            <a:extLst>
              <a:ext uri="{FF2B5EF4-FFF2-40B4-BE49-F238E27FC236}">
                <a16:creationId xmlns:a16="http://schemas.microsoft.com/office/drawing/2014/main" id="{8F158232-38E7-4B2F-AEEE-4A1EEAB56986}"/>
              </a:ext>
            </a:extLst>
          </p:cNvPr>
          <p:cNvSpPr>
            <a:spLocks noGrp="1"/>
          </p:cNvSpPr>
          <p:nvPr/>
        </p:nvSpPr>
        <p:spPr>
          <a:xfrm>
            <a:off x="5408676" y="1627632"/>
            <a:ext cx="1371600" cy="768096"/>
          </a:xfrm>
          <a:prstGeom prst="roundRect">
            <a:avLst/>
          </a:prstGeom>
          <a:solidFill>
            <a:srgbClr val="FFFFFF"/>
          </a:solidFill>
          <a:ln w="15875">
            <a:solidFill>
              <a:srgbClr val="C4CAD4"/>
            </a:solidFill>
          </a:ln>
        </p:spPr>
        <p:txBody>
          <a:bodyPr wrap="square" lIns="45720" tIns="27432" rIns="45720" bIns="27432" anchor="ctr">
            <a:noAutofit/>
          </a:bodyPr>
          <a:lstStyle/>
          <a:p>
            <a:pPr algn="ctr">
              <a:spcBef>
                <a:spcPts val="0"/>
              </a:spcBef>
              <a:spcAft>
                <a:spcPts val="0"/>
              </a:spcAft>
              <a:buNone/>
            </a:pPr>
            <a:r>
              <a:rPr sz="1000" b="1" i="0">
                <a:solidFill>
                  <a:srgbClr val="1F2C4A"/>
                </a:solidFill>
                <a:latin typeface="Aptos"/>
                <a:ea typeface="Aptos"/>
                <a:cs typeface="Aptos"/>
                <a:hlinkClick r:id="rId6"/>
              </a:rPr>
              <a:t>3 · Regime</a:t>
            </a:r>
          </a:p>
          <a:p>
            <a:pPr algn="ctr">
              <a:spcBef>
                <a:spcPts val="0"/>
              </a:spcBef>
              <a:spcAft>
                <a:spcPts val="0"/>
              </a:spcAft>
              <a:buNone/>
            </a:pPr>
            <a:r>
              <a:rPr sz="1000" b="1" i="0">
                <a:solidFill>
                  <a:srgbClr val="1F2C4A"/>
                </a:solidFill>
                <a:latin typeface="Aptos"/>
                <a:ea typeface="Aptos"/>
                <a:cs typeface="Aptos"/>
                <a:hlinkClick r:id="rId6"/>
              </a:rPr>
              <a:t>Awareness</a:t>
            </a:r>
          </a:p>
          <a:p>
            <a:pPr algn="ctr">
              <a:spcBef>
                <a:spcPts val="200"/>
              </a:spcBef>
              <a:spcAft>
                <a:spcPts val="0"/>
              </a:spcAft>
              <a:buNone/>
            </a:pPr>
            <a:r>
              <a:rPr sz="750" b="0" i="0">
                <a:solidFill>
                  <a:srgbClr val="5D6572"/>
                </a:solidFill>
                <a:latin typeface="Aptos"/>
                <a:ea typeface="Aptos"/>
                <a:cs typeface="Aptos"/>
                <a:hlinkClick r:id="rId6"/>
              </a:rPr>
              <a:t>Emit Δ_RA + regime overlay</a:t>
            </a:r>
          </a:p>
        </p:txBody>
      </p:sp>
      <p:sp>
        <p:nvSpPr>
          <p:cNvPr id="106" name="Process step 4">
            <a:extLst>
              <a:ext uri="{FF2B5EF4-FFF2-40B4-BE49-F238E27FC236}">
                <a16:creationId xmlns:a16="http://schemas.microsoft.com/office/drawing/2014/main" id="{4329262A-0C2C-42B2-BB72-41EC113BD493}"/>
              </a:ext>
            </a:extLst>
          </p:cNvPr>
          <p:cNvSpPr>
            <a:spLocks noGrp="1"/>
          </p:cNvSpPr>
          <p:nvPr/>
        </p:nvSpPr>
        <p:spPr>
          <a:xfrm>
            <a:off x="7022592" y="1627632"/>
            <a:ext cx="1371600" cy="768096"/>
          </a:xfrm>
          <a:prstGeom prst="roundRect">
            <a:avLst/>
          </a:prstGeom>
          <a:solidFill>
            <a:srgbClr val="FFFFFF"/>
          </a:solidFill>
          <a:ln w="15875">
            <a:solidFill>
              <a:srgbClr val="C4CAD4"/>
            </a:solidFill>
          </a:ln>
        </p:spPr>
        <p:txBody>
          <a:bodyPr wrap="square" lIns="45720" tIns="27432" rIns="45720" bIns="27432" anchor="ctr">
            <a:noAutofit/>
          </a:bodyPr>
          <a:lstStyle/>
          <a:p>
            <a:pPr algn="ctr">
              <a:spcBef>
                <a:spcPts val="0"/>
              </a:spcBef>
              <a:spcAft>
                <a:spcPts val="0"/>
              </a:spcAft>
              <a:buNone/>
            </a:pPr>
            <a:r>
              <a:rPr sz="1000" b="1" i="0">
                <a:solidFill>
                  <a:srgbClr val="1F2C4A"/>
                </a:solidFill>
                <a:latin typeface="Aptos"/>
                <a:ea typeface="Aptos"/>
                <a:cs typeface="Aptos"/>
                <a:hlinkClick r:id="rId7"/>
              </a:rPr>
              <a:t>4 · MSCA Operation</a:t>
            </a:r>
          </a:p>
          <a:p>
            <a:pPr algn="ctr">
              <a:spcBef>
                <a:spcPts val="0"/>
              </a:spcBef>
              <a:spcAft>
                <a:spcPts val="0"/>
              </a:spcAft>
              <a:buNone/>
            </a:pPr>
            <a:r>
              <a:rPr sz="1000" b="1" i="0">
                <a:solidFill>
                  <a:srgbClr val="1F2C4A"/>
                </a:solidFill>
                <a:latin typeface="Aptos"/>
                <a:ea typeface="Aptos"/>
                <a:cs typeface="Aptos"/>
                <a:hlinkClick r:id="rId7"/>
              </a:rPr>
              <a:t>Drift &amp; Posture</a:t>
            </a:r>
          </a:p>
          <a:p>
            <a:pPr algn="ctr">
              <a:spcBef>
                <a:spcPts val="200"/>
              </a:spcBef>
              <a:spcAft>
                <a:spcPts val="0"/>
              </a:spcAft>
              <a:buNone/>
            </a:pPr>
            <a:r>
              <a:rPr sz="750" b="0" i="0">
                <a:solidFill>
                  <a:srgbClr val="5D6572"/>
                </a:solidFill>
                <a:latin typeface="Aptos"/>
                <a:ea typeface="Aptos"/>
                <a:cs typeface="Aptos"/>
                <a:hlinkClick r:id="rId7"/>
              </a:rPr>
              <a:t>Role_effective · Type 0/1/2 · P1/P2/P3</a:t>
            </a:r>
          </a:p>
        </p:txBody>
      </p:sp>
      <p:sp>
        <p:nvSpPr>
          <p:cNvPr id="22" name="Process step 5">
            <a:extLst>
              <a:ext uri="{FF2B5EF4-FFF2-40B4-BE49-F238E27FC236}">
                <a16:creationId xmlns:a16="http://schemas.microsoft.com/office/drawing/2014/main" id="{706D606C-E386-4F91-98D7-A34A3755215C}"/>
              </a:ext>
            </a:extLst>
          </p:cNvPr>
          <p:cNvSpPr>
            <a:spLocks noGrp="1"/>
          </p:cNvSpPr>
          <p:nvPr/>
        </p:nvSpPr>
        <p:spPr>
          <a:xfrm>
            <a:off x="8636508" y="1627632"/>
            <a:ext cx="1371600" cy="768096"/>
          </a:xfrm>
          <a:prstGeom prst="roundRect">
            <a:avLst/>
          </a:prstGeom>
          <a:solidFill>
            <a:srgbClr val="FFFFFF"/>
          </a:solidFill>
          <a:ln w="15875">
            <a:solidFill>
              <a:srgbClr val="C4CAD4"/>
            </a:solidFill>
          </a:ln>
        </p:spPr>
        <p:txBody>
          <a:bodyPr wrap="square" lIns="45720" tIns="27432" rIns="45720" bIns="27432" anchor="ctr">
            <a:noAutofit/>
          </a:bodyPr>
          <a:lstStyle/>
          <a:p>
            <a:pPr algn="ctr">
              <a:spcBef>
                <a:spcPts val="0"/>
              </a:spcBef>
              <a:spcAft>
                <a:spcPts val="0"/>
              </a:spcAft>
              <a:buNone/>
            </a:pPr>
            <a:r>
              <a:rPr sz="1000" b="1" i="0">
                <a:solidFill>
                  <a:srgbClr val="1F2C4A"/>
                </a:solidFill>
                <a:latin typeface="Aptos"/>
                <a:ea typeface="Aptos"/>
                <a:cs typeface="Aptos"/>
                <a:hlinkClick r:id="rId8"/>
              </a:rPr>
              <a:t>5 · Gradient &amp;</a:t>
            </a:r>
          </a:p>
          <a:p>
            <a:pPr algn="ctr">
              <a:spcBef>
                <a:spcPts val="0"/>
              </a:spcBef>
              <a:spcAft>
                <a:spcPts val="0"/>
              </a:spcAft>
              <a:buNone/>
            </a:pPr>
            <a:r>
              <a:rPr sz="1000" b="1" i="0">
                <a:solidFill>
                  <a:srgbClr val="1F2C4A"/>
                </a:solidFill>
                <a:latin typeface="Aptos"/>
                <a:ea typeface="Aptos"/>
                <a:cs typeface="Aptos"/>
                <a:hlinkClick r:id="rId8"/>
              </a:rPr>
              <a:t>Repositioning</a:t>
            </a:r>
          </a:p>
          <a:p>
            <a:pPr algn="ctr">
              <a:spcBef>
                <a:spcPts val="200"/>
              </a:spcBef>
              <a:spcAft>
                <a:spcPts val="0"/>
              </a:spcAft>
              <a:buNone/>
            </a:pPr>
            <a:r>
              <a:rPr sz="750" b="0" i="0">
                <a:solidFill>
                  <a:srgbClr val="5D6572"/>
                </a:solidFill>
                <a:latin typeface="Aptos"/>
                <a:ea typeface="Aptos"/>
                <a:cs typeface="Aptos"/>
                <a:hlinkClick r:id="rId8"/>
              </a:rPr>
              <a:t>Rank from Role_effective → ACC gate → re-contract / escalate</a:t>
            </a:r>
          </a:p>
        </p:txBody>
      </p:sp>
      <p:sp>
        <p:nvSpPr>
          <p:cNvPr id="107" name="Process step 6">
            <a:extLst>
              <a:ext uri="{FF2B5EF4-FFF2-40B4-BE49-F238E27FC236}">
                <a16:creationId xmlns:a16="http://schemas.microsoft.com/office/drawing/2014/main" id="{AF72C7D0-9333-4194-A4D4-8F31D7038FBC}"/>
              </a:ext>
            </a:extLst>
          </p:cNvPr>
          <p:cNvSpPr>
            <a:spLocks noGrp="1"/>
          </p:cNvSpPr>
          <p:nvPr/>
        </p:nvSpPr>
        <p:spPr>
          <a:xfrm>
            <a:off x="10250424" y="1627632"/>
            <a:ext cx="1371600" cy="768096"/>
          </a:xfrm>
          <a:prstGeom prst="roundRect">
            <a:avLst/>
          </a:prstGeom>
          <a:solidFill>
            <a:srgbClr val="FFFFFF"/>
          </a:solidFill>
          <a:ln w="19050">
            <a:solidFill>
              <a:srgbClr val="1F2C4A"/>
            </a:solidFill>
          </a:ln>
        </p:spPr>
        <p:txBody>
          <a:bodyPr wrap="square" lIns="45720" tIns="27432" rIns="45720" bIns="27432" anchor="ctr">
            <a:noAutofit/>
          </a:bodyPr>
          <a:lstStyle/>
          <a:p>
            <a:pPr algn="ctr">
              <a:spcBef>
                <a:spcPts val="0"/>
              </a:spcBef>
              <a:spcAft>
                <a:spcPts val="0"/>
              </a:spcAft>
              <a:buNone/>
            </a:pPr>
            <a:r>
              <a:rPr sz="900" b="1" i="0">
                <a:solidFill>
                  <a:srgbClr val="1F2C4A"/>
                </a:solidFill>
                <a:latin typeface="Aptos"/>
                <a:ea typeface="Aptos"/>
                <a:cs typeface="Aptos"/>
                <a:hlinkClick r:id="rId9"/>
              </a:rPr>
              <a:t>Human / Institutional</a:t>
            </a:r>
          </a:p>
          <a:p>
            <a:pPr algn="ctr">
              <a:spcBef>
                <a:spcPts val="0"/>
              </a:spcBef>
              <a:spcAft>
                <a:spcPts val="0"/>
              </a:spcAft>
              <a:buNone/>
            </a:pPr>
            <a:r>
              <a:rPr sz="900" b="1" i="0">
                <a:solidFill>
                  <a:srgbClr val="1F2C4A"/>
                </a:solidFill>
                <a:latin typeface="Aptos"/>
                <a:ea typeface="Aptos"/>
                <a:cs typeface="Aptos"/>
                <a:hlinkClick r:id="rId9"/>
              </a:rPr>
              <a:t>Governance</a:t>
            </a:r>
          </a:p>
          <a:p>
            <a:pPr algn="ctr">
              <a:spcBef>
                <a:spcPts val="200"/>
              </a:spcBef>
              <a:spcAft>
                <a:spcPts val="0"/>
              </a:spcAft>
              <a:buNone/>
            </a:pPr>
            <a:r>
              <a:rPr sz="700" b="0" i="0">
                <a:solidFill>
                  <a:srgbClr val="5D6572"/>
                </a:solidFill>
                <a:latin typeface="Aptos"/>
                <a:ea typeface="Aptos"/>
                <a:cs typeface="Aptos"/>
                <a:hlinkClick r:id="rId9"/>
              </a:rPr>
              <a:t>Authority decides; signals ≠ commands</a:t>
            </a:r>
          </a:p>
        </p:txBody>
      </p:sp>
      <p:cxnSp>
        <p:nvCxnSpPr>
          <p:cNvPr id="159" name="Flow 0-1"/>
          <p:cNvCxnSpPr>
            <a:stCxn id="102" idx="3"/>
            <a:endCxn id="103" idx="1"/>
          </p:cNvCxnSpPr>
          <p:nvPr/>
        </p:nvCxnSpPr>
        <p:spPr>
          <a:xfrm>
            <a:off x="1938528" y="2011680"/>
            <a:ext cx="242316" cy="0"/>
          </a:xfrm>
          <a:prstGeom prst="line">
            <a:avLst/>
          </a:prstGeom>
          <a:ln w="15875">
            <a:solidFill>
              <a:srgbClr val="1F2C4A"/>
            </a:solidFill>
            <a:tailEnd type="triangle" w="med" len="med"/>
          </a:ln>
        </p:spPr>
      </p:cxnSp>
      <p:cxnSp>
        <p:nvCxnSpPr>
          <p:cNvPr id="160" name="Flow 1-2"/>
          <p:cNvCxnSpPr>
            <a:stCxn id="103" idx="3"/>
            <a:endCxn id="104" idx="1"/>
          </p:cNvCxnSpPr>
          <p:nvPr/>
        </p:nvCxnSpPr>
        <p:spPr>
          <a:xfrm>
            <a:off x="3552444" y="2011680"/>
            <a:ext cx="242316" cy="0"/>
          </a:xfrm>
          <a:prstGeom prst="line">
            <a:avLst/>
          </a:prstGeom>
          <a:ln w="15875">
            <a:solidFill>
              <a:srgbClr val="1F2C4A"/>
            </a:solidFill>
            <a:tailEnd type="triangle" w="med" len="med"/>
          </a:ln>
        </p:spPr>
      </p:cxnSp>
      <p:cxnSp>
        <p:nvCxnSpPr>
          <p:cNvPr id="161" name="Flow 2-3"/>
          <p:cNvCxnSpPr>
            <a:stCxn id="104" idx="3"/>
            <a:endCxn id="105" idx="1"/>
          </p:cNvCxnSpPr>
          <p:nvPr/>
        </p:nvCxnSpPr>
        <p:spPr>
          <a:xfrm>
            <a:off x="5166360" y="2011680"/>
            <a:ext cx="242316" cy="0"/>
          </a:xfrm>
          <a:prstGeom prst="line">
            <a:avLst/>
          </a:prstGeom>
          <a:ln w="15875">
            <a:solidFill>
              <a:srgbClr val="1F2C4A"/>
            </a:solidFill>
            <a:tailEnd type="triangle" w="med" len="med"/>
          </a:ln>
        </p:spPr>
      </p:cxnSp>
      <p:cxnSp>
        <p:nvCxnSpPr>
          <p:cNvPr id="162" name="Flow 3-4"/>
          <p:cNvCxnSpPr>
            <a:stCxn id="105" idx="3"/>
            <a:endCxn id="106" idx="1"/>
          </p:cNvCxnSpPr>
          <p:nvPr/>
        </p:nvCxnSpPr>
        <p:spPr>
          <a:xfrm>
            <a:off x="6780276" y="2011680"/>
            <a:ext cx="242316" cy="0"/>
          </a:xfrm>
          <a:prstGeom prst="line">
            <a:avLst/>
          </a:prstGeom>
          <a:ln w="15875">
            <a:solidFill>
              <a:srgbClr val="1F2C4A"/>
            </a:solidFill>
            <a:tailEnd type="triangle" w="med" len="med"/>
          </a:ln>
        </p:spPr>
      </p:cxnSp>
      <p:cxnSp>
        <p:nvCxnSpPr>
          <p:cNvPr id="163" name="Flow 4-5"/>
          <p:cNvCxnSpPr>
            <a:stCxn id="106" idx="3"/>
            <a:endCxn id="22" idx="1"/>
          </p:cNvCxnSpPr>
          <p:nvPr/>
        </p:nvCxnSpPr>
        <p:spPr>
          <a:xfrm>
            <a:off x="8394192" y="2011680"/>
            <a:ext cx="242316" cy="0"/>
          </a:xfrm>
          <a:prstGeom prst="line">
            <a:avLst/>
          </a:prstGeom>
          <a:ln w="15875">
            <a:solidFill>
              <a:srgbClr val="1F2C4A"/>
            </a:solidFill>
            <a:tailEnd type="triangle" w="med" len="med"/>
          </a:ln>
        </p:spPr>
      </p:cxnSp>
      <p:cxnSp>
        <p:nvCxnSpPr>
          <p:cNvPr id="164" name="Flow 5-6"/>
          <p:cNvCxnSpPr>
            <a:stCxn id="22" idx="3"/>
            <a:endCxn id="107" idx="1"/>
          </p:cNvCxnSpPr>
          <p:nvPr/>
        </p:nvCxnSpPr>
        <p:spPr>
          <a:xfrm>
            <a:off x="10008108" y="2011680"/>
            <a:ext cx="242316" cy="0"/>
          </a:xfrm>
          <a:prstGeom prst="line">
            <a:avLst/>
          </a:prstGeom>
          <a:ln w="15875">
            <a:solidFill>
              <a:srgbClr val="1F2C4A"/>
            </a:solidFill>
            <a:prstDash val="dash"/>
            <a:tailEnd type="triangle" w="med" len="med"/>
          </a:ln>
        </p:spPr>
      </p:cxnSp>
      <p:sp>
        <p:nvSpPr>
          <p:cNvPr id="114" name="Participant boundary">
            <a:extLst>
              <a:ext uri="{FF2B5EF4-FFF2-40B4-BE49-F238E27FC236}">
                <a16:creationId xmlns:a16="http://schemas.microsoft.com/office/drawing/2014/main" id="{4BA6BC61-0BF4-4712-A4FD-E11266E7ED38}"/>
              </a:ext>
            </a:extLst>
          </p:cNvPr>
          <p:cNvSpPr>
            <a:spLocks noGrp="1"/>
          </p:cNvSpPr>
          <p:nvPr/>
        </p:nvSpPr>
        <p:spPr>
          <a:xfrm>
            <a:off x="10129266" y="1581912"/>
            <a:ext cx="0" cy="859536"/>
          </a:xfrm>
          <a:prstGeom prst="line">
            <a:avLst/>
          </a:prstGeom>
          <a:ln w="12700">
            <a:solidFill>
              <a:srgbClr val="C4CAD4"/>
            </a:solidFill>
            <a:prstDash val="sysDot"/>
          </a:ln>
        </p:spPr>
        <p:txBody>
          <a:bodyPr/>
          <a:lstStyle/>
          <a:p>
            <a:endParaRPr lang="en-US"/>
          </a:p>
        </p:txBody>
      </p:sp>
      <p:sp>
        <p:nvSpPr>
          <p:cNvPr id="115" name="Loop up">
            <a:extLst>
              <a:ext uri="{FF2B5EF4-FFF2-40B4-BE49-F238E27FC236}">
                <a16:creationId xmlns:a16="http://schemas.microsoft.com/office/drawing/2014/main" id="{0AB932F0-B549-4108-AEB3-0C81134AA9AC}"/>
              </a:ext>
            </a:extLst>
          </p:cNvPr>
          <p:cNvSpPr>
            <a:spLocks noGrp="1"/>
          </p:cNvSpPr>
          <p:nvPr/>
        </p:nvSpPr>
        <p:spPr>
          <a:xfrm flipV="1">
            <a:off x="10936224" y="1435608"/>
            <a:ext cx="0" cy="192024"/>
          </a:xfrm>
          <a:prstGeom prst="line">
            <a:avLst/>
          </a:prstGeom>
          <a:ln w="13970">
            <a:solidFill>
              <a:srgbClr val="C17629"/>
            </a:solidFill>
          </a:ln>
        </p:spPr>
        <p:txBody>
          <a:bodyPr/>
          <a:lstStyle/>
          <a:p>
            <a:endParaRPr lang="en-US"/>
          </a:p>
        </p:txBody>
      </p:sp>
      <p:sp>
        <p:nvSpPr>
          <p:cNvPr id="116" name="Loop across">
            <a:extLst>
              <a:ext uri="{FF2B5EF4-FFF2-40B4-BE49-F238E27FC236}">
                <a16:creationId xmlns:a16="http://schemas.microsoft.com/office/drawing/2014/main" id="{06A65A58-BB32-4A44-B23B-C36B1CA075D8}"/>
              </a:ext>
            </a:extLst>
          </p:cNvPr>
          <p:cNvSpPr>
            <a:spLocks noGrp="1"/>
          </p:cNvSpPr>
          <p:nvPr/>
        </p:nvSpPr>
        <p:spPr>
          <a:xfrm flipH="1">
            <a:off x="1252728" y="1435608"/>
            <a:ext cx="9683496" cy="0"/>
          </a:xfrm>
          <a:prstGeom prst="line">
            <a:avLst/>
          </a:prstGeom>
          <a:ln w="13970">
            <a:solidFill>
              <a:srgbClr val="C17629"/>
            </a:solidFill>
          </a:ln>
        </p:spPr>
        <p:txBody>
          <a:bodyPr/>
          <a:lstStyle/>
          <a:p>
            <a:endParaRPr lang="en-US"/>
          </a:p>
        </p:txBody>
      </p:sp>
      <p:sp>
        <p:nvSpPr>
          <p:cNvPr id="117" name="Loop down">
            <a:extLst>
              <a:ext uri="{FF2B5EF4-FFF2-40B4-BE49-F238E27FC236}">
                <a16:creationId xmlns:a16="http://schemas.microsoft.com/office/drawing/2014/main" id="{C44B0C9F-E4A3-45DF-B1D0-4473CC2C10D2}"/>
              </a:ext>
            </a:extLst>
          </p:cNvPr>
          <p:cNvSpPr>
            <a:spLocks noGrp="1"/>
          </p:cNvSpPr>
          <p:nvPr/>
        </p:nvSpPr>
        <p:spPr>
          <a:xfrm>
            <a:off x="1252728" y="1435608"/>
            <a:ext cx="0" cy="192024"/>
          </a:xfrm>
          <a:prstGeom prst="line">
            <a:avLst/>
          </a:prstGeom>
          <a:ln w="13970">
            <a:solidFill>
              <a:srgbClr val="C17629"/>
            </a:solidFill>
            <a:tailEnd type="triangle" w="med" len="med"/>
          </a:ln>
        </p:spPr>
        <p:txBody>
          <a:bodyPr/>
          <a:lstStyle/>
          <a:p>
            <a:endParaRPr lang="en-US"/>
          </a:p>
        </p:txBody>
      </p:sp>
      <p:sp>
        <p:nvSpPr>
          <p:cNvPr id="118" name="Loop label">
            <a:extLst>
              <a:ext uri="{FF2B5EF4-FFF2-40B4-BE49-F238E27FC236}">
                <a16:creationId xmlns:a16="http://schemas.microsoft.com/office/drawing/2014/main" id="{5EF6659A-4EAA-43B5-988F-49F1E38B2165}"/>
              </a:ext>
            </a:extLst>
          </p:cNvPr>
          <p:cNvSpPr>
            <a:spLocks noGrp="1"/>
          </p:cNvSpPr>
          <p:nvPr/>
        </p:nvSpPr>
        <p:spPr>
          <a:xfrm>
            <a:off x="3291840" y="1344168"/>
            <a:ext cx="5577840" cy="182880"/>
          </a:xfrm>
          <a:prstGeom prst="rect">
            <a:avLst/>
          </a:prstGeom>
          <a:solidFill>
            <a:srgbClr val="F7F8FA"/>
          </a:solidFill>
          <a:ln>
            <a:noFill/>
          </a:ln>
        </p:spPr>
        <p:txBody>
          <a:bodyPr wrap="square" lIns="18288" tIns="0" rIns="18288" bIns="0" anchor="t">
            <a:noAutofit/>
          </a:bodyPr>
          <a:lstStyle/>
          <a:p>
            <a:pPr algn="ctr">
              <a:spcBef>
                <a:spcPts val="0"/>
              </a:spcBef>
              <a:spcAft>
                <a:spcPts val="0"/>
              </a:spcAft>
              <a:buNone/>
            </a:pPr>
            <a:r>
              <a:rPr sz="800" b="0" i="1">
                <a:solidFill>
                  <a:srgbClr val="C17629"/>
                </a:solidFill>
                <a:latin typeface="Aptos"/>
                <a:ea typeface="Aptos"/>
                <a:cs typeface="Aptos"/>
              </a:rPr>
              <a:t>↺  role / ACC / authority / outcome changes re-enter as new state</a:t>
            </a:r>
          </a:p>
        </p:txBody>
      </p:sp>
      <p:sp>
        <p:nvSpPr>
          <p:cNvPr id="37" name="Panel Regime change detect">
            <a:extLst>
              <a:ext uri="{FF2B5EF4-FFF2-40B4-BE49-F238E27FC236}">
                <a16:creationId xmlns:a16="http://schemas.microsoft.com/office/drawing/2014/main" id="{8A7CD422-9742-4E90-B80B-8D3B855CBBE1}"/>
              </a:ext>
            </a:extLst>
          </p:cNvPr>
          <p:cNvSpPr>
            <a:spLocks noGrp="1"/>
          </p:cNvSpPr>
          <p:nvPr/>
        </p:nvSpPr>
        <p:spPr>
          <a:xfrm>
            <a:off x="566928" y="2697480"/>
            <a:ext cx="1847088" cy="2542032"/>
          </a:xfrm>
          <a:prstGeom prst="roundRect">
            <a:avLst>
              <a:gd name="adj" fmla="val 6000"/>
            </a:avLst>
          </a:prstGeom>
          <a:solidFill>
            <a:srgbClr val="FFFFFF"/>
          </a:solidFill>
          <a:ln w="19050">
            <a:solidFill>
              <a:srgbClr val="C17629"/>
            </a:solidFill>
          </a:ln>
        </p:spPr>
        <p:txBody>
          <a:bodyPr wrap="square" lIns="82296" tIns="64008" rIns="82296" bIns="45720" anchor="t">
            <a:noAutofit/>
          </a:bodyPr>
          <a:lstStyle/>
          <a:p>
            <a:pPr algn="l">
              <a:spcBef>
                <a:spcPts val="0"/>
              </a:spcBef>
              <a:spcAft>
                <a:spcPts val="0"/>
              </a:spcAft>
              <a:buNone/>
            </a:pPr>
            <a:r>
              <a:rPr sz="900" b="1" i="0">
                <a:solidFill>
                  <a:srgbClr val="C17629"/>
                </a:solidFill>
                <a:latin typeface="Aptos"/>
                <a:ea typeface="Aptos"/>
                <a:cs typeface="Aptos"/>
                <a:hlinkClick r:id="rId7"/>
              </a:rPr>
              <a:t>Repositioning posture</a:t>
            </a:r>
          </a:p>
          <a:p>
            <a:pPr algn="l">
              <a:spcBef>
                <a:spcPts val="0"/>
              </a:spcBef>
              <a:spcAft>
                <a:spcPts val="0"/>
              </a:spcAft>
              <a:buNone/>
            </a:pPr>
            <a:r>
              <a:rPr sz="750" b="0" i="1">
                <a:solidFill>
                  <a:srgbClr val="5D6572"/>
                </a:solidFill>
                <a:latin typeface="Aptos"/>
                <a:ea typeface="Aptos"/>
                <a:cs typeface="Aptos"/>
                <a:hlinkClick r:id="rId7"/>
              </a:rPr>
              <a:t>Step 4 · P1 / P2 / P3</a:t>
            </a:r>
          </a:p>
        </p:txBody>
      </p:sp>
      <p:sp>
        <p:nvSpPr>
          <p:cNvPr id="120" name="State 1 · Normal operation">
            <a:extLst>
              <a:ext uri="{FF2B5EF4-FFF2-40B4-BE49-F238E27FC236}">
                <a16:creationId xmlns:a16="http://schemas.microsoft.com/office/drawing/2014/main" id="{491654FA-69EB-4BE3-833E-FA1F2459861D}"/>
              </a:ext>
            </a:extLst>
          </p:cNvPr>
          <p:cNvSpPr>
            <a:spLocks noGrp="1"/>
          </p:cNvSpPr>
          <p:nvPr/>
        </p:nvSpPr>
        <p:spPr>
          <a:xfrm>
            <a:off x="640080" y="3383280"/>
            <a:ext cx="1700784" cy="566928"/>
          </a:xfrm>
          <a:prstGeom prst="roundRect">
            <a:avLst>
              <a:gd name="adj" fmla="val 10000"/>
            </a:avLst>
          </a:prstGeom>
          <a:solidFill>
            <a:srgbClr val="E6F4EF"/>
          </a:solidFill>
          <a:ln w="9525">
            <a:solidFill>
              <a:srgbClr val="007B82"/>
            </a:solidFill>
          </a:ln>
        </p:spPr>
        <p:txBody>
          <a:bodyPr wrap="square" lIns="54864" tIns="27432" rIns="45720" bIns="18288" anchor="t">
            <a:noAutofit/>
          </a:bodyPr>
          <a:lstStyle/>
          <a:p>
            <a:pPr algn="l">
              <a:spcBef>
                <a:spcPts val="0"/>
              </a:spcBef>
              <a:spcAft>
                <a:spcPts val="0"/>
              </a:spcAft>
              <a:buNone/>
            </a:pPr>
            <a:r>
              <a:rPr sz="800" b="1" i="0">
                <a:solidFill>
                  <a:srgbClr val="007B82"/>
                </a:solidFill>
                <a:latin typeface="Aptos"/>
                <a:ea typeface="Aptos"/>
                <a:cs typeface="Aptos"/>
              </a:rPr>
              <a:t>P1 · Normal</a:t>
            </a:r>
          </a:p>
          <a:p>
            <a:pPr algn="l">
              <a:spcBef>
                <a:spcPts val="100"/>
              </a:spcBef>
              <a:spcAft>
                <a:spcPts val="0"/>
              </a:spcAft>
              <a:buNone/>
            </a:pPr>
            <a:r>
              <a:rPr sz="700" b="0" i="0">
                <a:solidFill>
                  <a:srgbClr val="5D6572"/>
                </a:solidFill>
                <a:latin typeface="Aptos"/>
                <a:ea typeface="Aptos"/>
                <a:cs typeface="Aptos"/>
              </a:rPr>
              <a:t>Qualified frame remains usable.</a:t>
            </a:r>
          </a:p>
        </p:txBody>
      </p:sp>
      <p:sp>
        <p:nvSpPr>
          <p:cNvPr id="121" name="State 2 · Containment mode">
            <a:extLst>
              <a:ext uri="{FF2B5EF4-FFF2-40B4-BE49-F238E27FC236}">
                <a16:creationId xmlns:a16="http://schemas.microsoft.com/office/drawing/2014/main" id="{C0321FCE-250A-4341-B7E0-E492D7C7E896}"/>
              </a:ext>
            </a:extLst>
          </p:cNvPr>
          <p:cNvSpPr>
            <a:spLocks noGrp="1"/>
          </p:cNvSpPr>
          <p:nvPr/>
        </p:nvSpPr>
        <p:spPr>
          <a:xfrm>
            <a:off x="640080" y="3986784"/>
            <a:ext cx="1700784" cy="566928"/>
          </a:xfrm>
          <a:prstGeom prst="roundRect">
            <a:avLst>
              <a:gd name="adj" fmla="val 10000"/>
            </a:avLst>
          </a:prstGeom>
          <a:solidFill>
            <a:srgbClr val="FFF4E6"/>
          </a:solidFill>
          <a:ln w="9525">
            <a:solidFill>
              <a:srgbClr val="C17629"/>
            </a:solidFill>
          </a:ln>
        </p:spPr>
        <p:txBody>
          <a:bodyPr wrap="square" lIns="54864" tIns="27432" rIns="45720" bIns="18288" anchor="t">
            <a:noAutofit/>
          </a:bodyPr>
          <a:lstStyle/>
          <a:p>
            <a:pPr algn="l">
              <a:spcBef>
                <a:spcPts val="0"/>
              </a:spcBef>
              <a:spcAft>
                <a:spcPts val="0"/>
              </a:spcAft>
              <a:buNone/>
            </a:pPr>
            <a:r>
              <a:rPr sz="800" b="1" i="0">
                <a:solidFill>
                  <a:srgbClr val="C17629"/>
                </a:solidFill>
                <a:latin typeface="Aptos"/>
                <a:ea typeface="Aptos"/>
                <a:cs typeface="Aptos"/>
              </a:rPr>
              <a:t>P2 · Containment</a:t>
            </a:r>
          </a:p>
          <a:p>
            <a:pPr algn="l">
              <a:spcBef>
                <a:spcPts val="100"/>
              </a:spcBef>
              <a:spcAft>
                <a:spcPts val="0"/>
              </a:spcAft>
              <a:buNone/>
            </a:pPr>
            <a:r>
              <a:rPr sz="700" b="0" i="0">
                <a:solidFill>
                  <a:srgbClr val="5D6572"/>
                </a:solidFill>
                <a:latin typeface="Aptos"/>
                <a:ea typeface="Aptos"/>
                <a:cs typeface="Aptos"/>
              </a:rPr>
              <a:t>Bounded response needed; request / escalate.</a:t>
            </a:r>
          </a:p>
        </p:txBody>
      </p:sp>
      <p:sp>
        <p:nvSpPr>
          <p:cNvPr id="122" name="State 3 · Transition/Migration">
            <a:extLst>
              <a:ext uri="{FF2B5EF4-FFF2-40B4-BE49-F238E27FC236}">
                <a16:creationId xmlns:a16="http://schemas.microsoft.com/office/drawing/2014/main" id="{86593AE9-ED2B-47E7-90D4-F876FF121026}"/>
              </a:ext>
            </a:extLst>
          </p:cNvPr>
          <p:cNvSpPr>
            <a:spLocks noGrp="1"/>
          </p:cNvSpPr>
          <p:nvPr/>
        </p:nvSpPr>
        <p:spPr>
          <a:xfrm>
            <a:off x="640080" y="4590288"/>
            <a:ext cx="1700784" cy="566928"/>
          </a:xfrm>
          <a:prstGeom prst="roundRect">
            <a:avLst>
              <a:gd name="adj" fmla="val 10000"/>
            </a:avLst>
          </a:prstGeom>
          <a:solidFill>
            <a:srgbClr val="FBECEA"/>
          </a:solidFill>
          <a:ln w="9525">
            <a:solidFill>
              <a:srgbClr val="C65D4E"/>
            </a:solidFill>
          </a:ln>
        </p:spPr>
        <p:txBody>
          <a:bodyPr wrap="square" lIns="54864" tIns="27432" rIns="45720" bIns="18288" anchor="t">
            <a:noAutofit/>
          </a:bodyPr>
          <a:lstStyle/>
          <a:p>
            <a:pPr algn="l">
              <a:spcBef>
                <a:spcPts val="0"/>
              </a:spcBef>
              <a:spcAft>
                <a:spcPts val="0"/>
              </a:spcAft>
              <a:buNone/>
            </a:pPr>
            <a:r>
              <a:rPr sz="800" b="1" i="0">
                <a:solidFill>
                  <a:srgbClr val="C65D4E"/>
                </a:solidFill>
                <a:latin typeface="Aptos"/>
                <a:ea typeface="Aptos"/>
                <a:cs typeface="Aptos"/>
              </a:rPr>
              <a:t>P3 · Migration</a:t>
            </a:r>
          </a:p>
          <a:p>
            <a:pPr algn="l">
              <a:spcBef>
                <a:spcPts val="100"/>
              </a:spcBef>
              <a:spcAft>
                <a:spcPts val="0"/>
              </a:spcAft>
              <a:buNone/>
            </a:pPr>
            <a:r>
              <a:rPr sz="700" b="0" i="0">
                <a:solidFill>
                  <a:srgbClr val="5D6572"/>
                </a:solidFill>
                <a:latin typeface="Aptos"/>
                <a:ea typeface="Aptos"/>
                <a:cs typeface="Aptos"/>
              </a:rPr>
              <a:t>Current frame insufficient; qualify transition.</a:t>
            </a:r>
          </a:p>
        </p:txBody>
      </p:sp>
      <p:sp>
        <p:nvSpPr>
          <p:cNvPr id="27" name="Panel Epistemic state — 4 ">
            <a:extLst>
              <a:ext uri="{FF2B5EF4-FFF2-40B4-BE49-F238E27FC236}">
                <a16:creationId xmlns:a16="http://schemas.microsoft.com/office/drawing/2014/main" id="{BA84E12A-5615-46D2-A4D1-4BA250EEF7FA}"/>
              </a:ext>
            </a:extLst>
          </p:cNvPr>
          <p:cNvSpPr>
            <a:spLocks noGrp="1"/>
          </p:cNvSpPr>
          <p:nvPr/>
        </p:nvSpPr>
        <p:spPr>
          <a:xfrm>
            <a:off x="2532888" y="2697480"/>
            <a:ext cx="2788920" cy="2542032"/>
          </a:xfrm>
          <a:prstGeom prst="roundRect">
            <a:avLst>
              <a:gd name="adj" fmla="val 6000"/>
            </a:avLst>
          </a:prstGeom>
          <a:solidFill>
            <a:srgbClr val="F4FBF9"/>
          </a:solidFill>
          <a:ln w="19050">
            <a:solidFill>
              <a:srgbClr val="007B82"/>
            </a:solidFill>
          </a:ln>
        </p:spPr>
        <p:txBody>
          <a:bodyPr wrap="square" lIns="82296" tIns="64008" rIns="82296" bIns="45720" anchor="t">
            <a:noAutofit/>
          </a:bodyPr>
          <a:lstStyle/>
          <a:p>
            <a:pPr algn="l">
              <a:spcBef>
                <a:spcPts val="0"/>
              </a:spcBef>
              <a:spcAft>
                <a:spcPts val="0"/>
              </a:spcAft>
              <a:buNone/>
            </a:pPr>
            <a:r>
              <a:rPr sz="900" b="1" i="0">
                <a:solidFill>
                  <a:srgbClr val="007B82"/>
                </a:solidFill>
                <a:latin typeface="Aptos"/>
                <a:ea typeface="Aptos"/>
                <a:cs typeface="Aptos"/>
                <a:hlinkClick r:id="rId3"/>
              </a:rPr>
              <a:t>Epistemic state — 4 components</a:t>
            </a:r>
          </a:p>
          <a:p>
            <a:pPr algn="l">
              <a:spcBef>
                <a:spcPts val="0"/>
              </a:spcBef>
              <a:spcAft>
                <a:spcPts val="0"/>
              </a:spcAft>
              <a:buNone/>
            </a:pPr>
            <a:r>
              <a:rPr sz="750" b="0" i="1">
                <a:solidFill>
                  <a:srgbClr val="5D6572"/>
                </a:solidFill>
                <a:latin typeface="Aptos"/>
                <a:ea typeface="Aptos"/>
                <a:cs typeface="Aptos"/>
                <a:hlinkClick r:id="rId3"/>
              </a:rPr>
              <a:t>Step 0 · A/B/C/D, relative to the active decision window</a:t>
            </a:r>
          </a:p>
        </p:txBody>
      </p:sp>
      <p:sp>
        <p:nvSpPr>
          <p:cNvPr id="123" name="Epistemic state label">
            <a:extLst>
              <a:ext uri="{FF2B5EF4-FFF2-40B4-BE49-F238E27FC236}">
                <a16:creationId xmlns:a16="http://schemas.microsoft.com/office/drawing/2014/main" id="{6F986745-2163-4481-B181-186ED3ECF9F3}"/>
              </a:ext>
            </a:extLst>
          </p:cNvPr>
          <p:cNvSpPr>
            <a:spLocks noGrp="1"/>
          </p:cNvSpPr>
          <p:nvPr/>
        </p:nvSpPr>
        <p:spPr>
          <a:xfrm>
            <a:off x="2615184" y="5038344"/>
            <a:ext cx="2624328" cy="146304"/>
          </a:xfrm>
          <a:prstGeom prst="rect">
            <a:avLst/>
          </a:prstGeom>
          <a:noFill/>
          <a:ln>
            <a:noFill/>
          </a:ln>
        </p:spPr>
        <p:txBody>
          <a:bodyPr wrap="square" lIns="18288" tIns="9144" rIns="18288" bIns="9144" anchor="t">
            <a:noAutofit/>
          </a:bodyPr>
          <a:lstStyle/>
          <a:p>
            <a:pPr algn="l">
              <a:spcBef>
                <a:spcPts val="0"/>
              </a:spcBef>
              <a:spcAft>
                <a:spcPts val="0"/>
              </a:spcAft>
              <a:buNone/>
            </a:pPr>
            <a:r>
              <a:rPr sz="680" b="0" i="1">
                <a:solidFill>
                  <a:srgbClr val="5D6572"/>
                </a:solidFill>
                <a:latin typeface="Aptos"/>
                <a:ea typeface="Aptos"/>
                <a:cs typeface="Aptos"/>
              </a:rPr>
              <a:t>Not equal quadrants; the balance is decision-specific.</a:t>
            </a:r>
          </a:p>
        </p:txBody>
      </p:sp>
      <p:sp>
        <p:nvSpPr>
          <p:cNvPr id="125" name="Component A">
            <a:extLst>
              <a:ext uri="{FF2B5EF4-FFF2-40B4-BE49-F238E27FC236}">
                <a16:creationId xmlns:a16="http://schemas.microsoft.com/office/drawing/2014/main" id="{833A6830-8B62-4F91-B47F-11ED6B796CE0}"/>
              </a:ext>
            </a:extLst>
          </p:cNvPr>
          <p:cNvSpPr>
            <a:spLocks noGrp="1"/>
          </p:cNvSpPr>
          <p:nvPr/>
        </p:nvSpPr>
        <p:spPr>
          <a:xfrm>
            <a:off x="2624328" y="3383280"/>
            <a:ext cx="1252728" cy="786384"/>
          </a:xfrm>
          <a:prstGeom prst="roundRect">
            <a:avLst>
              <a:gd name="adj" fmla="val 10000"/>
            </a:avLst>
          </a:prstGeom>
          <a:solidFill>
            <a:srgbClr val="FFFFFF"/>
          </a:solidFill>
          <a:ln w="9525">
            <a:solidFill>
              <a:srgbClr val="007B82"/>
            </a:solidFill>
          </a:ln>
        </p:spPr>
        <p:txBody>
          <a:bodyPr wrap="square" lIns="54864" tIns="27432" rIns="45720" bIns="18288" anchor="t">
            <a:noAutofit/>
          </a:bodyPr>
          <a:lstStyle/>
          <a:p>
            <a:pPr algn="l">
              <a:spcBef>
                <a:spcPts val="0"/>
              </a:spcBef>
              <a:spcAft>
                <a:spcPts val="0"/>
              </a:spcAft>
              <a:buNone/>
            </a:pPr>
            <a:r>
              <a:rPr sz="780" b="1" i="0">
                <a:solidFill>
                  <a:srgbClr val="007B82"/>
                </a:solidFill>
                <a:latin typeface="Aptos"/>
                <a:ea typeface="Aptos"/>
                <a:cs typeface="Aptos"/>
              </a:rPr>
              <a:t>A · Situated assertion</a:t>
            </a:r>
          </a:p>
          <a:p>
            <a:pPr algn="l">
              <a:spcBef>
                <a:spcPts val="100"/>
              </a:spcBef>
              <a:spcAft>
                <a:spcPts val="0"/>
              </a:spcAft>
              <a:buNone/>
            </a:pPr>
            <a:r>
              <a:rPr sz="680" b="0" i="0">
                <a:solidFill>
                  <a:srgbClr val="5D6572"/>
                </a:solidFill>
                <a:latin typeface="Aptos"/>
                <a:ea typeface="Aptos"/>
                <a:cs typeface="Aptos"/>
              </a:rPr>
              <a:t>What / where / from which frame is represented now.</a:t>
            </a:r>
          </a:p>
        </p:txBody>
      </p:sp>
      <p:sp>
        <p:nvSpPr>
          <p:cNvPr id="126" name="Component B">
            <a:extLst>
              <a:ext uri="{FF2B5EF4-FFF2-40B4-BE49-F238E27FC236}">
                <a16:creationId xmlns:a16="http://schemas.microsoft.com/office/drawing/2014/main" id="{B471F6DB-7FAB-44B0-9932-1B8F632B5DF0}"/>
              </a:ext>
            </a:extLst>
          </p:cNvPr>
          <p:cNvSpPr>
            <a:spLocks noGrp="1"/>
          </p:cNvSpPr>
          <p:nvPr/>
        </p:nvSpPr>
        <p:spPr>
          <a:xfrm>
            <a:off x="3977640" y="3383280"/>
            <a:ext cx="1252728" cy="786384"/>
          </a:xfrm>
          <a:prstGeom prst="roundRect">
            <a:avLst>
              <a:gd name="adj" fmla="val 10000"/>
            </a:avLst>
          </a:prstGeom>
          <a:solidFill>
            <a:srgbClr val="FFFFFF"/>
          </a:solidFill>
          <a:ln w="9525">
            <a:solidFill>
              <a:srgbClr val="007B82"/>
            </a:solidFill>
          </a:ln>
        </p:spPr>
        <p:txBody>
          <a:bodyPr wrap="square" lIns="54864" tIns="27432" rIns="45720" bIns="18288" anchor="t">
            <a:noAutofit/>
          </a:bodyPr>
          <a:lstStyle/>
          <a:p>
            <a:pPr algn="l">
              <a:spcBef>
                <a:spcPts val="0"/>
              </a:spcBef>
              <a:spcAft>
                <a:spcPts val="0"/>
              </a:spcAft>
              <a:buNone/>
            </a:pPr>
            <a:r>
              <a:rPr sz="780" b="1" i="0">
                <a:solidFill>
                  <a:srgbClr val="007B82"/>
                </a:solidFill>
                <a:latin typeface="Aptos"/>
                <a:ea typeface="Aptos"/>
                <a:cs typeface="Aptos"/>
              </a:rPr>
              <a:t>B · Confidence / intensity</a:t>
            </a:r>
          </a:p>
          <a:p>
            <a:pPr algn="l">
              <a:spcBef>
                <a:spcPts val="100"/>
              </a:spcBef>
              <a:spcAft>
                <a:spcPts val="0"/>
              </a:spcAft>
              <a:buNone/>
            </a:pPr>
            <a:r>
              <a:rPr sz="680" b="0" i="0">
                <a:solidFill>
                  <a:srgbClr val="5D6572"/>
                </a:solidFill>
                <a:latin typeface="Aptos"/>
                <a:ea typeface="Aptos"/>
                <a:cs typeface="Aptos"/>
              </a:rPr>
              <a:t>Support for A; does not erase C or D.</a:t>
            </a:r>
          </a:p>
        </p:txBody>
      </p:sp>
      <p:sp>
        <p:nvSpPr>
          <p:cNvPr id="127" name="Component C">
            <a:extLst>
              <a:ext uri="{FF2B5EF4-FFF2-40B4-BE49-F238E27FC236}">
                <a16:creationId xmlns:a16="http://schemas.microsoft.com/office/drawing/2014/main" id="{1856D2F8-FED5-4A8D-940B-B9B719769030}"/>
              </a:ext>
            </a:extLst>
          </p:cNvPr>
          <p:cNvSpPr>
            <a:spLocks noGrp="1"/>
          </p:cNvSpPr>
          <p:nvPr/>
        </p:nvSpPr>
        <p:spPr>
          <a:xfrm>
            <a:off x="2624328" y="4215384"/>
            <a:ext cx="1252728" cy="786384"/>
          </a:xfrm>
          <a:prstGeom prst="roundRect">
            <a:avLst>
              <a:gd name="adj" fmla="val 10000"/>
            </a:avLst>
          </a:prstGeom>
          <a:solidFill>
            <a:srgbClr val="FFFFFF"/>
          </a:solidFill>
          <a:ln w="9525">
            <a:solidFill>
              <a:srgbClr val="007B82"/>
            </a:solidFill>
          </a:ln>
        </p:spPr>
        <p:txBody>
          <a:bodyPr wrap="square" lIns="54864" tIns="27432" rIns="45720" bIns="18288" anchor="t">
            <a:noAutofit/>
          </a:bodyPr>
          <a:lstStyle/>
          <a:p>
            <a:pPr algn="l">
              <a:spcBef>
                <a:spcPts val="0"/>
              </a:spcBef>
              <a:spcAft>
                <a:spcPts val="0"/>
              </a:spcAft>
              <a:buNone/>
            </a:pPr>
            <a:r>
              <a:rPr sz="780" b="1" i="0">
                <a:solidFill>
                  <a:srgbClr val="007B82"/>
                </a:solidFill>
                <a:latin typeface="Aptos"/>
                <a:ea typeface="Aptos"/>
                <a:cs typeface="Aptos"/>
              </a:rPr>
              <a:t>C · Capability frontier</a:t>
            </a:r>
          </a:p>
          <a:p>
            <a:pPr algn="l">
              <a:spcBef>
                <a:spcPts val="100"/>
              </a:spcBef>
              <a:spcAft>
                <a:spcPts val="0"/>
              </a:spcAft>
              <a:buNone/>
            </a:pPr>
            <a:r>
              <a:rPr sz="680" b="0" i="0">
                <a:solidFill>
                  <a:srgbClr val="5D6572"/>
                </a:solidFill>
                <a:latin typeface="Aptos"/>
                <a:ea typeface="Aptos"/>
                <a:cs typeface="Aptos"/>
              </a:rPr>
              <a:t>What can still be established with current capability.</a:t>
            </a:r>
          </a:p>
        </p:txBody>
      </p:sp>
      <p:sp>
        <p:nvSpPr>
          <p:cNvPr id="128" name="Component D">
            <a:extLst>
              <a:ext uri="{FF2B5EF4-FFF2-40B4-BE49-F238E27FC236}">
                <a16:creationId xmlns:a16="http://schemas.microsoft.com/office/drawing/2014/main" id="{8F66D00B-A29A-488D-87CE-ED6AB2C9527E}"/>
              </a:ext>
            </a:extLst>
          </p:cNvPr>
          <p:cNvSpPr>
            <a:spLocks noGrp="1"/>
          </p:cNvSpPr>
          <p:nvPr/>
        </p:nvSpPr>
        <p:spPr>
          <a:xfrm>
            <a:off x="3977640" y="4215384"/>
            <a:ext cx="1252728" cy="786384"/>
          </a:xfrm>
          <a:prstGeom prst="roundRect">
            <a:avLst>
              <a:gd name="adj" fmla="val 10000"/>
            </a:avLst>
          </a:prstGeom>
          <a:solidFill>
            <a:srgbClr val="FFFFFF"/>
          </a:solidFill>
          <a:ln w="9525">
            <a:solidFill>
              <a:srgbClr val="C17629"/>
            </a:solidFill>
          </a:ln>
        </p:spPr>
        <p:txBody>
          <a:bodyPr wrap="square" lIns="54864" tIns="27432" rIns="45720" bIns="18288" anchor="t">
            <a:noAutofit/>
          </a:bodyPr>
          <a:lstStyle/>
          <a:p>
            <a:pPr algn="l">
              <a:spcBef>
                <a:spcPts val="0"/>
              </a:spcBef>
              <a:spcAft>
                <a:spcPts val="0"/>
              </a:spcAft>
              <a:buNone/>
            </a:pPr>
            <a:r>
              <a:rPr sz="780" b="1" i="0">
                <a:solidFill>
                  <a:srgbClr val="C17629"/>
                </a:solidFill>
                <a:latin typeface="Aptos"/>
                <a:ea typeface="Aptos"/>
                <a:cs typeface="Aptos"/>
              </a:rPr>
              <a:t>D · Structural residual</a:t>
            </a:r>
          </a:p>
          <a:p>
            <a:pPr algn="l">
              <a:spcBef>
                <a:spcPts val="100"/>
              </a:spcBef>
              <a:spcAft>
                <a:spcPts val="0"/>
              </a:spcAft>
              <a:buNone/>
            </a:pPr>
            <a:r>
              <a:rPr sz="680" b="0" i="0">
                <a:solidFill>
                  <a:srgbClr val="5D6572"/>
                </a:solidFill>
                <a:latin typeface="Aptos"/>
                <a:ea typeface="Aptos"/>
                <a:cs typeface="Aptos"/>
              </a:rPr>
              <a:t>Outside represented / recognized-obtainable capability.</a:t>
            </a:r>
          </a:p>
        </p:txBody>
      </p:sp>
      <p:sp>
        <p:nvSpPr>
          <p:cNvPr id="129" name="Panel EHD · Epistemic Hand">
            <a:extLst>
              <a:ext uri="{FF2B5EF4-FFF2-40B4-BE49-F238E27FC236}">
                <a16:creationId xmlns:a16="http://schemas.microsoft.com/office/drawing/2014/main" id="{118B7937-6006-4DF1-8153-C10F2E214264}"/>
              </a:ext>
            </a:extLst>
          </p:cNvPr>
          <p:cNvSpPr>
            <a:spLocks noGrp="1"/>
          </p:cNvSpPr>
          <p:nvPr/>
        </p:nvSpPr>
        <p:spPr>
          <a:xfrm>
            <a:off x="5458968" y="2697480"/>
            <a:ext cx="1828800" cy="2542032"/>
          </a:xfrm>
          <a:prstGeom prst="roundRect">
            <a:avLst>
              <a:gd name="adj" fmla="val 6000"/>
            </a:avLst>
          </a:prstGeom>
          <a:solidFill>
            <a:srgbClr val="F4FBF9"/>
          </a:solidFill>
          <a:ln w="19050">
            <a:solidFill>
              <a:srgbClr val="007B82"/>
            </a:solidFill>
          </a:ln>
        </p:spPr>
        <p:txBody>
          <a:bodyPr wrap="square" lIns="82296" tIns="64008" rIns="82296" bIns="45720" anchor="t">
            <a:noAutofit/>
          </a:bodyPr>
          <a:lstStyle/>
          <a:p>
            <a:pPr algn="l">
              <a:spcBef>
                <a:spcPts val="0"/>
              </a:spcBef>
              <a:spcAft>
                <a:spcPts val="0"/>
              </a:spcAft>
              <a:buNone/>
            </a:pPr>
            <a:r>
              <a:rPr sz="900" b="1" i="0">
                <a:solidFill>
                  <a:srgbClr val="007B82"/>
                </a:solidFill>
                <a:latin typeface="Aptos"/>
                <a:ea typeface="Aptos"/>
                <a:cs typeface="Aptos"/>
                <a:hlinkClick r:id="rId4"/>
              </a:rPr>
              <a:t>Ecosystem Signalling / EHD</a:t>
            </a:r>
          </a:p>
          <a:p>
            <a:pPr algn="l">
              <a:spcBef>
                <a:spcPts val="0"/>
              </a:spcBef>
              <a:spcAft>
                <a:spcPts val="0"/>
              </a:spcAft>
              <a:buNone/>
            </a:pPr>
            <a:r>
              <a:rPr sz="750" b="0" i="1">
                <a:solidFill>
                  <a:srgbClr val="5D6572"/>
                </a:solidFill>
                <a:latin typeface="Aptos"/>
                <a:ea typeface="Aptos"/>
                <a:cs typeface="Aptos"/>
                <a:hlinkClick r:id="rId4"/>
              </a:rPr>
              <a:t>Step 1 · what crosses a boundary</a:t>
            </a:r>
          </a:p>
        </p:txBody>
      </p:sp>
      <p:sp>
        <p:nvSpPr>
          <p:cNvPr id="131" name="EHD fields">
            <a:extLst>
              <a:ext uri="{FF2B5EF4-FFF2-40B4-BE49-F238E27FC236}">
                <a16:creationId xmlns:a16="http://schemas.microsoft.com/office/drawing/2014/main" id="{CDDED5F8-8DDE-4A09-9F01-50140C86581C}"/>
              </a:ext>
            </a:extLst>
          </p:cNvPr>
          <p:cNvSpPr>
            <a:spLocks noGrp="1"/>
          </p:cNvSpPr>
          <p:nvPr/>
        </p:nvSpPr>
        <p:spPr>
          <a:xfrm>
            <a:off x="5541264" y="3383280"/>
            <a:ext cx="1664208" cy="1810512"/>
          </a:xfrm>
          <a:prstGeom prst="rect">
            <a:avLst/>
          </a:prstGeom>
          <a:noFill/>
          <a:ln>
            <a:noFill/>
          </a:ln>
        </p:spPr>
        <p:txBody>
          <a:bodyPr wrap="square" lIns="18288" tIns="9144" rIns="18288" bIns="9144" anchor="t">
            <a:noAutofit/>
          </a:bodyPr>
          <a:lstStyle/>
          <a:p>
            <a:pPr algn="l">
              <a:spcBef>
                <a:spcPts val="200"/>
              </a:spcBef>
              <a:spcAft>
                <a:spcPts val="0"/>
              </a:spcAft>
              <a:buNone/>
            </a:pPr>
            <a:r>
              <a:rPr sz="780" b="0" i="0">
                <a:solidFill>
                  <a:srgbClr val="1F2C4A"/>
                </a:solidFill>
                <a:latin typeface="Aptos"/>
                <a:ea typeface="Aptos"/>
                <a:cs typeface="Aptos"/>
              </a:rPr>
              <a:t>• qualified state / MSCA / role (where material)</a:t>
            </a:r>
          </a:p>
          <a:p>
            <a:pPr>
              <a:spcBef>
                <a:spcPts val="200"/>
              </a:spcBef>
              <a:buNone/>
            </a:pPr>
            <a:r>
              <a:rPr sz="780">
                <a:solidFill>
                  <a:srgbClr val="1F2C4A"/>
                </a:solidFill>
                <a:latin typeface="Aptos"/>
                <a:ea typeface="Aptos"/>
                <a:cs typeface="Aptos"/>
              </a:rPr>
              <a:t>• </a:t>
            </a:r>
            <a:r>
              <a:rPr sz="780" b="0" i="0">
                <a:solidFill>
                  <a:srgbClr val="1F2C4A"/>
                </a:solidFill>
                <a:latin typeface="Aptos"/>
                <a:ea typeface="Aptos"/>
                <a:cs typeface="Aptos"/>
              </a:rPr>
              <a:t>scope and receiving decision</a:t>
            </a:r>
          </a:p>
          <a:p>
            <a:pPr algn="l">
              <a:spcBef>
                <a:spcPts val="200"/>
              </a:spcBef>
              <a:spcAft>
                <a:spcPts val="0"/>
              </a:spcAft>
              <a:buNone/>
            </a:pPr>
            <a:r>
              <a:rPr sz="780" b="0" i="0">
                <a:solidFill>
                  <a:srgbClr val="1F2C4A"/>
                </a:solidFill>
                <a:latin typeface="Aptos"/>
                <a:ea typeface="Aptos"/>
                <a:cs typeface="Aptos"/>
              </a:rPr>
              <a:t>• provenance / source dependence</a:t>
            </a:r>
          </a:p>
          <a:p>
            <a:pPr algn="l">
              <a:spcBef>
                <a:spcPts val="200"/>
              </a:spcBef>
              <a:spcAft>
                <a:spcPts val="0"/>
              </a:spcAft>
              <a:buNone/>
            </a:pPr>
            <a:r>
              <a:rPr sz="780" b="0" i="0">
                <a:solidFill>
                  <a:srgbClr val="1F2C4A"/>
                </a:solidFill>
                <a:latin typeface="Aptos"/>
                <a:ea typeface="Aptos"/>
                <a:cs typeface="Aptos"/>
              </a:rPr>
              <a:t>• epistemic state composition (A–D)</a:t>
            </a:r>
          </a:p>
          <a:p>
            <a:pPr algn="l">
              <a:spcBef>
                <a:spcPts val="200"/>
              </a:spcBef>
              <a:spcAft>
                <a:spcPts val="0"/>
              </a:spcAft>
              <a:buNone/>
            </a:pPr>
            <a:r>
              <a:rPr sz="780" b="0" i="0">
                <a:solidFill>
                  <a:srgbClr val="1F2C4A"/>
                </a:solidFill>
                <a:latin typeface="Aptos"/>
                <a:ea typeface="Aptos"/>
                <a:cs typeface="Aptos"/>
              </a:rPr>
              <a:t>• revalidation conditions</a:t>
            </a:r>
          </a:p>
          <a:p>
            <a:pPr algn="l">
              <a:spcBef>
                <a:spcPts val="600"/>
              </a:spcBef>
              <a:spcAft>
                <a:spcPts val="0"/>
              </a:spcAft>
              <a:buNone/>
            </a:pPr>
            <a:r>
              <a:rPr sz="700" b="0" i="1">
                <a:solidFill>
                  <a:srgbClr val="5D6572"/>
                </a:solidFill>
                <a:latin typeface="Aptos"/>
                <a:ea typeface="Aptos"/>
                <a:cs typeface="Aptos"/>
              </a:rPr>
              <a:t>Compound profiles may carry RepositionIntent / AuthorityResponse. Signal ≠ authority.</a:t>
            </a:r>
          </a:p>
        </p:txBody>
      </p:sp>
      <p:sp>
        <p:nvSpPr>
          <p:cNvPr id="132" name="Panel Positioning opportun">
            <a:extLst>
              <a:ext uri="{FF2B5EF4-FFF2-40B4-BE49-F238E27FC236}">
                <a16:creationId xmlns:a16="http://schemas.microsoft.com/office/drawing/2014/main" id="{0FFD818B-517B-4AFE-A5EB-B3617E21EF38}"/>
              </a:ext>
            </a:extLst>
          </p:cNvPr>
          <p:cNvSpPr>
            <a:spLocks noGrp="1"/>
          </p:cNvSpPr>
          <p:nvPr/>
        </p:nvSpPr>
        <p:spPr>
          <a:xfrm>
            <a:off x="7424928" y="2697480"/>
            <a:ext cx="2331720" cy="2542032"/>
          </a:xfrm>
          <a:prstGeom prst="roundRect">
            <a:avLst>
              <a:gd name="adj" fmla="val 6000"/>
            </a:avLst>
          </a:prstGeom>
          <a:solidFill>
            <a:srgbClr val="FFFFFF"/>
          </a:solidFill>
          <a:ln w="19050">
            <a:solidFill>
              <a:srgbClr val="C17629"/>
            </a:solidFill>
          </a:ln>
        </p:spPr>
        <p:txBody>
          <a:bodyPr wrap="square" lIns="82296" tIns="64008" rIns="82296" bIns="45720" anchor="t">
            <a:noAutofit/>
          </a:bodyPr>
          <a:lstStyle/>
          <a:p>
            <a:pPr algn="l">
              <a:spcBef>
                <a:spcPts val="0"/>
              </a:spcBef>
              <a:spcAft>
                <a:spcPts val="0"/>
              </a:spcAft>
              <a:buNone/>
            </a:pPr>
            <a:r>
              <a:rPr sz="900" b="1" i="0">
                <a:solidFill>
                  <a:srgbClr val="C17629"/>
                </a:solidFill>
                <a:latin typeface="Aptos"/>
                <a:ea typeface="Aptos"/>
                <a:cs typeface="Aptos"/>
                <a:hlinkClick r:id="rId8"/>
              </a:rPr>
              <a:t>Agentic gradient</a:t>
            </a:r>
          </a:p>
          <a:p>
            <a:pPr algn="l">
              <a:spcBef>
                <a:spcPts val="0"/>
              </a:spcBef>
              <a:spcAft>
                <a:spcPts val="0"/>
              </a:spcAft>
              <a:buNone/>
            </a:pPr>
            <a:r>
              <a:rPr sz="750" b="0" i="1">
                <a:solidFill>
                  <a:srgbClr val="5D6572"/>
                </a:solidFill>
                <a:latin typeface="Aptos"/>
                <a:ea typeface="Aptos"/>
                <a:cs typeface="Aptos"/>
                <a:hlinkClick r:id="rId8"/>
              </a:rPr>
              <a:t>Step 5 · objective-conditioned opportunity</a:t>
            </a:r>
          </a:p>
        </p:txBody>
      </p:sp>
      <p:sp>
        <p:nvSpPr>
          <p:cNvPr id="134" name="Gradient body">
            <a:extLst>
              <a:ext uri="{FF2B5EF4-FFF2-40B4-BE49-F238E27FC236}">
                <a16:creationId xmlns:a16="http://schemas.microsoft.com/office/drawing/2014/main" id="{EF4C3839-235A-4590-B94E-6E6F6B1C7A5A}"/>
              </a:ext>
            </a:extLst>
          </p:cNvPr>
          <p:cNvSpPr>
            <a:spLocks noGrp="1"/>
          </p:cNvSpPr>
          <p:nvPr/>
        </p:nvSpPr>
        <p:spPr>
          <a:xfrm>
            <a:off x="7507224" y="3346704"/>
            <a:ext cx="2167128" cy="1865376"/>
          </a:xfrm>
          <a:prstGeom prst="rect">
            <a:avLst/>
          </a:prstGeom>
          <a:noFill/>
          <a:ln>
            <a:noFill/>
          </a:ln>
        </p:spPr>
        <p:txBody>
          <a:bodyPr wrap="square" lIns="18288" tIns="9144" rIns="18288" bIns="9144" anchor="t">
            <a:noAutofit/>
          </a:bodyPr>
          <a:lstStyle/>
          <a:p>
            <a:pPr algn="l">
              <a:spcBef>
                <a:spcPts val="0"/>
              </a:spcBef>
              <a:spcAft>
                <a:spcPts val="0"/>
              </a:spcAft>
              <a:buNone/>
            </a:pPr>
            <a:r>
              <a:rPr sz="760" b="1" i="0">
                <a:solidFill>
                  <a:srgbClr val="1F2C4A"/>
                </a:solidFill>
                <a:latin typeface="Aptos"/>
                <a:ea typeface="Aptos"/>
                <a:cs typeface="Aptos"/>
              </a:rPr>
              <a:t>Which candidate transition most reduces objective-conditioned MSCA risk from Role_effective?</a:t>
            </a:r>
          </a:p>
          <a:p>
            <a:pPr algn="l">
              <a:spcBef>
                <a:spcPts val="400"/>
              </a:spcBef>
              <a:spcAft>
                <a:spcPts val="0"/>
              </a:spcAft>
              <a:buNone/>
            </a:pPr>
            <a:r>
              <a:rPr sz="740" b="1" i="0">
                <a:solidFill>
                  <a:srgbClr val="C17629"/>
                </a:solidFill>
                <a:latin typeface="Aptos"/>
                <a:ea typeface="Aptos"/>
                <a:cs typeface="Aptos"/>
              </a:rPr>
              <a:t>Basis: </a:t>
            </a:r>
            <a:r>
              <a:rPr sz="720" b="0" i="0">
                <a:solidFill>
                  <a:srgbClr val="5D6572"/>
                </a:solidFill>
                <a:latin typeface="Aptos"/>
                <a:ea typeface="Aptos"/>
                <a:cs typeface="Aptos"/>
              </a:rPr>
              <a:t>Δ_RA, Cart_i, Objective Envelope, burden and response horizon.</a:t>
            </a:r>
          </a:p>
          <a:p>
            <a:pPr algn="l">
              <a:spcBef>
                <a:spcPts val="400"/>
              </a:spcBef>
              <a:spcAft>
                <a:spcPts val="0"/>
              </a:spcAft>
              <a:buNone/>
            </a:pPr>
            <a:r>
              <a:rPr sz="720" b="0" i="0">
                <a:solidFill>
                  <a:srgbClr val="5D6572"/>
                </a:solidFill>
                <a:latin typeface="Aptos"/>
                <a:ea typeface="Aptos"/>
                <a:cs typeface="Aptos"/>
              </a:rPr>
              <a:t>Ranks candidate transitions:</a:t>
            </a:r>
          </a:p>
          <a:p>
            <a:pPr algn="l">
              <a:spcBef>
                <a:spcPts val="50"/>
              </a:spcBef>
              <a:spcAft>
                <a:spcPts val="0"/>
              </a:spcAft>
              <a:buNone/>
            </a:pPr>
            <a:r>
              <a:rPr sz="740" b="0" i="0">
                <a:solidFill>
                  <a:srgbClr val="1F2C4A"/>
                </a:solidFill>
                <a:latin typeface="Aptos"/>
                <a:ea typeface="Aptos"/>
                <a:cs typeface="Aptos"/>
              </a:rPr>
              <a:t>→ remain / adapt in role</a:t>
            </a:r>
          </a:p>
          <a:p>
            <a:pPr algn="l">
              <a:spcBef>
                <a:spcPts val="50"/>
              </a:spcBef>
              <a:spcAft>
                <a:spcPts val="0"/>
              </a:spcAft>
              <a:buNone/>
            </a:pPr>
            <a:r>
              <a:rPr sz="740" b="0" i="0">
                <a:solidFill>
                  <a:srgbClr val="1F2C4A"/>
                </a:solidFill>
                <a:latin typeface="Aptos"/>
                <a:ea typeface="Aptos"/>
                <a:cs typeface="Aptos"/>
              </a:rPr>
              <a:t>→ request authority / ACC change</a:t>
            </a:r>
          </a:p>
          <a:p>
            <a:pPr algn="l">
              <a:spcBef>
                <a:spcPts val="50"/>
              </a:spcBef>
              <a:spcAft>
                <a:spcPts val="0"/>
              </a:spcAft>
              <a:buNone/>
            </a:pPr>
            <a:r>
              <a:rPr sz="740" b="0" i="0">
                <a:solidFill>
                  <a:srgbClr val="1F2C4A"/>
                </a:solidFill>
                <a:latin typeface="Aptos"/>
                <a:ea typeface="Aptos"/>
                <a:cs typeface="Aptos"/>
              </a:rPr>
              <a:t>→ realign / re-contract</a:t>
            </a:r>
          </a:p>
          <a:p>
            <a:pPr algn="l">
              <a:spcBef>
                <a:spcPts val="50"/>
              </a:spcBef>
              <a:spcAft>
                <a:spcPts val="0"/>
              </a:spcAft>
              <a:buNone/>
            </a:pPr>
            <a:r>
              <a:rPr sz="740" b="0" i="0">
                <a:solidFill>
                  <a:srgbClr val="1F2C4A"/>
                </a:solidFill>
                <a:latin typeface="Aptos"/>
                <a:ea typeface="Aptos"/>
                <a:cs typeface="Aptos"/>
              </a:rPr>
              <a:t>→ migrate / request isolation</a:t>
            </a:r>
          </a:p>
          <a:p>
            <a:pPr algn="l">
              <a:spcBef>
                <a:spcPts val="400"/>
              </a:spcBef>
              <a:spcAft>
                <a:spcPts val="0"/>
              </a:spcAft>
              <a:buNone/>
            </a:pPr>
            <a:r>
              <a:rPr sz="680" b="0" i="1">
                <a:solidFill>
                  <a:srgbClr val="C17629"/>
                </a:solidFill>
                <a:latin typeface="Aptos"/>
                <a:ea typeface="Aptos"/>
                <a:cs typeface="Aptos"/>
              </a:rPr>
              <a:t>Opportunity ≠ permission · signal ≠ command.</a:t>
            </a:r>
          </a:p>
        </p:txBody>
      </p:sp>
      <p:sp>
        <p:nvSpPr>
          <p:cNvPr id="135" name="Panel Choreography">
            <a:extLst>
              <a:ext uri="{FF2B5EF4-FFF2-40B4-BE49-F238E27FC236}">
                <a16:creationId xmlns:a16="http://schemas.microsoft.com/office/drawing/2014/main" id="{D78CD6A8-B52D-4E47-8140-3BE710D28140}"/>
              </a:ext>
            </a:extLst>
          </p:cNvPr>
          <p:cNvSpPr>
            <a:spLocks noGrp="1"/>
          </p:cNvSpPr>
          <p:nvPr/>
        </p:nvSpPr>
        <p:spPr>
          <a:xfrm>
            <a:off x="9893808" y="2697480"/>
            <a:ext cx="1728216" cy="2542032"/>
          </a:xfrm>
          <a:prstGeom prst="roundRect">
            <a:avLst>
              <a:gd name="adj" fmla="val 6000"/>
            </a:avLst>
          </a:prstGeom>
          <a:solidFill>
            <a:srgbClr val="FFFFFF"/>
          </a:solidFill>
          <a:ln w="19050">
            <a:solidFill>
              <a:srgbClr val="1F2C4A"/>
            </a:solidFill>
          </a:ln>
        </p:spPr>
        <p:txBody>
          <a:bodyPr wrap="square" lIns="82296" tIns="64008" rIns="82296" bIns="45720" anchor="t">
            <a:noAutofit/>
          </a:bodyPr>
          <a:lstStyle/>
          <a:p>
            <a:pPr algn="l">
              <a:spcBef>
                <a:spcPts val="0"/>
              </a:spcBef>
              <a:spcAft>
                <a:spcPts val="0"/>
              </a:spcAft>
              <a:buNone/>
            </a:pPr>
            <a:r>
              <a:rPr sz="900" b="1" i="0" dirty="0">
                <a:solidFill>
                  <a:srgbClr val="1F2C4A"/>
                </a:solidFill>
                <a:latin typeface="Aptos"/>
                <a:ea typeface="Aptos"/>
                <a:cs typeface="Aptos"/>
              </a:rPr>
              <a:t>Choreography, not orchestration</a:t>
            </a:r>
          </a:p>
          <a:p>
            <a:pPr algn="l">
              <a:spcBef>
                <a:spcPts val="0"/>
              </a:spcBef>
              <a:spcAft>
                <a:spcPts val="0"/>
              </a:spcAft>
              <a:buNone/>
            </a:pPr>
            <a:r>
              <a:rPr sz="750" b="0" i="1" dirty="0">
                <a:solidFill>
                  <a:srgbClr val="5D6572"/>
                </a:solidFill>
                <a:latin typeface="Aptos"/>
                <a:ea typeface="Aptos"/>
                <a:cs typeface="Aptos"/>
              </a:rPr>
              <a:t>Role · Cartography · Signalling</a:t>
            </a:r>
          </a:p>
        </p:txBody>
      </p:sp>
      <p:sp>
        <p:nvSpPr>
          <p:cNvPr id="137" name="Choreography body">
            <a:extLst>
              <a:ext uri="{FF2B5EF4-FFF2-40B4-BE49-F238E27FC236}">
                <a16:creationId xmlns:a16="http://schemas.microsoft.com/office/drawing/2014/main" id="{E88C962F-3417-4135-9127-8C46CEC58BDE}"/>
              </a:ext>
            </a:extLst>
          </p:cNvPr>
          <p:cNvSpPr>
            <a:spLocks noGrp="1"/>
          </p:cNvSpPr>
          <p:nvPr/>
        </p:nvSpPr>
        <p:spPr>
          <a:xfrm>
            <a:off x="9966960" y="3218688"/>
            <a:ext cx="1591056" cy="1993392"/>
          </a:xfrm>
          <a:prstGeom prst="rect">
            <a:avLst/>
          </a:prstGeom>
          <a:noFill/>
          <a:ln>
            <a:noFill/>
          </a:ln>
        </p:spPr>
        <p:txBody>
          <a:bodyPr wrap="square" lIns="18288" tIns="9144" rIns="18288" bIns="9144" anchor="t">
            <a:noAutofit/>
          </a:bodyPr>
          <a:lstStyle/>
          <a:p>
            <a:pPr algn="l">
              <a:spcBef>
                <a:spcPts val="250"/>
              </a:spcBef>
              <a:spcAft>
                <a:spcPts val="0"/>
              </a:spcAft>
              <a:buNone/>
            </a:pPr>
            <a:r>
              <a:rPr sz="710" b="1" i="0" dirty="0">
                <a:solidFill>
                  <a:srgbClr val="1F2C4A"/>
                </a:solidFill>
                <a:latin typeface="Aptos"/>
                <a:ea typeface="Aptos"/>
                <a:cs typeface="Aptos"/>
              </a:rPr>
              <a:t>• Autonomy kept: </a:t>
            </a:r>
            <a:r>
              <a:rPr sz="710" b="0" i="0" dirty="0">
                <a:solidFill>
                  <a:srgbClr val="1F2C4A"/>
                </a:solidFill>
                <a:latin typeface="Aptos"/>
                <a:ea typeface="Aptos"/>
                <a:cs typeface="Aptos"/>
              </a:rPr>
              <a:t>each participant evaluates locally.</a:t>
            </a:r>
          </a:p>
          <a:p>
            <a:pPr algn="l">
              <a:spcBef>
                <a:spcPts val="250"/>
              </a:spcBef>
              <a:spcAft>
                <a:spcPts val="0"/>
              </a:spcAft>
              <a:buNone/>
            </a:pPr>
            <a:r>
              <a:rPr sz="710" b="1" i="0" dirty="0">
                <a:solidFill>
                  <a:srgbClr val="1F2C4A"/>
                </a:solidFill>
                <a:latin typeface="Aptos"/>
                <a:ea typeface="Aptos"/>
                <a:cs typeface="Aptos"/>
              </a:rPr>
              <a:t>• Signalling: </a:t>
            </a:r>
            <a:r>
              <a:rPr sz="710" b="0" i="0" dirty="0">
                <a:solidFill>
                  <a:srgbClr val="1F2C4A"/>
                </a:solidFill>
                <a:latin typeface="Aptos"/>
                <a:ea typeface="Aptos"/>
                <a:cs typeface="Aptos"/>
              </a:rPr>
              <a:t>RepositionIntent may stay local or go to authority.</a:t>
            </a:r>
          </a:p>
          <a:p>
            <a:pPr algn="l">
              <a:spcBef>
                <a:spcPts val="250"/>
              </a:spcBef>
              <a:spcAft>
                <a:spcPts val="0"/>
              </a:spcAft>
              <a:buNone/>
            </a:pPr>
            <a:r>
              <a:rPr sz="710" b="1" i="0" dirty="0">
                <a:solidFill>
                  <a:srgbClr val="1F2C4A"/>
                </a:solidFill>
                <a:latin typeface="Aptos"/>
                <a:ea typeface="Aptos"/>
                <a:cs typeface="Aptos"/>
              </a:rPr>
              <a:t>• Effective role: </a:t>
            </a:r>
            <a:r>
              <a:rPr sz="710" b="0" i="0" dirty="0">
                <a:solidFill>
                  <a:srgbClr val="1F2C4A"/>
                </a:solidFill>
                <a:latin typeface="Aptos"/>
                <a:ea typeface="Aptos"/>
                <a:cs typeface="Aptos"/>
              </a:rPr>
              <a:t>the gradient starts from Role_effective after drift.</a:t>
            </a:r>
          </a:p>
          <a:p>
            <a:pPr algn="l">
              <a:spcBef>
                <a:spcPts val="250"/>
              </a:spcBef>
              <a:spcAft>
                <a:spcPts val="0"/>
              </a:spcAft>
              <a:buNone/>
            </a:pPr>
            <a:r>
              <a:rPr sz="710" b="1" i="0" dirty="0">
                <a:solidFill>
                  <a:srgbClr val="1F2C4A"/>
                </a:solidFill>
                <a:latin typeface="Aptos"/>
                <a:ea typeface="Aptos"/>
                <a:cs typeface="Aptos"/>
              </a:rPr>
              <a:t>• Evidence: </a:t>
            </a:r>
            <a:r>
              <a:rPr sz="710" b="0" i="0" dirty="0">
                <a:solidFill>
                  <a:srgbClr val="1F2C4A"/>
                </a:solidFill>
                <a:latin typeface="Aptos"/>
                <a:ea typeface="Aptos"/>
                <a:cs typeface="Aptos"/>
              </a:rPr>
              <a:t>qualified signals change evidence, not commands.</a:t>
            </a:r>
          </a:p>
          <a:p>
            <a:pPr algn="l">
              <a:spcBef>
                <a:spcPts val="250"/>
              </a:spcBef>
              <a:spcAft>
                <a:spcPts val="0"/>
              </a:spcAft>
              <a:buNone/>
            </a:pPr>
            <a:r>
              <a:rPr sz="710" b="1" i="0" dirty="0">
                <a:solidFill>
                  <a:srgbClr val="1F2C4A"/>
                </a:solidFill>
                <a:latin typeface="Aptos"/>
                <a:ea typeface="Aptos"/>
                <a:cs typeface="Aptos"/>
              </a:rPr>
              <a:t>• Not required: </a:t>
            </a:r>
            <a:r>
              <a:rPr sz="710" b="0" i="0" dirty="0">
                <a:solidFill>
                  <a:srgbClr val="1F2C4A"/>
                </a:solidFill>
                <a:latin typeface="Aptos"/>
                <a:ea typeface="Aptos"/>
                <a:cs typeface="Aptos"/>
              </a:rPr>
              <a:t>a central controller or shared world-state.</a:t>
            </a:r>
          </a:p>
          <a:p>
            <a:pPr algn="l">
              <a:spcBef>
                <a:spcPts val="400"/>
              </a:spcBef>
              <a:spcAft>
                <a:spcPts val="0"/>
              </a:spcAft>
              <a:buNone/>
            </a:pPr>
            <a:r>
              <a:rPr sz="670" b="0" i="1" dirty="0">
                <a:solidFill>
                  <a:srgbClr val="5D6572"/>
                </a:solidFill>
                <a:latin typeface="Aptos"/>
                <a:ea typeface="Aptos"/>
                <a:cs typeface="Aptos"/>
              </a:rPr>
              <a:t>Self-healing is bounded; convergence is not guaranteed.</a:t>
            </a:r>
          </a:p>
        </p:txBody>
      </p:sp>
      <p:sp>
        <p:nvSpPr>
          <p:cNvPr id="138" name="MSCA bar">
            <a:extLst>
              <a:ext uri="{FF2B5EF4-FFF2-40B4-BE49-F238E27FC236}">
                <a16:creationId xmlns:a16="http://schemas.microsoft.com/office/drawing/2014/main" id="{B198B108-1D9D-462C-A455-5219D41C3615}"/>
              </a:ext>
            </a:extLst>
          </p:cNvPr>
          <p:cNvSpPr>
            <a:spLocks noGrp="1"/>
          </p:cNvSpPr>
          <p:nvPr/>
        </p:nvSpPr>
        <p:spPr>
          <a:xfrm>
            <a:off x="566928" y="5376672"/>
            <a:ext cx="11055096" cy="566928"/>
          </a:xfrm>
          <a:prstGeom prst="roundRect">
            <a:avLst/>
          </a:prstGeom>
          <a:solidFill>
            <a:srgbClr val="F4F6FA"/>
          </a:solidFill>
          <a:ln w="12700">
            <a:solidFill>
              <a:srgbClr val="1F2C4A"/>
            </a:solidFill>
          </a:ln>
        </p:spPr>
        <p:txBody>
          <a:bodyPr wrap="square" lIns="64008" tIns="45720" rIns="64008" bIns="45720" anchor="t">
            <a:noAutofit/>
          </a:bodyPr>
          <a:lstStyle/>
          <a:p>
            <a:endParaRPr sz="800"/>
          </a:p>
        </p:txBody>
      </p:sp>
      <p:sp>
        <p:nvSpPr>
          <p:cNvPr id="139" name="MSCA tag">
            <a:extLst>
              <a:ext uri="{FF2B5EF4-FFF2-40B4-BE49-F238E27FC236}">
                <a16:creationId xmlns:a16="http://schemas.microsoft.com/office/drawing/2014/main" id="{F3A04202-8946-404C-BC47-3A68AEB8FA61}"/>
              </a:ext>
            </a:extLst>
          </p:cNvPr>
          <p:cNvSpPr>
            <a:spLocks noGrp="1"/>
          </p:cNvSpPr>
          <p:nvPr/>
        </p:nvSpPr>
        <p:spPr>
          <a:xfrm>
            <a:off x="658368" y="5468112"/>
            <a:ext cx="2103120" cy="384048"/>
          </a:xfrm>
          <a:prstGeom prst="roundRect">
            <a:avLst/>
          </a:prstGeom>
          <a:solidFill>
            <a:srgbClr val="1F2C4A"/>
          </a:solidFill>
          <a:ln>
            <a:noFill/>
          </a:ln>
        </p:spPr>
        <p:txBody>
          <a:bodyPr wrap="square" lIns="36576" tIns="9144" rIns="36576" bIns="9144" anchor="ctr">
            <a:noAutofit/>
          </a:bodyPr>
          <a:lstStyle/>
          <a:p>
            <a:pPr algn="ctr">
              <a:spcBef>
                <a:spcPts val="0"/>
              </a:spcBef>
              <a:spcAft>
                <a:spcPts val="0"/>
              </a:spcAft>
              <a:buNone/>
            </a:pPr>
            <a:r>
              <a:rPr sz="850" b="1" i="0">
                <a:solidFill>
                  <a:srgbClr val="FFFFFF"/>
                </a:solidFill>
                <a:latin typeface="Aptos"/>
                <a:ea typeface="Aptos"/>
                <a:cs typeface="Aptos"/>
                <a:hlinkClick r:id="rId10"/>
              </a:rPr>
              <a:t>MSCA · Minimum Sufficient</a:t>
            </a:r>
          </a:p>
          <a:p>
            <a:pPr algn="ctr">
              <a:spcBef>
                <a:spcPts val="0"/>
              </a:spcBef>
              <a:spcAft>
                <a:spcPts val="0"/>
              </a:spcAft>
              <a:buNone/>
            </a:pPr>
            <a:r>
              <a:rPr sz="850" b="1" i="0">
                <a:solidFill>
                  <a:srgbClr val="FFFFFF"/>
                </a:solidFill>
                <a:latin typeface="Aptos"/>
                <a:ea typeface="Aptos"/>
                <a:cs typeface="Aptos"/>
                <a:hlinkClick r:id="rId10"/>
              </a:rPr>
              <a:t>Control Architecture</a:t>
            </a:r>
          </a:p>
        </p:txBody>
      </p:sp>
      <p:sp>
        <p:nvSpPr>
          <p:cNvPr id="140" name="MSCA text">
            <a:extLst>
              <a:ext uri="{FF2B5EF4-FFF2-40B4-BE49-F238E27FC236}">
                <a16:creationId xmlns:a16="http://schemas.microsoft.com/office/drawing/2014/main" id="{C54DD751-B187-453E-93D0-0922A0767893}"/>
              </a:ext>
            </a:extLst>
          </p:cNvPr>
          <p:cNvSpPr>
            <a:spLocks noGrp="1"/>
          </p:cNvSpPr>
          <p:nvPr/>
        </p:nvSpPr>
        <p:spPr>
          <a:xfrm>
            <a:off x="2880360" y="5431536"/>
            <a:ext cx="8641080" cy="457200"/>
          </a:xfrm>
          <a:prstGeom prst="rect">
            <a:avLst/>
          </a:prstGeom>
          <a:noFill/>
          <a:ln>
            <a:noFill/>
          </a:ln>
        </p:spPr>
        <p:txBody>
          <a:bodyPr wrap="square" lIns="18288" tIns="9144" rIns="18288" bIns="9144" anchor="ctr">
            <a:noAutofit/>
          </a:bodyPr>
          <a:lstStyle/>
          <a:p>
            <a:pPr algn="l">
              <a:spcBef>
                <a:spcPts val="0"/>
              </a:spcBef>
              <a:spcAft>
                <a:spcPts val="0"/>
              </a:spcAft>
              <a:buNone/>
            </a:pPr>
            <a:r>
              <a:rPr sz="800" b="1" i="0">
                <a:solidFill>
                  <a:srgbClr val="1F2C4A"/>
                </a:solidFill>
                <a:latin typeface="Aptos"/>
                <a:ea typeface="Aptos"/>
                <a:cs typeface="Aptos"/>
              </a:rPr>
              <a:t>MSCA static + dynamic set — </a:t>
            </a:r>
            <a:r>
              <a:rPr sz="800" b="0" i="0">
                <a:solidFill>
                  <a:srgbClr val="1F2C4A"/>
                </a:solidFill>
                <a:latin typeface="Aptos"/>
                <a:ea typeface="Aptos"/>
                <a:cs typeface="Aptos"/>
              </a:rPr>
              <a:t>S/E/C/P/M kernel · Architectural Role · Ecosystem Cartography · Operation/Repositioning</a:t>
            </a:r>
          </a:p>
          <a:p>
            <a:pPr algn="l">
              <a:spcBef>
                <a:spcPts val="100"/>
              </a:spcBef>
              <a:spcAft>
                <a:spcPts val="0"/>
              </a:spcAft>
              <a:buNone/>
            </a:pPr>
            <a:r>
              <a:rPr sz="700" b="0" i="0">
                <a:solidFill>
                  <a:srgbClr val="5D6572"/>
                </a:solidFill>
                <a:latin typeface="Aptos"/>
                <a:ea typeface="Aptos"/>
                <a:cs typeface="Aptos"/>
              </a:rPr>
              <a:t>Re-assessed when frame, role, envelope or authority changes; MSCA never creates authority.</a:t>
            </a:r>
          </a:p>
        </p:txBody>
      </p:sp>
      <p:sp>
        <p:nvSpPr>
          <p:cNvPr id="165" name="TextBox 164"/>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11"/>
              </a:rPr>
              <a:t>Positioning cycle</a:t>
            </a:r>
          </a:p>
        </p:txBody>
      </p:sp>
    </p:spTree>
    <p:extLst>
      <p:ext uri="{BB962C8B-B14F-4D97-AF65-F5344CB8AC3E}">
        <p14:creationId xmlns:p14="http://schemas.microsoft.com/office/powerpoint/2010/main" val="905580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8EFC53-9073-4DE9-A48D-6BDBD37096B6}"/>
              </a:ext>
            </a:extLst>
          </p:cNvPr>
          <p:cNvSpPr>
            <a:spLocks noGrp="1"/>
          </p:cNvSpPr>
          <p:nvPr/>
        </p:nvSpPr>
        <p:spPr>
          <a:xfrm>
            <a:off x="0" y="0"/>
            <a:ext cx="12192000" cy="237744"/>
          </a:xfrm>
          <a:prstGeom prst="rect">
            <a:avLst/>
          </a:prstGeom>
          <a:solidFill>
            <a:srgbClr val="1F2C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022E31B5-AB1F-4603-AE7A-2A86A2870DCF}"/>
              </a:ext>
            </a:extLst>
          </p:cNvPr>
          <p:cNvSpPr>
            <a:spLocks noGrp="1"/>
          </p:cNvSpPr>
          <p:nvPr/>
        </p:nvSpPr>
        <p:spPr>
          <a:xfrm>
            <a:off x="475488" y="310896"/>
            <a:ext cx="6400800" cy="310896"/>
          </a:xfrm>
          <a:prstGeom prst="rect">
            <a:avLst/>
          </a:prstGeom>
          <a:noFill/>
          <a:ln>
            <a:noFill/>
          </a:ln>
        </p:spPr>
        <p:txBody>
          <a:bodyPr wrap="square" lIns="50800" tIns="50800" rIns="50800" bIns="50800" anchor="t">
            <a:spAutoFit/>
          </a:bodyPr>
          <a:lstStyle/>
          <a:p>
            <a:pPr algn="l">
              <a:buNone/>
            </a:pPr>
            <a:endParaRPr/>
          </a:p>
        </p:txBody>
      </p:sp>
      <p:sp>
        <p:nvSpPr>
          <p:cNvPr id="4" name="TextBox 3">
            <a:extLst>
              <a:ext uri="{FF2B5EF4-FFF2-40B4-BE49-F238E27FC236}">
                <a16:creationId xmlns:a16="http://schemas.microsoft.com/office/drawing/2014/main" id="{8EA0FDF9-FD96-429B-BB51-0D74DEF72F23}"/>
              </a:ext>
            </a:extLst>
          </p:cNvPr>
          <p:cNvSpPr>
            <a:spLocks noGrp="1"/>
          </p:cNvSpPr>
          <p:nvPr/>
        </p:nvSpPr>
        <p:spPr>
          <a:xfrm>
            <a:off x="475488" y="676656"/>
            <a:ext cx="10881360" cy="219456"/>
          </a:xfrm>
          <a:prstGeom prst="rect">
            <a:avLst/>
          </a:prstGeom>
          <a:noFill/>
          <a:ln>
            <a:noFill/>
          </a:ln>
        </p:spPr>
        <p:txBody>
          <a:bodyPr wrap="square" lIns="50800" tIns="50800" rIns="50800" bIns="50800" anchor="t">
            <a:spAutoFit/>
          </a:bodyPr>
          <a:lstStyle/>
          <a:p>
            <a:pPr algn="l">
              <a:buNone/>
            </a:pPr>
            <a:endParaRPr/>
          </a:p>
        </p:txBody>
      </p:sp>
      <p:sp>
        <p:nvSpPr>
          <p:cNvPr id="5" name="Rounded Rectangle 4">
            <a:extLst>
              <a:ext uri="{FF2B5EF4-FFF2-40B4-BE49-F238E27FC236}">
                <a16:creationId xmlns:a16="http://schemas.microsoft.com/office/drawing/2014/main" id="{7592129B-C475-40D7-A75D-EA495681FBFE}"/>
              </a:ext>
            </a:extLst>
          </p:cNvPr>
          <p:cNvSpPr>
            <a:spLocks noGrp="1"/>
          </p:cNvSpPr>
          <p:nvPr/>
        </p:nvSpPr>
        <p:spPr>
          <a:xfrm>
            <a:off x="658368" y="1062281"/>
            <a:ext cx="2880360" cy="411480"/>
          </a:xfrm>
          <a:prstGeom prst="roundRect">
            <a:avLst/>
          </a:prstGeom>
          <a:solidFill>
            <a:srgbClr val="808EA0"/>
          </a:solidFill>
          <a:ln w="17780">
            <a:solidFill>
              <a:srgbClr val="808EA0"/>
            </a:solidFill>
          </a:ln>
        </p:spPr>
        <p:style>
          <a:lnRef idx="1">
            <a:schemeClr val="accent1"/>
          </a:lnRef>
          <a:fillRef idx="3">
            <a:schemeClr val="accent1"/>
          </a:fillRef>
          <a:effectRef idx="2">
            <a:schemeClr val="accent1"/>
          </a:effectRef>
          <a:fontRef idx="minor">
            <a:schemeClr val="lt1"/>
          </a:fontRef>
        </p:style>
        <p:txBody>
          <a:bodyPr wrap="square" lIns="63500" tIns="63500" rIns="63500" bIns="63500" anchor="t"/>
          <a:lstStyle/>
          <a:p>
            <a:pPr algn="ctr">
              <a:buNone/>
            </a:pPr>
            <a:r>
              <a:rPr sz="1200" b="1">
                <a:solidFill>
                  <a:srgbClr val="FFFFFF"/>
                </a:solidFill>
                <a:latin typeface="Aptos"/>
                <a:ea typeface="Aptos"/>
                <a:cs typeface="Aptos"/>
              </a:rPr>
              <a:t>HUMAN / INSTITUTIONAL GOVERNANCE</a:t>
            </a:r>
          </a:p>
        </p:txBody>
      </p:sp>
      <p:sp>
        <p:nvSpPr>
          <p:cNvPr id="6" name="Rounded Rectangle 5">
            <a:extLst>
              <a:ext uri="{FF2B5EF4-FFF2-40B4-BE49-F238E27FC236}">
                <a16:creationId xmlns:a16="http://schemas.microsoft.com/office/drawing/2014/main" id="{16A42936-C2A6-421F-9DAC-A5597C11CE5C}"/>
              </a:ext>
            </a:extLst>
          </p:cNvPr>
          <p:cNvSpPr>
            <a:spLocks noGrp="1"/>
          </p:cNvSpPr>
          <p:nvPr/>
        </p:nvSpPr>
        <p:spPr>
          <a:xfrm>
            <a:off x="2670048" y="1554480"/>
            <a:ext cx="7498079" cy="4443984"/>
          </a:xfrm>
          <a:prstGeom prst="roundRect">
            <a:avLst/>
          </a:prstGeom>
          <a:solidFill>
            <a:srgbClr val="ECF4F9"/>
          </a:solidFill>
          <a:ln w="27940">
            <a:solidFill>
              <a:srgbClr val="4E91C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2A0C7AD-5330-4BC1-8FAF-CD6FC1CF04A4}"/>
              </a:ext>
            </a:extLst>
          </p:cNvPr>
          <p:cNvSpPr>
            <a:spLocks noGrp="1"/>
          </p:cNvSpPr>
          <p:nvPr/>
        </p:nvSpPr>
        <p:spPr>
          <a:xfrm>
            <a:off x="6537960" y="1719072"/>
            <a:ext cx="3383280" cy="256032"/>
          </a:xfrm>
          <a:prstGeom prst="rect">
            <a:avLst/>
          </a:prstGeom>
          <a:noFill/>
          <a:ln>
            <a:noFill/>
          </a:ln>
        </p:spPr>
        <p:txBody>
          <a:bodyPr wrap="square" lIns="50800" tIns="50800" rIns="50800" bIns="50800" anchor="t">
            <a:spAutoFit/>
          </a:bodyPr>
          <a:lstStyle/>
          <a:p>
            <a:pPr algn="ctr">
              <a:buNone/>
            </a:pPr>
            <a:endParaRPr/>
          </a:p>
        </p:txBody>
      </p:sp>
      <p:sp>
        <p:nvSpPr>
          <p:cNvPr id="8" name="TextBox 7">
            <a:extLst>
              <a:ext uri="{FF2B5EF4-FFF2-40B4-BE49-F238E27FC236}">
                <a16:creationId xmlns:a16="http://schemas.microsoft.com/office/drawing/2014/main" id="{94F0706E-9615-4273-9CD5-414364AFE968}"/>
              </a:ext>
            </a:extLst>
          </p:cNvPr>
          <p:cNvSpPr>
            <a:spLocks noGrp="1"/>
          </p:cNvSpPr>
          <p:nvPr/>
        </p:nvSpPr>
        <p:spPr>
          <a:xfrm>
            <a:off x="6675120" y="1993392"/>
            <a:ext cx="3154680" cy="164592"/>
          </a:xfrm>
          <a:prstGeom prst="rect">
            <a:avLst/>
          </a:prstGeom>
          <a:noFill/>
          <a:ln>
            <a:noFill/>
          </a:ln>
        </p:spPr>
        <p:txBody>
          <a:bodyPr wrap="square" lIns="50800" tIns="50800" rIns="50800" bIns="50800" anchor="t">
            <a:spAutoFit/>
          </a:bodyPr>
          <a:lstStyle/>
          <a:p>
            <a:pPr algn="ctr">
              <a:buNone/>
            </a:pPr>
            <a:endParaRPr/>
          </a:p>
        </p:txBody>
      </p:sp>
      <p:sp>
        <p:nvSpPr>
          <p:cNvPr id="9" name="Rounded Rectangle 8">
            <a:extLst>
              <a:ext uri="{FF2B5EF4-FFF2-40B4-BE49-F238E27FC236}">
                <a16:creationId xmlns:a16="http://schemas.microsoft.com/office/drawing/2014/main" id="{2126AC2E-4808-4D73-B342-F351381FD169}"/>
              </a:ext>
            </a:extLst>
          </p:cNvPr>
          <p:cNvSpPr>
            <a:spLocks noGrp="1"/>
          </p:cNvSpPr>
          <p:nvPr/>
        </p:nvSpPr>
        <p:spPr>
          <a:xfrm>
            <a:off x="566928" y="1847088"/>
            <a:ext cx="4389120" cy="1207008"/>
          </a:xfrm>
          <a:prstGeom prst="roundRect">
            <a:avLst/>
          </a:prstGeom>
          <a:solidFill>
            <a:srgbClr val="F3E9DF"/>
          </a:solidFill>
          <a:ln w="25400">
            <a:solidFill>
              <a:srgbClr val="E2984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13F67FA9-743F-4637-95A4-91A67D36A5E1}"/>
              </a:ext>
            </a:extLst>
          </p:cNvPr>
          <p:cNvSpPr>
            <a:spLocks noGrp="1"/>
          </p:cNvSpPr>
          <p:nvPr/>
        </p:nvSpPr>
        <p:spPr>
          <a:xfrm>
            <a:off x="1005840" y="2066543"/>
            <a:ext cx="3474720" cy="237744"/>
          </a:xfrm>
          <a:prstGeom prst="rect">
            <a:avLst/>
          </a:prstGeom>
          <a:noFill/>
          <a:ln>
            <a:noFill/>
          </a:ln>
        </p:spPr>
        <p:txBody>
          <a:bodyPr wrap="square" lIns="50800" tIns="50800" rIns="50800" bIns="50800" anchor="t">
            <a:spAutoFit/>
          </a:bodyPr>
          <a:lstStyle/>
          <a:p>
            <a:pPr algn="ctr">
              <a:buNone/>
            </a:pPr>
            <a:r>
              <a:rPr sz="1600" b="1" i="0">
                <a:solidFill>
                  <a:srgbClr val="A8681F"/>
                </a:solidFill>
                <a:latin typeface="Aptos"/>
                <a:ea typeface="Aptos"/>
                <a:cs typeface="Aptos"/>
                <a:hlinkClick r:id="rId3"/>
              </a:rPr>
              <a:t>AGENTIC CITIZENSHIP CONTRACT</a:t>
            </a:r>
          </a:p>
        </p:txBody>
      </p:sp>
      <p:sp>
        <p:nvSpPr>
          <p:cNvPr id="11" name="TextBox 10">
            <a:extLst>
              <a:ext uri="{FF2B5EF4-FFF2-40B4-BE49-F238E27FC236}">
                <a16:creationId xmlns:a16="http://schemas.microsoft.com/office/drawing/2014/main" id="{4B558525-C2DC-4CA7-A1D6-97A5F5EA3B5D}"/>
              </a:ext>
            </a:extLst>
          </p:cNvPr>
          <p:cNvSpPr>
            <a:spLocks noGrp="1"/>
          </p:cNvSpPr>
          <p:nvPr/>
        </p:nvSpPr>
        <p:spPr>
          <a:xfrm>
            <a:off x="914400" y="2509152"/>
            <a:ext cx="2400000" cy="457200"/>
          </a:xfrm>
          <a:prstGeom prst="rect">
            <a:avLst/>
          </a:prstGeom>
          <a:noFill/>
          <a:ln>
            <a:noFill/>
          </a:ln>
        </p:spPr>
        <p:txBody>
          <a:bodyPr wrap="square" lIns="50800" tIns="50800" rIns="50800" bIns="50800" anchor="t">
            <a:spAutoFit/>
          </a:bodyPr>
          <a:lstStyle/>
          <a:p>
            <a:pPr algn="ctr">
              <a:buNone/>
            </a:pPr>
            <a:r>
              <a:rPr sz="800" b="0" i="0">
                <a:solidFill>
                  <a:srgbClr val="74542F"/>
                </a:solidFill>
                <a:latin typeface="Aptos"/>
                <a:ea typeface="Aptos"/>
                <a:cs typeface="Aptos"/>
              </a:rPr>
              <a:t>membership · admissible roles · obligations · prohibitions</a:t>
            </a:r>
          </a:p>
          <a:p>
            <a:pPr algn="ctr">
              <a:buNone/>
            </a:pPr>
            <a:r>
              <a:rPr sz="800" b="0" i="0">
                <a:solidFill>
                  <a:srgbClr val="74542F"/>
                </a:solidFill>
                <a:latin typeface="Aptos"/>
                <a:ea typeface="Aptos"/>
                <a:cs typeface="Aptos"/>
              </a:rPr>
              <a:t>autonomy bounds · hard constraints · revocation / exit</a:t>
            </a:r>
          </a:p>
        </p:txBody>
      </p:sp>
      <p:sp>
        <p:nvSpPr>
          <p:cNvPr id="12" name="TextBox 11">
            <a:extLst>
              <a:ext uri="{FF2B5EF4-FFF2-40B4-BE49-F238E27FC236}">
                <a16:creationId xmlns:a16="http://schemas.microsoft.com/office/drawing/2014/main" id="{755DA38B-41F7-4205-A853-7969686D980C}"/>
              </a:ext>
            </a:extLst>
          </p:cNvPr>
          <p:cNvSpPr>
            <a:spLocks noGrp="1"/>
          </p:cNvSpPr>
          <p:nvPr/>
        </p:nvSpPr>
        <p:spPr>
          <a:xfrm>
            <a:off x="987552" y="3002928"/>
            <a:ext cx="2327088" cy="137160"/>
          </a:xfrm>
          <a:prstGeom prst="rect">
            <a:avLst/>
          </a:prstGeom>
          <a:noFill/>
          <a:ln>
            <a:noFill/>
          </a:ln>
        </p:spPr>
        <p:txBody>
          <a:bodyPr wrap="square" lIns="50800" tIns="50800" rIns="50800" bIns="50800" anchor="t">
            <a:spAutoFit/>
          </a:bodyPr>
          <a:lstStyle/>
          <a:p>
            <a:pPr algn="ctr">
              <a:buNone/>
            </a:pPr>
            <a:r>
              <a:rPr sz="850" b="0" i="1">
                <a:solidFill>
                  <a:srgbClr val="74542F"/>
                </a:solidFill>
                <a:latin typeface="Aptos"/>
                <a:ea typeface="Aptos"/>
                <a:cs typeface="Aptos"/>
              </a:rPr>
              <a:t>Defines admissible conditions — not each trajectory</a:t>
            </a:r>
          </a:p>
        </p:txBody>
      </p:sp>
      <p:sp>
        <p:nvSpPr>
          <p:cNvPr id="13" name="Connector 12">
            <a:extLst>
              <a:ext uri="{FF2B5EF4-FFF2-40B4-BE49-F238E27FC236}">
                <a16:creationId xmlns:a16="http://schemas.microsoft.com/office/drawing/2014/main" id="{C3CA6D39-B042-4AC8-97B1-009C086FBC26}"/>
              </a:ext>
            </a:extLst>
          </p:cNvPr>
          <p:cNvSpPr>
            <a:spLocks noGrp="1"/>
          </p:cNvSpPr>
          <p:nvPr/>
        </p:nvSpPr>
        <p:spPr>
          <a:xfrm>
            <a:off x="2057400" y="1490472"/>
            <a:ext cx="0" cy="356616"/>
          </a:xfrm>
          <a:prstGeom prst="line">
            <a:avLst/>
          </a:prstGeom>
          <a:ln w="12700">
            <a:solidFill>
              <a:srgbClr val="5D6572"/>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4" name="Rounded Rectangle 13">
            <a:extLst>
              <a:ext uri="{FF2B5EF4-FFF2-40B4-BE49-F238E27FC236}">
                <a16:creationId xmlns:a16="http://schemas.microsoft.com/office/drawing/2014/main" id="{95ACE021-547F-4D5F-B4FE-9634D001F503}"/>
              </a:ext>
            </a:extLst>
          </p:cNvPr>
          <p:cNvSpPr>
            <a:spLocks noGrp="1"/>
          </p:cNvSpPr>
          <p:nvPr/>
        </p:nvSpPr>
        <p:spPr>
          <a:xfrm>
            <a:off x="3886200" y="2331720"/>
            <a:ext cx="4754880" cy="2011680"/>
          </a:xfrm>
          <a:prstGeom prst="roundRect">
            <a:avLst/>
          </a:prstGeom>
          <a:solidFill>
            <a:srgbClr val="D3E3EC"/>
          </a:solidFill>
          <a:ln w="27940">
            <a:solidFill>
              <a:srgbClr val="007B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B497B1B-9FE3-4DA4-AEA6-328C3066E9C8}"/>
              </a:ext>
            </a:extLst>
          </p:cNvPr>
          <p:cNvSpPr>
            <a:spLocks noGrp="1"/>
          </p:cNvSpPr>
          <p:nvPr/>
        </p:nvSpPr>
        <p:spPr>
          <a:xfrm>
            <a:off x="5577840" y="2542032"/>
            <a:ext cx="1554480" cy="457200"/>
          </a:xfrm>
          <a:prstGeom prst="rect">
            <a:avLst/>
          </a:prstGeom>
          <a:noFill/>
          <a:ln>
            <a:noFill/>
          </a:ln>
        </p:spPr>
        <p:txBody>
          <a:bodyPr wrap="square" lIns="50800" tIns="50800" rIns="50800" bIns="50800" anchor="t">
            <a:spAutoFit/>
          </a:bodyPr>
          <a:lstStyle/>
          <a:p>
            <a:pPr algn="ctr">
              <a:buNone/>
            </a:pPr>
            <a:endParaRPr/>
          </a:p>
        </p:txBody>
      </p:sp>
      <p:sp>
        <p:nvSpPr>
          <p:cNvPr id="16" name="TextBox 15">
            <a:extLst>
              <a:ext uri="{FF2B5EF4-FFF2-40B4-BE49-F238E27FC236}">
                <a16:creationId xmlns:a16="http://schemas.microsoft.com/office/drawing/2014/main" id="{157E9485-0F69-4AB6-BE4A-C6BBEF1921A3}"/>
              </a:ext>
            </a:extLst>
          </p:cNvPr>
          <p:cNvSpPr>
            <a:spLocks noGrp="1"/>
          </p:cNvSpPr>
          <p:nvPr/>
        </p:nvSpPr>
        <p:spPr>
          <a:xfrm>
            <a:off x="4800600" y="2907792"/>
            <a:ext cx="2971800" cy="164592"/>
          </a:xfrm>
          <a:prstGeom prst="rect">
            <a:avLst/>
          </a:prstGeom>
          <a:noFill/>
          <a:ln>
            <a:noFill/>
          </a:ln>
        </p:spPr>
        <p:txBody>
          <a:bodyPr wrap="square" lIns="50800" tIns="50800" rIns="50800" bIns="50800" anchor="t">
            <a:spAutoFit/>
          </a:bodyPr>
          <a:lstStyle/>
          <a:p>
            <a:pPr algn="ctr">
              <a:buNone/>
            </a:pPr>
            <a:endParaRPr/>
          </a:p>
        </p:txBody>
      </p:sp>
      <p:sp>
        <p:nvSpPr>
          <p:cNvPr id="17" name="Rounded Rectangle 16">
            <a:extLst>
              <a:ext uri="{FF2B5EF4-FFF2-40B4-BE49-F238E27FC236}">
                <a16:creationId xmlns:a16="http://schemas.microsoft.com/office/drawing/2014/main" id="{EFF82214-7A61-4999-B98B-708F7CCC7C44}"/>
              </a:ext>
            </a:extLst>
          </p:cNvPr>
          <p:cNvSpPr>
            <a:spLocks noGrp="1"/>
          </p:cNvSpPr>
          <p:nvPr/>
        </p:nvSpPr>
        <p:spPr>
          <a:xfrm>
            <a:off x="4572000" y="3218688"/>
            <a:ext cx="1691640" cy="566928"/>
          </a:xfrm>
          <a:prstGeom prst="roundRect">
            <a:avLst/>
          </a:prstGeom>
          <a:solidFill>
            <a:srgbClr val="FFFFFF"/>
          </a:solidFill>
          <a:ln w="17780">
            <a:solidFill>
              <a:srgbClr val="85ADBF"/>
            </a:solidFill>
          </a:ln>
        </p:spPr>
        <p:style>
          <a:lnRef idx="1">
            <a:schemeClr val="accent1"/>
          </a:lnRef>
          <a:fillRef idx="3">
            <a:schemeClr val="accent1"/>
          </a:fillRef>
          <a:effectRef idx="2">
            <a:schemeClr val="accent1"/>
          </a:effectRef>
          <a:fontRef idx="minor">
            <a:schemeClr val="lt1"/>
          </a:fontRef>
        </p:style>
        <p:txBody>
          <a:bodyPr wrap="square" lIns="63500" tIns="63500" rIns="63500" bIns="63500" anchor="t"/>
          <a:lstStyle/>
          <a:p>
            <a:pPr algn="ctr">
              <a:buNone/>
            </a:pPr>
            <a:r>
              <a:rPr sz="940" b="1">
                <a:solidFill>
                  <a:srgbClr val="282828"/>
                </a:solidFill>
                <a:latin typeface="Aptos"/>
                <a:ea typeface="Aptos"/>
                <a:cs typeface="Aptos"/>
              </a:rPr>
              <a:t>Current epistemic position</a:t>
            </a:r>
          </a:p>
          <a:p>
            <a:pPr algn="ctr">
              <a:spcBef>
                <a:spcPts val="300"/>
              </a:spcBef>
              <a:buNone/>
            </a:pPr>
            <a:r>
              <a:rPr sz="840">
                <a:solidFill>
                  <a:srgbClr val="5D6572"/>
                </a:solidFill>
                <a:latin typeface="Aptos"/>
                <a:ea typeface="Aptos"/>
                <a:cs typeface="Aptos"/>
              </a:rPr>
              <a:t>Π_EA · A/B/C/D · residual</a:t>
            </a:r>
          </a:p>
        </p:txBody>
      </p:sp>
      <p:sp>
        <p:nvSpPr>
          <p:cNvPr id="18" name="Rounded Rectangle 17">
            <a:extLst>
              <a:ext uri="{FF2B5EF4-FFF2-40B4-BE49-F238E27FC236}">
                <a16:creationId xmlns:a16="http://schemas.microsoft.com/office/drawing/2014/main" id="{9693C5A4-C2D0-4493-B57A-9D46D3C31721}"/>
              </a:ext>
            </a:extLst>
          </p:cNvPr>
          <p:cNvSpPr>
            <a:spLocks noGrp="1"/>
          </p:cNvSpPr>
          <p:nvPr/>
        </p:nvSpPr>
        <p:spPr>
          <a:xfrm>
            <a:off x="6473952" y="3218688"/>
            <a:ext cx="1901952" cy="566928"/>
          </a:xfrm>
          <a:prstGeom prst="roundRect">
            <a:avLst/>
          </a:prstGeom>
          <a:solidFill>
            <a:srgbClr val="FFFFFF"/>
          </a:solidFill>
          <a:ln w="17780">
            <a:solidFill>
              <a:srgbClr val="85ADBF"/>
            </a:solidFill>
            <a:prstDash val="dash"/>
          </a:ln>
        </p:spPr>
        <p:style>
          <a:lnRef idx="1">
            <a:schemeClr val="accent1"/>
          </a:lnRef>
          <a:fillRef idx="3">
            <a:schemeClr val="accent1"/>
          </a:fillRef>
          <a:effectRef idx="2">
            <a:schemeClr val="accent1"/>
          </a:effectRef>
          <a:fontRef idx="minor">
            <a:schemeClr val="lt1"/>
          </a:fontRef>
        </p:style>
        <p:txBody>
          <a:bodyPr wrap="square" lIns="63500" tIns="63500" rIns="63500" bIns="63500" anchor="t"/>
          <a:lstStyle/>
          <a:p>
            <a:pPr algn="ctr">
              <a:buNone/>
            </a:pPr>
            <a:r>
              <a:rPr sz="940" b="1">
                <a:solidFill>
                  <a:srgbClr val="282828"/>
                </a:solidFill>
                <a:latin typeface="Aptos"/>
                <a:ea typeface="Aptos"/>
                <a:cs typeface="Aptos"/>
              </a:rPr>
              <a:t>Cartography input</a:t>
            </a:r>
          </a:p>
          <a:p>
            <a:pPr algn="ctr">
              <a:spcBef>
                <a:spcPts val="300"/>
              </a:spcBef>
              <a:buNone/>
            </a:pPr>
            <a:r>
              <a:rPr sz="840">
                <a:solidFill>
                  <a:srgbClr val="5D6572"/>
                </a:solidFill>
                <a:latin typeface="Aptos"/>
                <a:ea typeface="Aptos"/>
                <a:cs typeface="Aptos"/>
              </a:rPr>
              <a:t>Cart_i where material · owned by MSCA</a:t>
            </a:r>
          </a:p>
          <a:p>
            <a:pPr algn="ctr">
              <a:buNone/>
            </a:pPr>
            <a:endParaRPr sz="840">
              <a:solidFill>
                <a:srgbClr val="5D6572"/>
              </a:solidFill>
              <a:latin typeface="Aptos"/>
              <a:ea typeface="Aptos"/>
              <a:cs typeface="Aptos"/>
            </a:endParaRPr>
          </a:p>
        </p:txBody>
      </p:sp>
      <p:sp>
        <p:nvSpPr>
          <p:cNvPr id="19" name="Rounded Rectangle 18">
            <a:extLst>
              <a:ext uri="{FF2B5EF4-FFF2-40B4-BE49-F238E27FC236}">
                <a16:creationId xmlns:a16="http://schemas.microsoft.com/office/drawing/2014/main" id="{A6FF86B4-2E1E-42DB-805D-F620693D2B1F}"/>
              </a:ext>
            </a:extLst>
          </p:cNvPr>
          <p:cNvSpPr>
            <a:spLocks noGrp="1"/>
          </p:cNvSpPr>
          <p:nvPr/>
        </p:nvSpPr>
        <p:spPr>
          <a:xfrm>
            <a:off x="9253728" y="2377440"/>
            <a:ext cx="2359152" cy="2395728"/>
          </a:xfrm>
          <a:prstGeom prst="roundRect">
            <a:avLst/>
          </a:prstGeom>
          <a:solidFill>
            <a:srgbClr val="FFFFFF"/>
          </a:solidFill>
          <a:ln w="17780">
            <a:solidFill>
              <a:srgbClr val="4F97D4"/>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ctr">
              <a:buNone/>
            </a:pPr>
            <a:endParaRPr/>
          </a:p>
        </p:txBody>
      </p:sp>
      <p:sp>
        <p:nvSpPr>
          <p:cNvPr id="20" name="Rounded Rectangle 19">
            <a:extLst>
              <a:ext uri="{FF2B5EF4-FFF2-40B4-BE49-F238E27FC236}">
                <a16:creationId xmlns:a16="http://schemas.microsoft.com/office/drawing/2014/main" id="{D5323079-6281-4574-86E7-99278830EA5D}"/>
              </a:ext>
            </a:extLst>
          </p:cNvPr>
          <p:cNvSpPr>
            <a:spLocks noGrp="1"/>
          </p:cNvSpPr>
          <p:nvPr/>
        </p:nvSpPr>
        <p:spPr>
          <a:xfrm>
            <a:off x="5440680" y="4142232"/>
            <a:ext cx="2560320" cy="402336"/>
          </a:xfrm>
          <a:prstGeom prst="roundRect">
            <a:avLst/>
          </a:prstGeom>
          <a:solidFill>
            <a:srgbClr val="C65D4E"/>
          </a:solidFill>
          <a:ln w="17780">
            <a:solidFill>
              <a:srgbClr val="C65D4E"/>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anchor="t"/>
          <a:lstStyle/>
          <a:p>
            <a:pPr algn="ctr">
              <a:buNone/>
            </a:pPr>
            <a:r>
              <a:rPr sz="1130" b="1">
                <a:solidFill>
                  <a:srgbClr val="FFFFFF"/>
                </a:solidFill>
                <a:latin typeface="Aptos"/>
                <a:ea typeface="Aptos"/>
                <a:cs typeface="Aptos"/>
                <a:hlinkClick r:id="rId4"/>
              </a:rPr>
              <a:t>REGIME AWARENESS</a:t>
            </a:r>
          </a:p>
          <a:p>
            <a:pPr algn="ctr">
              <a:buNone/>
            </a:pPr>
            <a:r>
              <a:rPr sz="1130" b="1">
                <a:solidFill>
                  <a:srgbClr val="FFFFFF"/>
                </a:solidFill>
                <a:latin typeface="Aptos"/>
                <a:ea typeface="Aptos"/>
                <a:cs typeface="Aptos"/>
                <a:hlinkClick r:id="rId4"/>
              </a:rPr>
              <a:t>Δ_RA + regime overlay</a:t>
            </a:r>
          </a:p>
        </p:txBody>
      </p:sp>
      <p:sp>
        <p:nvSpPr>
          <p:cNvPr id="21" name="Oval 20">
            <a:extLst>
              <a:ext uri="{FF2B5EF4-FFF2-40B4-BE49-F238E27FC236}">
                <a16:creationId xmlns:a16="http://schemas.microsoft.com/office/drawing/2014/main" id="{1343D23B-F84B-4266-A3DB-E4A0D7070420}"/>
              </a:ext>
            </a:extLst>
          </p:cNvPr>
          <p:cNvSpPr>
            <a:spLocks noGrp="1"/>
          </p:cNvSpPr>
          <p:nvPr/>
        </p:nvSpPr>
        <p:spPr>
          <a:xfrm>
            <a:off x="3401568" y="2816352"/>
            <a:ext cx="932688" cy="932688"/>
          </a:xfrm>
          <a:prstGeom prst="ellipse">
            <a:avLst/>
          </a:prstGeom>
          <a:solidFill>
            <a:srgbClr val="7A4FBA"/>
          </a:solidFill>
          <a:ln w="25400">
            <a:solidFill>
              <a:srgbClr val="60379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7C84D58A-2883-4E62-8713-599C24EDF177}"/>
              </a:ext>
            </a:extLst>
          </p:cNvPr>
          <p:cNvSpPr>
            <a:spLocks noGrp="1"/>
          </p:cNvSpPr>
          <p:nvPr/>
        </p:nvSpPr>
        <p:spPr>
          <a:xfrm>
            <a:off x="3538728" y="3072384"/>
            <a:ext cx="658368" cy="201168"/>
          </a:xfrm>
          <a:prstGeom prst="rect">
            <a:avLst/>
          </a:prstGeom>
          <a:noFill/>
          <a:ln>
            <a:noFill/>
          </a:ln>
        </p:spPr>
        <p:txBody>
          <a:bodyPr wrap="square" lIns="0" tIns="0" rIns="0" bIns="0" anchor="t">
            <a:spAutoFit/>
          </a:bodyPr>
          <a:lstStyle/>
          <a:p>
            <a:pPr algn="ctr">
              <a:buNone/>
            </a:pPr>
            <a:r>
              <a:rPr sz="1450" b="1">
                <a:solidFill>
                  <a:srgbClr val="FFFFFF"/>
                </a:solidFill>
                <a:latin typeface="Aptos"/>
                <a:ea typeface="Aptos"/>
                <a:cs typeface="Aptos"/>
                <a:hlinkClick r:id="rId5"/>
              </a:rPr>
              <a:t>MSCA</a:t>
            </a:r>
          </a:p>
        </p:txBody>
      </p:sp>
      <p:sp>
        <p:nvSpPr>
          <p:cNvPr id="23" name="TextBox 22">
            <a:extLst>
              <a:ext uri="{FF2B5EF4-FFF2-40B4-BE49-F238E27FC236}">
                <a16:creationId xmlns:a16="http://schemas.microsoft.com/office/drawing/2014/main" id="{08607570-3FDA-4F8A-A654-D02AA5288725}"/>
              </a:ext>
            </a:extLst>
          </p:cNvPr>
          <p:cNvSpPr>
            <a:spLocks noGrp="1"/>
          </p:cNvSpPr>
          <p:nvPr/>
        </p:nvSpPr>
        <p:spPr>
          <a:xfrm>
            <a:off x="3502152" y="3355848"/>
            <a:ext cx="731520" cy="146304"/>
          </a:xfrm>
          <a:prstGeom prst="rect">
            <a:avLst/>
          </a:prstGeom>
          <a:noFill/>
          <a:ln>
            <a:noFill/>
          </a:ln>
        </p:spPr>
        <p:txBody>
          <a:bodyPr wrap="square" lIns="0" tIns="0" rIns="0" bIns="0" anchor="t">
            <a:spAutoFit/>
          </a:bodyPr>
          <a:lstStyle/>
          <a:p>
            <a:pPr algn="ctr">
              <a:buNone/>
            </a:pPr>
            <a:r>
              <a:rPr sz="730" b="0">
                <a:solidFill>
                  <a:srgbClr val="FFFFFF"/>
                </a:solidFill>
                <a:latin typeface="Aptos"/>
                <a:ea typeface="Aptos"/>
                <a:cs typeface="Aptos"/>
              </a:rPr>
              <a:t>control sufficiency</a:t>
            </a:r>
          </a:p>
        </p:txBody>
      </p:sp>
      <p:sp>
        <p:nvSpPr>
          <p:cNvPr id="24" name="TextBox 23">
            <a:extLst>
              <a:ext uri="{FF2B5EF4-FFF2-40B4-BE49-F238E27FC236}">
                <a16:creationId xmlns:a16="http://schemas.microsoft.com/office/drawing/2014/main" id="{BBC100CA-4531-4A80-BD9B-78B7F0476B95}"/>
              </a:ext>
            </a:extLst>
          </p:cNvPr>
          <p:cNvSpPr>
            <a:spLocks noGrp="1"/>
          </p:cNvSpPr>
          <p:nvPr/>
        </p:nvSpPr>
        <p:spPr>
          <a:xfrm>
            <a:off x="2761488" y="3844857"/>
            <a:ext cx="2697480" cy="146304"/>
          </a:xfrm>
          <a:prstGeom prst="rect">
            <a:avLst/>
          </a:prstGeom>
          <a:noFill/>
          <a:ln>
            <a:noFill/>
          </a:ln>
        </p:spPr>
        <p:txBody>
          <a:bodyPr wrap="square" lIns="50800" tIns="50800" rIns="50800" bIns="50800" anchor="t">
            <a:spAutoFit/>
          </a:bodyPr>
          <a:lstStyle/>
          <a:p>
            <a:pPr algn="ctr">
              <a:buNone/>
            </a:pPr>
            <a:r>
              <a:rPr sz="900" b="1" i="0">
                <a:solidFill>
                  <a:srgbClr val="7A4FBA"/>
                </a:solidFill>
                <a:latin typeface="Aptos"/>
                <a:ea typeface="Aptos"/>
                <a:cs typeface="Aptos"/>
                <a:hlinkClick r:id="rId5"/>
              </a:rPr>
              <a:t>MSCA bridge: Role · Cartography · Operation</a:t>
            </a:r>
          </a:p>
        </p:txBody>
      </p:sp>
      <p:sp>
        <p:nvSpPr>
          <p:cNvPr id="25" name="Rounded Rectangle 24">
            <a:extLst>
              <a:ext uri="{FF2B5EF4-FFF2-40B4-BE49-F238E27FC236}">
                <a16:creationId xmlns:a16="http://schemas.microsoft.com/office/drawing/2014/main" id="{E98C8BA0-FC13-46D2-AD35-60AC1FB4AD73}"/>
              </a:ext>
            </a:extLst>
          </p:cNvPr>
          <p:cNvSpPr>
            <a:spLocks noGrp="1"/>
          </p:cNvSpPr>
          <p:nvPr/>
        </p:nvSpPr>
        <p:spPr>
          <a:xfrm>
            <a:off x="960120" y="5102352"/>
            <a:ext cx="8641080" cy="457200"/>
          </a:xfrm>
          <a:prstGeom prst="roundRect">
            <a:avLst/>
          </a:prstGeom>
          <a:solidFill>
            <a:srgbClr val="44A784"/>
          </a:solidFill>
          <a:ln w="17780">
            <a:solidFill>
              <a:srgbClr val="3B977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2AEE390-E08C-4AA2-90C8-9958AD0523E3}"/>
              </a:ext>
            </a:extLst>
          </p:cNvPr>
          <p:cNvSpPr>
            <a:spLocks noGrp="1"/>
          </p:cNvSpPr>
          <p:nvPr/>
        </p:nvSpPr>
        <p:spPr>
          <a:xfrm>
            <a:off x="1298448" y="5175080"/>
            <a:ext cx="2514600" cy="330000"/>
          </a:xfrm>
          <a:prstGeom prst="rect">
            <a:avLst/>
          </a:prstGeom>
          <a:noFill/>
          <a:ln>
            <a:noFill/>
          </a:ln>
        </p:spPr>
        <p:txBody>
          <a:bodyPr wrap="square" lIns="50800" tIns="50800" rIns="50800" bIns="50800" anchor="t">
            <a:spAutoFit/>
          </a:bodyPr>
          <a:lstStyle/>
          <a:p>
            <a:pPr algn="l">
              <a:buNone/>
            </a:pPr>
            <a:r>
              <a:rPr sz="1300" b="1" i="0">
                <a:solidFill>
                  <a:srgbClr val="FFFFFF"/>
                </a:solidFill>
                <a:latin typeface="Aptos"/>
                <a:ea typeface="Aptos"/>
                <a:cs typeface="Aptos"/>
                <a:hlinkClick r:id="rId6"/>
              </a:rPr>
              <a:t>ECOSYSTEM SIGNALLING / EHD</a:t>
            </a:r>
          </a:p>
        </p:txBody>
      </p:sp>
      <p:sp>
        <p:nvSpPr>
          <p:cNvPr id="27" name="TextBox 26">
            <a:extLst>
              <a:ext uri="{FF2B5EF4-FFF2-40B4-BE49-F238E27FC236}">
                <a16:creationId xmlns:a16="http://schemas.microsoft.com/office/drawing/2014/main" id="{6A54B870-D2E2-4E41-85BE-20253473E08A}"/>
              </a:ext>
            </a:extLst>
          </p:cNvPr>
          <p:cNvSpPr>
            <a:spLocks noGrp="1"/>
          </p:cNvSpPr>
          <p:nvPr/>
        </p:nvSpPr>
        <p:spPr>
          <a:xfrm>
            <a:off x="3840480" y="5175504"/>
            <a:ext cx="2148840" cy="246888"/>
          </a:xfrm>
          <a:prstGeom prst="rect">
            <a:avLst/>
          </a:prstGeom>
          <a:noFill/>
          <a:ln>
            <a:noFill/>
          </a:ln>
        </p:spPr>
        <p:txBody>
          <a:bodyPr wrap="square" lIns="0" tIns="0" rIns="0" bIns="0" anchor="t">
            <a:spAutoFit/>
          </a:bodyPr>
          <a:lstStyle/>
          <a:p>
            <a:pPr algn="ctr">
              <a:buNone/>
            </a:pPr>
            <a:r>
              <a:rPr sz="750" b="0">
                <a:solidFill>
                  <a:srgbClr val="FFFFFF"/>
                </a:solidFill>
                <a:latin typeface="Aptos"/>
                <a:ea typeface="Aptos"/>
                <a:cs typeface="Aptos"/>
              </a:rPr>
              <a:t>qualified state · Cart_i · RepositionIntent</a:t>
            </a:r>
          </a:p>
          <a:p>
            <a:pPr algn="ctr">
              <a:buNone/>
            </a:pPr>
            <a:r>
              <a:rPr sz="750" b="0">
                <a:solidFill>
                  <a:srgbClr val="FFFFFF"/>
                </a:solidFill>
                <a:latin typeface="Aptos"/>
                <a:ea typeface="Aptos"/>
                <a:cs typeface="Aptos"/>
              </a:rPr>
              <a:t>lineage / UNKNOWN preserved</a:t>
            </a:r>
          </a:p>
        </p:txBody>
      </p:sp>
      <p:sp>
        <p:nvSpPr>
          <p:cNvPr id="28" name="TextBox 27">
            <a:extLst>
              <a:ext uri="{FF2B5EF4-FFF2-40B4-BE49-F238E27FC236}">
                <a16:creationId xmlns:a16="http://schemas.microsoft.com/office/drawing/2014/main" id="{D440CBF6-7BCE-4D9E-906D-14A997D5ABA2}"/>
              </a:ext>
            </a:extLst>
          </p:cNvPr>
          <p:cNvSpPr>
            <a:spLocks noGrp="1"/>
          </p:cNvSpPr>
          <p:nvPr/>
        </p:nvSpPr>
        <p:spPr>
          <a:xfrm>
            <a:off x="6492240" y="5175504"/>
            <a:ext cx="2560320" cy="246888"/>
          </a:xfrm>
          <a:prstGeom prst="rect">
            <a:avLst/>
          </a:prstGeom>
          <a:noFill/>
          <a:ln>
            <a:noFill/>
          </a:ln>
        </p:spPr>
        <p:txBody>
          <a:bodyPr wrap="square" lIns="0" tIns="0" rIns="0" bIns="0" anchor="t">
            <a:spAutoFit/>
          </a:bodyPr>
          <a:lstStyle/>
          <a:p>
            <a:pPr algn="ctr">
              <a:buNone/>
            </a:pPr>
            <a:r>
              <a:rPr sz="750" b="0">
                <a:solidFill>
                  <a:srgbClr val="FFFFFF"/>
                </a:solidFill>
                <a:latin typeface="Aptos"/>
                <a:ea typeface="Aptos"/>
                <a:cs typeface="Aptos"/>
              </a:rPr>
              <a:t>transport · peers · authorities</a:t>
            </a:r>
          </a:p>
          <a:p>
            <a:pPr algn="ctr">
              <a:buNone/>
            </a:pPr>
            <a:r>
              <a:rPr sz="750" b="0">
                <a:solidFill>
                  <a:srgbClr val="FFFFFF"/>
                </a:solidFill>
                <a:latin typeface="Aptos"/>
                <a:ea typeface="Aptos"/>
                <a:cs typeface="Aptos"/>
              </a:rPr>
              <a:t>membership may vary</a:t>
            </a:r>
          </a:p>
        </p:txBody>
      </p:sp>
      <p:sp>
        <p:nvSpPr>
          <p:cNvPr id="29" name="Connector 28">
            <a:extLst>
              <a:ext uri="{FF2B5EF4-FFF2-40B4-BE49-F238E27FC236}">
                <a16:creationId xmlns:a16="http://schemas.microsoft.com/office/drawing/2014/main" id="{CE891D4B-53FE-4B3E-9FD3-B4FE6B06C6B1}"/>
              </a:ext>
            </a:extLst>
          </p:cNvPr>
          <p:cNvSpPr>
            <a:spLocks noGrp="1"/>
          </p:cNvSpPr>
          <p:nvPr/>
        </p:nvSpPr>
        <p:spPr>
          <a:xfrm>
            <a:off x="8375904" y="3675887"/>
            <a:ext cx="859536" cy="0"/>
          </a:xfrm>
          <a:prstGeom prst="line">
            <a:avLst/>
          </a:prstGeom>
          <a:ln w="20320">
            <a:solidFill>
              <a:srgbClr val="5695C0"/>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0" name="Connector 29">
            <a:extLst>
              <a:ext uri="{FF2B5EF4-FFF2-40B4-BE49-F238E27FC236}">
                <a16:creationId xmlns:a16="http://schemas.microsoft.com/office/drawing/2014/main" id="{4374D3B3-5ACE-4C83-97F1-6FC673A17A84}"/>
              </a:ext>
            </a:extLst>
          </p:cNvPr>
          <p:cNvSpPr>
            <a:spLocks noGrp="1"/>
          </p:cNvSpPr>
          <p:nvPr/>
        </p:nvSpPr>
        <p:spPr>
          <a:xfrm flipH="1">
            <a:off x="7360920" y="4233672"/>
            <a:ext cx="640080" cy="0"/>
          </a:xfrm>
          <a:prstGeom prst="line">
            <a:avLst/>
          </a:prstGeom>
          <a:ln w="17780">
            <a:solidFill>
              <a:srgbClr val="C65D4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1" name="TextBox 30">
            <a:extLst>
              <a:ext uri="{FF2B5EF4-FFF2-40B4-BE49-F238E27FC236}">
                <a16:creationId xmlns:a16="http://schemas.microsoft.com/office/drawing/2014/main" id="{E59F1C3F-93E6-4272-88D8-F9010F8B1D5E}"/>
              </a:ext>
            </a:extLst>
          </p:cNvPr>
          <p:cNvSpPr>
            <a:spLocks noGrp="1"/>
          </p:cNvSpPr>
          <p:nvPr/>
        </p:nvSpPr>
        <p:spPr>
          <a:xfrm>
            <a:off x="640080" y="6144768"/>
            <a:ext cx="868680" cy="228600"/>
          </a:xfrm>
          <a:prstGeom prst="rect">
            <a:avLst/>
          </a:prstGeom>
          <a:noFill/>
          <a:ln>
            <a:noFill/>
          </a:ln>
        </p:spPr>
        <p:txBody>
          <a:bodyPr wrap="square" lIns="50800" tIns="50800" rIns="50800" bIns="50800" anchor="t">
            <a:spAutoFit/>
          </a:bodyPr>
          <a:lstStyle/>
          <a:p>
            <a:pPr algn="l">
              <a:buNone/>
            </a:pPr>
            <a:endParaRPr/>
          </a:p>
        </p:txBody>
      </p:sp>
      <p:sp>
        <p:nvSpPr>
          <p:cNvPr id="32" name="TextBox 31">
            <a:extLst>
              <a:ext uri="{FF2B5EF4-FFF2-40B4-BE49-F238E27FC236}">
                <a16:creationId xmlns:a16="http://schemas.microsoft.com/office/drawing/2014/main" id="{6009D18D-63C9-4E71-998A-CED41D0948E6}"/>
              </a:ext>
            </a:extLst>
          </p:cNvPr>
          <p:cNvSpPr>
            <a:spLocks noGrp="1"/>
          </p:cNvSpPr>
          <p:nvPr/>
        </p:nvSpPr>
        <p:spPr>
          <a:xfrm>
            <a:off x="1481328" y="6126480"/>
            <a:ext cx="9098280" cy="310896"/>
          </a:xfrm>
          <a:prstGeom prst="rect">
            <a:avLst/>
          </a:prstGeom>
          <a:noFill/>
          <a:ln>
            <a:noFill/>
          </a:ln>
        </p:spPr>
        <p:txBody>
          <a:bodyPr wrap="square" lIns="50800" tIns="50800" rIns="50800" bIns="50800" anchor="t">
            <a:spAutoFit/>
          </a:bodyPr>
          <a:lstStyle/>
          <a:p>
            <a:pPr algn="l">
              <a:buNone/>
            </a:pPr>
            <a:endParaRPr/>
          </a:p>
        </p:txBody>
      </p:sp>
      <p:sp>
        <p:nvSpPr>
          <p:cNvPr id="33" name="TextBox 32">
            <a:extLst>
              <a:ext uri="{FF2B5EF4-FFF2-40B4-BE49-F238E27FC236}">
                <a16:creationId xmlns:a16="http://schemas.microsoft.com/office/drawing/2014/main" id="{243A16D1-17CB-4BBF-BFC9-D204F15B68C9}"/>
              </a:ext>
            </a:extLst>
          </p:cNvPr>
          <p:cNvSpPr>
            <a:spLocks noGrp="1"/>
          </p:cNvSpPr>
          <p:nvPr/>
        </p:nvSpPr>
        <p:spPr>
          <a:xfrm>
            <a:off x="9966960" y="6446520"/>
            <a:ext cx="1325880" cy="128016"/>
          </a:xfrm>
          <a:prstGeom prst="rect">
            <a:avLst/>
          </a:prstGeom>
          <a:noFill/>
          <a:ln>
            <a:noFill/>
          </a:ln>
        </p:spPr>
        <p:txBody>
          <a:bodyPr wrap="square" lIns="50800" tIns="50800" rIns="50800" bIns="50800" anchor="t">
            <a:spAutoFit/>
          </a:bodyPr>
          <a:lstStyle/>
          <a:p>
            <a:pPr algn="r">
              <a:buNone/>
            </a:pPr>
            <a:endParaRPr/>
          </a:p>
        </p:txBody>
      </p:sp>
      <p:sp>
        <p:nvSpPr>
          <p:cNvPr id="34" name="Rectangle 33">
            <a:extLst>
              <a:ext uri="{FF2B5EF4-FFF2-40B4-BE49-F238E27FC236}">
                <a16:creationId xmlns:a16="http://schemas.microsoft.com/office/drawing/2014/main" id="{C9F2CA30-2655-4EEF-8477-4BFFECA76BDA}"/>
              </a:ext>
            </a:extLst>
          </p:cNvPr>
          <p:cNvSpPr>
            <a:spLocks noGrp="1"/>
          </p:cNvSpPr>
          <p:nvPr/>
        </p:nvSpPr>
        <p:spPr>
          <a:xfrm>
            <a:off x="0" y="0"/>
            <a:ext cx="12191695" cy="877824"/>
          </a:xfrm>
          <a:prstGeom prst="rect">
            <a:avLst/>
          </a:prstGeom>
          <a:solidFill>
            <a:srgbClr val="F8F8F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Rectangle 34">
            <a:extLst>
              <a:ext uri="{FF2B5EF4-FFF2-40B4-BE49-F238E27FC236}">
                <a16:creationId xmlns:a16="http://schemas.microsoft.com/office/drawing/2014/main" id="{4942A9A3-CF03-41FF-B96D-3A225E148966}"/>
              </a:ext>
            </a:extLst>
          </p:cNvPr>
          <p:cNvSpPr>
            <a:spLocks noGrp="1"/>
          </p:cNvSpPr>
          <p:nvPr/>
        </p:nvSpPr>
        <p:spPr>
          <a:xfrm>
            <a:off x="0" y="0"/>
            <a:ext cx="12191695" cy="237744"/>
          </a:xfrm>
          <a:prstGeom prst="rect">
            <a:avLst/>
          </a:prstGeom>
          <a:solidFill>
            <a:srgbClr val="1F2C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0ADFC85F-082D-4C0D-9043-7378B3AA0D6C}"/>
              </a:ext>
            </a:extLst>
          </p:cNvPr>
          <p:cNvSpPr>
            <a:spLocks noGrp="1"/>
          </p:cNvSpPr>
          <p:nvPr/>
        </p:nvSpPr>
        <p:spPr>
          <a:xfrm>
            <a:off x="566928" y="457200"/>
            <a:ext cx="10332720" cy="436017"/>
          </a:xfrm>
          <a:prstGeom prst="rect">
            <a:avLst/>
          </a:prstGeom>
          <a:noFill/>
        </p:spPr>
        <p:txBody>
          <a:bodyPr wrap="square" lIns="38100" tIns="25400" rIns="38100" bIns="25400">
            <a:spAutoFit/>
          </a:bodyPr>
          <a:lstStyle/>
          <a:p>
            <a:pPr algn="l">
              <a:buNone/>
            </a:pPr>
            <a:r>
              <a:rPr sz="2500" b="1">
                <a:solidFill>
                  <a:srgbClr val="282828"/>
                </a:solidFill>
                <a:latin typeface="Aptos"/>
                <a:ea typeface="Aptos"/>
                <a:cs typeface="Aptos"/>
                <a:hlinkClick r:id="rId7"/>
              </a:rPr>
              <a:t>Architecture map — where each mechanism lives</a:t>
            </a:r>
          </a:p>
        </p:txBody>
      </p:sp>
      <p:sp>
        <p:nvSpPr>
          <p:cNvPr id="37" name="TextBox 36">
            <a:extLst>
              <a:ext uri="{FF2B5EF4-FFF2-40B4-BE49-F238E27FC236}">
                <a16:creationId xmlns:a16="http://schemas.microsoft.com/office/drawing/2014/main" id="{6C809FCC-0C0A-4038-AE3C-64BA47DA6B76}"/>
              </a:ext>
            </a:extLst>
          </p:cNvPr>
          <p:cNvSpPr>
            <a:spLocks noGrp="1"/>
          </p:cNvSpPr>
          <p:nvPr/>
        </p:nvSpPr>
        <p:spPr>
          <a:xfrm>
            <a:off x="566928" y="786384"/>
            <a:ext cx="10607040" cy="182880"/>
          </a:xfrm>
          <a:prstGeom prst="rect">
            <a:avLst/>
          </a:prstGeom>
          <a:noFill/>
        </p:spPr>
        <p:txBody>
          <a:bodyPr wrap="square" lIns="38100" tIns="25400" rIns="38100" bIns="25400">
            <a:spAutoFit/>
          </a:bodyPr>
          <a:lstStyle/>
          <a:p>
            <a:pPr algn="l">
              <a:buNone/>
            </a:pPr>
            <a:r>
              <a:rPr sz="900" b="0">
                <a:solidFill>
                  <a:srgbClr val="5D6572"/>
                </a:solidFill>
                <a:latin typeface="Aptos"/>
                <a:ea typeface="Aptos"/>
                <a:cs typeface="Aptos"/>
              </a:rPr>
              <a:t>Citizenship constrains admissibility; Role fixes bound function; EA qualifies knowledge; Cartography maps dependencies; Repositioning proposes / escalates transitions.</a:t>
            </a:r>
          </a:p>
        </p:txBody>
      </p:sp>
      <p:sp>
        <p:nvSpPr>
          <p:cNvPr id="38" name="Rectangle 37">
            <a:extLst>
              <a:ext uri="{FF2B5EF4-FFF2-40B4-BE49-F238E27FC236}">
                <a16:creationId xmlns:a16="http://schemas.microsoft.com/office/drawing/2014/main" id="{299BD89F-487D-4AEC-A085-1176F3A27885}"/>
              </a:ext>
            </a:extLst>
          </p:cNvPr>
          <p:cNvSpPr>
            <a:spLocks noGrp="1"/>
          </p:cNvSpPr>
          <p:nvPr/>
        </p:nvSpPr>
        <p:spPr>
          <a:xfrm>
            <a:off x="5897880" y="1664208"/>
            <a:ext cx="3977639" cy="566928"/>
          </a:xfrm>
          <a:prstGeom prst="rect">
            <a:avLst/>
          </a:prstGeom>
          <a:solidFill>
            <a:srgbClr val="ECF4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BF6A0DF8-C38C-4A43-A094-D37724FE7BC3}"/>
              </a:ext>
            </a:extLst>
          </p:cNvPr>
          <p:cNvSpPr>
            <a:spLocks noGrp="1"/>
          </p:cNvSpPr>
          <p:nvPr/>
        </p:nvSpPr>
        <p:spPr>
          <a:xfrm>
            <a:off x="5989320" y="1700784"/>
            <a:ext cx="3749039" cy="438912"/>
          </a:xfrm>
          <a:prstGeom prst="rect">
            <a:avLst/>
          </a:prstGeom>
          <a:noFill/>
        </p:spPr>
        <p:txBody>
          <a:bodyPr wrap="square" lIns="25400" tIns="25400" rIns="25400" bIns="25400">
            <a:spAutoFit/>
          </a:bodyPr>
          <a:lstStyle/>
          <a:p>
            <a:pPr algn="ctr">
              <a:buNone/>
            </a:pPr>
            <a:r>
              <a:rPr sz="1520" b="1">
                <a:solidFill>
                  <a:srgbClr val="276383"/>
                </a:solidFill>
                <a:latin typeface="Aptos"/>
                <a:ea typeface="Aptos"/>
                <a:cs typeface="Aptos"/>
                <a:hlinkClick r:id="rId8"/>
              </a:rPr>
              <a:t>AGENT / ECOSYSTEM</a:t>
            </a:r>
          </a:p>
          <a:p>
            <a:pPr algn="ctr">
              <a:buNone/>
            </a:pPr>
            <a:r>
              <a:rPr sz="1520" b="1">
                <a:solidFill>
                  <a:srgbClr val="276383"/>
                </a:solidFill>
                <a:latin typeface="Aptos"/>
                <a:ea typeface="Aptos"/>
                <a:cs typeface="Aptos"/>
                <a:hlinkClick r:id="rId8"/>
              </a:rPr>
              <a:t>POSITIONING</a:t>
            </a:r>
          </a:p>
        </p:txBody>
      </p:sp>
      <p:sp>
        <p:nvSpPr>
          <p:cNvPr id="40" name="TextBox 39">
            <a:extLst>
              <a:ext uri="{FF2B5EF4-FFF2-40B4-BE49-F238E27FC236}">
                <a16:creationId xmlns:a16="http://schemas.microsoft.com/office/drawing/2014/main" id="{ECC89A54-0964-4375-B132-EC52C37D9F86}"/>
              </a:ext>
            </a:extLst>
          </p:cNvPr>
          <p:cNvSpPr>
            <a:spLocks noGrp="1"/>
          </p:cNvSpPr>
          <p:nvPr/>
        </p:nvSpPr>
        <p:spPr>
          <a:xfrm>
            <a:off x="6080760" y="2289696"/>
            <a:ext cx="3566160" cy="164592"/>
          </a:xfrm>
          <a:prstGeom prst="rect">
            <a:avLst/>
          </a:prstGeom>
          <a:noFill/>
        </p:spPr>
        <p:txBody>
          <a:bodyPr wrap="square" lIns="25400" tIns="25400" rIns="25400" bIns="25400">
            <a:spAutoFit/>
          </a:bodyPr>
          <a:lstStyle/>
          <a:p>
            <a:pPr algn="ctr">
              <a:buNone/>
            </a:pPr>
            <a:r>
              <a:rPr sz="760" b="0">
                <a:solidFill>
                  <a:srgbClr val="4A7084"/>
                </a:solidFill>
                <a:latin typeface="Aptos"/>
                <a:ea typeface="Aptos"/>
                <a:cs typeface="Aptos"/>
              </a:rPr>
              <a:t>Where the participant is situated — and which transition is legitimate</a:t>
            </a:r>
          </a:p>
        </p:txBody>
      </p:sp>
      <p:sp>
        <p:nvSpPr>
          <p:cNvPr id="41" name="Rectangle 40">
            <a:extLst>
              <a:ext uri="{FF2B5EF4-FFF2-40B4-BE49-F238E27FC236}">
                <a16:creationId xmlns:a16="http://schemas.microsoft.com/office/drawing/2014/main" id="{C1437DC2-473A-425F-BE36-18879211388F}"/>
              </a:ext>
            </a:extLst>
          </p:cNvPr>
          <p:cNvSpPr>
            <a:spLocks noGrp="1"/>
          </p:cNvSpPr>
          <p:nvPr/>
        </p:nvSpPr>
        <p:spPr>
          <a:xfrm>
            <a:off x="4663440" y="2432304"/>
            <a:ext cx="3246120" cy="658368"/>
          </a:xfrm>
          <a:prstGeom prst="rect">
            <a:avLst/>
          </a:prstGeom>
          <a:solidFill>
            <a:srgbClr val="D3E3E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E8D75B6D-46BA-48C3-80DC-5E8ED22424C1}"/>
              </a:ext>
            </a:extLst>
          </p:cNvPr>
          <p:cNvSpPr>
            <a:spLocks noGrp="1"/>
          </p:cNvSpPr>
          <p:nvPr/>
        </p:nvSpPr>
        <p:spPr>
          <a:xfrm>
            <a:off x="5166360" y="2496312"/>
            <a:ext cx="2240280" cy="475488"/>
          </a:xfrm>
          <a:prstGeom prst="rect">
            <a:avLst/>
          </a:prstGeom>
          <a:noFill/>
        </p:spPr>
        <p:txBody>
          <a:bodyPr wrap="square" lIns="25400" tIns="25400" rIns="25400" bIns="25400">
            <a:spAutoFit/>
          </a:bodyPr>
          <a:lstStyle/>
          <a:p>
            <a:pPr algn="ctr">
              <a:buNone/>
            </a:pPr>
            <a:r>
              <a:rPr sz="1420" b="1">
                <a:solidFill>
                  <a:srgbClr val="1E5B75"/>
                </a:solidFill>
                <a:latin typeface="Aptos"/>
                <a:ea typeface="Aptos"/>
                <a:cs typeface="Aptos"/>
                <a:hlinkClick r:id="rId9"/>
              </a:rPr>
              <a:t>ECOSYSTEM AWARENESS</a:t>
            </a:r>
          </a:p>
          <a:p>
            <a:pPr algn="ctr">
              <a:buNone/>
            </a:pPr>
            <a:r>
              <a:rPr sz="1420" b="1">
                <a:solidFill>
                  <a:srgbClr val="1E5B75"/>
                </a:solidFill>
                <a:latin typeface="Aptos"/>
                <a:ea typeface="Aptos"/>
                <a:cs typeface="Aptos"/>
                <a:hlinkClick r:id="rId9"/>
              </a:rPr>
              <a:t>(EA)</a:t>
            </a:r>
          </a:p>
        </p:txBody>
      </p:sp>
      <p:sp>
        <p:nvSpPr>
          <p:cNvPr id="43" name="TextBox 42">
            <a:extLst>
              <a:ext uri="{FF2B5EF4-FFF2-40B4-BE49-F238E27FC236}">
                <a16:creationId xmlns:a16="http://schemas.microsoft.com/office/drawing/2014/main" id="{F80B3D16-03FC-4774-B011-A97E57220771}"/>
              </a:ext>
            </a:extLst>
          </p:cNvPr>
          <p:cNvSpPr>
            <a:spLocks noGrp="1"/>
          </p:cNvSpPr>
          <p:nvPr/>
        </p:nvSpPr>
        <p:spPr>
          <a:xfrm>
            <a:off x="4754880" y="3110944"/>
            <a:ext cx="3063240" cy="146304"/>
          </a:xfrm>
          <a:prstGeom prst="rect">
            <a:avLst/>
          </a:prstGeom>
          <a:noFill/>
        </p:spPr>
        <p:txBody>
          <a:bodyPr wrap="square" lIns="25400" tIns="25400" rIns="25400" bIns="25400">
            <a:spAutoFit/>
          </a:bodyPr>
          <a:lstStyle/>
          <a:p>
            <a:pPr algn="ctr">
              <a:buNone/>
            </a:pPr>
            <a:r>
              <a:rPr sz="919" b="0">
                <a:solidFill>
                  <a:srgbClr val="34677E"/>
                </a:solidFill>
                <a:latin typeface="Aptos"/>
                <a:ea typeface="Aptos"/>
                <a:cs typeface="Aptos"/>
              </a:rPr>
              <a:t>Qualifies the participant-local epistemic position</a:t>
            </a:r>
          </a:p>
        </p:txBody>
      </p:sp>
      <p:sp>
        <p:nvSpPr>
          <p:cNvPr id="44" name="Rectangle 43">
            <a:extLst>
              <a:ext uri="{FF2B5EF4-FFF2-40B4-BE49-F238E27FC236}">
                <a16:creationId xmlns:a16="http://schemas.microsoft.com/office/drawing/2014/main" id="{80CCA962-68F8-4E47-B6FF-451954D649FE}"/>
              </a:ext>
            </a:extLst>
          </p:cNvPr>
          <p:cNvSpPr>
            <a:spLocks noGrp="1"/>
          </p:cNvSpPr>
          <p:nvPr/>
        </p:nvSpPr>
        <p:spPr>
          <a:xfrm>
            <a:off x="9308592" y="2432304"/>
            <a:ext cx="2249424" cy="2286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B1892EAA-E346-4E3A-9A84-D40C7F6BD849}"/>
              </a:ext>
            </a:extLst>
          </p:cNvPr>
          <p:cNvSpPr>
            <a:spLocks noGrp="1"/>
          </p:cNvSpPr>
          <p:nvPr/>
        </p:nvSpPr>
        <p:spPr>
          <a:xfrm>
            <a:off x="9345168" y="2468880"/>
            <a:ext cx="2176272" cy="329184"/>
          </a:xfrm>
          <a:prstGeom prst="rect">
            <a:avLst/>
          </a:prstGeom>
          <a:noFill/>
        </p:spPr>
        <p:txBody>
          <a:bodyPr wrap="square" lIns="25400" tIns="25400" rIns="25400" bIns="25400">
            <a:spAutoFit/>
          </a:bodyPr>
          <a:lstStyle/>
          <a:p>
            <a:pPr algn="ctr">
              <a:buNone/>
            </a:pPr>
            <a:r>
              <a:rPr sz="1019" b="1">
                <a:solidFill>
                  <a:srgbClr val="276383"/>
                </a:solidFill>
                <a:latin typeface="Aptos"/>
                <a:ea typeface="Aptos"/>
                <a:cs typeface="Aptos"/>
                <a:hlinkClick r:id="rId5"/>
              </a:rPr>
              <a:t>MSCA OPERATION /</a:t>
            </a:r>
          </a:p>
          <a:p>
            <a:pPr algn="ctr">
              <a:buNone/>
            </a:pPr>
            <a:r>
              <a:rPr sz="1019" b="1">
                <a:solidFill>
                  <a:srgbClr val="276383"/>
                </a:solidFill>
                <a:latin typeface="Aptos"/>
                <a:ea typeface="Aptos"/>
                <a:cs typeface="Aptos"/>
                <a:hlinkClick r:id="rId5"/>
              </a:rPr>
              <a:t>REPOSITIONING</a:t>
            </a:r>
          </a:p>
        </p:txBody>
      </p:sp>
      <p:sp>
        <p:nvSpPr>
          <p:cNvPr id="46" name="Glocal explanation">
            <a:extLst>
              <a:ext uri="{FF2B5EF4-FFF2-40B4-BE49-F238E27FC236}">
                <a16:creationId xmlns:a16="http://schemas.microsoft.com/office/drawing/2014/main" id="{C28B9E82-B7DE-44A6-977A-DA71BE93BD01}"/>
              </a:ext>
            </a:extLst>
          </p:cNvPr>
          <p:cNvSpPr>
            <a:spLocks noGrp="1"/>
          </p:cNvSpPr>
          <p:nvPr/>
        </p:nvSpPr>
        <p:spPr>
          <a:xfrm>
            <a:off x="9381744" y="2834640"/>
            <a:ext cx="2121408" cy="2103120"/>
          </a:xfrm>
          <a:prstGeom prst="rect">
            <a:avLst/>
          </a:prstGeom>
          <a:noFill/>
          <a:ln>
            <a:noFill/>
          </a:ln>
        </p:spPr>
        <p:txBody>
          <a:bodyPr wrap="square" lIns="18288" tIns="9144" rIns="18288" bIns="9144" anchor="t">
            <a:noAutofit/>
          </a:bodyPr>
          <a:lstStyle/>
          <a:p>
            <a:pPr algn="ctr">
              <a:spcBef>
                <a:spcPts val="0"/>
              </a:spcBef>
              <a:spcAft>
                <a:spcPts val="0"/>
              </a:spcAft>
              <a:buNone/>
            </a:pPr>
            <a:r>
              <a:rPr sz="800" b="1" i="0">
                <a:solidFill>
                  <a:srgbClr val="007B82"/>
                </a:solidFill>
                <a:latin typeface="Aptos"/>
                <a:ea typeface="Aptos"/>
                <a:cs typeface="Aptos"/>
              </a:rPr>
              <a:t>Role_bound ↔ Role_effective</a:t>
            </a:r>
          </a:p>
          <a:p>
            <a:pPr algn="l">
              <a:spcBef>
                <a:spcPts val="400"/>
              </a:spcBef>
              <a:spcAft>
                <a:spcPts val="0"/>
              </a:spcAft>
              <a:buNone/>
            </a:pPr>
            <a:r>
              <a:rPr sz="700" b="1" i="0">
                <a:solidFill>
                  <a:srgbClr val="1F2C4A"/>
                </a:solidFill>
                <a:latin typeface="Aptos"/>
                <a:ea typeface="Aptos"/>
                <a:cs typeface="Aptos"/>
              </a:rPr>
              <a:t>Type catalogue: </a:t>
            </a:r>
            <a:r>
              <a:rPr sz="700" b="0" i="0">
                <a:solidFill>
                  <a:srgbClr val="1F2C4A"/>
                </a:solidFill>
                <a:latin typeface="Aptos"/>
                <a:ea typeface="Aptos"/>
                <a:cs typeface="Aptos"/>
              </a:rPr>
              <a:t>Type 0 · Type 1 · Type 2</a:t>
            </a:r>
          </a:p>
          <a:p>
            <a:pPr algn="l">
              <a:spcBef>
                <a:spcPts val="300"/>
              </a:spcBef>
              <a:spcAft>
                <a:spcPts val="0"/>
              </a:spcAft>
              <a:buNone/>
            </a:pPr>
            <a:r>
              <a:rPr sz="700" b="1" i="0">
                <a:solidFill>
                  <a:srgbClr val="1F2C4A"/>
                </a:solidFill>
                <a:latin typeface="Aptos"/>
                <a:ea typeface="Aptos"/>
                <a:cs typeface="Aptos"/>
              </a:rPr>
              <a:t>Posture: </a:t>
            </a:r>
            <a:r>
              <a:rPr sz="700" b="0" i="0">
                <a:solidFill>
                  <a:srgbClr val="1F2C4A"/>
                </a:solidFill>
                <a:latin typeface="Aptos"/>
                <a:ea typeface="Aptos"/>
                <a:cs typeface="Aptos"/>
              </a:rPr>
              <a:t>P1 Normal · P2 Containment · P3 Migration</a:t>
            </a:r>
          </a:p>
          <a:p>
            <a:pPr algn="l">
              <a:spcBef>
                <a:spcPts val="300"/>
              </a:spcBef>
              <a:spcAft>
                <a:spcPts val="0"/>
              </a:spcAft>
              <a:buNone/>
            </a:pPr>
            <a:r>
              <a:rPr sz="700" b="1" i="0">
                <a:solidFill>
                  <a:srgbClr val="1F2C4A"/>
                </a:solidFill>
                <a:latin typeface="Aptos"/>
                <a:ea typeface="Aptos"/>
                <a:cs typeface="Aptos"/>
              </a:rPr>
              <a:t>Gradient: </a:t>
            </a:r>
            <a:r>
              <a:rPr sz="700" b="0" i="0">
                <a:solidFill>
                  <a:srgbClr val="1F2C4A"/>
                </a:solidFill>
                <a:latin typeface="Aptos"/>
                <a:ea typeface="Aptos"/>
                <a:cs typeface="Aptos"/>
              </a:rPr>
              <a:t>from Role_effective to candidate roles</a:t>
            </a:r>
          </a:p>
          <a:p>
            <a:pPr algn="l">
              <a:spcBef>
                <a:spcPts val="300"/>
              </a:spcBef>
              <a:spcAft>
                <a:spcPts val="0"/>
              </a:spcAft>
              <a:buNone/>
            </a:pPr>
            <a:r>
              <a:rPr sz="700" b="1" i="0">
                <a:solidFill>
                  <a:srgbClr val="007B82"/>
                </a:solidFill>
                <a:latin typeface="Aptos"/>
                <a:ea typeface="Aptos"/>
                <a:cs typeface="Aptos"/>
              </a:rPr>
              <a:t>Output: </a:t>
            </a:r>
            <a:r>
              <a:rPr sz="700" b="0" i="0">
                <a:solidFill>
                  <a:srgbClr val="1F2C4A"/>
                </a:solidFill>
                <a:latin typeface="Aptos"/>
                <a:ea typeface="Aptos"/>
                <a:cs typeface="Aptos"/>
              </a:rPr>
              <a:t>Π_RP + RepositionIntent / escalation</a:t>
            </a:r>
          </a:p>
          <a:p>
            <a:pPr algn="l">
              <a:spcBef>
                <a:spcPts val="400"/>
              </a:spcBef>
              <a:spcAft>
                <a:spcPts val="0"/>
              </a:spcAft>
              <a:buNone/>
            </a:pPr>
            <a:r>
              <a:rPr sz="660" b="0" i="1">
                <a:solidFill>
                  <a:srgbClr val="5D6572"/>
                </a:solidFill>
                <a:latin typeface="Aptos"/>
                <a:ea typeface="Aptos"/>
                <a:cs typeface="Aptos"/>
              </a:rPr>
              <a:t>Selects / proposes / escalates; control owners actuate.</a:t>
            </a:r>
          </a:p>
        </p:txBody>
      </p:sp>
      <p:sp>
        <p:nvSpPr>
          <p:cNvPr id="47" name="Rectangle 46">
            <a:extLst>
              <a:ext uri="{FF2B5EF4-FFF2-40B4-BE49-F238E27FC236}">
                <a16:creationId xmlns:a16="http://schemas.microsoft.com/office/drawing/2014/main" id="{F7AB5078-B49D-4F9A-A057-D27B2DEA0F2B}"/>
              </a:ext>
            </a:extLst>
          </p:cNvPr>
          <p:cNvSpPr>
            <a:spLocks noGrp="1"/>
          </p:cNvSpPr>
          <p:nvPr/>
        </p:nvSpPr>
        <p:spPr>
          <a:xfrm>
            <a:off x="0" y="5925312"/>
            <a:ext cx="12191695" cy="932688"/>
          </a:xfrm>
          <a:prstGeom prst="rect">
            <a:avLst/>
          </a:prstGeom>
          <a:solidFill>
            <a:srgbClr val="F8F8F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D5D8BD66-B93C-46BA-847E-F855E800B014}"/>
              </a:ext>
            </a:extLst>
          </p:cNvPr>
          <p:cNvSpPr>
            <a:spLocks noGrp="1"/>
          </p:cNvSpPr>
          <p:nvPr/>
        </p:nvSpPr>
        <p:spPr>
          <a:xfrm>
            <a:off x="640080" y="6089904"/>
            <a:ext cx="868680" cy="274320"/>
          </a:xfrm>
          <a:prstGeom prst="rect">
            <a:avLst/>
          </a:prstGeom>
          <a:noFill/>
        </p:spPr>
        <p:txBody>
          <a:bodyPr wrap="square" lIns="38100" tIns="25400" rIns="38100" bIns="25400">
            <a:spAutoFit/>
          </a:bodyPr>
          <a:lstStyle/>
          <a:p>
            <a:pPr algn="l">
              <a:buNone/>
            </a:pPr>
            <a:r>
              <a:rPr sz="1000" b="1">
                <a:solidFill>
                  <a:srgbClr val="282828"/>
                </a:solidFill>
                <a:latin typeface="Aptos"/>
                <a:ea typeface="Aptos"/>
                <a:cs typeface="Aptos"/>
              </a:rPr>
              <a:t>Key</a:t>
            </a:r>
          </a:p>
          <a:p>
            <a:pPr algn="l">
              <a:buNone/>
            </a:pPr>
            <a:r>
              <a:rPr sz="1000" b="1">
                <a:solidFill>
                  <a:srgbClr val="282828"/>
                </a:solidFill>
                <a:latin typeface="Aptos"/>
                <a:ea typeface="Aptos"/>
                <a:cs typeface="Aptos"/>
              </a:rPr>
              <a:t>boundary:</a:t>
            </a:r>
          </a:p>
        </p:txBody>
      </p:sp>
      <p:sp>
        <p:nvSpPr>
          <p:cNvPr id="49" name="TextBox 48">
            <a:extLst>
              <a:ext uri="{FF2B5EF4-FFF2-40B4-BE49-F238E27FC236}">
                <a16:creationId xmlns:a16="http://schemas.microsoft.com/office/drawing/2014/main" id="{244C3C7D-1CCC-4073-9EDD-90CDC4456972}"/>
              </a:ext>
            </a:extLst>
          </p:cNvPr>
          <p:cNvSpPr>
            <a:spLocks noGrp="1"/>
          </p:cNvSpPr>
          <p:nvPr/>
        </p:nvSpPr>
        <p:spPr>
          <a:xfrm>
            <a:off x="1536192" y="6071616"/>
            <a:ext cx="9098280" cy="292608"/>
          </a:xfrm>
          <a:prstGeom prst="rect">
            <a:avLst/>
          </a:prstGeom>
          <a:noFill/>
        </p:spPr>
        <p:txBody>
          <a:bodyPr wrap="square" lIns="38100" tIns="25400" rIns="38100" bIns="25400">
            <a:spAutoFit/>
          </a:bodyPr>
          <a:lstStyle/>
          <a:p>
            <a:pPr algn="l">
              <a:buNone/>
            </a:pPr>
            <a:r>
              <a:rPr sz="919" b="0">
                <a:solidFill>
                  <a:srgbClr val="5D6572"/>
                </a:solidFill>
                <a:latin typeface="Aptos"/>
                <a:ea typeface="Aptos"/>
                <a:cs typeface="Aptos"/>
              </a:rPr>
              <a:t>Citizenship constrains admissibility. Role binds function. EA qualifies knowledge. Cartography maps dependencies. Repositioning selects / proposes / escalates; control owners act. Signalling crosses boundaries.</a:t>
            </a:r>
          </a:p>
        </p:txBody>
      </p:sp>
      <p:sp>
        <p:nvSpPr>
          <p:cNvPr id="50" name="TextBox 49">
            <a:extLst>
              <a:ext uri="{FF2B5EF4-FFF2-40B4-BE49-F238E27FC236}">
                <a16:creationId xmlns:a16="http://schemas.microsoft.com/office/drawing/2014/main" id="{0D9AD239-94E7-49C4-910D-676E22A650F6}"/>
              </a:ext>
            </a:extLst>
          </p:cNvPr>
          <p:cNvSpPr>
            <a:spLocks noGrp="1"/>
          </p:cNvSpPr>
          <p:nvPr/>
        </p:nvSpPr>
        <p:spPr>
          <a:xfrm>
            <a:off x="10698480" y="6537960"/>
            <a:ext cx="502920" cy="109728"/>
          </a:xfrm>
          <a:prstGeom prst="rect">
            <a:avLst/>
          </a:prstGeom>
          <a:noFill/>
        </p:spPr>
        <p:txBody>
          <a:bodyPr wrap="square">
            <a:spAutoFit/>
          </a:bodyPr>
          <a:lstStyle/>
          <a:p>
            <a:pPr algn="r">
              <a:buNone/>
            </a:pPr>
            <a:endParaRPr/>
          </a:p>
        </p:txBody>
      </p:sp>
      <p:sp>
        <p:nvSpPr>
          <p:cNvPr id="51" name="Rectangle 50">
            <a:extLst>
              <a:ext uri="{FF2B5EF4-FFF2-40B4-BE49-F238E27FC236}">
                <a16:creationId xmlns:a16="http://schemas.microsoft.com/office/drawing/2014/main" id="{BCB1ADFE-87DA-42FD-9275-593EC56528A9}"/>
              </a:ext>
            </a:extLst>
          </p:cNvPr>
          <p:cNvSpPr>
            <a:spLocks noGrp="1"/>
          </p:cNvSpPr>
          <p:nvPr/>
        </p:nvSpPr>
        <p:spPr>
          <a:xfrm>
            <a:off x="0" y="0"/>
            <a:ext cx="12192000" cy="384048"/>
          </a:xfrm>
          <a:prstGeom prst="rect">
            <a:avLst/>
          </a:prstGeom>
          <a:solidFill>
            <a:srgbClr val="F8F8F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870D4BA8-E956-4DED-B54D-246A59331379}"/>
              </a:ext>
            </a:extLst>
          </p:cNvPr>
          <p:cNvSpPr>
            <a:spLocks noGrp="1"/>
          </p:cNvSpPr>
          <p:nvPr/>
        </p:nvSpPr>
        <p:spPr>
          <a:xfrm>
            <a:off x="566928" y="128016"/>
            <a:ext cx="2560320" cy="164592"/>
          </a:xfrm>
          <a:prstGeom prst="rect">
            <a:avLst/>
          </a:prstGeom>
          <a:noFill/>
        </p:spPr>
        <p:txBody>
          <a:bodyPr wrap="none">
            <a:spAutoFit/>
          </a:bodyPr>
          <a:lstStyle/>
          <a:p>
            <a:pPr algn="l">
              <a:buNone/>
            </a:pPr>
            <a:r>
              <a:rPr sz="1000" b="0">
                <a:solidFill>
                  <a:srgbClr val="7A7E84"/>
                </a:solidFill>
                <a:latin typeface="Aptos"/>
                <a:ea typeface="Aptos"/>
                <a:cs typeface="Aptos"/>
              </a:rPr>
              <a:t>PROPOSED ARCHITECTURE</a:t>
            </a:r>
          </a:p>
        </p:txBody>
      </p:sp>
      <p:sp>
        <p:nvSpPr>
          <p:cNvPr id="53" name="TextBox 52">
            <a:extLst>
              <a:ext uri="{FF2B5EF4-FFF2-40B4-BE49-F238E27FC236}">
                <a16:creationId xmlns:a16="http://schemas.microsoft.com/office/drawing/2014/main" id="{B34DDCDF-1243-4990-9D76-1383DBF0ADA7}"/>
              </a:ext>
            </a:extLst>
          </p:cNvPr>
          <p:cNvSpPr>
            <a:spLocks noGrp="1"/>
          </p:cNvSpPr>
          <p:nvPr/>
        </p:nvSpPr>
        <p:spPr>
          <a:xfrm>
            <a:off x="10881360" y="128016"/>
            <a:ext cx="640080" cy="164592"/>
          </a:xfrm>
          <a:prstGeom prst="rect">
            <a:avLst/>
          </a:prstGeom>
          <a:noFill/>
        </p:spPr>
        <p:txBody>
          <a:bodyPr wrap="none">
            <a:spAutoFit/>
          </a:bodyPr>
          <a:lstStyle/>
          <a:p>
            <a:pPr algn="r">
              <a:buNone/>
            </a:pPr>
            <a:r>
              <a:rPr sz="1000" b="0">
                <a:solidFill>
                  <a:srgbClr val="7A7E84"/>
                </a:solidFill>
                <a:latin typeface="Aptos"/>
                <a:ea typeface="Aptos"/>
                <a:cs typeface="Aptos"/>
              </a:rPr>
              <a:t>§ 05</a:t>
            </a:r>
          </a:p>
        </p:txBody>
      </p:sp>
      <p:sp>
        <p:nvSpPr>
          <p:cNvPr id="54" name="Rectangle 53">
            <a:extLst>
              <a:ext uri="{FF2B5EF4-FFF2-40B4-BE49-F238E27FC236}">
                <a16:creationId xmlns:a16="http://schemas.microsoft.com/office/drawing/2014/main" id="{6A083B8B-4DA8-4630-A52D-7EE7478AC541}"/>
              </a:ext>
            </a:extLst>
          </p:cNvPr>
          <p:cNvSpPr>
            <a:spLocks noGrp="1"/>
          </p:cNvSpPr>
          <p:nvPr/>
        </p:nvSpPr>
        <p:spPr>
          <a:xfrm>
            <a:off x="566928" y="320040"/>
            <a:ext cx="10972800" cy="18288"/>
          </a:xfrm>
          <a:prstGeom prst="rect">
            <a:avLst/>
          </a:prstGeom>
          <a:solidFill>
            <a:srgbClr val="1F2C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Rectangle 54">
            <a:extLst>
              <a:ext uri="{FF2B5EF4-FFF2-40B4-BE49-F238E27FC236}">
                <a16:creationId xmlns:a16="http://schemas.microsoft.com/office/drawing/2014/main" id="{539AF9A8-C201-4346-A618-9CF9B5A480DB}"/>
              </a:ext>
            </a:extLst>
          </p:cNvPr>
          <p:cNvSpPr>
            <a:spLocks noGrp="1"/>
          </p:cNvSpPr>
          <p:nvPr/>
        </p:nvSpPr>
        <p:spPr>
          <a:xfrm>
            <a:off x="566928" y="6492240"/>
            <a:ext cx="10972800" cy="10972"/>
          </a:xfrm>
          <a:prstGeom prst="rect">
            <a:avLst/>
          </a:prstGeom>
          <a:solidFill>
            <a:srgbClr val="1F2C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AEF82D5D-8288-4CE5-997B-954EF39A1D3C}"/>
              </a:ext>
            </a:extLst>
          </p:cNvPr>
          <p:cNvSpPr>
            <a:spLocks noGrp="1"/>
          </p:cNvSpPr>
          <p:nvPr/>
        </p:nvSpPr>
        <p:spPr>
          <a:xfrm>
            <a:off x="4114800" y="6528816"/>
            <a:ext cx="3657600" cy="128016"/>
          </a:xfrm>
          <a:prstGeom prst="rect">
            <a:avLst/>
          </a:prstGeom>
          <a:noFill/>
        </p:spPr>
        <p:txBody>
          <a:bodyPr wrap="none">
            <a:spAutoFit/>
          </a:bodyPr>
          <a:lstStyle/>
          <a:p>
            <a:pPr algn="ctr">
              <a:buNone/>
            </a:pPr>
            <a:r>
              <a:rPr sz="800" b="0">
                <a:solidFill>
                  <a:srgbClr val="7A7E84"/>
                </a:solidFill>
                <a:latin typeface="Aptos"/>
                <a:ea typeface="Aptos"/>
                <a:cs typeface="Aptos"/>
              </a:rPr>
              <a:t>Ecosystem Awareness · Positioning architecture</a:t>
            </a:r>
          </a:p>
        </p:txBody>
      </p:sp>
      <p:sp>
        <p:nvSpPr>
          <p:cNvPr id="58" name="TextBox 57">
            <a:extLst>
              <a:ext uri="{FF2B5EF4-FFF2-40B4-BE49-F238E27FC236}">
                <a16:creationId xmlns:a16="http://schemas.microsoft.com/office/drawing/2014/main" id="{8AE4DD3B-5680-4A27-A994-3B93BE775236}"/>
              </a:ext>
            </a:extLst>
          </p:cNvPr>
          <p:cNvSpPr>
            <a:spLocks noGrp="1"/>
          </p:cNvSpPr>
          <p:nvPr/>
        </p:nvSpPr>
        <p:spPr>
          <a:xfrm>
            <a:off x="11018520" y="6528816"/>
            <a:ext cx="365760" cy="128016"/>
          </a:xfrm>
          <a:prstGeom prst="rect">
            <a:avLst/>
          </a:prstGeom>
          <a:noFill/>
        </p:spPr>
        <p:txBody>
          <a:bodyPr wrap="none">
            <a:spAutoFit/>
          </a:bodyPr>
          <a:lstStyle/>
          <a:p>
            <a:pPr algn="r"/>
            <a:r>
              <a:rPr sz="900">
                <a:solidFill>
                  <a:srgbClr val="5D6775"/>
                </a:solidFill>
                <a:latin typeface="Calibri"/>
              </a:rPr>
              <a:t>10</a:t>
            </a:r>
          </a:p>
        </p:txBody>
      </p:sp>
      <p:sp>
        <p:nvSpPr>
          <p:cNvPr id="59" name="TextBox 58"/>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7"/>
              </a:rPr>
              <a:t>Architecture composition</a:t>
            </a:r>
            <a:r>
              <a:rPr sz="680">
                <a:solidFill>
                  <a:srgbClr val="727A86"/>
                </a:solidFill>
                <a:latin typeface="Calibri"/>
              </a:rPr>
              <a:t>  ·  </a:t>
            </a:r>
            <a:r>
              <a:rPr sz="680" b="0" u="sng">
                <a:solidFill>
                  <a:srgbClr val="2F6FB2"/>
                </a:solidFill>
                <a:latin typeface="Calibri"/>
                <a:hlinkClick r:id="rId10"/>
              </a:rPr>
              <a:t>MSCA operation</a:t>
            </a:r>
          </a:p>
        </p:txBody>
      </p:sp>
    </p:spTree>
    <p:extLst>
      <p:ext uri="{BB962C8B-B14F-4D97-AF65-F5344CB8AC3E}">
        <p14:creationId xmlns:p14="http://schemas.microsoft.com/office/powerpoint/2010/main" val="461373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D50204C4-576C-4BD3-A27A-FE709401C4D0}"/>
              </a:ext>
            </a:extLst>
          </p:cNvPr>
          <p:cNvSpPr>
            <a:spLocks noGrp="1"/>
          </p:cNvSpPr>
          <p:nvPr/>
        </p:nvSpPr>
        <p:spPr>
          <a:xfrm>
            <a:off x="0" y="0"/>
            <a:ext cx="12191695" cy="841248"/>
          </a:xfrm>
          <a:prstGeom prst="rect">
            <a:avLst/>
          </a:prstGeom>
          <a:solidFill>
            <a:srgbClr val="F8F8F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Rectangle 55">
            <a:extLst>
              <a:ext uri="{FF2B5EF4-FFF2-40B4-BE49-F238E27FC236}">
                <a16:creationId xmlns:a16="http://schemas.microsoft.com/office/drawing/2014/main" id="{7ACC525A-693C-4C5A-9C45-85582F021DEB}"/>
              </a:ext>
            </a:extLst>
          </p:cNvPr>
          <p:cNvSpPr>
            <a:spLocks noGrp="1"/>
          </p:cNvSpPr>
          <p:nvPr/>
        </p:nvSpPr>
        <p:spPr>
          <a:xfrm>
            <a:off x="0" y="5989320"/>
            <a:ext cx="12191695" cy="868680"/>
          </a:xfrm>
          <a:prstGeom prst="rect">
            <a:avLst/>
          </a:prstGeom>
          <a:solidFill>
            <a:srgbClr val="F8F8F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2" name="TextBox 61">
            <a:extLst>
              <a:ext uri="{FF2B5EF4-FFF2-40B4-BE49-F238E27FC236}">
                <a16:creationId xmlns:a16="http://schemas.microsoft.com/office/drawing/2014/main" id="{41891FA7-9CF7-4CDC-B621-FFD7AC408EEA}"/>
              </a:ext>
            </a:extLst>
          </p:cNvPr>
          <p:cNvSpPr>
            <a:spLocks noGrp="1"/>
          </p:cNvSpPr>
          <p:nvPr/>
        </p:nvSpPr>
        <p:spPr>
          <a:xfrm>
            <a:off x="11018520" y="6547104"/>
            <a:ext cx="320040" cy="109728"/>
          </a:xfrm>
          <a:prstGeom prst="rect">
            <a:avLst/>
          </a:prstGeom>
          <a:noFill/>
        </p:spPr>
        <p:txBody>
          <a:bodyPr wrap="square">
            <a:spAutoFit/>
          </a:bodyPr>
          <a:lstStyle/>
          <a:p>
            <a:pPr algn="r"/>
            <a:r>
              <a:rPr sz="900">
                <a:solidFill>
                  <a:srgbClr val="5D6775"/>
                </a:solidFill>
                <a:latin typeface="Calibri"/>
              </a:rPr>
              <a:t>11</a:t>
            </a:r>
          </a:p>
        </p:txBody>
      </p:sp>
      <p:sp>
        <p:nvSpPr>
          <p:cNvPr id="51" name="Title">
            <a:extLst>
              <a:ext uri="{FF2B5EF4-FFF2-40B4-BE49-F238E27FC236}">
                <a16:creationId xmlns:a16="http://schemas.microsoft.com/office/drawing/2014/main" id="{177716D4-2D17-4599-9361-3553DFC052D8}"/>
              </a:ext>
            </a:extLst>
          </p:cNvPr>
          <p:cNvSpPr>
            <a:spLocks noGrp="1"/>
          </p:cNvSpPr>
          <p:nvPr/>
        </p:nvSpPr>
        <p:spPr>
          <a:xfrm>
            <a:off x="384048" y="182880"/>
            <a:ext cx="11338560" cy="384048"/>
          </a:xfrm>
          <a:prstGeom prst="rect">
            <a:avLst/>
          </a:prstGeom>
          <a:noFill/>
          <a:ln>
            <a:noFill/>
          </a:ln>
        </p:spPr>
        <p:txBody>
          <a:bodyPr wrap="square" lIns="18288" tIns="9144" rIns="18288" bIns="9144" anchor="t">
            <a:noAutofit/>
          </a:bodyPr>
          <a:lstStyle/>
          <a:p>
            <a:pPr algn="l">
              <a:spcBef>
                <a:spcPts val="0"/>
              </a:spcBef>
              <a:spcAft>
                <a:spcPts val="0"/>
              </a:spcAft>
              <a:buNone/>
            </a:pPr>
            <a:r>
              <a:rPr sz="2100" b="1" i="0">
                <a:solidFill>
                  <a:srgbClr val="282828"/>
                </a:solidFill>
                <a:latin typeface="Aptos"/>
                <a:ea typeface="Aptos"/>
                <a:cs typeface="Aptos"/>
                <a:hlinkClick r:id="rId3"/>
              </a:rPr>
              <a:t>Ecosystem Awareness — subsystem inputs and outputs</a:t>
            </a:r>
          </a:p>
        </p:txBody>
      </p:sp>
      <p:sp>
        <p:nvSpPr>
          <p:cNvPr id="52" name="Subtitle">
            <a:extLst>
              <a:ext uri="{FF2B5EF4-FFF2-40B4-BE49-F238E27FC236}">
                <a16:creationId xmlns:a16="http://schemas.microsoft.com/office/drawing/2014/main" id="{E290C597-A0AC-42D0-850B-AB09CF17A673}"/>
              </a:ext>
            </a:extLst>
          </p:cNvPr>
          <p:cNvSpPr>
            <a:spLocks noGrp="1"/>
          </p:cNvSpPr>
          <p:nvPr/>
        </p:nvSpPr>
        <p:spPr>
          <a:xfrm>
            <a:off x="384048" y="548640"/>
            <a:ext cx="11338560" cy="356616"/>
          </a:xfrm>
          <a:prstGeom prst="rect">
            <a:avLst/>
          </a:prstGeom>
          <a:noFill/>
          <a:ln>
            <a:noFill/>
          </a:ln>
        </p:spPr>
        <p:txBody>
          <a:bodyPr wrap="square" lIns="18288" tIns="9144" rIns="18288" bIns="9144" anchor="t">
            <a:noAutofit/>
          </a:bodyPr>
          <a:lstStyle/>
          <a:p>
            <a:pPr algn="l">
              <a:spcBef>
                <a:spcPts val="0"/>
              </a:spcBef>
              <a:spcAft>
                <a:spcPts val="0"/>
              </a:spcAft>
              <a:buNone/>
            </a:pPr>
            <a:r>
              <a:rPr sz="950" b="0" i="0">
                <a:solidFill>
                  <a:srgbClr val="5D6572"/>
                </a:solidFill>
                <a:latin typeface="Aptos"/>
                <a:ea typeface="Aptos"/>
                <a:cs typeface="Aptos"/>
              </a:rPr>
              <a:t>EA interface slice. Green = inputs to EA; orange = EA outputs / requests — never commands or authority.</a:t>
            </a:r>
          </a:p>
          <a:p>
            <a:pPr algn="l">
              <a:spcBef>
                <a:spcPts val="0"/>
              </a:spcBef>
              <a:spcAft>
                <a:spcPts val="0"/>
              </a:spcAft>
            </a:pPr>
            <a:r>
              <a:rPr sz="780" i="1">
                <a:solidFill>
                  <a:srgbClr val="5D6572"/>
                </a:solidFill>
                <a:latin typeface="Aptos"/>
              </a:rPr>
              <a:t>Consumes existing identity, authorization and attestation mechanisms as inputs; does not replace them.</a:t>
            </a:r>
          </a:p>
        </p:txBody>
      </p:sp>
      <p:sp>
        <p:nvSpPr>
          <p:cNvPr id="101" name="Subsystem Human / Institutional Go">
            <a:extLst>
              <a:ext uri="{FF2B5EF4-FFF2-40B4-BE49-F238E27FC236}">
                <a16:creationId xmlns:a16="http://schemas.microsoft.com/office/drawing/2014/main" id="{3381D30E-876C-4D47-91EC-C7FF716513DE}"/>
              </a:ext>
            </a:extLst>
          </p:cNvPr>
          <p:cNvSpPr>
            <a:spLocks noGrp="1"/>
          </p:cNvSpPr>
          <p:nvPr/>
        </p:nvSpPr>
        <p:spPr>
          <a:xfrm>
            <a:off x="274320" y="987552"/>
            <a:ext cx="2148840" cy="1188720"/>
          </a:xfrm>
          <a:prstGeom prst="roundRect">
            <a:avLst>
              <a:gd name="adj" fmla="val 9000"/>
            </a:avLst>
          </a:prstGeom>
          <a:solidFill>
            <a:srgbClr val="FFFFFF"/>
          </a:solidFill>
          <a:ln w="17780">
            <a:solidFill>
              <a:srgbClr val="A8B4C4"/>
            </a:solidFill>
          </a:ln>
        </p:spPr>
        <p:txBody>
          <a:bodyPr wrap="square" lIns="82296" tIns="54864" rIns="73152" bIns="36576" anchor="t">
            <a:noAutofit/>
          </a:bodyPr>
          <a:lstStyle/>
          <a:p>
            <a:pPr algn="l">
              <a:spcBef>
                <a:spcPts val="0"/>
              </a:spcBef>
              <a:spcAft>
                <a:spcPts val="0"/>
              </a:spcAft>
              <a:buNone/>
            </a:pPr>
            <a:r>
              <a:rPr sz="980" b="1" i="0">
                <a:solidFill>
                  <a:srgbClr val="282828"/>
                </a:solidFill>
                <a:latin typeface="Aptos"/>
                <a:ea typeface="Aptos"/>
                <a:cs typeface="Aptos"/>
              </a:rPr>
              <a:t>Human / Institutional Governance</a:t>
            </a:r>
          </a:p>
          <a:p>
            <a:pPr algn="l">
              <a:spcBef>
                <a:spcPts val="200"/>
              </a:spcBef>
              <a:spcAft>
                <a:spcPts val="0"/>
              </a:spcAft>
              <a:buNone/>
            </a:pPr>
            <a:r>
              <a:rPr sz="760" b="0" i="0">
                <a:solidFill>
                  <a:srgbClr val="5D6572"/>
                </a:solidFill>
                <a:latin typeface="Aptos"/>
                <a:ea typeface="Aptos"/>
                <a:cs typeface="Aptos"/>
              </a:rPr>
              <a:t>Objectives, criticality, tolerated residual, deadlines and control options.</a:t>
            </a:r>
          </a:p>
          <a:p>
            <a:pPr algn="l">
              <a:spcBef>
                <a:spcPts val="300"/>
              </a:spcBef>
              <a:spcAft>
                <a:spcPts val="0"/>
              </a:spcAft>
              <a:buNone/>
            </a:pPr>
            <a:r>
              <a:rPr sz="720" b="1" i="0">
                <a:solidFill>
                  <a:srgbClr val="007B82"/>
                </a:solidFill>
                <a:latin typeface="Aptos"/>
                <a:ea typeface="Aptos"/>
                <a:cs typeface="Aptos"/>
              </a:rPr>
              <a:t>04 · O1 Mission / Objective · IF-S13 Trust framework</a:t>
            </a:r>
          </a:p>
        </p:txBody>
      </p:sp>
      <p:sp>
        <p:nvSpPr>
          <p:cNvPr id="102" name="IN chip">
            <a:extLst>
              <a:ext uri="{FF2B5EF4-FFF2-40B4-BE49-F238E27FC236}">
                <a16:creationId xmlns:a16="http://schemas.microsoft.com/office/drawing/2014/main" id="{924F3F1F-724E-4B3A-9825-684320B39887}"/>
              </a:ext>
            </a:extLst>
          </p:cNvPr>
          <p:cNvSpPr>
            <a:spLocks noGrp="1"/>
          </p:cNvSpPr>
          <p:nvPr/>
        </p:nvSpPr>
        <p:spPr>
          <a:xfrm>
            <a:off x="2505456" y="987552"/>
            <a:ext cx="1847088" cy="576072"/>
          </a:xfrm>
          <a:prstGeom prst="roundRect">
            <a:avLst>
              <a:gd name="adj" fmla="val 12000"/>
            </a:avLst>
          </a:prstGeom>
          <a:solidFill>
            <a:srgbClr val="F4FBF9"/>
          </a:solidFill>
          <a:ln w="13970">
            <a:solidFill>
              <a:srgbClr val="007B82"/>
            </a:solidFill>
          </a:ln>
        </p:spPr>
        <p:txBody>
          <a:bodyPr wrap="square" lIns="54864" tIns="27432" rIns="45720" bIns="18288" anchor="t">
            <a:noAutofit/>
          </a:bodyPr>
          <a:lstStyle/>
          <a:p>
            <a:pPr algn="l">
              <a:spcBef>
                <a:spcPts val="0"/>
              </a:spcBef>
              <a:spcAft>
                <a:spcPts val="0"/>
              </a:spcAft>
              <a:buNone/>
            </a:pPr>
            <a:r>
              <a:rPr sz="680" b="1" i="0">
                <a:solidFill>
                  <a:srgbClr val="007B82"/>
                </a:solidFill>
                <a:latin typeface="Aptos"/>
                <a:ea typeface="Aptos"/>
                <a:cs typeface="Aptos"/>
              </a:rPr>
              <a:t>IN →  to EA</a:t>
            </a:r>
          </a:p>
          <a:p>
            <a:pPr algn="l">
              <a:spcBef>
                <a:spcPts val="50"/>
              </a:spcBef>
              <a:spcAft>
                <a:spcPts val="0"/>
              </a:spcAft>
              <a:buNone/>
            </a:pPr>
            <a:r>
              <a:rPr sz="690" b="0" i="0">
                <a:solidFill>
                  <a:srgbClr val="007B82"/>
                </a:solidFill>
                <a:latin typeface="Aptos"/>
                <a:ea typeface="Aptos"/>
                <a:cs typeface="Aptos"/>
              </a:rPr>
              <a:t>objective and material decision domains · criticality, deadline, tolerated residual · authority refs</a:t>
            </a:r>
          </a:p>
        </p:txBody>
      </p:sp>
      <p:sp>
        <p:nvSpPr>
          <p:cNvPr id="103" name="OUT chip">
            <a:extLst>
              <a:ext uri="{FF2B5EF4-FFF2-40B4-BE49-F238E27FC236}">
                <a16:creationId xmlns:a16="http://schemas.microsoft.com/office/drawing/2014/main" id="{4A09B22A-084D-4D94-A6C5-80A43DEE6239}"/>
              </a:ext>
            </a:extLst>
          </p:cNvPr>
          <p:cNvSpPr>
            <a:spLocks noGrp="1"/>
          </p:cNvSpPr>
          <p:nvPr/>
        </p:nvSpPr>
        <p:spPr>
          <a:xfrm>
            <a:off x="2505456" y="1600200"/>
            <a:ext cx="1847088" cy="576072"/>
          </a:xfrm>
          <a:prstGeom prst="roundRect">
            <a:avLst>
              <a:gd name="adj" fmla="val 12000"/>
            </a:avLst>
          </a:prstGeom>
          <a:solidFill>
            <a:srgbClr val="FFF8F2"/>
          </a:solidFill>
          <a:ln w="13970">
            <a:solidFill>
              <a:srgbClr val="C17629"/>
            </a:solidFill>
          </a:ln>
        </p:spPr>
        <p:txBody>
          <a:bodyPr wrap="square" lIns="54864" tIns="27432" rIns="45720" bIns="18288" anchor="t">
            <a:noAutofit/>
          </a:bodyPr>
          <a:lstStyle/>
          <a:p>
            <a:pPr algn="l">
              <a:spcBef>
                <a:spcPts val="0"/>
              </a:spcBef>
              <a:spcAft>
                <a:spcPts val="0"/>
              </a:spcAft>
              <a:buNone/>
            </a:pPr>
            <a:r>
              <a:rPr sz="680" b="1" i="0">
                <a:solidFill>
                  <a:srgbClr val="C17629"/>
                </a:solidFill>
                <a:latin typeface="Aptos"/>
                <a:ea typeface="Aptos"/>
                <a:cs typeface="Aptos"/>
              </a:rPr>
              <a:t>OUT ←  from EA</a:t>
            </a:r>
          </a:p>
          <a:p>
            <a:pPr algn="l">
              <a:spcBef>
                <a:spcPts val="50"/>
              </a:spcBef>
              <a:spcAft>
                <a:spcPts val="0"/>
              </a:spcAft>
              <a:buNone/>
            </a:pPr>
            <a:r>
              <a:rPr sz="690" b="0" i="0">
                <a:solidFill>
                  <a:srgbClr val="C17629"/>
                </a:solidFill>
                <a:latin typeface="Aptos"/>
                <a:ea typeface="Aptos"/>
                <a:cs typeface="Aptos"/>
              </a:rPr>
              <a:t>qualified affected state · requalification / escalation request</a:t>
            </a:r>
          </a:p>
        </p:txBody>
      </p:sp>
      <p:sp>
        <p:nvSpPr>
          <p:cNvPr id="104" name="Subsystem Identity &amp; Delegated Aut">
            <a:extLst>
              <a:ext uri="{FF2B5EF4-FFF2-40B4-BE49-F238E27FC236}">
                <a16:creationId xmlns:a16="http://schemas.microsoft.com/office/drawing/2014/main" id="{35A9D533-2283-4A8B-9893-C6F284A3301D}"/>
              </a:ext>
            </a:extLst>
          </p:cNvPr>
          <p:cNvSpPr>
            <a:spLocks noGrp="1"/>
          </p:cNvSpPr>
          <p:nvPr/>
        </p:nvSpPr>
        <p:spPr>
          <a:xfrm>
            <a:off x="274320" y="2404872"/>
            <a:ext cx="2148840" cy="1188720"/>
          </a:xfrm>
          <a:prstGeom prst="roundRect">
            <a:avLst>
              <a:gd name="adj" fmla="val 9000"/>
            </a:avLst>
          </a:prstGeom>
          <a:solidFill>
            <a:srgbClr val="FFFFFF"/>
          </a:solidFill>
          <a:ln w="17780">
            <a:solidFill>
              <a:srgbClr val="A8B4C4"/>
            </a:solidFill>
          </a:ln>
        </p:spPr>
        <p:txBody>
          <a:bodyPr wrap="square" lIns="82296" tIns="54864" rIns="73152" bIns="36576" anchor="t">
            <a:noAutofit/>
          </a:bodyPr>
          <a:lstStyle/>
          <a:p>
            <a:pPr algn="l">
              <a:spcBef>
                <a:spcPts val="0"/>
              </a:spcBef>
              <a:spcAft>
                <a:spcPts val="0"/>
              </a:spcAft>
              <a:buNone/>
            </a:pPr>
            <a:r>
              <a:rPr sz="980" b="1" i="0">
                <a:solidFill>
                  <a:srgbClr val="282828"/>
                </a:solidFill>
                <a:latin typeface="Aptos"/>
                <a:ea typeface="Aptos"/>
                <a:cs typeface="Aptos"/>
              </a:rPr>
              <a:t>Identity &amp; Delegated Authority</a:t>
            </a:r>
          </a:p>
          <a:p>
            <a:pPr algn="l">
              <a:spcBef>
                <a:spcPts val="200"/>
              </a:spcBef>
              <a:spcAft>
                <a:spcPts val="0"/>
              </a:spcAft>
              <a:buNone/>
            </a:pPr>
            <a:r>
              <a:rPr sz="760" b="0" i="0">
                <a:solidFill>
                  <a:srgbClr val="5D6572"/>
                </a:solidFill>
                <a:latin typeface="Aptos"/>
                <a:ea typeface="Aptos"/>
                <a:cs typeface="Aptos"/>
              </a:rPr>
              <a:t>Who/what is acting, on whose behalf, under which mandate and scope.</a:t>
            </a:r>
          </a:p>
          <a:p>
            <a:pPr algn="l">
              <a:spcBef>
                <a:spcPts val="300"/>
              </a:spcBef>
              <a:spcAft>
                <a:spcPts val="0"/>
              </a:spcAft>
              <a:buNone/>
            </a:pPr>
            <a:r>
              <a:rPr sz="720" b="1" i="0">
                <a:solidFill>
                  <a:srgbClr val="007B82"/>
                </a:solidFill>
                <a:latin typeface="Aptos"/>
                <a:ea typeface="Aptos"/>
                <a:cs typeface="Aptos"/>
              </a:rPr>
              <a:t>04 · IF-S1 Identity · IF-S2 Authority / Delegation</a:t>
            </a:r>
          </a:p>
        </p:txBody>
      </p:sp>
      <p:sp>
        <p:nvSpPr>
          <p:cNvPr id="105" name="IN chip">
            <a:extLst>
              <a:ext uri="{FF2B5EF4-FFF2-40B4-BE49-F238E27FC236}">
                <a16:creationId xmlns:a16="http://schemas.microsoft.com/office/drawing/2014/main" id="{1C4A70D8-59E1-47DA-8FD2-E851B25B4792}"/>
              </a:ext>
            </a:extLst>
          </p:cNvPr>
          <p:cNvSpPr>
            <a:spLocks noGrp="1"/>
          </p:cNvSpPr>
          <p:nvPr/>
        </p:nvSpPr>
        <p:spPr>
          <a:xfrm>
            <a:off x="2505456" y="2404872"/>
            <a:ext cx="1847088" cy="576072"/>
          </a:xfrm>
          <a:prstGeom prst="roundRect">
            <a:avLst>
              <a:gd name="adj" fmla="val 12000"/>
            </a:avLst>
          </a:prstGeom>
          <a:solidFill>
            <a:srgbClr val="F4FBF9"/>
          </a:solidFill>
          <a:ln w="13970">
            <a:solidFill>
              <a:srgbClr val="007B82"/>
            </a:solidFill>
          </a:ln>
        </p:spPr>
        <p:txBody>
          <a:bodyPr wrap="square" lIns="54864" tIns="27432" rIns="45720" bIns="18288" anchor="t">
            <a:noAutofit/>
          </a:bodyPr>
          <a:lstStyle/>
          <a:p>
            <a:pPr algn="l">
              <a:spcBef>
                <a:spcPts val="0"/>
              </a:spcBef>
              <a:spcAft>
                <a:spcPts val="0"/>
              </a:spcAft>
              <a:buNone/>
            </a:pPr>
            <a:r>
              <a:rPr sz="680" b="1" i="0">
                <a:solidFill>
                  <a:srgbClr val="007B82"/>
                </a:solidFill>
                <a:latin typeface="Aptos"/>
                <a:ea typeface="Aptos"/>
                <a:cs typeface="Aptos"/>
              </a:rPr>
              <a:t>IN →  to EA</a:t>
            </a:r>
          </a:p>
          <a:p>
            <a:pPr algn="l">
              <a:spcBef>
                <a:spcPts val="50"/>
              </a:spcBef>
              <a:spcAft>
                <a:spcPts val="0"/>
              </a:spcAft>
              <a:buNone/>
            </a:pPr>
            <a:r>
              <a:rPr sz="690" b="0" i="0">
                <a:solidFill>
                  <a:srgbClr val="007B82"/>
                </a:solidFill>
                <a:latin typeface="Aptos"/>
                <a:ea typeface="Aptos"/>
                <a:cs typeface="Aptos"/>
              </a:rPr>
              <a:t>principal binding · grant scope and limits · validity / revocation · contested or absent state</a:t>
            </a:r>
          </a:p>
        </p:txBody>
      </p:sp>
      <p:sp>
        <p:nvSpPr>
          <p:cNvPr id="106" name="OUT chip">
            <a:extLst>
              <a:ext uri="{FF2B5EF4-FFF2-40B4-BE49-F238E27FC236}">
                <a16:creationId xmlns:a16="http://schemas.microsoft.com/office/drawing/2014/main" id="{71019615-05FC-4D9C-95A0-A53F5162DB36}"/>
              </a:ext>
            </a:extLst>
          </p:cNvPr>
          <p:cNvSpPr>
            <a:spLocks noGrp="1"/>
          </p:cNvSpPr>
          <p:nvPr/>
        </p:nvSpPr>
        <p:spPr>
          <a:xfrm>
            <a:off x="2505456" y="3017520"/>
            <a:ext cx="1847088" cy="576072"/>
          </a:xfrm>
          <a:prstGeom prst="roundRect">
            <a:avLst>
              <a:gd name="adj" fmla="val 12000"/>
            </a:avLst>
          </a:prstGeom>
          <a:solidFill>
            <a:srgbClr val="FFF8F2"/>
          </a:solidFill>
          <a:ln w="13970">
            <a:solidFill>
              <a:srgbClr val="C17629"/>
            </a:solidFill>
          </a:ln>
        </p:spPr>
        <p:txBody>
          <a:bodyPr wrap="square" lIns="54864" tIns="27432" rIns="45720" bIns="18288" anchor="t">
            <a:noAutofit/>
          </a:bodyPr>
          <a:lstStyle/>
          <a:p>
            <a:pPr algn="l">
              <a:spcBef>
                <a:spcPts val="0"/>
              </a:spcBef>
              <a:spcAft>
                <a:spcPts val="0"/>
              </a:spcAft>
              <a:buNone/>
            </a:pPr>
            <a:r>
              <a:rPr sz="680" b="1" i="0">
                <a:solidFill>
                  <a:srgbClr val="C17629"/>
                </a:solidFill>
                <a:latin typeface="Aptos"/>
                <a:ea typeface="Aptos"/>
                <a:cs typeface="Aptos"/>
              </a:rPr>
              <a:t>OUT ←  from EA</a:t>
            </a:r>
          </a:p>
          <a:p>
            <a:pPr algn="l">
              <a:spcBef>
                <a:spcPts val="50"/>
              </a:spcBef>
              <a:spcAft>
                <a:spcPts val="0"/>
              </a:spcAft>
              <a:buNone/>
            </a:pPr>
            <a:r>
              <a:rPr sz="690" b="0" i="0">
                <a:solidFill>
                  <a:srgbClr val="C17629"/>
                </a:solidFill>
                <a:latin typeface="Aptos"/>
                <a:ea typeface="Aptos"/>
                <a:cs typeface="Aptos"/>
              </a:rPr>
              <a:t>authority / binding UNKNOWN where binding · narrow to qualified mandate · refresh</a:t>
            </a:r>
          </a:p>
        </p:txBody>
      </p:sp>
      <p:sp>
        <p:nvSpPr>
          <p:cNvPr id="107" name="Subsystem Policy / Intent / Constr">
            <a:extLst>
              <a:ext uri="{FF2B5EF4-FFF2-40B4-BE49-F238E27FC236}">
                <a16:creationId xmlns:a16="http://schemas.microsoft.com/office/drawing/2014/main" id="{7BA4946F-8B87-4A45-A510-CA2FECFC2D63}"/>
              </a:ext>
            </a:extLst>
          </p:cNvPr>
          <p:cNvSpPr>
            <a:spLocks noGrp="1"/>
          </p:cNvSpPr>
          <p:nvPr/>
        </p:nvSpPr>
        <p:spPr>
          <a:xfrm>
            <a:off x="274320" y="3822192"/>
            <a:ext cx="2148840" cy="1188720"/>
          </a:xfrm>
          <a:prstGeom prst="roundRect">
            <a:avLst>
              <a:gd name="adj" fmla="val 9000"/>
            </a:avLst>
          </a:prstGeom>
          <a:solidFill>
            <a:srgbClr val="FFFFFF"/>
          </a:solidFill>
          <a:ln w="17780">
            <a:solidFill>
              <a:srgbClr val="A8B4C4"/>
            </a:solidFill>
          </a:ln>
        </p:spPr>
        <p:txBody>
          <a:bodyPr wrap="square" lIns="82296" tIns="54864" rIns="73152" bIns="36576" anchor="t">
            <a:noAutofit/>
          </a:bodyPr>
          <a:lstStyle/>
          <a:p>
            <a:pPr algn="l">
              <a:spcBef>
                <a:spcPts val="0"/>
              </a:spcBef>
              <a:spcAft>
                <a:spcPts val="0"/>
              </a:spcAft>
              <a:buNone/>
            </a:pPr>
            <a:r>
              <a:rPr sz="980" b="1" i="0">
                <a:solidFill>
                  <a:srgbClr val="282828"/>
                </a:solidFill>
                <a:latin typeface="Aptos"/>
                <a:ea typeface="Aptos"/>
                <a:cs typeface="Aptos"/>
              </a:rPr>
              <a:t>Policy / Intent / Constraints</a:t>
            </a:r>
          </a:p>
          <a:p>
            <a:pPr algn="l">
              <a:spcBef>
                <a:spcPts val="200"/>
              </a:spcBef>
              <a:spcAft>
                <a:spcPts val="0"/>
              </a:spcAft>
              <a:buNone/>
            </a:pPr>
            <a:r>
              <a:rPr sz="760" b="0" i="0">
                <a:solidFill>
                  <a:srgbClr val="5D6572"/>
                </a:solidFill>
                <a:latin typeface="Aptos"/>
                <a:ea typeface="Aptos"/>
                <a:cs typeface="Aptos"/>
              </a:rPr>
              <a:t>Versioned policy and intent references and their runtime conformance.</a:t>
            </a:r>
          </a:p>
          <a:p>
            <a:pPr algn="l">
              <a:spcBef>
                <a:spcPts val="300"/>
              </a:spcBef>
              <a:spcAft>
                <a:spcPts val="0"/>
              </a:spcAft>
              <a:buNone/>
            </a:pPr>
            <a:r>
              <a:rPr sz="720" b="1" i="0">
                <a:solidFill>
                  <a:srgbClr val="007B82"/>
                </a:solidFill>
                <a:latin typeface="Aptos"/>
                <a:ea typeface="Aptos"/>
                <a:cs typeface="Aptos"/>
              </a:rPr>
              <a:t>04 · IF-S4 Policy / Intent conformance</a:t>
            </a:r>
          </a:p>
        </p:txBody>
      </p:sp>
      <p:sp>
        <p:nvSpPr>
          <p:cNvPr id="108" name="IN chip">
            <a:extLst>
              <a:ext uri="{FF2B5EF4-FFF2-40B4-BE49-F238E27FC236}">
                <a16:creationId xmlns:a16="http://schemas.microsoft.com/office/drawing/2014/main" id="{E64B7818-90E1-4D01-9FFF-45B52F270F3F}"/>
              </a:ext>
            </a:extLst>
          </p:cNvPr>
          <p:cNvSpPr>
            <a:spLocks noGrp="1"/>
          </p:cNvSpPr>
          <p:nvPr/>
        </p:nvSpPr>
        <p:spPr>
          <a:xfrm>
            <a:off x="2505456" y="3822192"/>
            <a:ext cx="1847088" cy="576072"/>
          </a:xfrm>
          <a:prstGeom prst="roundRect">
            <a:avLst>
              <a:gd name="adj" fmla="val 12000"/>
            </a:avLst>
          </a:prstGeom>
          <a:solidFill>
            <a:srgbClr val="F4FBF9"/>
          </a:solidFill>
          <a:ln w="13970">
            <a:solidFill>
              <a:srgbClr val="007B82"/>
            </a:solidFill>
          </a:ln>
        </p:spPr>
        <p:txBody>
          <a:bodyPr wrap="square" lIns="54864" tIns="27432" rIns="45720" bIns="18288" anchor="t">
            <a:noAutofit/>
          </a:bodyPr>
          <a:lstStyle/>
          <a:p>
            <a:pPr algn="l">
              <a:spcBef>
                <a:spcPts val="0"/>
              </a:spcBef>
              <a:spcAft>
                <a:spcPts val="0"/>
              </a:spcAft>
              <a:buNone/>
            </a:pPr>
            <a:r>
              <a:rPr sz="680" b="1" i="0">
                <a:solidFill>
                  <a:srgbClr val="007B82"/>
                </a:solidFill>
                <a:latin typeface="Aptos"/>
                <a:ea typeface="Aptos"/>
                <a:cs typeface="Aptos"/>
              </a:rPr>
              <a:t>IN →  to EA</a:t>
            </a:r>
          </a:p>
          <a:p>
            <a:pPr algn="l">
              <a:spcBef>
                <a:spcPts val="50"/>
              </a:spcBef>
              <a:spcAft>
                <a:spcPts val="0"/>
              </a:spcAft>
              <a:buNone/>
            </a:pPr>
            <a:r>
              <a:rPr sz="690" b="0" i="0">
                <a:solidFill>
                  <a:srgbClr val="007B82"/>
                </a:solidFill>
                <a:latin typeface="Aptos"/>
                <a:ea typeface="Aptos"/>
                <a:cs typeface="Aptos"/>
              </a:rPr>
              <a:t>versioned policy ref · verdict permit … indeterminate · scope examined · competing directives</a:t>
            </a:r>
          </a:p>
        </p:txBody>
      </p:sp>
      <p:sp>
        <p:nvSpPr>
          <p:cNvPr id="109" name="OUT chip">
            <a:extLst>
              <a:ext uri="{FF2B5EF4-FFF2-40B4-BE49-F238E27FC236}">
                <a16:creationId xmlns:a16="http://schemas.microsoft.com/office/drawing/2014/main" id="{92F273DA-4183-4C0A-96B5-BD2A454DF8E4}"/>
              </a:ext>
            </a:extLst>
          </p:cNvPr>
          <p:cNvSpPr>
            <a:spLocks noGrp="1"/>
          </p:cNvSpPr>
          <p:nvPr/>
        </p:nvSpPr>
        <p:spPr>
          <a:xfrm>
            <a:off x="2505456" y="4434840"/>
            <a:ext cx="1847088" cy="576072"/>
          </a:xfrm>
          <a:prstGeom prst="roundRect">
            <a:avLst>
              <a:gd name="adj" fmla="val 12000"/>
            </a:avLst>
          </a:prstGeom>
          <a:solidFill>
            <a:srgbClr val="FFF8F2"/>
          </a:solidFill>
          <a:ln w="13970">
            <a:solidFill>
              <a:srgbClr val="C17629"/>
            </a:solidFill>
          </a:ln>
        </p:spPr>
        <p:txBody>
          <a:bodyPr wrap="square" lIns="54864" tIns="27432" rIns="45720" bIns="18288" anchor="t">
            <a:noAutofit/>
          </a:bodyPr>
          <a:lstStyle/>
          <a:p>
            <a:pPr algn="l">
              <a:spcBef>
                <a:spcPts val="0"/>
              </a:spcBef>
              <a:spcAft>
                <a:spcPts val="0"/>
              </a:spcAft>
              <a:buNone/>
            </a:pPr>
            <a:r>
              <a:rPr sz="680" b="1" i="0">
                <a:solidFill>
                  <a:srgbClr val="C17629"/>
                </a:solidFill>
                <a:latin typeface="Aptos"/>
                <a:ea typeface="Aptos"/>
                <a:cs typeface="Aptos"/>
              </a:rPr>
              <a:t>OUT ←  from EA</a:t>
            </a:r>
          </a:p>
          <a:p>
            <a:pPr algn="l">
              <a:spcBef>
                <a:spcPts val="50"/>
              </a:spcBef>
              <a:spcAft>
                <a:spcPts val="0"/>
              </a:spcAft>
              <a:buNone/>
            </a:pPr>
            <a:r>
              <a:rPr sz="690" b="0" i="0">
                <a:solidFill>
                  <a:srgbClr val="C17629"/>
                </a:solidFill>
                <a:latin typeface="Aptos"/>
                <a:ea typeface="Aptos"/>
                <a:cs typeface="Aptos"/>
              </a:rPr>
              <a:t>preserve INDETERMINATE · verdict scope insufficient · re-evaluate / independent evaluator</a:t>
            </a:r>
          </a:p>
        </p:txBody>
      </p:sp>
      <p:sp>
        <p:nvSpPr>
          <p:cNvPr id="110" name="Subsystem Attestation / Runtime Ev">
            <a:extLst>
              <a:ext uri="{FF2B5EF4-FFF2-40B4-BE49-F238E27FC236}">
                <a16:creationId xmlns:a16="http://schemas.microsoft.com/office/drawing/2014/main" id="{FA268EB3-784C-40D3-B140-360BC889E1AD}"/>
              </a:ext>
            </a:extLst>
          </p:cNvPr>
          <p:cNvSpPr>
            <a:spLocks noGrp="1"/>
          </p:cNvSpPr>
          <p:nvPr/>
        </p:nvSpPr>
        <p:spPr>
          <a:xfrm>
            <a:off x="9765792" y="987552"/>
            <a:ext cx="2148840" cy="1188720"/>
          </a:xfrm>
          <a:prstGeom prst="roundRect">
            <a:avLst>
              <a:gd name="adj" fmla="val 9000"/>
            </a:avLst>
          </a:prstGeom>
          <a:solidFill>
            <a:srgbClr val="FFFFFF"/>
          </a:solidFill>
          <a:ln w="17780">
            <a:solidFill>
              <a:srgbClr val="A8B4C4"/>
            </a:solidFill>
          </a:ln>
        </p:spPr>
        <p:txBody>
          <a:bodyPr wrap="square" lIns="82296" tIns="54864" rIns="73152" bIns="36576" anchor="t">
            <a:noAutofit/>
          </a:bodyPr>
          <a:lstStyle/>
          <a:p>
            <a:pPr algn="l">
              <a:spcBef>
                <a:spcPts val="0"/>
              </a:spcBef>
              <a:spcAft>
                <a:spcPts val="0"/>
              </a:spcAft>
              <a:buNone/>
            </a:pPr>
            <a:r>
              <a:rPr sz="980" b="1" i="0">
                <a:solidFill>
                  <a:srgbClr val="282828"/>
                </a:solidFill>
                <a:latin typeface="Aptos"/>
                <a:ea typeface="Aptos"/>
                <a:cs typeface="Aptos"/>
              </a:rPr>
              <a:t>Attestation / Runtime Evidence</a:t>
            </a:r>
          </a:p>
          <a:p>
            <a:pPr algn="l">
              <a:spcBef>
                <a:spcPts val="200"/>
              </a:spcBef>
              <a:spcAft>
                <a:spcPts val="0"/>
              </a:spcAft>
              <a:buNone/>
            </a:pPr>
            <a:r>
              <a:rPr sz="760" b="0" i="0">
                <a:solidFill>
                  <a:srgbClr val="5D6572"/>
                </a:solidFill>
                <a:latin typeface="Aptos"/>
                <a:ea typeface="Aptos"/>
                <a:cs typeface="Aptos"/>
              </a:rPr>
              <a:t>Attestation results and verifier-side appraisal of runtime and interaction state.</a:t>
            </a:r>
          </a:p>
          <a:p>
            <a:pPr algn="l">
              <a:spcBef>
                <a:spcPts val="300"/>
              </a:spcBef>
              <a:spcAft>
                <a:spcPts val="0"/>
              </a:spcAft>
              <a:buNone/>
            </a:pPr>
            <a:r>
              <a:rPr sz="720" b="1" i="0">
                <a:solidFill>
                  <a:srgbClr val="007B82"/>
                </a:solidFill>
                <a:latin typeface="Aptos"/>
                <a:ea typeface="Aptos"/>
                <a:cs typeface="Aptos"/>
              </a:rPr>
              <a:t>04 · IF-S3 Attestation · IF-S5 Evidence appraisal</a:t>
            </a:r>
          </a:p>
        </p:txBody>
      </p:sp>
      <p:sp>
        <p:nvSpPr>
          <p:cNvPr id="111" name="IN chip">
            <a:extLst>
              <a:ext uri="{FF2B5EF4-FFF2-40B4-BE49-F238E27FC236}">
                <a16:creationId xmlns:a16="http://schemas.microsoft.com/office/drawing/2014/main" id="{9B9A8702-314C-4B86-BBEA-A8A5F8CC0F83}"/>
              </a:ext>
            </a:extLst>
          </p:cNvPr>
          <p:cNvSpPr>
            <a:spLocks noGrp="1"/>
          </p:cNvSpPr>
          <p:nvPr/>
        </p:nvSpPr>
        <p:spPr>
          <a:xfrm>
            <a:off x="7836408" y="987552"/>
            <a:ext cx="1847088" cy="576072"/>
          </a:xfrm>
          <a:prstGeom prst="roundRect">
            <a:avLst>
              <a:gd name="adj" fmla="val 12000"/>
            </a:avLst>
          </a:prstGeom>
          <a:solidFill>
            <a:srgbClr val="F4FBF9"/>
          </a:solidFill>
          <a:ln w="13970">
            <a:solidFill>
              <a:srgbClr val="007B82"/>
            </a:solidFill>
          </a:ln>
        </p:spPr>
        <p:txBody>
          <a:bodyPr wrap="square" lIns="54864" tIns="27432" rIns="45720" bIns="18288" anchor="t">
            <a:noAutofit/>
          </a:bodyPr>
          <a:lstStyle/>
          <a:p>
            <a:pPr algn="l">
              <a:spcBef>
                <a:spcPts val="0"/>
              </a:spcBef>
              <a:spcAft>
                <a:spcPts val="0"/>
              </a:spcAft>
              <a:buNone/>
            </a:pPr>
            <a:r>
              <a:rPr sz="680" b="1" i="0">
                <a:solidFill>
                  <a:srgbClr val="007B82"/>
                </a:solidFill>
                <a:latin typeface="Aptos"/>
                <a:ea typeface="Aptos"/>
                <a:cs typeface="Aptos"/>
              </a:rPr>
              <a:t>IN ←  to EA</a:t>
            </a:r>
          </a:p>
          <a:p>
            <a:pPr algn="l">
              <a:spcBef>
                <a:spcPts val="50"/>
              </a:spcBef>
              <a:spcAft>
                <a:spcPts val="0"/>
              </a:spcAft>
              <a:buNone/>
            </a:pPr>
            <a:r>
              <a:rPr sz="690" b="0" i="0">
                <a:solidFill>
                  <a:srgbClr val="007B82"/>
                </a:solidFill>
                <a:latin typeface="Aptos"/>
                <a:ea typeface="Aptos"/>
                <a:cs typeface="Aptos"/>
              </a:rPr>
              <a:t>Attestation Result · freshness / replay · appraisal relationship · limitations</a:t>
            </a:r>
          </a:p>
        </p:txBody>
      </p:sp>
      <p:sp>
        <p:nvSpPr>
          <p:cNvPr id="112" name="OUT chip">
            <a:extLst>
              <a:ext uri="{FF2B5EF4-FFF2-40B4-BE49-F238E27FC236}">
                <a16:creationId xmlns:a16="http://schemas.microsoft.com/office/drawing/2014/main" id="{07C35E0B-FA3E-430A-BB61-14E4E1BCDF6B}"/>
              </a:ext>
            </a:extLst>
          </p:cNvPr>
          <p:cNvSpPr>
            <a:spLocks noGrp="1"/>
          </p:cNvSpPr>
          <p:nvPr/>
        </p:nvSpPr>
        <p:spPr>
          <a:xfrm>
            <a:off x="7836408" y="1600200"/>
            <a:ext cx="1847088" cy="576072"/>
          </a:xfrm>
          <a:prstGeom prst="roundRect">
            <a:avLst>
              <a:gd name="adj" fmla="val 12000"/>
            </a:avLst>
          </a:prstGeom>
          <a:solidFill>
            <a:srgbClr val="FFF8F2"/>
          </a:solidFill>
          <a:ln w="13970">
            <a:solidFill>
              <a:srgbClr val="C17629"/>
            </a:solidFill>
          </a:ln>
        </p:spPr>
        <p:txBody>
          <a:bodyPr wrap="square" lIns="54864" tIns="27432" rIns="45720" bIns="18288" anchor="t">
            <a:noAutofit/>
          </a:bodyPr>
          <a:lstStyle/>
          <a:p>
            <a:pPr algn="l">
              <a:spcBef>
                <a:spcPts val="0"/>
              </a:spcBef>
              <a:spcAft>
                <a:spcPts val="0"/>
              </a:spcAft>
              <a:buNone/>
            </a:pPr>
            <a:r>
              <a:rPr sz="680" b="1" i="0">
                <a:solidFill>
                  <a:srgbClr val="C17629"/>
                </a:solidFill>
                <a:latin typeface="Aptos"/>
                <a:ea typeface="Aptos"/>
                <a:cs typeface="Aptos"/>
              </a:rPr>
              <a:t>OUT →  from EA</a:t>
            </a:r>
          </a:p>
          <a:p>
            <a:pPr algn="l">
              <a:spcBef>
                <a:spcPts val="50"/>
              </a:spcBef>
              <a:spcAft>
                <a:spcPts val="0"/>
              </a:spcAft>
              <a:buNone/>
            </a:pPr>
            <a:r>
              <a:rPr sz="690" b="0" i="0">
                <a:solidFill>
                  <a:srgbClr val="C17629"/>
                </a:solidFill>
                <a:latin typeface="Aptos"/>
                <a:ea typeface="Aptos"/>
                <a:cs typeface="Aptos"/>
              </a:rPr>
              <a:t>re-attest or independently rooted attestation · reduce reliance to attested scope</a:t>
            </a:r>
          </a:p>
        </p:txBody>
      </p:sp>
      <p:sp>
        <p:nvSpPr>
          <p:cNvPr id="113" name="Subsystem Ecosystem Defense / Self">
            <a:extLst>
              <a:ext uri="{FF2B5EF4-FFF2-40B4-BE49-F238E27FC236}">
                <a16:creationId xmlns:a16="http://schemas.microsoft.com/office/drawing/2014/main" id="{99C3CA9D-73EF-4543-885B-074C607F6B26}"/>
              </a:ext>
            </a:extLst>
          </p:cNvPr>
          <p:cNvSpPr>
            <a:spLocks noGrp="1"/>
          </p:cNvSpPr>
          <p:nvPr/>
        </p:nvSpPr>
        <p:spPr>
          <a:xfrm>
            <a:off x="9765792" y="2404872"/>
            <a:ext cx="2148840" cy="1188720"/>
          </a:xfrm>
          <a:prstGeom prst="roundRect">
            <a:avLst>
              <a:gd name="adj" fmla="val 9000"/>
            </a:avLst>
          </a:prstGeom>
          <a:solidFill>
            <a:srgbClr val="FFFFFF"/>
          </a:solidFill>
          <a:ln w="17780">
            <a:solidFill>
              <a:srgbClr val="A8B4C4"/>
            </a:solidFill>
          </a:ln>
        </p:spPr>
        <p:txBody>
          <a:bodyPr wrap="square" lIns="82296" tIns="54864" rIns="73152" bIns="36576" anchor="t">
            <a:noAutofit/>
          </a:bodyPr>
          <a:lstStyle/>
          <a:p>
            <a:pPr algn="l">
              <a:spcBef>
                <a:spcPts val="0"/>
              </a:spcBef>
              <a:spcAft>
                <a:spcPts val="0"/>
              </a:spcAft>
              <a:buNone/>
            </a:pPr>
            <a:r>
              <a:rPr sz="980" b="1" i="0">
                <a:solidFill>
                  <a:srgbClr val="282828"/>
                </a:solidFill>
                <a:latin typeface="Aptos"/>
                <a:ea typeface="Aptos"/>
                <a:cs typeface="Aptos"/>
              </a:rPr>
              <a:t>Ecosystem Defense / Self-Healing / Recovery</a:t>
            </a:r>
          </a:p>
          <a:p>
            <a:pPr algn="l">
              <a:spcBef>
                <a:spcPts val="200"/>
              </a:spcBef>
              <a:spcAft>
                <a:spcPts val="0"/>
              </a:spcAft>
              <a:buNone/>
            </a:pPr>
            <a:r>
              <a:rPr sz="760" b="0" i="0">
                <a:solidFill>
                  <a:srgbClr val="5D6572"/>
                </a:solidFill>
                <a:latin typeface="Aptos"/>
                <a:ea typeface="Aptos"/>
                <a:cs typeface="Aptos"/>
              </a:rPr>
              <a:t>Containment, revocation, recovery and migration under legitimate authority.</a:t>
            </a:r>
          </a:p>
          <a:p>
            <a:pPr algn="l">
              <a:spcBef>
                <a:spcPts val="300"/>
              </a:spcBef>
              <a:spcAft>
                <a:spcPts val="0"/>
              </a:spcAft>
              <a:buNone/>
            </a:pPr>
            <a:r>
              <a:rPr sz="720" b="1" i="0">
                <a:solidFill>
                  <a:srgbClr val="007B82"/>
                </a:solidFill>
                <a:latin typeface="Aptos"/>
                <a:ea typeface="Aptos"/>
                <a:cs typeface="Aptos"/>
              </a:rPr>
              <a:t>04 · IF-S12 Enforcement / Containment / Migration</a:t>
            </a:r>
          </a:p>
        </p:txBody>
      </p:sp>
      <p:sp>
        <p:nvSpPr>
          <p:cNvPr id="114" name="IN chip">
            <a:extLst>
              <a:ext uri="{FF2B5EF4-FFF2-40B4-BE49-F238E27FC236}">
                <a16:creationId xmlns:a16="http://schemas.microsoft.com/office/drawing/2014/main" id="{54FCE996-4E1C-48F6-8C2C-B3311DA0A331}"/>
              </a:ext>
            </a:extLst>
          </p:cNvPr>
          <p:cNvSpPr>
            <a:spLocks noGrp="1"/>
          </p:cNvSpPr>
          <p:nvPr/>
        </p:nvSpPr>
        <p:spPr>
          <a:xfrm>
            <a:off x="7836408" y="2404872"/>
            <a:ext cx="1847088" cy="576072"/>
          </a:xfrm>
          <a:prstGeom prst="roundRect">
            <a:avLst>
              <a:gd name="adj" fmla="val 12000"/>
            </a:avLst>
          </a:prstGeom>
          <a:solidFill>
            <a:srgbClr val="F4FBF9"/>
          </a:solidFill>
          <a:ln w="13970">
            <a:solidFill>
              <a:srgbClr val="007B82"/>
            </a:solidFill>
          </a:ln>
        </p:spPr>
        <p:txBody>
          <a:bodyPr wrap="square" lIns="54864" tIns="27432" rIns="45720" bIns="18288" anchor="t">
            <a:noAutofit/>
          </a:bodyPr>
          <a:lstStyle/>
          <a:p>
            <a:pPr algn="l">
              <a:spcBef>
                <a:spcPts val="0"/>
              </a:spcBef>
              <a:spcAft>
                <a:spcPts val="0"/>
              </a:spcAft>
              <a:buNone/>
            </a:pPr>
            <a:r>
              <a:rPr sz="680" b="1" i="0">
                <a:solidFill>
                  <a:srgbClr val="007B82"/>
                </a:solidFill>
                <a:latin typeface="Aptos"/>
                <a:ea typeface="Aptos"/>
                <a:cs typeface="Aptos"/>
              </a:rPr>
              <a:t>IN ←  to EA</a:t>
            </a:r>
          </a:p>
          <a:p>
            <a:pPr algn="l">
              <a:spcBef>
                <a:spcPts val="50"/>
              </a:spcBef>
              <a:spcAft>
                <a:spcPts val="0"/>
              </a:spcAft>
              <a:buNone/>
            </a:pPr>
            <a:r>
              <a:rPr sz="690" b="0" i="0">
                <a:solidFill>
                  <a:srgbClr val="007B82"/>
                </a:solidFill>
                <a:latin typeface="Aptos"/>
                <a:ea typeface="Aptos"/>
                <a:cs typeface="Aptos"/>
              </a:rPr>
              <a:t>response capability and reach · actionability window · residual exposure · rollback state</a:t>
            </a:r>
          </a:p>
        </p:txBody>
      </p:sp>
      <p:sp>
        <p:nvSpPr>
          <p:cNvPr id="115" name="OUT chip">
            <a:extLst>
              <a:ext uri="{FF2B5EF4-FFF2-40B4-BE49-F238E27FC236}">
                <a16:creationId xmlns:a16="http://schemas.microsoft.com/office/drawing/2014/main" id="{3793D52C-37A8-40D2-A7C3-5ADB1ED6C47E}"/>
              </a:ext>
            </a:extLst>
          </p:cNvPr>
          <p:cNvSpPr>
            <a:spLocks noGrp="1"/>
          </p:cNvSpPr>
          <p:nvPr/>
        </p:nvSpPr>
        <p:spPr>
          <a:xfrm>
            <a:off x="7836408" y="3017520"/>
            <a:ext cx="1847088" cy="576072"/>
          </a:xfrm>
          <a:prstGeom prst="roundRect">
            <a:avLst>
              <a:gd name="adj" fmla="val 12000"/>
            </a:avLst>
          </a:prstGeom>
          <a:solidFill>
            <a:srgbClr val="FFF8F2"/>
          </a:solidFill>
          <a:ln w="13970">
            <a:solidFill>
              <a:srgbClr val="C17629"/>
            </a:solidFill>
          </a:ln>
        </p:spPr>
        <p:txBody>
          <a:bodyPr wrap="square" lIns="54864" tIns="27432" rIns="45720" bIns="18288" anchor="t">
            <a:noAutofit/>
          </a:bodyPr>
          <a:lstStyle/>
          <a:p>
            <a:pPr algn="l">
              <a:spcBef>
                <a:spcPts val="0"/>
              </a:spcBef>
              <a:spcAft>
                <a:spcPts val="0"/>
              </a:spcAft>
              <a:buNone/>
            </a:pPr>
            <a:r>
              <a:rPr sz="680" b="1" i="0">
                <a:solidFill>
                  <a:srgbClr val="C17629"/>
                </a:solidFill>
                <a:latin typeface="Aptos"/>
                <a:ea typeface="Aptos"/>
                <a:cs typeface="Aptos"/>
              </a:rPr>
              <a:t>OUT →  from EA</a:t>
            </a:r>
          </a:p>
          <a:p>
            <a:pPr algn="l">
              <a:spcBef>
                <a:spcPts val="50"/>
              </a:spcBef>
              <a:spcAft>
                <a:spcPts val="0"/>
              </a:spcAft>
              <a:buNone/>
            </a:pPr>
            <a:r>
              <a:rPr sz="690" b="0" i="0">
                <a:solidFill>
                  <a:srgbClr val="C17629"/>
                </a:solidFill>
                <a:latin typeface="Aptos"/>
                <a:ea typeface="Aptos"/>
                <a:cs typeface="Aptos"/>
              </a:rPr>
              <a:t>affected scope · requalification / containment request</a:t>
            </a:r>
          </a:p>
        </p:txBody>
      </p:sp>
      <p:sp>
        <p:nvSpPr>
          <p:cNvPr id="116" name="Subsystem Human Oversight / Assura">
            <a:extLst>
              <a:ext uri="{FF2B5EF4-FFF2-40B4-BE49-F238E27FC236}">
                <a16:creationId xmlns:a16="http://schemas.microsoft.com/office/drawing/2014/main" id="{57DC0CDA-6427-4187-9F3C-FA5C01258B55}"/>
              </a:ext>
            </a:extLst>
          </p:cNvPr>
          <p:cNvSpPr>
            <a:spLocks noGrp="1"/>
          </p:cNvSpPr>
          <p:nvPr/>
        </p:nvSpPr>
        <p:spPr>
          <a:xfrm>
            <a:off x="9765792" y="3822192"/>
            <a:ext cx="2148840" cy="1188720"/>
          </a:xfrm>
          <a:prstGeom prst="roundRect">
            <a:avLst>
              <a:gd name="adj" fmla="val 9000"/>
            </a:avLst>
          </a:prstGeom>
          <a:solidFill>
            <a:srgbClr val="FFFFFF"/>
          </a:solidFill>
          <a:ln w="17780">
            <a:solidFill>
              <a:srgbClr val="A8B4C4"/>
            </a:solidFill>
          </a:ln>
        </p:spPr>
        <p:txBody>
          <a:bodyPr wrap="square" lIns="82296" tIns="54864" rIns="73152" bIns="36576" anchor="t">
            <a:noAutofit/>
          </a:bodyPr>
          <a:lstStyle/>
          <a:p>
            <a:pPr algn="l">
              <a:spcBef>
                <a:spcPts val="0"/>
              </a:spcBef>
              <a:spcAft>
                <a:spcPts val="0"/>
              </a:spcAft>
              <a:buNone/>
            </a:pPr>
            <a:r>
              <a:rPr sz="980" b="1" i="0">
                <a:solidFill>
                  <a:srgbClr val="282828"/>
                </a:solidFill>
                <a:latin typeface="Aptos"/>
                <a:ea typeface="Aptos"/>
                <a:cs typeface="Aptos"/>
              </a:rPr>
              <a:t>Human Oversight / Assurance</a:t>
            </a:r>
          </a:p>
          <a:p>
            <a:pPr algn="l">
              <a:spcBef>
                <a:spcPts val="200"/>
              </a:spcBef>
              <a:spcAft>
                <a:spcPts val="0"/>
              </a:spcAft>
              <a:buNone/>
            </a:pPr>
            <a:r>
              <a:rPr sz="760" b="0" i="0">
                <a:solidFill>
                  <a:srgbClr val="5D6572"/>
                </a:solidFill>
                <a:latin typeface="Aptos"/>
                <a:ea typeface="Aptos"/>
                <a:cs typeface="Aptos"/>
              </a:rPr>
              <a:t>Review, intervention and authority beyond autonomous limits.</a:t>
            </a:r>
          </a:p>
          <a:p>
            <a:pPr algn="l">
              <a:spcBef>
                <a:spcPts val="300"/>
              </a:spcBef>
              <a:spcAft>
                <a:spcPts val="0"/>
              </a:spcAft>
              <a:buNone/>
            </a:pPr>
            <a:r>
              <a:rPr sz="720" b="1" i="0">
                <a:solidFill>
                  <a:srgbClr val="007B82"/>
                </a:solidFill>
                <a:latin typeface="Aptos"/>
                <a:ea typeface="Aptos"/>
                <a:cs typeface="Aptos"/>
              </a:rPr>
              <a:t>04 · IF-S6 Human oversight capacity</a:t>
            </a:r>
          </a:p>
        </p:txBody>
      </p:sp>
      <p:sp>
        <p:nvSpPr>
          <p:cNvPr id="117" name="IN chip">
            <a:extLst>
              <a:ext uri="{FF2B5EF4-FFF2-40B4-BE49-F238E27FC236}">
                <a16:creationId xmlns:a16="http://schemas.microsoft.com/office/drawing/2014/main" id="{6A7965A4-E2B5-45F2-88DC-44F4C8DC5D11}"/>
              </a:ext>
            </a:extLst>
          </p:cNvPr>
          <p:cNvSpPr>
            <a:spLocks noGrp="1"/>
          </p:cNvSpPr>
          <p:nvPr/>
        </p:nvSpPr>
        <p:spPr>
          <a:xfrm>
            <a:off x="7836408" y="3822192"/>
            <a:ext cx="1847088" cy="576072"/>
          </a:xfrm>
          <a:prstGeom prst="roundRect">
            <a:avLst>
              <a:gd name="adj" fmla="val 12000"/>
            </a:avLst>
          </a:prstGeom>
          <a:solidFill>
            <a:srgbClr val="F4FBF9"/>
          </a:solidFill>
          <a:ln w="13970">
            <a:solidFill>
              <a:srgbClr val="007B82"/>
            </a:solidFill>
          </a:ln>
        </p:spPr>
        <p:txBody>
          <a:bodyPr wrap="square" lIns="54864" tIns="27432" rIns="45720" bIns="18288" anchor="t">
            <a:noAutofit/>
          </a:bodyPr>
          <a:lstStyle/>
          <a:p>
            <a:pPr algn="l">
              <a:spcBef>
                <a:spcPts val="0"/>
              </a:spcBef>
              <a:spcAft>
                <a:spcPts val="0"/>
              </a:spcAft>
              <a:buNone/>
            </a:pPr>
            <a:r>
              <a:rPr sz="680" b="1" i="0">
                <a:solidFill>
                  <a:srgbClr val="007B82"/>
                </a:solidFill>
                <a:latin typeface="Aptos"/>
                <a:ea typeface="Aptos"/>
                <a:cs typeface="Aptos"/>
              </a:rPr>
              <a:t>IN ←  to EA</a:t>
            </a:r>
          </a:p>
          <a:p>
            <a:pPr algn="l">
              <a:spcBef>
                <a:spcPts val="50"/>
              </a:spcBef>
              <a:spcAft>
                <a:spcPts val="0"/>
              </a:spcAft>
              <a:buNone/>
            </a:pPr>
            <a:r>
              <a:rPr sz="690" b="0" i="0">
                <a:solidFill>
                  <a:srgbClr val="007B82"/>
                </a:solidFill>
                <a:latin typeface="Aptos"/>
                <a:ea typeface="Aptos"/>
                <a:cs typeface="Aptos"/>
              </a:rPr>
              <a:t>human-capacity state · reviewer role and authority · response window · intervention outcome</a:t>
            </a:r>
          </a:p>
        </p:txBody>
      </p:sp>
      <p:sp>
        <p:nvSpPr>
          <p:cNvPr id="118" name="OUT chip">
            <a:extLst>
              <a:ext uri="{FF2B5EF4-FFF2-40B4-BE49-F238E27FC236}">
                <a16:creationId xmlns:a16="http://schemas.microsoft.com/office/drawing/2014/main" id="{337DFCCB-F128-4E81-B1F9-5B312CFE658C}"/>
              </a:ext>
            </a:extLst>
          </p:cNvPr>
          <p:cNvSpPr>
            <a:spLocks noGrp="1"/>
          </p:cNvSpPr>
          <p:nvPr/>
        </p:nvSpPr>
        <p:spPr>
          <a:xfrm>
            <a:off x="7836408" y="4434840"/>
            <a:ext cx="1847088" cy="576072"/>
          </a:xfrm>
          <a:prstGeom prst="roundRect">
            <a:avLst>
              <a:gd name="adj" fmla="val 12000"/>
            </a:avLst>
          </a:prstGeom>
          <a:solidFill>
            <a:srgbClr val="FFF8F2"/>
          </a:solidFill>
          <a:ln w="13970">
            <a:solidFill>
              <a:srgbClr val="C17629"/>
            </a:solidFill>
          </a:ln>
        </p:spPr>
        <p:txBody>
          <a:bodyPr wrap="square" lIns="54864" tIns="27432" rIns="45720" bIns="18288" anchor="t">
            <a:noAutofit/>
          </a:bodyPr>
          <a:lstStyle/>
          <a:p>
            <a:pPr algn="l">
              <a:spcBef>
                <a:spcPts val="0"/>
              </a:spcBef>
              <a:spcAft>
                <a:spcPts val="0"/>
              </a:spcAft>
              <a:buNone/>
            </a:pPr>
            <a:r>
              <a:rPr sz="680" b="1" i="0">
                <a:solidFill>
                  <a:srgbClr val="C17629"/>
                </a:solidFill>
                <a:latin typeface="Aptos"/>
                <a:ea typeface="Aptos"/>
                <a:cs typeface="Aptos"/>
              </a:rPr>
              <a:t>OUT →  from EA</a:t>
            </a:r>
          </a:p>
          <a:p>
            <a:pPr algn="l">
              <a:spcBef>
                <a:spcPts val="50"/>
              </a:spcBef>
              <a:spcAft>
                <a:spcPts val="0"/>
              </a:spcAft>
              <a:buNone/>
            </a:pPr>
            <a:r>
              <a:rPr sz="690" b="0" i="0">
                <a:solidFill>
                  <a:srgbClr val="C17629"/>
                </a:solidFill>
                <a:latin typeface="Aptos"/>
                <a:ea typeface="Aptos"/>
                <a:cs typeface="Aptos"/>
              </a:rPr>
              <a:t>targeted review for the affected domain · capacity-insufficient flag · Type 1 stop boundary</a:t>
            </a:r>
          </a:p>
        </p:txBody>
      </p:sp>
      <p:sp>
        <p:nvSpPr>
          <p:cNvPr id="119" name="Subsystem External agents">
            <a:extLst>
              <a:ext uri="{FF2B5EF4-FFF2-40B4-BE49-F238E27FC236}">
                <a16:creationId xmlns:a16="http://schemas.microsoft.com/office/drawing/2014/main" id="{BF59EAA6-FA4A-415B-894D-F2A2ACC7CFE2}"/>
              </a:ext>
            </a:extLst>
          </p:cNvPr>
          <p:cNvSpPr>
            <a:spLocks noGrp="1"/>
          </p:cNvSpPr>
          <p:nvPr/>
        </p:nvSpPr>
        <p:spPr>
          <a:xfrm>
            <a:off x="4480560" y="914400"/>
            <a:ext cx="3227832" cy="603504"/>
          </a:xfrm>
          <a:prstGeom prst="roundRect">
            <a:avLst>
              <a:gd name="adj" fmla="val 9000"/>
            </a:avLst>
          </a:prstGeom>
          <a:solidFill>
            <a:srgbClr val="FFFFFF"/>
          </a:solidFill>
          <a:ln w="17780">
            <a:solidFill>
              <a:srgbClr val="A8B4C4"/>
            </a:solidFill>
          </a:ln>
        </p:spPr>
        <p:txBody>
          <a:bodyPr wrap="square" lIns="82296" tIns="45720" rIns="73152" bIns="27432" anchor="t">
            <a:noAutofit/>
          </a:bodyPr>
          <a:lstStyle/>
          <a:p>
            <a:pPr algn="l">
              <a:spcBef>
                <a:spcPts val="0"/>
              </a:spcBef>
              <a:spcAft>
                <a:spcPts val="0"/>
              </a:spcAft>
              <a:buNone/>
            </a:pPr>
            <a:r>
              <a:rPr sz="980" b="1" i="0">
                <a:solidFill>
                  <a:srgbClr val="282828"/>
                </a:solidFill>
                <a:latin typeface="Aptos"/>
                <a:ea typeface="Aptos"/>
                <a:cs typeface="Aptos"/>
              </a:rPr>
              <a:t>External Agents / A2A / Epistemic Signaling</a:t>
            </a:r>
          </a:p>
          <a:p>
            <a:pPr algn="l">
              <a:spcBef>
                <a:spcPts val="200"/>
              </a:spcBef>
              <a:spcAft>
                <a:spcPts val="0"/>
              </a:spcAft>
              <a:buNone/>
            </a:pPr>
            <a:r>
              <a:rPr sz="720" b="1" i="0">
                <a:solidFill>
                  <a:srgbClr val="007B82"/>
                </a:solidFill>
                <a:latin typeface="Aptos"/>
                <a:ea typeface="Aptos"/>
                <a:cs typeface="Aptos"/>
              </a:rPr>
              <a:t>04 · O2 · O6 · IF-S11 Ecosystem signalling</a:t>
            </a:r>
          </a:p>
        </p:txBody>
      </p:sp>
      <p:sp>
        <p:nvSpPr>
          <p:cNvPr id="120" name="IN chip">
            <a:extLst>
              <a:ext uri="{FF2B5EF4-FFF2-40B4-BE49-F238E27FC236}">
                <a16:creationId xmlns:a16="http://schemas.microsoft.com/office/drawing/2014/main" id="{DCD3542C-6C15-4964-9694-BC2DBA46948C}"/>
              </a:ext>
            </a:extLst>
          </p:cNvPr>
          <p:cNvSpPr>
            <a:spLocks noGrp="1"/>
          </p:cNvSpPr>
          <p:nvPr/>
        </p:nvSpPr>
        <p:spPr>
          <a:xfrm>
            <a:off x="4480560" y="1572768"/>
            <a:ext cx="1581912" cy="576072"/>
          </a:xfrm>
          <a:prstGeom prst="roundRect">
            <a:avLst>
              <a:gd name="adj" fmla="val 12000"/>
            </a:avLst>
          </a:prstGeom>
          <a:solidFill>
            <a:srgbClr val="F4FBF9"/>
          </a:solidFill>
          <a:ln w="13970">
            <a:solidFill>
              <a:srgbClr val="007B82"/>
            </a:solidFill>
          </a:ln>
        </p:spPr>
        <p:txBody>
          <a:bodyPr wrap="square" lIns="54864" tIns="27432" rIns="45720" bIns="18288" anchor="t">
            <a:noAutofit/>
          </a:bodyPr>
          <a:lstStyle/>
          <a:p>
            <a:pPr algn="l">
              <a:spcBef>
                <a:spcPts val="0"/>
              </a:spcBef>
              <a:spcAft>
                <a:spcPts val="0"/>
              </a:spcAft>
              <a:buNone/>
            </a:pPr>
            <a:r>
              <a:rPr sz="680" b="1" i="0">
                <a:solidFill>
                  <a:srgbClr val="007B82"/>
                </a:solidFill>
                <a:latin typeface="Aptos"/>
                <a:ea typeface="Aptos"/>
                <a:cs typeface="Aptos"/>
              </a:rPr>
              <a:t>IN ↓  to EA</a:t>
            </a:r>
          </a:p>
          <a:p>
            <a:pPr algn="l">
              <a:spcBef>
                <a:spcPts val="50"/>
              </a:spcBef>
              <a:spcAft>
                <a:spcPts val="0"/>
              </a:spcAft>
              <a:buNone/>
            </a:pPr>
            <a:r>
              <a:rPr sz="690" b="0" i="0">
                <a:solidFill>
                  <a:srgbClr val="007B82"/>
                </a:solidFill>
                <a:latin typeface="Aptos"/>
                <a:ea typeface="Aptos"/>
                <a:cs typeface="Aptos"/>
              </a:rPr>
              <a:t>EHD / envelope · source and provenance · freshness · corroboration history</a:t>
            </a:r>
          </a:p>
        </p:txBody>
      </p:sp>
      <p:sp>
        <p:nvSpPr>
          <p:cNvPr id="121" name="OUT chip">
            <a:extLst>
              <a:ext uri="{FF2B5EF4-FFF2-40B4-BE49-F238E27FC236}">
                <a16:creationId xmlns:a16="http://schemas.microsoft.com/office/drawing/2014/main" id="{4C0C9ADD-4F2A-491E-80FB-CDF89FBE9F1D}"/>
              </a:ext>
            </a:extLst>
          </p:cNvPr>
          <p:cNvSpPr>
            <a:spLocks noGrp="1"/>
          </p:cNvSpPr>
          <p:nvPr/>
        </p:nvSpPr>
        <p:spPr>
          <a:xfrm>
            <a:off x="6126480" y="1572768"/>
            <a:ext cx="1581912" cy="576072"/>
          </a:xfrm>
          <a:prstGeom prst="roundRect">
            <a:avLst>
              <a:gd name="adj" fmla="val 12000"/>
            </a:avLst>
          </a:prstGeom>
          <a:solidFill>
            <a:srgbClr val="FFF8F2"/>
          </a:solidFill>
          <a:ln w="13970">
            <a:solidFill>
              <a:srgbClr val="C17629"/>
            </a:solidFill>
          </a:ln>
        </p:spPr>
        <p:txBody>
          <a:bodyPr wrap="square" lIns="54864" tIns="27432" rIns="45720" bIns="18288" anchor="t">
            <a:noAutofit/>
          </a:bodyPr>
          <a:lstStyle/>
          <a:p>
            <a:pPr algn="l">
              <a:spcBef>
                <a:spcPts val="0"/>
              </a:spcBef>
              <a:spcAft>
                <a:spcPts val="0"/>
              </a:spcAft>
              <a:buNone/>
            </a:pPr>
            <a:r>
              <a:rPr sz="680" b="1" i="0">
                <a:solidFill>
                  <a:srgbClr val="C17629"/>
                </a:solidFill>
                <a:latin typeface="Aptos"/>
                <a:ea typeface="Aptos"/>
                <a:cs typeface="Aptos"/>
              </a:rPr>
              <a:t>OUT ↑  from EA</a:t>
            </a:r>
          </a:p>
          <a:p>
            <a:pPr algn="l">
              <a:spcBef>
                <a:spcPts val="50"/>
              </a:spcBef>
              <a:spcAft>
                <a:spcPts val="0"/>
              </a:spcAft>
              <a:buNone/>
            </a:pPr>
            <a:r>
              <a:rPr sz="690" b="0" i="0">
                <a:solidFill>
                  <a:srgbClr val="C17629"/>
                </a:solidFill>
                <a:latin typeface="Aptos"/>
                <a:ea typeface="Aptos"/>
                <a:cs typeface="Aptos"/>
              </a:rPr>
              <a:t>External Epistemic Envelope (F8) · targeted corroboration · source-dependence mark</a:t>
            </a:r>
          </a:p>
        </p:txBody>
      </p:sp>
      <p:sp>
        <p:nvSpPr>
          <p:cNvPr id="122" name="Hub Ecosystem Positioning">
            <a:extLst>
              <a:ext uri="{FF2B5EF4-FFF2-40B4-BE49-F238E27FC236}">
                <a16:creationId xmlns:a16="http://schemas.microsoft.com/office/drawing/2014/main" id="{AE6207F6-C505-4B0E-A4F3-BCCA05D5DC07}"/>
              </a:ext>
            </a:extLst>
          </p:cNvPr>
          <p:cNvSpPr>
            <a:spLocks noGrp="1"/>
          </p:cNvSpPr>
          <p:nvPr/>
        </p:nvSpPr>
        <p:spPr>
          <a:xfrm>
            <a:off x="4480560" y="2240280"/>
            <a:ext cx="3227832" cy="2084832"/>
          </a:xfrm>
          <a:prstGeom prst="roundRect">
            <a:avLst>
              <a:gd name="adj" fmla="val 12000"/>
            </a:avLst>
          </a:prstGeom>
          <a:solidFill>
            <a:srgbClr val="EEF5FA"/>
          </a:solidFill>
          <a:ln w="25400">
            <a:solidFill>
              <a:srgbClr val="4682DC"/>
            </a:solidFill>
          </a:ln>
        </p:spPr>
        <p:txBody>
          <a:bodyPr wrap="square" lIns="164592" tIns="73152" rIns="109728" bIns="54864" anchor="t">
            <a:noAutofit/>
          </a:bodyPr>
          <a:lstStyle/>
          <a:p>
            <a:pPr algn="ctr">
              <a:spcBef>
                <a:spcPts val="0"/>
              </a:spcBef>
              <a:spcAft>
                <a:spcPts val="0"/>
              </a:spcAft>
              <a:buNone/>
            </a:pPr>
            <a:r>
              <a:rPr sz="1050" b="1" i="0">
                <a:solidFill>
                  <a:srgbClr val="282828"/>
                </a:solidFill>
                <a:latin typeface="Aptos"/>
                <a:ea typeface="Aptos"/>
                <a:cs typeface="Aptos"/>
              </a:rPr>
              <a:t>ECOSYSTEM AWARENESS</a:t>
            </a:r>
          </a:p>
          <a:p>
            <a:pPr algn="ctr">
              <a:spcBef>
                <a:spcPts val="0"/>
              </a:spcBef>
              <a:spcAft>
                <a:spcPts val="400"/>
              </a:spcAft>
              <a:buNone/>
            </a:pPr>
            <a:r>
              <a:rPr sz="780" b="0" i="1">
                <a:solidFill>
                  <a:srgbClr val="5D6572"/>
                </a:solidFill>
                <a:latin typeface="Aptos"/>
                <a:ea typeface="Aptos"/>
                <a:cs typeface="Aptos"/>
              </a:rPr>
              <a:t>participant-local qualification layer</a:t>
            </a:r>
          </a:p>
          <a:p>
            <a:pPr>
              <a:spcBef>
                <a:spcPts val="200"/>
              </a:spcBef>
              <a:buNone/>
            </a:pPr>
            <a:r>
              <a:rPr sz="1000" b="1" i="0">
                <a:solidFill>
                  <a:srgbClr val="282828"/>
                </a:solidFill>
                <a:latin typeface="Aptos"/>
                <a:ea typeface="Aptos"/>
                <a:cs typeface="Aptos"/>
              </a:rPr>
              <a:t>Π_EA = </a:t>
            </a:r>
            <a:r>
              <a:rPr sz="1000" b="1">
                <a:solidFill>
                  <a:srgbClr val="282828"/>
                </a:solidFill>
                <a:latin typeface="Aptos"/>
                <a:ea typeface="Aptos"/>
                <a:cs typeface="Aptos"/>
              </a:rPr>
              <a:t>[A,B,C,D]</a:t>
            </a:r>
          </a:p>
          <a:p>
            <a:pPr algn="l">
              <a:spcBef>
                <a:spcPts val="200"/>
              </a:spcBef>
              <a:spcAft>
                <a:spcPts val="0"/>
              </a:spcAft>
              <a:buNone/>
            </a:pPr>
            <a:r>
              <a:rPr sz="1000" b="1" i="0">
                <a:solidFill>
                  <a:srgbClr val="282828"/>
                </a:solidFill>
                <a:latin typeface="Aptos"/>
                <a:ea typeface="Aptos"/>
                <a:cs typeface="Aptos"/>
              </a:rPr>
              <a:t>W(d,t) · provenance · residual</a:t>
            </a:r>
          </a:p>
          <a:p>
            <a:pPr algn="l">
              <a:spcBef>
                <a:spcPts val="0"/>
              </a:spcBef>
              <a:spcAft>
                <a:spcPts val="0"/>
              </a:spcAft>
              <a:buNone/>
            </a:pPr>
            <a:r>
              <a:rPr sz="780" b="0" i="0">
                <a:solidFill>
                  <a:srgbClr val="5D6572"/>
                </a:solidFill>
                <a:latin typeface="Aptos"/>
                <a:ea typeface="Aptos"/>
                <a:cs typeface="Aptos"/>
              </a:rPr>
              <a:t>ReceivedSignals qualification</a:t>
            </a:r>
          </a:p>
          <a:p>
            <a:pPr algn="l">
              <a:spcBef>
                <a:spcPts val="200"/>
              </a:spcBef>
              <a:spcAft>
                <a:spcPts val="0"/>
              </a:spcAft>
              <a:buNone/>
            </a:pPr>
            <a:r>
              <a:rPr sz="1000" b="1" i="0">
                <a:solidFill>
                  <a:srgbClr val="282828"/>
                </a:solidFill>
                <a:latin typeface="Aptos"/>
                <a:ea typeface="Aptos"/>
                <a:cs typeface="Aptos"/>
              </a:rPr>
              <a:t>Cart_i / Δ_RA inputs where material</a:t>
            </a:r>
          </a:p>
          <a:p>
            <a:pPr algn="l">
              <a:spcBef>
                <a:spcPts val="200"/>
              </a:spcBef>
              <a:spcAft>
                <a:spcPts val="0"/>
              </a:spcAft>
              <a:buNone/>
            </a:pPr>
            <a:r>
              <a:rPr sz="1000" b="1" i="0">
                <a:solidFill>
                  <a:srgbClr val="282828"/>
                </a:solidFill>
                <a:latin typeface="Aptos"/>
                <a:ea typeface="Aptos"/>
                <a:cs typeface="Aptos"/>
              </a:rPr>
              <a:t>requalification / evidence requests</a:t>
            </a:r>
          </a:p>
          <a:p>
            <a:pPr algn="ctr">
              <a:spcBef>
                <a:spcPts val="600"/>
              </a:spcBef>
              <a:spcAft>
                <a:spcPts val="0"/>
              </a:spcAft>
              <a:buNone/>
            </a:pPr>
            <a:r>
              <a:rPr sz="850" b="1" i="0">
                <a:solidFill>
                  <a:srgbClr val="4682DC"/>
                </a:solidFill>
                <a:latin typeface="Aptos"/>
                <a:ea typeface="Aptos"/>
                <a:cs typeface="Aptos"/>
              </a:rPr>
              <a:t>→ MSCA Operation / Repositioning</a:t>
            </a:r>
          </a:p>
        </p:txBody>
      </p:sp>
      <p:sp>
        <p:nvSpPr>
          <p:cNvPr id="123" name="IN chip">
            <a:extLst>
              <a:ext uri="{FF2B5EF4-FFF2-40B4-BE49-F238E27FC236}">
                <a16:creationId xmlns:a16="http://schemas.microsoft.com/office/drawing/2014/main" id="{99EE24C0-A186-48C1-AEF6-4A9F6F792651}"/>
              </a:ext>
            </a:extLst>
          </p:cNvPr>
          <p:cNvSpPr>
            <a:spLocks noGrp="1"/>
          </p:cNvSpPr>
          <p:nvPr/>
        </p:nvSpPr>
        <p:spPr>
          <a:xfrm>
            <a:off x="4480560" y="4389120"/>
            <a:ext cx="1581912" cy="576072"/>
          </a:xfrm>
          <a:prstGeom prst="roundRect">
            <a:avLst>
              <a:gd name="adj" fmla="val 12000"/>
            </a:avLst>
          </a:prstGeom>
          <a:solidFill>
            <a:srgbClr val="F4FBF9"/>
          </a:solidFill>
          <a:ln w="13970">
            <a:solidFill>
              <a:srgbClr val="007B82"/>
            </a:solidFill>
          </a:ln>
        </p:spPr>
        <p:txBody>
          <a:bodyPr wrap="square" lIns="54864" tIns="27432" rIns="45720" bIns="18288" anchor="t">
            <a:noAutofit/>
          </a:bodyPr>
          <a:lstStyle/>
          <a:p>
            <a:pPr algn="l">
              <a:spcBef>
                <a:spcPts val="0"/>
              </a:spcBef>
              <a:spcAft>
                <a:spcPts val="0"/>
              </a:spcAft>
              <a:buNone/>
            </a:pPr>
            <a:r>
              <a:rPr sz="680" b="1" i="0">
                <a:solidFill>
                  <a:srgbClr val="007B82"/>
                </a:solidFill>
                <a:latin typeface="Aptos"/>
                <a:ea typeface="Aptos"/>
                <a:cs typeface="Aptos"/>
              </a:rPr>
              <a:t>IN ↑  to EA</a:t>
            </a:r>
          </a:p>
          <a:p>
            <a:pPr algn="l">
              <a:spcBef>
                <a:spcPts val="50"/>
              </a:spcBef>
              <a:spcAft>
                <a:spcPts val="0"/>
              </a:spcAft>
              <a:buNone/>
            </a:pPr>
            <a:r>
              <a:rPr sz="690" b="0" i="0">
                <a:solidFill>
                  <a:srgbClr val="007B82"/>
                </a:solidFill>
                <a:latin typeface="Aptos"/>
                <a:ea typeface="Aptos"/>
                <a:cs typeface="Aptos"/>
              </a:rPr>
              <a:t>result and execution status · drift / telemetry · verifiable action record</a:t>
            </a:r>
          </a:p>
        </p:txBody>
      </p:sp>
      <p:sp>
        <p:nvSpPr>
          <p:cNvPr id="124" name="OUT chip">
            <a:extLst>
              <a:ext uri="{FF2B5EF4-FFF2-40B4-BE49-F238E27FC236}">
                <a16:creationId xmlns:a16="http://schemas.microsoft.com/office/drawing/2014/main" id="{96C0D077-DEB6-40B0-B202-88A66C21A6CC}"/>
              </a:ext>
            </a:extLst>
          </p:cNvPr>
          <p:cNvSpPr>
            <a:spLocks noGrp="1"/>
          </p:cNvSpPr>
          <p:nvPr/>
        </p:nvSpPr>
        <p:spPr>
          <a:xfrm>
            <a:off x="6126480" y="4389120"/>
            <a:ext cx="1581912" cy="576072"/>
          </a:xfrm>
          <a:prstGeom prst="roundRect">
            <a:avLst>
              <a:gd name="adj" fmla="val 12000"/>
            </a:avLst>
          </a:prstGeom>
          <a:solidFill>
            <a:srgbClr val="FFF8F2"/>
          </a:solidFill>
          <a:ln w="13970">
            <a:solidFill>
              <a:srgbClr val="C17629"/>
            </a:solidFill>
          </a:ln>
        </p:spPr>
        <p:txBody>
          <a:bodyPr wrap="square" lIns="54864" tIns="27432" rIns="45720" bIns="18288" anchor="t">
            <a:noAutofit/>
          </a:bodyPr>
          <a:lstStyle/>
          <a:p>
            <a:pPr algn="l">
              <a:spcBef>
                <a:spcPts val="0"/>
              </a:spcBef>
              <a:spcAft>
                <a:spcPts val="0"/>
              </a:spcAft>
              <a:buNone/>
            </a:pPr>
            <a:r>
              <a:rPr sz="680" b="1" i="0">
                <a:solidFill>
                  <a:srgbClr val="C17629"/>
                </a:solidFill>
                <a:latin typeface="Aptos"/>
                <a:ea typeface="Aptos"/>
                <a:cs typeface="Aptos"/>
              </a:rPr>
              <a:t>OUT ↓  from EA</a:t>
            </a:r>
          </a:p>
          <a:p>
            <a:pPr algn="l">
              <a:spcBef>
                <a:spcPts val="50"/>
              </a:spcBef>
              <a:spcAft>
                <a:spcPts val="0"/>
              </a:spcAft>
              <a:buNone/>
            </a:pPr>
            <a:r>
              <a:rPr sz="690" b="0" i="0">
                <a:solidFill>
                  <a:srgbClr val="C17629"/>
                </a:solidFill>
                <a:latin typeface="Aptos"/>
                <a:ea typeface="Aptos"/>
                <a:cs typeface="Aptos"/>
              </a:rPr>
              <a:t>outcome reconciliation · qualified effect state · F8 statement for record</a:t>
            </a:r>
          </a:p>
        </p:txBody>
      </p:sp>
      <p:sp>
        <p:nvSpPr>
          <p:cNvPr id="125" name="Subsystem Execution">
            <a:extLst>
              <a:ext uri="{FF2B5EF4-FFF2-40B4-BE49-F238E27FC236}">
                <a16:creationId xmlns:a16="http://schemas.microsoft.com/office/drawing/2014/main" id="{6C9C90C6-3E2D-4860-B845-E79DB595E5B5}"/>
              </a:ext>
            </a:extLst>
          </p:cNvPr>
          <p:cNvSpPr>
            <a:spLocks noGrp="1"/>
          </p:cNvSpPr>
          <p:nvPr/>
        </p:nvSpPr>
        <p:spPr>
          <a:xfrm>
            <a:off x="4480560" y="5029200"/>
            <a:ext cx="3227832" cy="731520"/>
          </a:xfrm>
          <a:prstGeom prst="roundRect">
            <a:avLst>
              <a:gd name="adj" fmla="val 9000"/>
            </a:avLst>
          </a:prstGeom>
          <a:solidFill>
            <a:srgbClr val="FFFFFF"/>
          </a:solidFill>
          <a:ln w="17780">
            <a:solidFill>
              <a:srgbClr val="A8B4C4"/>
            </a:solidFill>
          </a:ln>
        </p:spPr>
        <p:txBody>
          <a:bodyPr wrap="square" lIns="82296" tIns="45720" rIns="73152" bIns="27432" anchor="t">
            <a:noAutofit/>
          </a:bodyPr>
          <a:lstStyle/>
          <a:p>
            <a:pPr algn="l">
              <a:spcBef>
                <a:spcPts val="0"/>
              </a:spcBef>
              <a:spcAft>
                <a:spcPts val="0"/>
              </a:spcAft>
              <a:buNone/>
            </a:pPr>
            <a:r>
              <a:rPr sz="980" b="1" i="0">
                <a:solidFill>
                  <a:srgbClr val="282828"/>
                </a:solidFill>
                <a:latin typeface="Aptos"/>
                <a:ea typeface="Aptos"/>
                <a:cs typeface="Aptos"/>
              </a:rPr>
              <a:t>Execution / Outcome / Audit</a:t>
            </a:r>
          </a:p>
          <a:p>
            <a:pPr algn="l">
              <a:spcBef>
                <a:spcPts val="100"/>
              </a:spcBef>
              <a:spcAft>
                <a:spcPts val="0"/>
              </a:spcAft>
              <a:buNone/>
            </a:pPr>
            <a:r>
              <a:rPr sz="760" b="0" i="0">
                <a:solidFill>
                  <a:srgbClr val="5D6572"/>
                </a:solidFill>
                <a:latin typeface="Aptos"/>
                <a:ea typeface="Aptos"/>
                <a:cs typeface="Aptos"/>
              </a:rPr>
              <a:t>Tools, outcomes, telemetry and action records.</a:t>
            </a:r>
          </a:p>
          <a:p>
            <a:pPr algn="l">
              <a:spcBef>
                <a:spcPts val="200"/>
              </a:spcBef>
              <a:spcAft>
                <a:spcPts val="0"/>
              </a:spcAft>
              <a:buNone/>
            </a:pPr>
            <a:r>
              <a:rPr sz="720" b="1" i="0">
                <a:solidFill>
                  <a:srgbClr val="007B82"/>
                </a:solidFill>
                <a:latin typeface="Aptos"/>
                <a:ea typeface="Aptos"/>
                <a:cs typeface="Aptos"/>
              </a:rPr>
              <a:t>04 · O3 · O5 · IF-S7 · IF-S8</a:t>
            </a:r>
          </a:p>
        </p:txBody>
      </p:sp>
      <p:sp>
        <p:nvSpPr>
          <p:cNvPr id="126" name="Legend frame">
            <a:extLst>
              <a:ext uri="{FF2B5EF4-FFF2-40B4-BE49-F238E27FC236}">
                <a16:creationId xmlns:a16="http://schemas.microsoft.com/office/drawing/2014/main" id="{4A3AF2E9-6040-40A0-B5D1-5AF21C9EB34C}"/>
              </a:ext>
            </a:extLst>
          </p:cNvPr>
          <p:cNvSpPr>
            <a:spLocks noGrp="1"/>
          </p:cNvSpPr>
          <p:nvPr/>
        </p:nvSpPr>
        <p:spPr>
          <a:xfrm>
            <a:off x="384048" y="6035040"/>
            <a:ext cx="10332720" cy="384048"/>
          </a:xfrm>
          <a:prstGeom prst="roundRect">
            <a:avLst>
              <a:gd name="adj" fmla="val 12000"/>
            </a:avLst>
          </a:prstGeom>
          <a:solidFill>
            <a:srgbClr val="FAFAFA"/>
          </a:solidFill>
          <a:ln w="9525">
            <a:solidFill>
              <a:srgbClr val="D7DCE4"/>
            </a:solidFill>
          </a:ln>
        </p:spPr>
        <p:txBody>
          <a:bodyPr wrap="square" lIns="64008" tIns="45720" rIns="64008" bIns="45720" anchor="t">
            <a:noAutofit/>
          </a:bodyPr>
          <a:lstStyle/>
          <a:p>
            <a:endParaRPr sz="800"/>
          </a:p>
        </p:txBody>
      </p:sp>
      <p:sp>
        <p:nvSpPr>
          <p:cNvPr id="58" name="Legend">
            <a:extLst>
              <a:ext uri="{FF2B5EF4-FFF2-40B4-BE49-F238E27FC236}">
                <a16:creationId xmlns:a16="http://schemas.microsoft.com/office/drawing/2014/main" id="{53AB5A43-4F6B-4F25-AB8D-D17A480A5F0F}"/>
              </a:ext>
            </a:extLst>
          </p:cNvPr>
          <p:cNvSpPr>
            <a:spLocks noGrp="1"/>
          </p:cNvSpPr>
          <p:nvPr/>
        </p:nvSpPr>
        <p:spPr>
          <a:xfrm>
            <a:off x="502920" y="6062472"/>
            <a:ext cx="10149840" cy="347472"/>
          </a:xfrm>
          <a:prstGeom prst="rect">
            <a:avLst/>
          </a:prstGeom>
          <a:noFill/>
          <a:ln>
            <a:noFill/>
          </a:ln>
        </p:spPr>
        <p:txBody>
          <a:bodyPr wrap="square" lIns="18288" tIns="9144" rIns="18288" bIns="9144" anchor="ctr">
            <a:noAutofit/>
          </a:bodyPr>
          <a:lstStyle/>
          <a:p>
            <a:pPr algn="l">
              <a:spcBef>
                <a:spcPts val="0"/>
              </a:spcBef>
              <a:spcAft>
                <a:spcPts val="0"/>
              </a:spcAft>
              <a:buNone/>
            </a:pPr>
            <a:r>
              <a:rPr sz="780" b="1" i="0">
                <a:solidFill>
                  <a:srgbClr val="007B82"/>
                </a:solidFill>
                <a:latin typeface="Aptos"/>
                <a:ea typeface="Aptos"/>
                <a:cs typeface="Aptos"/>
              </a:rPr>
              <a:t>IN · to EA </a:t>
            </a:r>
            <a:r>
              <a:rPr sz="740" b="0" i="0">
                <a:solidFill>
                  <a:srgbClr val="5D6572"/>
                </a:solidFill>
                <a:latin typeface="Aptos"/>
                <a:ea typeface="Aptos"/>
                <a:cs typeface="Aptos"/>
              </a:rPr>
              <a:t>inputs listed in doc 04 for that interface   </a:t>
            </a:r>
            <a:r>
              <a:rPr sz="780" b="1" i="0">
                <a:solidFill>
                  <a:srgbClr val="C17629"/>
                </a:solidFill>
                <a:latin typeface="Aptos"/>
                <a:ea typeface="Aptos"/>
                <a:cs typeface="Aptos"/>
              </a:rPr>
              <a:t>OUT · from EA </a:t>
            </a:r>
            <a:r>
              <a:rPr sz="740" b="0" i="0">
                <a:solidFill>
                  <a:srgbClr val="5D6572"/>
                </a:solidFill>
                <a:latin typeface="Aptos"/>
                <a:ea typeface="Aptos"/>
                <a:cs typeface="Aptos"/>
              </a:rPr>
              <a:t>EA outputs to that function   </a:t>
            </a:r>
            <a:r>
              <a:rPr sz="780" b="1" i="0">
                <a:solidFill>
                  <a:srgbClr val="007B82"/>
                </a:solidFill>
                <a:latin typeface="Aptos"/>
                <a:ea typeface="Aptos"/>
                <a:cs typeface="Aptos"/>
              </a:rPr>
              <a:t>04 · codes </a:t>
            </a:r>
            <a:r>
              <a:rPr sz="740" b="0" i="0">
                <a:solidFill>
                  <a:srgbClr val="5D6572"/>
                </a:solidFill>
                <a:latin typeface="Aptos"/>
                <a:ea typeface="Aptos"/>
                <a:cs typeface="Aptos"/>
              </a:rPr>
              <a:t>interface IDs O1–O6 / IF-S1–S13</a:t>
            </a:r>
          </a:p>
          <a:p>
            <a:pPr algn="l">
              <a:spcBef>
                <a:spcPts val="100"/>
              </a:spcBef>
              <a:spcAft>
                <a:spcPts val="0"/>
              </a:spcAft>
              <a:buNone/>
            </a:pPr>
            <a:r>
              <a:rPr sz="700" b="0" i="1">
                <a:solidFill>
                  <a:srgbClr val="5D6572"/>
                </a:solidFill>
                <a:latin typeface="Aptos"/>
                <a:ea typeface="Aptos"/>
                <a:cs typeface="Aptos"/>
              </a:rPr>
              <a:t>Not shown: O4 context / memory / retrieval, IF-S9 evaluation, IF-S10 privacy. Final P1/P2/P3 closure belongs to MSCA Operation/Repositioning.</a:t>
            </a:r>
          </a:p>
        </p:txBody>
      </p:sp>
      <p:sp>
        <p:nvSpPr>
          <p:cNvPr id="127" name="TextBox 126"/>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3"/>
              </a:rPr>
              <a:t>04 · General Functional Interfaces</a:t>
            </a:r>
          </a:p>
        </p:txBody>
      </p:sp>
    </p:spTree>
    <p:extLst>
      <p:ext uri="{BB962C8B-B14F-4D97-AF65-F5344CB8AC3E}">
        <p14:creationId xmlns:p14="http://schemas.microsoft.com/office/powerpoint/2010/main" val="1939009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92E6A4-C223-47D6-BF38-597BE3D3CC91}"/>
              </a:ext>
            </a:extLst>
          </p:cNvPr>
          <p:cNvSpPr>
            <a:spLocks noGrp="1"/>
          </p:cNvSpPr>
          <p:nvPr/>
        </p:nvSpPr>
        <p:spPr>
          <a:xfrm>
            <a:off x="256032" y="182880"/>
            <a:ext cx="9875520" cy="310896"/>
          </a:xfrm>
          <a:prstGeom prst="rect">
            <a:avLst/>
          </a:prstGeom>
          <a:noFill/>
          <a:ln>
            <a:noFill/>
          </a:ln>
        </p:spPr>
        <p:txBody>
          <a:bodyPr wrap="square" lIns="50800" tIns="50800" rIns="50800" bIns="50800" anchor="t">
            <a:spAutoFit/>
          </a:bodyPr>
          <a:lstStyle/>
          <a:p>
            <a:pPr algn="l">
              <a:buNone/>
            </a:pPr>
            <a:endParaRPr/>
          </a:p>
        </p:txBody>
      </p:sp>
      <p:sp>
        <p:nvSpPr>
          <p:cNvPr id="3" name="TextBox 2">
            <a:extLst>
              <a:ext uri="{FF2B5EF4-FFF2-40B4-BE49-F238E27FC236}">
                <a16:creationId xmlns:a16="http://schemas.microsoft.com/office/drawing/2014/main" id="{F2A7F391-D7B8-4F08-9D36-37209015C9FD}"/>
              </a:ext>
            </a:extLst>
          </p:cNvPr>
          <p:cNvSpPr>
            <a:spLocks noGrp="1"/>
          </p:cNvSpPr>
          <p:nvPr/>
        </p:nvSpPr>
        <p:spPr>
          <a:xfrm>
            <a:off x="256032" y="502920"/>
            <a:ext cx="10972800" cy="164592"/>
          </a:xfrm>
          <a:prstGeom prst="rect">
            <a:avLst/>
          </a:prstGeom>
          <a:noFill/>
          <a:ln>
            <a:noFill/>
          </a:ln>
        </p:spPr>
        <p:txBody>
          <a:bodyPr wrap="square" lIns="50800" tIns="50800" rIns="50800" bIns="50800" anchor="t">
            <a:spAutoFit/>
          </a:bodyPr>
          <a:lstStyle/>
          <a:p>
            <a:pPr algn="l">
              <a:buNone/>
            </a:pPr>
            <a:endParaRPr/>
          </a:p>
        </p:txBody>
      </p:sp>
      <p:sp>
        <p:nvSpPr>
          <p:cNvPr id="4" name="Rounded Rectangle 3">
            <a:extLst>
              <a:ext uri="{FF2B5EF4-FFF2-40B4-BE49-F238E27FC236}">
                <a16:creationId xmlns:a16="http://schemas.microsoft.com/office/drawing/2014/main" id="{C0B9B8E4-91EB-4996-82AC-EE2FA4D39513}"/>
              </a:ext>
            </a:extLst>
          </p:cNvPr>
          <p:cNvSpPr>
            <a:spLocks noGrp="1"/>
          </p:cNvSpPr>
          <p:nvPr/>
        </p:nvSpPr>
        <p:spPr>
          <a:xfrm>
            <a:off x="320040" y="822960"/>
            <a:ext cx="2176272" cy="676656"/>
          </a:xfrm>
          <a:prstGeom prst="roundRect">
            <a:avLst/>
          </a:prstGeom>
          <a:solidFill>
            <a:srgbClr val="FFFFFF"/>
          </a:solidFill>
          <a:ln w="17780">
            <a:solidFill>
              <a:srgbClr val="7A4FBA"/>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1030" b="1">
                <a:solidFill>
                  <a:srgbClr val="282828"/>
                </a:solidFill>
                <a:latin typeface="Aptos"/>
                <a:ea typeface="Aptos"/>
                <a:cs typeface="Aptos"/>
              </a:rPr>
              <a:t>Human / Institutional</a:t>
            </a:r>
          </a:p>
          <a:p>
            <a:pPr algn="l">
              <a:buNone/>
            </a:pPr>
            <a:r>
              <a:rPr sz="780" b="1">
                <a:solidFill>
                  <a:srgbClr val="282828"/>
                </a:solidFill>
                <a:latin typeface="Aptos"/>
                <a:ea typeface="Aptos"/>
                <a:cs typeface="Aptos"/>
              </a:rPr>
              <a:t>Governance</a:t>
            </a:r>
          </a:p>
          <a:p>
            <a:pPr algn="l">
              <a:spcBef>
                <a:spcPts val="300"/>
              </a:spcBef>
              <a:buNone/>
            </a:pPr>
            <a:r>
              <a:rPr sz="780">
                <a:solidFill>
                  <a:srgbClr val="5D6572"/>
                </a:solidFill>
                <a:latin typeface="Aptos"/>
                <a:ea typeface="Aptos"/>
                <a:cs typeface="Aptos"/>
              </a:rPr>
              <a:t>Objectives, rights, legitimacy, accountability,</a:t>
            </a:r>
          </a:p>
          <a:p>
            <a:pPr algn="l">
              <a:buNone/>
            </a:pPr>
            <a:r>
              <a:rPr sz="780">
                <a:solidFill>
                  <a:srgbClr val="5D6572"/>
                </a:solidFill>
                <a:latin typeface="Aptos"/>
                <a:ea typeface="Aptos"/>
                <a:cs typeface="Aptos"/>
              </a:rPr>
              <a:t>legal / organizational constraints.</a:t>
            </a:r>
          </a:p>
        </p:txBody>
      </p:sp>
      <p:sp>
        <p:nvSpPr>
          <p:cNvPr id="5" name="Rounded Rectangle 4">
            <a:extLst>
              <a:ext uri="{FF2B5EF4-FFF2-40B4-BE49-F238E27FC236}">
                <a16:creationId xmlns:a16="http://schemas.microsoft.com/office/drawing/2014/main" id="{21C733EF-43AC-4659-BB45-FE9CEA980B5E}"/>
              </a:ext>
            </a:extLst>
          </p:cNvPr>
          <p:cNvSpPr>
            <a:spLocks noGrp="1"/>
          </p:cNvSpPr>
          <p:nvPr/>
        </p:nvSpPr>
        <p:spPr>
          <a:xfrm>
            <a:off x="2862072" y="822960"/>
            <a:ext cx="2176272" cy="676656"/>
          </a:xfrm>
          <a:prstGeom prst="roundRect">
            <a:avLst/>
          </a:prstGeom>
          <a:solidFill>
            <a:srgbClr val="FFFFFF"/>
          </a:solidFill>
          <a:ln w="17780">
            <a:solidFill>
              <a:srgbClr val="5D6572"/>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1030" b="1">
                <a:solidFill>
                  <a:srgbClr val="282828"/>
                </a:solidFill>
                <a:latin typeface="Aptos"/>
                <a:ea typeface="Aptos"/>
                <a:cs typeface="Aptos"/>
              </a:rPr>
              <a:t>Privacy / Data</a:t>
            </a:r>
          </a:p>
          <a:p>
            <a:pPr algn="l">
              <a:buNone/>
            </a:pPr>
            <a:r>
              <a:rPr sz="780" b="1">
                <a:solidFill>
                  <a:srgbClr val="282828"/>
                </a:solidFill>
                <a:latin typeface="Aptos"/>
                <a:ea typeface="Aptos"/>
                <a:cs typeface="Aptos"/>
              </a:rPr>
              <a:t>Governance</a:t>
            </a:r>
          </a:p>
          <a:p>
            <a:pPr algn="l">
              <a:spcBef>
                <a:spcPts val="300"/>
              </a:spcBef>
              <a:buNone/>
            </a:pPr>
            <a:r>
              <a:rPr sz="780">
                <a:solidFill>
                  <a:srgbClr val="5D6572"/>
                </a:solidFill>
                <a:latin typeface="Aptos"/>
                <a:ea typeface="Aptos"/>
                <a:cs typeface="Aptos"/>
              </a:rPr>
              <a:t>Consent, disclosure limits, data minimization,</a:t>
            </a:r>
          </a:p>
          <a:p>
            <a:pPr algn="l">
              <a:buNone/>
            </a:pPr>
            <a:r>
              <a:rPr sz="780">
                <a:solidFill>
                  <a:srgbClr val="5D6572"/>
                </a:solidFill>
                <a:latin typeface="Aptos"/>
                <a:ea typeface="Aptos"/>
                <a:cs typeface="Aptos"/>
              </a:rPr>
              <a:t>correlation and privacy boundaries.</a:t>
            </a:r>
          </a:p>
        </p:txBody>
      </p:sp>
      <p:sp>
        <p:nvSpPr>
          <p:cNvPr id="6" name="Rounded Rectangle 5">
            <a:extLst>
              <a:ext uri="{FF2B5EF4-FFF2-40B4-BE49-F238E27FC236}">
                <a16:creationId xmlns:a16="http://schemas.microsoft.com/office/drawing/2014/main" id="{10346905-C103-46BF-A7DC-C7A5379190EC}"/>
              </a:ext>
            </a:extLst>
          </p:cNvPr>
          <p:cNvSpPr>
            <a:spLocks noGrp="1"/>
          </p:cNvSpPr>
          <p:nvPr/>
        </p:nvSpPr>
        <p:spPr>
          <a:xfrm>
            <a:off x="5413248" y="822960"/>
            <a:ext cx="2176272" cy="676656"/>
          </a:xfrm>
          <a:prstGeom prst="roundRect">
            <a:avLst/>
          </a:prstGeom>
          <a:solidFill>
            <a:srgbClr val="FFFFFF"/>
          </a:solidFill>
          <a:ln w="17780">
            <a:solidFill>
              <a:srgbClr val="7A4FBA"/>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1030" b="1">
                <a:solidFill>
                  <a:srgbClr val="282828"/>
                </a:solidFill>
                <a:latin typeface="Aptos"/>
                <a:ea typeface="Aptos"/>
                <a:cs typeface="Aptos"/>
              </a:rPr>
              <a:t>Organization / Roles /</a:t>
            </a:r>
          </a:p>
          <a:p>
            <a:pPr algn="l">
              <a:buNone/>
            </a:pPr>
            <a:r>
              <a:rPr sz="780" b="1">
                <a:solidFill>
                  <a:srgbClr val="282828"/>
                </a:solidFill>
                <a:latin typeface="Aptos"/>
                <a:ea typeface="Aptos"/>
                <a:cs typeface="Aptos"/>
              </a:rPr>
              <a:t>Membership</a:t>
            </a:r>
          </a:p>
          <a:p>
            <a:pPr algn="l">
              <a:spcBef>
                <a:spcPts val="300"/>
              </a:spcBef>
              <a:buNone/>
            </a:pPr>
            <a:r>
              <a:rPr sz="780">
                <a:solidFill>
                  <a:srgbClr val="5D6572"/>
                </a:solidFill>
                <a:latin typeface="Aptos"/>
                <a:ea typeface="Aptos"/>
                <a:cs typeface="Aptos"/>
              </a:rPr>
              <a:t>Organizational role models, membership,</a:t>
            </a:r>
          </a:p>
          <a:p>
            <a:pPr algn="l">
              <a:buNone/>
            </a:pPr>
            <a:r>
              <a:rPr sz="780">
                <a:solidFill>
                  <a:srgbClr val="5D6572"/>
                </a:solidFill>
                <a:latin typeface="Aptos"/>
                <a:ea typeface="Aptos"/>
                <a:cs typeface="Aptos"/>
              </a:rPr>
              <a:t>ownership and participation context.</a:t>
            </a:r>
          </a:p>
        </p:txBody>
      </p:sp>
      <p:sp>
        <p:nvSpPr>
          <p:cNvPr id="7" name="Rounded Rectangle 6">
            <a:extLst>
              <a:ext uri="{FF2B5EF4-FFF2-40B4-BE49-F238E27FC236}">
                <a16:creationId xmlns:a16="http://schemas.microsoft.com/office/drawing/2014/main" id="{76E32366-8414-40E6-AC2B-5E2670C0CA68}"/>
              </a:ext>
            </a:extLst>
          </p:cNvPr>
          <p:cNvSpPr>
            <a:spLocks noGrp="1"/>
          </p:cNvSpPr>
          <p:nvPr/>
        </p:nvSpPr>
        <p:spPr>
          <a:xfrm>
            <a:off x="7955279" y="822960"/>
            <a:ext cx="2176272" cy="676656"/>
          </a:xfrm>
          <a:prstGeom prst="roundRect">
            <a:avLst/>
          </a:prstGeom>
          <a:solidFill>
            <a:srgbClr val="FFFFFF"/>
          </a:solidFill>
          <a:ln w="17780">
            <a:solidFill>
              <a:srgbClr val="4682DC"/>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1030" b="1">
                <a:solidFill>
                  <a:srgbClr val="282828"/>
                </a:solidFill>
                <a:latin typeface="Aptos"/>
                <a:ea typeface="Aptos"/>
                <a:cs typeface="Aptos"/>
              </a:rPr>
              <a:t>Standards / Profiles /</a:t>
            </a:r>
          </a:p>
          <a:p>
            <a:pPr algn="l">
              <a:buNone/>
            </a:pPr>
            <a:r>
              <a:rPr sz="780" b="1">
                <a:solidFill>
                  <a:srgbClr val="282828"/>
                </a:solidFill>
                <a:latin typeface="Aptos"/>
                <a:ea typeface="Aptos"/>
                <a:cs typeface="Aptos"/>
              </a:rPr>
              <a:t>Conformance</a:t>
            </a:r>
          </a:p>
          <a:p>
            <a:pPr algn="l">
              <a:spcBef>
                <a:spcPts val="300"/>
              </a:spcBef>
              <a:buNone/>
            </a:pPr>
            <a:r>
              <a:rPr sz="780">
                <a:solidFill>
                  <a:srgbClr val="5D6572"/>
                </a:solidFill>
                <a:latin typeface="Aptos"/>
                <a:ea typeface="Aptos"/>
                <a:cs typeface="Aptos"/>
              </a:rPr>
              <a:t>Versioned profiles, schemas, interoperability</a:t>
            </a:r>
          </a:p>
          <a:p>
            <a:pPr algn="l">
              <a:buNone/>
            </a:pPr>
            <a:r>
              <a:rPr sz="780">
                <a:solidFill>
                  <a:srgbClr val="5D6572"/>
                </a:solidFill>
                <a:latin typeface="Aptos"/>
                <a:ea typeface="Aptos"/>
                <a:cs typeface="Aptos"/>
              </a:rPr>
              <a:t>mappings and conformance fixtures.</a:t>
            </a:r>
          </a:p>
        </p:txBody>
      </p:sp>
      <p:sp>
        <p:nvSpPr>
          <p:cNvPr id="20" name="Rounded Rectangle 19">
            <a:extLst>
              <a:ext uri="{FF2B5EF4-FFF2-40B4-BE49-F238E27FC236}">
                <a16:creationId xmlns:a16="http://schemas.microsoft.com/office/drawing/2014/main" id="{D0C6A0BE-F613-4A87-8E10-170B5526BA7F}"/>
              </a:ext>
            </a:extLst>
          </p:cNvPr>
          <p:cNvSpPr>
            <a:spLocks noGrp="1"/>
          </p:cNvSpPr>
          <p:nvPr/>
        </p:nvSpPr>
        <p:spPr>
          <a:xfrm>
            <a:off x="310896" y="1810512"/>
            <a:ext cx="2084831" cy="566928"/>
          </a:xfrm>
          <a:prstGeom prst="roundRect">
            <a:avLst/>
          </a:prstGeom>
          <a:solidFill>
            <a:srgbClr val="FFFFFF"/>
          </a:solidFill>
          <a:ln w="17780">
            <a:solidFill>
              <a:srgbClr val="4682DC"/>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Identity / Principal Binding</a:t>
            </a:r>
          </a:p>
        </p:txBody>
      </p:sp>
      <p:sp>
        <p:nvSpPr>
          <p:cNvPr id="22" name="Rounded Rectangle 21">
            <a:extLst>
              <a:ext uri="{FF2B5EF4-FFF2-40B4-BE49-F238E27FC236}">
                <a16:creationId xmlns:a16="http://schemas.microsoft.com/office/drawing/2014/main" id="{FA57CD3A-EF42-40EE-8F66-AA4080EF7077}"/>
              </a:ext>
            </a:extLst>
          </p:cNvPr>
          <p:cNvSpPr>
            <a:spLocks noGrp="1"/>
          </p:cNvSpPr>
          <p:nvPr/>
        </p:nvSpPr>
        <p:spPr>
          <a:xfrm>
            <a:off x="310896" y="2587752"/>
            <a:ext cx="2084831" cy="566928"/>
          </a:xfrm>
          <a:prstGeom prst="roundRect">
            <a:avLst/>
          </a:prstGeom>
          <a:solidFill>
            <a:srgbClr val="FFFFFF"/>
          </a:solidFill>
          <a:ln w="17780">
            <a:solidFill>
              <a:srgbClr val="4682DC"/>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Delegated Authority / Capability</a:t>
            </a:r>
          </a:p>
        </p:txBody>
      </p:sp>
      <p:sp>
        <p:nvSpPr>
          <p:cNvPr id="24" name="Rounded Rectangle 23">
            <a:extLst>
              <a:ext uri="{FF2B5EF4-FFF2-40B4-BE49-F238E27FC236}">
                <a16:creationId xmlns:a16="http://schemas.microsoft.com/office/drawing/2014/main" id="{A6E39C68-3AEF-45DF-A433-ED7D48E872FA}"/>
              </a:ext>
            </a:extLst>
          </p:cNvPr>
          <p:cNvSpPr>
            <a:spLocks noGrp="1"/>
          </p:cNvSpPr>
          <p:nvPr/>
        </p:nvSpPr>
        <p:spPr>
          <a:xfrm>
            <a:off x="310896" y="3364992"/>
            <a:ext cx="2084831" cy="566928"/>
          </a:xfrm>
          <a:prstGeom prst="roundRect">
            <a:avLst/>
          </a:prstGeom>
          <a:solidFill>
            <a:srgbClr val="FFFFFF"/>
          </a:solidFill>
          <a:ln w="17780">
            <a:solidFill>
              <a:srgbClr val="4682DC"/>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Policy / Intent / Authorization</a:t>
            </a:r>
          </a:p>
        </p:txBody>
      </p:sp>
      <p:sp>
        <p:nvSpPr>
          <p:cNvPr id="26" name="Rounded Rectangle 25">
            <a:extLst>
              <a:ext uri="{FF2B5EF4-FFF2-40B4-BE49-F238E27FC236}">
                <a16:creationId xmlns:a16="http://schemas.microsoft.com/office/drawing/2014/main" id="{FED343FD-B334-42B7-902F-89BB24921EF4}"/>
              </a:ext>
            </a:extLst>
          </p:cNvPr>
          <p:cNvSpPr>
            <a:spLocks noGrp="1"/>
          </p:cNvSpPr>
          <p:nvPr/>
        </p:nvSpPr>
        <p:spPr>
          <a:xfrm>
            <a:off x="310896" y="4142232"/>
            <a:ext cx="2084831" cy="566928"/>
          </a:xfrm>
          <a:prstGeom prst="roundRect">
            <a:avLst/>
          </a:prstGeom>
          <a:solidFill>
            <a:srgbClr val="FFFFFF"/>
          </a:solidFill>
          <a:ln w="17780">
            <a:solidFill>
              <a:srgbClr val="C17629"/>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Remote Attestation / Runtime Integrity</a:t>
            </a:r>
          </a:p>
        </p:txBody>
      </p:sp>
      <p:sp>
        <p:nvSpPr>
          <p:cNvPr id="28" name="Rounded Rectangle 27">
            <a:extLst>
              <a:ext uri="{FF2B5EF4-FFF2-40B4-BE49-F238E27FC236}">
                <a16:creationId xmlns:a16="http://schemas.microsoft.com/office/drawing/2014/main" id="{FDB27AEF-1C20-41EF-B049-F5B0D28B0629}"/>
              </a:ext>
            </a:extLst>
          </p:cNvPr>
          <p:cNvSpPr>
            <a:spLocks noGrp="1"/>
          </p:cNvSpPr>
          <p:nvPr/>
        </p:nvSpPr>
        <p:spPr>
          <a:xfrm>
            <a:off x="310896" y="4919472"/>
            <a:ext cx="2084831" cy="566928"/>
          </a:xfrm>
          <a:prstGeom prst="roundRect">
            <a:avLst/>
          </a:prstGeom>
          <a:solidFill>
            <a:srgbClr val="FFFFFF"/>
          </a:solidFill>
          <a:ln w="17780">
            <a:solidFill>
              <a:srgbClr val="5D6572"/>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Agent Discovery / Capabilities</a:t>
            </a:r>
          </a:p>
        </p:txBody>
      </p:sp>
      <p:sp>
        <p:nvSpPr>
          <p:cNvPr id="30" name="Rounded Rectangle 29">
            <a:extLst>
              <a:ext uri="{FF2B5EF4-FFF2-40B4-BE49-F238E27FC236}">
                <a16:creationId xmlns:a16="http://schemas.microsoft.com/office/drawing/2014/main" id="{DDD08544-774F-4A0B-A390-671FD32B00CE}"/>
              </a:ext>
            </a:extLst>
          </p:cNvPr>
          <p:cNvSpPr>
            <a:spLocks noGrp="1"/>
          </p:cNvSpPr>
          <p:nvPr/>
        </p:nvSpPr>
        <p:spPr>
          <a:xfrm>
            <a:off x="310896" y="5696712"/>
            <a:ext cx="2084831" cy="566928"/>
          </a:xfrm>
          <a:prstGeom prst="roundRect">
            <a:avLst/>
          </a:prstGeom>
          <a:solidFill>
            <a:srgbClr val="FFFFFF"/>
          </a:solidFill>
          <a:ln w="17780">
            <a:solidFill>
              <a:srgbClr val="5D6572"/>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Memory / Context Provenance</a:t>
            </a:r>
          </a:p>
        </p:txBody>
      </p:sp>
      <p:sp>
        <p:nvSpPr>
          <p:cNvPr id="32" name="Rounded Rectangle 31">
            <a:extLst>
              <a:ext uri="{FF2B5EF4-FFF2-40B4-BE49-F238E27FC236}">
                <a16:creationId xmlns:a16="http://schemas.microsoft.com/office/drawing/2014/main" id="{B2D554E7-12B8-48D7-AD51-6B22E2340716}"/>
              </a:ext>
            </a:extLst>
          </p:cNvPr>
          <p:cNvSpPr>
            <a:spLocks noGrp="1"/>
          </p:cNvSpPr>
          <p:nvPr/>
        </p:nvSpPr>
        <p:spPr>
          <a:xfrm>
            <a:off x="9555480" y="1810512"/>
            <a:ext cx="2240280" cy="566928"/>
          </a:xfrm>
          <a:prstGeom prst="roundRect">
            <a:avLst/>
          </a:prstGeom>
          <a:solidFill>
            <a:srgbClr val="FFFFFF"/>
          </a:solidFill>
          <a:ln w="17780">
            <a:solidFill>
              <a:srgbClr val="5D6572"/>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A2A / Messaging / Interoperability</a:t>
            </a:r>
          </a:p>
        </p:txBody>
      </p:sp>
      <p:sp>
        <p:nvSpPr>
          <p:cNvPr id="34" name="Rounded Rectangle 33">
            <a:extLst>
              <a:ext uri="{FF2B5EF4-FFF2-40B4-BE49-F238E27FC236}">
                <a16:creationId xmlns:a16="http://schemas.microsoft.com/office/drawing/2014/main" id="{9DD466A7-5C37-4469-927A-6CD06BDCDE00}"/>
              </a:ext>
            </a:extLst>
          </p:cNvPr>
          <p:cNvSpPr>
            <a:spLocks noGrp="1"/>
          </p:cNvSpPr>
          <p:nvPr/>
        </p:nvSpPr>
        <p:spPr>
          <a:xfrm>
            <a:off x="9555480" y="2587752"/>
            <a:ext cx="2240280" cy="566928"/>
          </a:xfrm>
          <a:prstGeom prst="roundRect">
            <a:avLst/>
          </a:prstGeom>
          <a:solidFill>
            <a:srgbClr val="FFFFFF"/>
          </a:solidFill>
          <a:ln w="17780">
            <a:solidFill>
              <a:srgbClr val="C17629"/>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Trust / Reputation / Corroboration</a:t>
            </a:r>
          </a:p>
        </p:txBody>
      </p:sp>
      <p:sp>
        <p:nvSpPr>
          <p:cNvPr id="36" name="Rounded Rectangle 35">
            <a:extLst>
              <a:ext uri="{FF2B5EF4-FFF2-40B4-BE49-F238E27FC236}">
                <a16:creationId xmlns:a16="http://schemas.microsoft.com/office/drawing/2014/main" id="{48AE9B10-69CC-4C51-9933-B1CEBDFB23A8}"/>
              </a:ext>
            </a:extLst>
          </p:cNvPr>
          <p:cNvSpPr>
            <a:spLocks noGrp="1"/>
          </p:cNvSpPr>
          <p:nvPr/>
        </p:nvSpPr>
        <p:spPr>
          <a:xfrm>
            <a:off x="9555480" y="3364992"/>
            <a:ext cx="2240280" cy="566928"/>
          </a:xfrm>
          <a:prstGeom prst="roundRect">
            <a:avLst/>
          </a:prstGeom>
          <a:solidFill>
            <a:srgbClr val="FFFFFF"/>
          </a:solidFill>
          <a:ln w="17780">
            <a:solidFill>
              <a:srgbClr val="C17629"/>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Shared Signals / Warnings</a:t>
            </a:r>
          </a:p>
        </p:txBody>
      </p:sp>
      <p:sp>
        <p:nvSpPr>
          <p:cNvPr id="38" name="Rounded Rectangle 37">
            <a:extLst>
              <a:ext uri="{FF2B5EF4-FFF2-40B4-BE49-F238E27FC236}">
                <a16:creationId xmlns:a16="http://schemas.microsoft.com/office/drawing/2014/main" id="{C99288BB-C11C-471F-A31C-1D259469C166}"/>
              </a:ext>
            </a:extLst>
          </p:cNvPr>
          <p:cNvSpPr>
            <a:spLocks noGrp="1"/>
          </p:cNvSpPr>
          <p:nvPr/>
        </p:nvSpPr>
        <p:spPr>
          <a:xfrm>
            <a:off x="9555480" y="4142232"/>
            <a:ext cx="2240280" cy="566928"/>
          </a:xfrm>
          <a:prstGeom prst="roundRect">
            <a:avLst/>
          </a:prstGeom>
          <a:solidFill>
            <a:srgbClr val="FFFFFF"/>
          </a:solidFill>
          <a:ln w="17780">
            <a:solidFill>
              <a:srgbClr val="C17629"/>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Defense / Blast Radius / Containment</a:t>
            </a:r>
          </a:p>
        </p:txBody>
      </p:sp>
      <p:sp>
        <p:nvSpPr>
          <p:cNvPr id="40" name="Rounded Rectangle 39">
            <a:extLst>
              <a:ext uri="{FF2B5EF4-FFF2-40B4-BE49-F238E27FC236}">
                <a16:creationId xmlns:a16="http://schemas.microsoft.com/office/drawing/2014/main" id="{31981E61-D988-40CC-BDDD-0FB68638B280}"/>
              </a:ext>
            </a:extLst>
          </p:cNvPr>
          <p:cNvSpPr>
            <a:spLocks noGrp="1"/>
          </p:cNvSpPr>
          <p:nvPr/>
        </p:nvSpPr>
        <p:spPr>
          <a:xfrm>
            <a:off x="9555480" y="4919472"/>
            <a:ext cx="2240280" cy="566928"/>
          </a:xfrm>
          <a:prstGeom prst="roundRect">
            <a:avLst/>
          </a:prstGeom>
          <a:solidFill>
            <a:srgbClr val="FFFFFF"/>
          </a:solidFill>
          <a:ln w="17780">
            <a:solidFill>
              <a:srgbClr val="C17629"/>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Incentives / Accountability / Inspection</a:t>
            </a:r>
          </a:p>
        </p:txBody>
      </p:sp>
      <p:sp>
        <p:nvSpPr>
          <p:cNvPr id="42" name="Rounded Rectangle 41">
            <a:extLst>
              <a:ext uri="{FF2B5EF4-FFF2-40B4-BE49-F238E27FC236}">
                <a16:creationId xmlns:a16="http://schemas.microsoft.com/office/drawing/2014/main" id="{6616CFA2-3D76-4EBA-B7C0-7DBB4495C462}"/>
              </a:ext>
            </a:extLst>
          </p:cNvPr>
          <p:cNvSpPr>
            <a:spLocks noGrp="1"/>
          </p:cNvSpPr>
          <p:nvPr/>
        </p:nvSpPr>
        <p:spPr>
          <a:xfrm>
            <a:off x="9555480" y="5696712"/>
            <a:ext cx="2240280" cy="566928"/>
          </a:xfrm>
          <a:prstGeom prst="roundRect">
            <a:avLst/>
          </a:prstGeom>
          <a:solidFill>
            <a:srgbClr val="FFFFFF"/>
          </a:solidFill>
          <a:ln w="17780">
            <a:solidFill>
              <a:srgbClr val="4682DC"/>
            </a:solidFill>
          </a:ln>
        </p:spPr>
        <p:style>
          <a:lnRef idx="1">
            <a:schemeClr val="accent1"/>
          </a:lnRef>
          <a:fillRef idx="3">
            <a:schemeClr val="accent1"/>
          </a:fillRef>
          <a:effectRef idx="2">
            <a:schemeClr val="accent1"/>
          </a:effectRef>
          <a:fontRef idx="minor">
            <a:schemeClr val="lt1"/>
          </a:fontRef>
        </p:style>
        <p:txBody>
          <a:bodyPr wrap="square" lIns="76200" tIns="76200" rIns="76200" bIns="76200" anchor="t"/>
          <a:lstStyle/>
          <a:p>
            <a:pPr algn="l">
              <a:buNone/>
            </a:pPr>
            <a:r>
              <a:rPr sz="980" b="1">
                <a:solidFill>
                  <a:srgbClr val="282828"/>
                </a:solidFill>
                <a:latin typeface="Aptos"/>
                <a:ea typeface="Aptos"/>
                <a:cs typeface="Aptos"/>
              </a:rPr>
              <a:t>Lifecycle / Session / Resolution</a:t>
            </a:r>
          </a:p>
        </p:txBody>
      </p:sp>
      <p:sp>
        <p:nvSpPr>
          <p:cNvPr id="44" name="Rounded Rectangle 43">
            <a:extLst>
              <a:ext uri="{FF2B5EF4-FFF2-40B4-BE49-F238E27FC236}">
                <a16:creationId xmlns:a16="http://schemas.microsoft.com/office/drawing/2014/main" id="{6D7ACA73-78C5-4DA4-9230-03732A2BF911}"/>
              </a:ext>
            </a:extLst>
          </p:cNvPr>
          <p:cNvSpPr>
            <a:spLocks noGrp="1"/>
          </p:cNvSpPr>
          <p:nvPr/>
        </p:nvSpPr>
        <p:spPr>
          <a:xfrm>
            <a:off x="2761488" y="5687568"/>
            <a:ext cx="1325880" cy="603504"/>
          </a:xfrm>
          <a:prstGeom prst="roundRect">
            <a:avLst/>
          </a:prstGeom>
          <a:solidFill>
            <a:srgbClr val="FFFFFF"/>
          </a:solidFill>
          <a:ln w="17780">
            <a:solidFill>
              <a:srgbClr val="C65D4E"/>
            </a:solidFill>
          </a:ln>
        </p:spPr>
        <p:style>
          <a:lnRef idx="1">
            <a:schemeClr val="accent1"/>
          </a:lnRef>
          <a:fillRef idx="3">
            <a:schemeClr val="accent1"/>
          </a:fillRef>
          <a:effectRef idx="2">
            <a:schemeClr val="accent1"/>
          </a:effectRef>
          <a:fontRef idx="minor">
            <a:schemeClr val="lt1"/>
          </a:fontRef>
        </p:style>
        <p:txBody>
          <a:bodyPr wrap="square" lIns="63500" tIns="63500" rIns="63500" bIns="63500" anchor="t"/>
          <a:lstStyle/>
          <a:p>
            <a:pPr algn="l">
              <a:buNone/>
            </a:pPr>
            <a:r>
              <a:rPr sz="980" b="1">
                <a:solidFill>
                  <a:srgbClr val="282828"/>
                </a:solidFill>
                <a:latin typeface="Aptos"/>
                <a:ea typeface="Aptos"/>
                <a:cs typeface="Aptos"/>
              </a:rPr>
              <a:t>Tool &amp; Action</a:t>
            </a:r>
          </a:p>
          <a:p>
            <a:pPr algn="l">
              <a:buNone/>
            </a:pPr>
            <a:r>
              <a:rPr sz="800" b="1">
                <a:solidFill>
                  <a:srgbClr val="282828"/>
                </a:solidFill>
                <a:latin typeface="Aptos"/>
                <a:ea typeface="Aptos"/>
                <a:cs typeface="Aptos"/>
              </a:rPr>
              <a:t>Execution</a:t>
            </a:r>
          </a:p>
        </p:txBody>
      </p:sp>
      <p:sp>
        <p:nvSpPr>
          <p:cNvPr id="45" name="Rounded Rectangle 44">
            <a:extLst>
              <a:ext uri="{FF2B5EF4-FFF2-40B4-BE49-F238E27FC236}">
                <a16:creationId xmlns:a16="http://schemas.microsoft.com/office/drawing/2014/main" id="{49866764-FF1A-41FA-B4CD-6076BEE85889}"/>
              </a:ext>
            </a:extLst>
          </p:cNvPr>
          <p:cNvSpPr>
            <a:spLocks noGrp="1"/>
          </p:cNvSpPr>
          <p:nvPr/>
        </p:nvSpPr>
        <p:spPr>
          <a:xfrm>
            <a:off x="4315968" y="5687568"/>
            <a:ext cx="1325880" cy="603504"/>
          </a:xfrm>
          <a:prstGeom prst="roundRect">
            <a:avLst/>
          </a:prstGeom>
          <a:solidFill>
            <a:srgbClr val="FFFFFF"/>
          </a:solidFill>
          <a:ln w="17780">
            <a:solidFill>
              <a:srgbClr val="C65D4E"/>
            </a:solidFill>
          </a:ln>
        </p:spPr>
        <p:style>
          <a:lnRef idx="1">
            <a:schemeClr val="accent1"/>
          </a:lnRef>
          <a:fillRef idx="3">
            <a:schemeClr val="accent1"/>
          </a:fillRef>
          <a:effectRef idx="2">
            <a:schemeClr val="accent1"/>
          </a:effectRef>
          <a:fontRef idx="minor">
            <a:schemeClr val="lt1"/>
          </a:fontRef>
        </p:style>
        <p:txBody>
          <a:bodyPr wrap="square" lIns="63500" tIns="63500" rIns="63500" bIns="63500" anchor="t"/>
          <a:lstStyle/>
          <a:p>
            <a:pPr algn="l">
              <a:buNone/>
            </a:pPr>
            <a:r>
              <a:rPr sz="980" b="1">
                <a:solidFill>
                  <a:srgbClr val="282828"/>
                </a:solidFill>
                <a:latin typeface="Aptos"/>
                <a:ea typeface="Aptos"/>
                <a:cs typeface="Aptos"/>
              </a:rPr>
              <a:t>Human</a:t>
            </a:r>
          </a:p>
          <a:p>
            <a:pPr algn="l">
              <a:buNone/>
            </a:pPr>
            <a:r>
              <a:rPr sz="800" b="1">
                <a:solidFill>
                  <a:srgbClr val="282828"/>
                </a:solidFill>
                <a:latin typeface="Aptos"/>
                <a:ea typeface="Aptos"/>
                <a:cs typeface="Aptos"/>
              </a:rPr>
              <a:t>Oversight</a:t>
            </a:r>
          </a:p>
        </p:txBody>
      </p:sp>
      <p:sp>
        <p:nvSpPr>
          <p:cNvPr id="46" name="Rounded Rectangle 45">
            <a:extLst>
              <a:ext uri="{FF2B5EF4-FFF2-40B4-BE49-F238E27FC236}">
                <a16:creationId xmlns:a16="http://schemas.microsoft.com/office/drawing/2014/main" id="{EF592D59-8754-47FF-A51C-145587FEC31A}"/>
              </a:ext>
            </a:extLst>
          </p:cNvPr>
          <p:cNvSpPr>
            <a:spLocks noGrp="1"/>
          </p:cNvSpPr>
          <p:nvPr/>
        </p:nvSpPr>
        <p:spPr>
          <a:xfrm>
            <a:off x="5907024" y="5687568"/>
            <a:ext cx="1325880" cy="603504"/>
          </a:xfrm>
          <a:prstGeom prst="roundRect">
            <a:avLst/>
          </a:prstGeom>
          <a:solidFill>
            <a:srgbClr val="FFFFFF"/>
          </a:solidFill>
          <a:ln w="17780">
            <a:solidFill>
              <a:srgbClr val="C17629"/>
            </a:solidFill>
          </a:ln>
        </p:spPr>
        <p:style>
          <a:lnRef idx="1">
            <a:schemeClr val="accent1"/>
          </a:lnRef>
          <a:fillRef idx="3">
            <a:schemeClr val="accent1"/>
          </a:fillRef>
          <a:effectRef idx="2">
            <a:schemeClr val="accent1"/>
          </a:effectRef>
          <a:fontRef idx="minor">
            <a:schemeClr val="lt1"/>
          </a:fontRef>
        </p:style>
        <p:txBody>
          <a:bodyPr wrap="square" lIns="63500" tIns="63500" rIns="63500" bIns="63500" anchor="t"/>
          <a:lstStyle/>
          <a:p>
            <a:pPr algn="l">
              <a:buNone/>
            </a:pPr>
            <a:r>
              <a:rPr sz="980" b="1">
                <a:solidFill>
                  <a:srgbClr val="282828"/>
                </a:solidFill>
                <a:latin typeface="Aptos"/>
                <a:ea typeface="Aptos"/>
                <a:cs typeface="Aptos"/>
              </a:rPr>
              <a:t>Observability /</a:t>
            </a:r>
          </a:p>
          <a:p>
            <a:pPr algn="l">
              <a:buNone/>
            </a:pPr>
            <a:r>
              <a:rPr sz="800" b="1">
                <a:solidFill>
                  <a:srgbClr val="282828"/>
                </a:solidFill>
                <a:latin typeface="Aptos"/>
                <a:ea typeface="Aptos"/>
                <a:cs typeface="Aptos"/>
              </a:rPr>
              <a:t>Telemetry</a:t>
            </a:r>
          </a:p>
        </p:txBody>
      </p:sp>
      <p:sp>
        <p:nvSpPr>
          <p:cNvPr id="47" name="Rounded Rectangle 46">
            <a:extLst>
              <a:ext uri="{FF2B5EF4-FFF2-40B4-BE49-F238E27FC236}">
                <a16:creationId xmlns:a16="http://schemas.microsoft.com/office/drawing/2014/main" id="{AED2D0A6-8B69-4209-A953-84099DF96232}"/>
              </a:ext>
            </a:extLst>
          </p:cNvPr>
          <p:cNvSpPr>
            <a:spLocks noGrp="1"/>
          </p:cNvSpPr>
          <p:nvPr/>
        </p:nvSpPr>
        <p:spPr>
          <a:xfrm>
            <a:off x="7525512" y="5687568"/>
            <a:ext cx="1325880" cy="603504"/>
          </a:xfrm>
          <a:prstGeom prst="roundRect">
            <a:avLst/>
          </a:prstGeom>
          <a:solidFill>
            <a:srgbClr val="FFFFFF"/>
          </a:solidFill>
          <a:ln w="17780">
            <a:solidFill>
              <a:srgbClr val="4682DC"/>
            </a:solidFill>
          </a:ln>
        </p:spPr>
        <p:style>
          <a:lnRef idx="1">
            <a:schemeClr val="accent1"/>
          </a:lnRef>
          <a:fillRef idx="3">
            <a:schemeClr val="accent1"/>
          </a:fillRef>
          <a:effectRef idx="2">
            <a:schemeClr val="accent1"/>
          </a:effectRef>
          <a:fontRef idx="minor">
            <a:schemeClr val="lt1"/>
          </a:fontRef>
        </p:style>
        <p:txBody>
          <a:bodyPr wrap="square" lIns="63500" tIns="63500" rIns="63500" bIns="63500" anchor="t"/>
          <a:lstStyle/>
          <a:p>
            <a:pPr algn="l">
              <a:buNone/>
            </a:pPr>
            <a:r>
              <a:rPr sz="980" b="1">
                <a:solidFill>
                  <a:srgbClr val="282828"/>
                </a:solidFill>
                <a:latin typeface="Aptos"/>
                <a:ea typeface="Aptos"/>
                <a:cs typeface="Aptos"/>
              </a:rPr>
              <a:t>Execution</a:t>
            </a:r>
          </a:p>
          <a:p>
            <a:pPr algn="l">
              <a:buNone/>
            </a:pPr>
            <a:r>
              <a:rPr sz="800" b="1">
                <a:solidFill>
                  <a:srgbClr val="282828"/>
                </a:solidFill>
                <a:latin typeface="Aptos"/>
                <a:ea typeface="Aptos"/>
                <a:cs typeface="Aptos"/>
              </a:rPr>
              <a:t>Outcome / Receipts</a:t>
            </a:r>
          </a:p>
        </p:txBody>
      </p:sp>
      <p:sp>
        <p:nvSpPr>
          <p:cNvPr id="48" name="TextBox 47">
            <a:extLst>
              <a:ext uri="{FF2B5EF4-FFF2-40B4-BE49-F238E27FC236}">
                <a16:creationId xmlns:a16="http://schemas.microsoft.com/office/drawing/2014/main" id="{13230E1E-F3E2-4A2E-AF13-D38B9C0795E8}"/>
              </a:ext>
            </a:extLst>
          </p:cNvPr>
          <p:cNvSpPr>
            <a:spLocks noGrp="1"/>
          </p:cNvSpPr>
          <p:nvPr/>
        </p:nvSpPr>
        <p:spPr>
          <a:xfrm>
            <a:off x="2724912" y="6400800"/>
            <a:ext cx="6903720" cy="146304"/>
          </a:xfrm>
          <a:prstGeom prst="rect">
            <a:avLst/>
          </a:prstGeom>
          <a:noFill/>
          <a:ln>
            <a:noFill/>
          </a:ln>
        </p:spPr>
        <p:txBody>
          <a:bodyPr wrap="square" lIns="50800" tIns="50800" rIns="50800" bIns="50800" anchor="t">
            <a:spAutoFit/>
          </a:bodyPr>
          <a:lstStyle/>
          <a:p>
            <a:pPr algn="l">
              <a:buNone/>
            </a:pPr>
            <a:endParaRPr/>
          </a:p>
        </p:txBody>
      </p:sp>
      <p:sp>
        <p:nvSpPr>
          <p:cNvPr id="49" name="Rectangle 48">
            <a:extLst>
              <a:ext uri="{FF2B5EF4-FFF2-40B4-BE49-F238E27FC236}">
                <a16:creationId xmlns:a16="http://schemas.microsoft.com/office/drawing/2014/main" id="{22BD233C-1719-47C3-BFDD-CED09062B026}"/>
              </a:ext>
            </a:extLst>
          </p:cNvPr>
          <p:cNvSpPr>
            <a:spLocks noGrp="1"/>
          </p:cNvSpPr>
          <p:nvPr/>
        </p:nvSpPr>
        <p:spPr>
          <a:xfrm>
            <a:off x="0" y="0"/>
            <a:ext cx="12191695" cy="786384"/>
          </a:xfrm>
          <a:prstGeom prst="rect">
            <a:avLst/>
          </a:prstGeom>
          <a:solidFill>
            <a:srgbClr val="F8F8F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1F814F5A-9F02-4AE0-AF83-79EC5E849B56}"/>
              </a:ext>
            </a:extLst>
          </p:cNvPr>
          <p:cNvSpPr>
            <a:spLocks noGrp="1"/>
          </p:cNvSpPr>
          <p:nvPr/>
        </p:nvSpPr>
        <p:spPr>
          <a:xfrm>
            <a:off x="292608" y="237744"/>
            <a:ext cx="10972800" cy="359073"/>
          </a:xfrm>
          <a:prstGeom prst="rect">
            <a:avLst/>
          </a:prstGeom>
          <a:noFill/>
        </p:spPr>
        <p:txBody>
          <a:bodyPr wrap="square" lIns="38100" tIns="25400" rIns="38100" bIns="25400">
            <a:spAutoFit/>
          </a:bodyPr>
          <a:lstStyle/>
          <a:p>
            <a:pPr algn="l">
              <a:buNone/>
            </a:pPr>
            <a:r>
              <a:rPr sz="2000" b="1">
                <a:solidFill>
                  <a:srgbClr val="282828"/>
                </a:solidFill>
                <a:latin typeface="Aptos"/>
                <a:ea typeface="Aptos"/>
                <a:cs typeface="Aptos"/>
                <a:hlinkClick r:id="rId3"/>
              </a:rPr>
              <a:t>Ecosystem Positioning Architecture — Extended Situational Core</a:t>
            </a:r>
          </a:p>
        </p:txBody>
      </p:sp>
      <p:sp>
        <p:nvSpPr>
          <p:cNvPr id="51" name="TextBox 50">
            <a:extLst>
              <a:ext uri="{FF2B5EF4-FFF2-40B4-BE49-F238E27FC236}">
                <a16:creationId xmlns:a16="http://schemas.microsoft.com/office/drawing/2014/main" id="{D2309E72-8CFB-4008-AFEB-1B37340134A5}"/>
              </a:ext>
            </a:extLst>
          </p:cNvPr>
          <p:cNvSpPr>
            <a:spLocks noGrp="1"/>
          </p:cNvSpPr>
          <p:nvPr/>
        </p:nvSpPr>
        <p:spPr>
          <a:xfrm>
            <a:off x="292608" y="530352"/>
            <a:ext cx="10972800" cy="137160"/>
          </a:xfrm>
          <a:prstGeom prst="rect">
            <a:avLst/>
          </a:prstGeom>
          <a:noFill/>
        </p:spPr>
        <p:txBody>
          <a:bodyPr wrap="square" lIns="38100" tIns="25400" rIns="38100" bIns="25400">
            <a:spAutoFit/>
          </a:bodyPr>
          <a:lstStyle/>
          <a:p>
            <a:pPr algn="l">
              <a:buNone/>
            </a:pPr>
            <a:r>
              <a:rPr sz="1019" b="0">
                <a:solidFill>
                  <a:srgbClr val="5D6572"/>
                </a:solidFill>
                <a:latin typeface="Aptos"/>
                <a:ea typeface="Aptos"/>
                <a:cs typeface="Aptos"/>
              </a:rPr>
              <a:t>Agentic-AI, decentralized-identity (DIF) and ecosystem-defense components around one core: Ecosystem Positioning.</a:t>
            </a:r>
          </a:p>
        </p:txBody>
      </p:sp>
      <p:sp>
        <p:nvSpPr>
          <p:cNvPr id="55" name="Rectangle 54">
            <a:extLst>
              <a:ext uri="{FF2B5EF4-FFF2-40B4-BE49-F238E27FC236}">
                <a16:creationId xmlns:a16="http://schemas.microsoft.com/office/drawing/2014/main" id="{0BB55AFC-8860-4DC4-82F0-CE43981B1332}"/>
              </a:ext>
            </a:extLst>
          </p:cNvPr>
          <p:cNvSpPr>
            <a:spLocks noGrp="1"/>
          </p:cNvSpPr>
          <p:nvPr/>
        </p:nvSpPr>
        <p:spPr>
          <a:xfrm>
            <a:off x="0" y="6327648"/>
            <a:ext cx="12191695" cy="530352"/>
          </a:xfrm>
          <a:prstGeom prst="rect">
            <a:avLst/>
          </a:prstGeom>
          <a:solidFill>
            <a:srgbClr val="F8F8F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0A4DBB4B-5E31-44A6-A694-AA9AE44FF6A3}"/>
              </a:ext>
            </a:extLst>
          </p:cNvPr>
          <p:cNvSpPr>
            <a:spLocks noGrp="1"/>
          </p:cNvSpPr>
          <p:nvPr/>
        </p:nvSpPr>
        <p:spPr>
          <a:xfrm>
            <a:off x="2834640" y="6382512"/>
            <a:ext cx="6537960" cy="164592"/>
          </a:xfrm>
          <a:prstGeom prst="rect">
            <a:avLst/>
          </a:prstGeom>
          <a:noFill/>
        </p:spPr>
        <p:txBody>
          <a:bodyPr wrap="square" lIns="38100" tIns="25400" rIns="38100" bIns="25400">
            <a:spAutoFit/>
          </a:bodyPr>
          <a:lstStyle/>
          <a:p>
            <a:pPr algn="ctr">
              <a:buNone/>
            </a:pPr>
            <a:r>
              <a:rPr sz="880" b="0">
                <a:solidFill>
                  <a:srgbClr val="5D6572"/>
                </a:solidFill>
                <a:latin typeface="Aptos"/>
                <a:ea typeface="Aptos"/>
                <a:cs typeface="Aptos"/>
              </a:rPr>
              <a:t>Reading rule: outer boxes are familiar agentic-AI capabilities. Positioning composes their decision-relevant state into a participant-local frame and requests requalification; owners decide.</a:t>
            </a:r>
          </a:p>
        </p:txBody>
      </p:sp>
      <p:sp>
        <p:nvSpPr>
          <p:cNvPr id="57" name="TextBox 56">
            <a:extLst>
              <a:ext uri="{FF2B5EF4-FFF2-40B4-BE49-F238E27FC236}">
                <a16:creationId xmlns:a16="http://schemas.microsoft.com/office/drawing/2014/main" id="{7F815D9E-1456-4348-B01B-9AB03858B678}"/>
              </a:ext>
            </a:extLst>
          </p:cNvPr>
          <p:cNvSpPr>
            <a:spLocks noGrp="1"/>
          </p:cNvSpPr>
          <p:nvPr/>
        </p:nvSpPr>
        <p:spPr>
          <a:xfrm>
            <a:off x="11018520" y="6547104"/>
            <a:ext cx="320040" cy="109728"/>
          </a:xfrm>
          <a:prstGeom prst="rect">
            <a:avLst/>
          </a:prstGeom>
          <a:noFill/>
        </p:spPr>
        <p:txBody>
          <a:bodyPr wrap="square">
            <a:spAutoFit/>
          </a:bodyPr>
          <a:lstStyle/>
          <a:p>
            <a:pPr algn="r"/>
            <a:r>
              <a:rPr sz="900">
                <a:solidFill>
                  <a:srgbClr val="5D6775"/>
                </a:solidFill>
                <a:latin typeface="Calibri"/>
              </a:rPr>
              <a:t>12</a:t>
            </a:r>
          </a:p>
        </p:txBody>
      </p:sp>
      <p:sp>
        <p:nvSpPr>
          <p:cNvPr id="101" name="Spoke L">
            <a:extLst>
              <a:ext uri="{FF2B5EF4-FFF2-40B4-BE49-F238E27FC236}">
                <a16:creationId xmlns:a16="http://schemas.microsoft.com/office/drawing/2014/main" id="{6DEF5231-E5AB-48AA-A904-ABD7C227E67C}"/>
              </a:ext>
            </a:extLst>
          </p:cNvPr>
          <p:cNvSpPr>
            <a:spLocks noGrp="1"/>
          </p:cNvSpPr>
          <p:nvPr/>
        </p:nvSpPr>
        <p:spPr>
          <a:xfrm>
            <a:off x="2395728" y="2093976"/>
            <a:ext cx="1975104" cy="329184"/>
          </a:xfrm>
          <a:prstGeom prst="line">
            <a:avLst/>
          </a:prstGeom>
          <a:ln w="12700">
            <a:solidFill>
              <a:srgbClr val="A0A8B6"/>
            </a:solidFill>
          </a:ln>
        </p:spPr>
        <p:txBody>
          <a:bodyPr/>
          <a:lstStyle/>
          <a:p>
            <a:endParaRPr lang="en-US"/>
          </a:p>
        </p:txBody>
      </p:sp>
      <p:sp>
        <p:nvSpPr>
          <p:cNvPr id="102" name="Spoke R">
            <a:extLst>
              <a:ext uri="{FF2B5EF4-FFF2-40B4-BE49-F238E27FC236}">
                <a16:creationId xmlns:a16="http://schemas.microsoft.com/office/drawing/2014/main" id="{685027F5-76F7-48A5-9861-E3A82B4A6526}"/>
              </a:ext>
            </a:extLst>
          </p:cNvPr>
          <p:cNvSpPr>
            <a:spLocks noGrp="1"/>
          </p:cNvSpPr>
          <p:nvPr/>
        </p:nvSpPr>
        <p:spPr>
          <a:xfrm flipH="1">
            <a:off x="7571232" y="2093976"/>
            <a:ext cx="1984248" cy="329184"/>
          </a:xfrm>
          <a:prstGeom prst="line">
            <a:avLst/>
          </a:prstGeom>
          <a:ln w="12700">
            <a:solidFill>
              <a:srgbClr val="A0A8B6"/>
            </a:solidFill>
          </a:ln>
        </p:spPr>
        <p:txBody>
          <a:bodyPr/>
          <a:lstStyle/>
          <a:p>
            <a:endParaRPr lang="en-US"/>
          </a:p>
        </p:txBody>
      </p:sp>
      <p:sp>
        <p:nvSpPr>
          <p:cNvPr id="103" name="Spoke L">
            <a:extLst>
              <a:ext uri="{FF2B5EF4-FFF2-40B4-BE49-F238E27FC236}">
                <a16:creationId xmlns:a16="http://schemas.microsoft.com/office/drawing/2014/main" id="{BDF05B2C-0FF4-463B-B787-5279F2983550}"/>
              </a:ext>
            </a:extLst>
          </p:cNvPr>
          <p:cNvSpPr>
            <a:spLocks noGrp="1"/>
          </p:cNvSpPr>
          <p:nvPr/>
        </p:nvSpPr>
        <p:spPr>
          <a:xfrm>
            <a:off x="2395728" y="2871216"/>
            <a:ext cx="1975104" cy="0"/>
          </a:xfrm>
          <a:prstGeom prst="line">
            <a:avLst/>
          </a:prstGeom>
          <a:ln w="12700">
            <a:solidFill>
              <a:srgbClr val="A0A8B6"/>
            </a:solidFill>
          </a:ln>
        </p:spPr>
        <p:txBody>
          <a:bodyPr/>
          <a:lstStyle/>
          <a:p>
            <a:endParaRPr lang="en-US"/>
          </a:p>
        </p:txBody>
      </p:sp>
      <p:sp>
        <p:nvSpPr>
          <p:cNvPr id="104" name="Spoke R">
            <a:extLst>
              <a:ext uri="{FF2B5EF4-FFF2-40B4-BE49-F238E27FC236}">
                <a16:creationId xmlns:a16="http://schemas.microsoft.com/office/drawing/2014/main" id="{C1ECA60C-3210-48A9-84B8-7A5AC1129D03}"/>
              </a:ext>
            </a:extLst>
          </p:cNvPr>
          <p:cNvSpPr>
            <a:spLocks noGrp="1"/>
          </p:cNvSpPr>
          <p:nvPr/>
        </p:nvSpPr>
        <p:spPr>
          <a:xfrm flipH="1">
            <a:off x="7571232" y="2871216"/>
            <a:ext cx="1984248" cy="0"/>
          </a:xfrm>
          <a:prstGeom prst="line">
            <a:avLst/>
          </a:prstGeom>
          <a:ln w="12700">
            <a:solidFill>
              <a:srgbClr val="A0A8B6"/>
            </a:solidFill>
          </a:ln>
        </p:spPr>
        <p:txBody>
          <a:bodyPr/>
          <a:lstStyle/>
          <a:p>
            <a:endParaRPr lang="en-US"/>
          </a:p>
        </p:txBody>
      </p:sp>
      <p:sp>
        <p:nvSpPr>
          <p:cNvPr id="105" name="Spoke L">
            <a:extLst>
              <a:ext uri="{FF2B5EF4-FFF2-40B4-BE49-F238E27FC236}">
                <a16:creationId xmlns:a16="http://schemas.microsoft.com/office/drawing/2014/main" id="{073DA238-C45A-49B7-8E71-859139C65523}"/>
              </a:ext>
            </a:extLst>
          </p:cNvPr>
          <p:cNvSpPr>
            <a:spLocks noGrp="1"/>
          </p:cNvSpPr>
          <p:nvPr/>
        </p:nvSpPr>
        <p:spPr>
          <a:xfrm>
            <a:off x="2395728" y="3648456"/>
            <a:ext cx="1975104" cy="0"/>
          </a:xfrm>
          <a:prstGeom prst="line">
            <a:avLst/>
          </a:prstGeom>
          <a:ln w="12700">
            <a:solidFill>
              <a:srgbClr val="A0A8B6"/>
            </a:solidFill>
          </a:ln>
        </p:spPr>
        <p:txBody>
          <a:bodyPr/>
          <a:lstStyle/>
          <a:p>
            <a:endParaRPr lang="en-US"/>
          </a:p>
        </p:txBody>
      </p:sp>
      <p:sp>
        <p:nvSpPr>
          <p:cNvPr id="106" name="Spoke R">
            <a:extLst>
              <a:ext uri="{FF2B5EF4-FFF2-40B4-BE49-F238E27FC236}">
                <a16:creationId xmlns:a16="http://schemas.microsoft.com/office/drawing/2014/main" id="{0837DA7B-397B-4589-AB1D-6D79D45F8E8F}"/>
              </a:ext>
            </a:extLst>
          </p:cNvPr>
          <p:cNvSpPr>
            <a:spLocks noGrp="1"/>
          </p:cNvSpPr>
          <p:nvPr/>
        </p:nvSpPr>
        <p:spPr>
          <a:xfrm flipH="1">
            <a:off x="7571232" y="3648456"/>
            <a:ext cx="1984248" cy="0"/>
          </a:xfrm>
          <a:prstGeom prst="line">
            <a:avLst/>
          </a:prstGeom>
          <a:ln w="12700">
            <a:solidFill>
              <a:srgbClr val="A0A8B6"/>
            </a:solidFill>
          </a:ln>
        </p:spPr>
        <p:txBody>
          <a:bodyPr/>
          <a:lstStyle/>
          <a:p>
            <a:endParaRPr lang="en-US"/>
          </a:p>
        </p:txBody>
      </p:sp>
      <p:sp>
        <p:nvSpPr>
          <p:cNvPr id="107" name="Spoke L">
            <a:extLst>
              <a:ext uri="{FF2B5EF4-FFF2-40B4-BE49-F238E27FC236}">
                <a16:creationId xmlns:a16="http://schemas.microsoft.com/office/drawing/2014/main" id="{CC3F3DA9-7138-41D8-8205-C5855399DA42}"/>
              </a:ext>
            </a:extLst>
          </p:cNvPr>
          <p:cNvSpPr>
            <a:spLocks noGrp="1"/>
          </p:cNvSpPr>
          <p:nvPr/>
        </p:nvSpPr>
        <p:spPr>
          <a:xfrm>
            <a:off x="2395728" y="4425696"/>
            <a:ext cx="1975104" cy="0"/>
          </a:xfrm>
          <a:prstGeom prst="line">
            <a:avLst/>
          </a:prstGeom>
          <a:ln w="12700">
            <a:solidFill>
              <a:srgbClr val="A0A8B6"/>
            </a:solidFill>
          </a:ln>
        </p:spPr>
        <p:txBody>
          <a:bodyPr/>
          <a:lstStyle/>
          <a:p>
            <a:endParaRPr lang="en-US"/>
          </a:p>
        </p:txBody>
      </p:sp>
      <p:sp>
        <p:nvSpPr>
          <p:cNvPr id="108" name="Spoke R">
            <a:extLst>
              <a:ext uri="{FF2B5EF4-FFF2-40B4-BE49-F238E27FC236}">
                <a16:creationId xmlns:a16="http://schemas.microsoft.com/office/drawing/2014/main" id="{B2380F46-4E89-4032-98E4-9C171DFC2D55}"/>
              </a:ext>
            </a:extLst>
          </p:cNvPr>
          <p:cNvSpPr>
            <a:spLocks noGrp="1"/>
          </p:cNvSpPr>
          <p:nvPr/>
        </p:nvSpPr>
        <p:spPr>
          <a:xfrm flipH="1">
            <a:off x="7571232" y="4425696"/>
            <a:ext cx="1984248" cy="0"/>
          </a:xfrm>
          <a:prstGeom prst="line">
            <a:avLst/>
          </a:prstGeom>
          <a:ln w="12700">
            <a:solidFill>
              <a:srgbClr val="A0A8B6"/>
            </a:solidFill>
          </a:ln>
        </p:spPr>
        <p:txBody>
          <a:bodyPr/>
          <a:lstStyle/>
          <a:p>
            <a:endParaRPr lang="en-US"/>
          </a:p>
        </p:txBody>
      </p:sp>
      <p:sp>
        <p:nvSpPr>
          <p:cNvPr id="109" name="Spoke L">
            <a:extLst>
              <a:ext uri="{FF2B5EF4-FFF2-40B4-BE49-F238E27FC236}">
                <a16:creationId xmlns:a16="http://schemas.microsoft.com/office/drawing/2014/main" id="{4F788A74-0BDD-4767-8268-1135FB9D99AD}"/>
              </a:ext>
            </a:extLst>
          </p:cNvPr>
          <p:cNvSpPr>
            <a:spLocks noGrp="1"/>
          </p:cNvSpPr>
          <p:nvPr/>
        </p:nvSpPr>
        <p:spPr>
          <a:xfrm flipV="1">
            <a:off x="2395728" y="4636008"/>
            <a:ext cx="1975104" cy="566928"/>
          </a:xfrm>
          <a:prstGeom prst="line">
            <a:avLst/>
          </a:prstGeom>
          <a:ln w="12700">
            <a:solidFill>
              <a:srgbClr val="A0A8B6"/>
            </a:solidFill>
          </a:ln>
        </p:spPr>
        <p:txBody>
          <a:bodyPr/>
          <a:lstStyle/>
          <a:p>
            <a:endParaRPr lang="en-US"/>
          </a:p>
        </p:txBody>
      </p:sp>
      <p:sp>
        <p:nvSpPr>
          <p:cNvPr id="110" name="Spoke R">
            <a:extLst>
              <a:ext uri="{FF2B5EF4-FFF2-40B4-BE49-F238E27FC236}">
                <a16:creationId xmlns:a16="http://schemas.microsoft.com/office/drawing/2014/main" id="{69893DC1-F0F3-4F99-A871-9AB6BDC06177}"/>
              </a:ext>
            </a:extLst>
          </p:cNvPr>
          <p:cNvSpPr>
            <a:spLocks noGrp="1"/>
          </p:cNvSpPr>
          <p:nvPr/>
        </p:nvSpPr>
        <p:spPr>
          <a:xfrm flipH="1" flipV="1">
            <a:off x="7571232" y="4636008"/>
            <a:ext cx="1984248" cy="566928"/>
          </a:xfrm>
          <a:prstGeom prst="line">
            <a:avLst/>
          </a:prstGeom>
          <a:ln w="12700">
            <a:solidFill>
              <a:srgbClr val="A0A8B6"/>
            </a:solidFill>
          </a:ln>
        </p:spPr>
        <p:txBody>
          <a:bodyPr/>
          <a:lstStyle/>
          <a:p>
            <a:endParaRPr lang="en-US"/>
          </a:p>
        </p:txBody>
      </p:sp>
      <p:sp>
        <p:nvSpPr>
          <p:cNvPr id="111" name="Spoke L">
            <a:extLst>
              <a:ext uri="{FF2B5EF4-FFF2-40B4-BE49-F238E27FC236}">
                <a16:creationId xmlns:a16="http://schemas.microsoft.com/office/drawing/2014/main" id="{82F661A7-D742-46D3-8DCB-3BFC5BD6ED70}"/>
              </a:ext>
            </a:extLst>
          </p:cNvPr>
          <p:cNvSpPr>
            <a:spLocks noGrp="1"/>
          </p:cNvSpPr>
          <p:nvPr/>
        </p:nvSpPr>
        <p:spPr>
          <a:xfrm flipV="1">
            <a:off x="2395728" y="4636008"/>
            <a:ext cx="1975104" cy="1344168"/>
          </a:xfrm>
          <a:prstGeom prst="line">
            <a:avLst/>
          </a:prstGeom>
          <a:ln w="12700">
            <a:solidFill>
              <a:srgbClr val="A0A8B6"/>
            </a:solidFill>
          </a:ln>
        </p:spPr>
        <p:txBody>
          <a:bodyPr/>
          <a:lstStyle/>
          <a:p>
            <a:endParaRPr lang="en-US"/>
          </a:p>
        </p:txBody>
      </p:sp>
      <p:sp>
        <p:nvSpPr>
          <p:cNvPr id="112" name="Spoke R">
            <a:extLst>
              <a:ext uri="{FF2B5EF4-FFF2-40B4-BE49-F238E27FC236}">
                <a16:creationId xmlns:a16="http://schemas.microsoft.com/office/drawing/2014/main" id="{7A4D5E6E-126A-49AE-A82C-64D91941C743}"/>
              </a:ext>
            </a:extLst>
          </p:cNvPr>
          <p:cNvSpPr>
            <a:spLocks noGrp="1"/>
          </p:cNvSpPr>
          <p:nvPr/>
        </p:nvSpPr>
        <p:spPr>
          <a:xfrm flipH="1" flipV="1">
            <a:off x="7571232" y="4636008"/>
            <a:ext cx="1984248" cy="1344168"/>
          </a:xfrm>
          <a:prstGeom prst="line">
            <a:avLst/>
          </a:prstGeom>
          <a:ln w="12700">
            <a:solidFill>
              <a:srgbClr val="A0A8B6"/>
            </a:solidFill>
          </a:ln>
        </p:spPr>
        <p:txBody>
          <a:bodyPr/>
          <a:lstStyle/>
          <a:p>
            <a:endParaRPr lang="en-US"/>
          </a:p>
        </p:txBody>
      </p:sp>
      <p:sp>
        <p:nvSpPr>
          <p:cNvPr id="113" name="Spoke T">
            <a:extLst>
              <a:ext uri="{FF2B5EF4-FFF2-40B4-BE49-F238E27FC236}">
                <a16:creationId xmlns:a16="http://schemas.microsoft.com/office/drawing/2014/main" id="{3933FA16-3DF4-4A12-BC2F-678C4A4F378C}"/>
              </a:ext>
            </a:extLst>
          </p:cNvPr>
          <p:cNvSpPr>
            <a:spLocks noGrp="1"/>
          </p:cNvSpPr>
          <p:nvPr/>
        </p:nvSpPr>
        <p:spPr>
          <a:xfrm>
            <a:off x="1408176" y="1499616"/>
            <a:ext cx="3328416" cy="603504"/>
          </a:xfrm>
          <a:prstGeom prst="line">
            <a:avLst/>
          </a:prstGeom>
          <a:ln w="12700">
            <a:solidFill>
              <a:srgbClr val="A0A8B6"/>
            </a:solidFill>
          </a:ln>
        </p:spPr>
        <p:txBody>
          <a:bodyPr/>
          <a:lstStyle/>
          <a:p>
            <a:endParaRPr lang="en-US"/>
          </a:p>
        </p:txBody>
      </p:sp>
      <p:sp>
        <p:nvSpPr>
          <p:cNvPr id="114" name="Spoke T">
            <a:extLst>
              <a:ext uri="{FF2B5EF4-FFF2-40B4-BE49-F238E27FC236}">
                <a16:creationId xmlns:a16="http://schemas.microsoft.com/office/drawing/2014/main" id="{147A7F0B-FF2F-4851-A3D4-0B049360EF6C}"/>
              </a:ext>
            </a:extLst>
          </p:cNvPr>
          <p:cNvSpPr>
            <a:spLocks noGrp="1"/>
          </p:cNvSpPr>
          <p:nvPr/>
        </p:nvSpPr>
        <p:spPr>
          <a:xfrm>
            <a:off x="3950208" y="1499616"/>
            <a:ext cx="786384" cy="603504"/>
          </a:xfrm>
          <a:prstGeom prst="line">
            <a:avLst/>
          </a:prstGeom>
          <a:ln w="12700">
            <a:solidFill>
              <a:srgbClr val="A0A8B6"/>
            </a:solidFill>
          </a:ln>
        </p:spPr>
        <p:txBody>
          <a:bodyPr/>
          <a:lstStyle/>
          <a:p>
            <a:endParaRPr lang="en-US"/>
          </a:p>
        </p:txBody>
      </p:sp>
      <p:sp>
        <p:nvSpPr>
          <p:cNvPr id="115" name="Spoke T">
            <a:extLst>
              <a:ext uri="{FF2B5EF4-FFF2-40B4-BE49-F238E27FC236}">
                <a16:creationId xmlns:a16="http://schemas.microsoft.com/office/drawing/2014/main" id="{E3D6500A-28F7-4948-976E-CD38EFB83646}"/>
              </a:ext>
            </a:extLst>
          </p:cNvPr>
          <p:cNvSpPr>
            <a:spLocks noGrp="1"/>
          </p:cNvSpPr>
          <p:nvPr/>
        </p:nvSpPr>
        <p:spPr>
          <a:xfrm>
            <a:off x="6501384" y="1499616"/>
            <a:ext cx="0" cy="603504"/>
          </a:xfrm>
          <a:prstGeom prst="line">
            <a:avLst/>
          </a:prstGeom>
          <a:ln w="12700">
            <a:solidFill>
              <a:srgbClr val="A0A8B6"/>
            </a:solidFill>
          </a:ln>
        </p:spPr>
        <p:txBody>
          <a:bodyPr/>
          <a:lstStyle/>
          <a:p>
            <a:endParaRPr lang="en-US"/>
          </a:p>
        </p:txBody>
      </p:sp>
      <p:sp>
        <p:nvSpPr>
          <p:cNvPr id="116" name="Spoke T">
            <a:extLst>
              <a:ext uri="{FF2B5EF4-FFF2-40B4-BE49-F238E27FC236}">
                <a16:creationId xmlns:a16="http://schemas.microsoft.com/office/drawing/2014/main" id="{4F82C2EC-7585-4C4E-9F52-86A81149630E}"/>
              </a:ext>
            </a:extLst>
          </p:cNvPr>
          <p:cNvSpPr>
            <a:spLocks noGrp="1"/>
          </p:cNvSpPr>
          <p:nvPr/>
        </p:nvSpPr>
        <p:spPr>
          <a:xfrm flipH="1">
            <a:off x="7205472" y="1499616"/>
            <a:ext cx="1837944" cy="603504"/>
          </a:xfrm>
          <a:prstGeom prst="line">
            <a:avLst/>
          </a:prstGeom>
          <a:ln w="12700">
            <a:solidFill>
              <a:srgbClr val="A0A8B6"/>
            </a:solidFill>
          </a:ln>
        </p:spPr>
        <p:txBody>
          <a:bodyPr/>
          <a:lstStyle/>
          <a:p>
            <a:endParaRPr lang="en-US"/>
          </a:p>
        </p:txBody>
      </p:sp>
      <p:sp>
        <p:nvSpPr>
          <p:cNvPr id="117" name="Spoke B">
            <a:extLst>
              <a:ext uri="{FF2B5EF4-FFF2-40B4-BE49-F238E27FC236}">
                <a16:creationId xmlns:a16="http://schemas.microsoft.com/office/drawing/2014/main" id="{52A1FD36-6D8B-48E5-A251-C3458542D7A2}"/>
              </a:ext>
            </a:extLst>
          </p:cNvPr>
          <p:cNvSpPr>
            <a:spLocks noGrp="1"/>
          </p:cNvSpPr>
          <p:nvPr/>
        </p:nvSpPr>
        <p:spPr>
          <a:xfrm flipV="1">
            <a:off x="3424428" y="4956048"/>
            <a:ext cx="1312164" cy="731520"/>
          </a:xfrm>
          <a:prstGeom prst="line">
            <a:avLst/>
          </a:prstGeom>
          <a:ln w="12700">
            <a:solidFill>
              <a:srgbClr val="A0A8B6"/>
            </a:solidFill>
          </a:ln>
        </p:spPr>
        <p:txBody>
          <a:bodyPr/>
          <a:lstStyle/>
          <a:p>
            <a:endParaRPr lang="en-US"/>
          </a:p>
        </p:txBody>
      </p:sp>
      <p:sp>
        <p:nvSpPr>
          <p:cNvPr id="118" name="Spoke B">
            <a:extLst>
              <a:ext uri="{FF2B5EF4-FFF2-40B4-BE49-F238E27FC236}">
                <a16:creationId xmlns:a16="http://schemas.microsoft.com/office/drawing/2014/main" id="{4B77709C-4E23-413A-AEE6-75C6928AE127}"/>
              </a:ext>
            </a:extLst>
          </p:cNvPr>
          <p:cNvSpPr>
            <a:spLocks noGrp="1"/>
          </p:cNvSpPr>
          <p:nvPr/>
        </p:nvSpPr>
        <p:spPr>
          <a:xfrm flipV="1">
            <a:off x="4978908" y="4956048"/>
            <a:ext cx="0" cy="731520"/>
          </a:xfrm>
          <a:prstGeom prst="line">
            <a:avLst/>
          </a:prstGeom>
          <a:ln w="12700">
            <a:solidFill>
              <a:srgbClr val="A0A8B6"/>
            </a:solidFill>
          </a:ln>
        </p:spPr>
        <p:txBody>
          <a:bodyPr/>
          <a:lstStyle/>
          <a:p>
            <a:endParaRPr lang="en-US"/>
          </a:p>
        </p:txBody>
      </p:sp>
      <p:sp>
        <p:nvSpPr>
          <p:cNvPr id="119" name="Spoke B">
            <a:extLst>
              <a:ext uri="{FF2B5EF4-FFF2-40B4-BE49-F238E27FC236}">
                <a16:creationId xmlns:a16="http://schemas.microsoft.com/office/drawing/2014/main" id="{C61F39E2-F436-4E8B-A846-F6088ABC77D4}"/>
              </a:ext>
            </a:extLst>
          </p:cNvPr>
          <p:cNvSpPr>
            <a:spLocks noGrp="1"/>
          </p:cNvSpPr>
          <p:nvPr/>
        </p:nvSpPr>
        <p:spPr>
          <a:xfrm flipV="1">
            <a:off x="6569964" y="4956048"/>
            <a:ext cx="0" cy="731520"/>
          </a:xfrm>
          <a:prstGeom prst="line">
            <a:avLst/>
          </a:prstGeom>
          <a:ln w="12700">
            <a:solidFill>
              <a:srgbClr val="A0A8B6"/>
            </a:solidFill>
          </a:ln>
        </p:spPr>
        <p:txBody>
          <a:bodyPr/>
          <a:lstStyle/>
          <a:p>
            <a:endParaRPr lang="en-US"/>
          </a:p>
        </p:txBody>
      </p:sp>
      <p:sp>
        <p:nvSpPr>
          <p:cNvPr id="120" name="Spoke B">
            <a:extLst>
              <a:ext uri="{FF2B5EF4-FFF2-40B4-BE49-F238E27FC236}">
                <a16:creationId xmlns:a16="http://schemas.microsoft.com/office/drawing/2014/main" id="{9275322F-5162-457F-8F7B-85FE11BA9BB8}"/>
              </a:ext>
            </a:extLst>
          </p:cNvPr>
          <p:cNvSpPr>
            <a:spLocks noGrp="1"/>
          </p:cNvSpPr>
          <p:nvPr/>
        </p:nvSpPr>
        <p:spPr>
          <a:xfrm flipH="1" flipV="1">
            <a:off x="7205472" y="4956048"/>
            <a:ext cx="982980" cy="731520"/>
          </a:xfrm>
          <a:prstGeom prst="line">
            <a:avLst/>
          </a:prstGeom>
          <a:ln w="12700">
            <a:solidFill>
              <a:srgbClr val="A0A8B6"/>
            </a:solidFill>
          </a:ln>
        </p:spPr>
        <p:txBody>
          <a:bodyPr/>
          <a:lstStyle/>
          <a:p>
            <a:endParaRPr lang="en-US"/>
          </a:p>
        </p:txBody>
      </p:sp>
      <p:sp>
        <p:nvSpPr>
          <p:cNvPr id="121" name="Hub Ecosystem Positioning">
            <a:extLst>
              <a:ext uri="{FF2B5EF4-FFF2-40B4-BE49-F238E27FC236}">
                <a16:creationId xmlns:a16="http://schemas.microsoft.com/office/drawing/2014/main" id="{41D40484-C4DC-4CBB-8242-83EE6BF6B9D2}"/>
              </a:ext>
            </a:extLst>
          </p:cNvPr>
          <p:cNvSpPr>
            <a:spLocks noGrp="1"/>
          </p:cNvSpPr>
          <p:nvPr/>
        </p:nvSpPr>
        <p:spPr>
          <a:xfrm>
            <a:off x="4370832" y="2103120"/>
            <a:ext cx="3200400" cy="2852928"/>
          </a:xfrm>
          <a:prstGeom prst="roundRect">
            <a:avLst>
              <a:gd name="adj" fmla="val 10000"/>
            </a:avLst>
          </a:prstGeom>
          <a:solidFill>
            <a:srgbClr val="ECF4F9"/>
          </a:solidFill>
          <a:ln w="27940">
            <a:solidFill>
              <a:srgbClr val="4682DC"/>
            </a:solidFill>
          </a:ln>
        </p:spPr>
        <p:txBody>
          <a:bodyPr wrap="square" lIns="64008" tIns="45720" rIns="64008" bIns="45720" anchor="t">
            <a:noAutofit/>
          </a:bodyPr>
          <a:lstStyle/>
          <a:p>
            <a:endParaRPr sz="800"/>
          </a:p>
        </p:txBody>
      </p:sp>
      <p:sp>
        <p:nvSpPr>
          <p:cNvPr id="53" name="Hub title">
            <a:extLst>
              <a:ext uri="{FF2B5EF4-FFF2-40B4-BE49-F238E27FC236}">
                <a16:creationId xmlns:a16="http://schemas.microsoft.com/office/drawing/2014/main" id="{64C5EBA2-3938-4FBB-B72F-999F6E38CCAC}"/>
              </a:ext>
            </a:extLst>
          </p:cNvPr>
          <p:cNvSpPr>
            <a:spLocks noGrp="1"/>
          </p:cNvSpPr>
          <p:nvPr/>
        </p:nvSpPr>
        <p:spPr>
          <a:xfrm>
            <a:off x="4462272" y="2194560"/>
            <a:ext cx="3017520" cy="274320"/>
          </a:xfrm>
          <a:prstGeom prst="rect">
            <a:avLst/>
          </a:prstGeom>
          <a:noFill/>
          <a:ln>
            <a:noFill/>
          </a:ln>
        </p:spPr>
        <p:txBody>
          <a:bodyPr wrap="square" lIns="18288" tIns="9144" rIns="18288" bIns="9144" anchor="t">
            <a:noAutofit/>
          </a:bodyPr>
          <a:lstStyle/>
          <a:p>
            <a:pPr algn="ctr">
              <a:spcBef>
                <a:spcPts val="0"/>
              </a:spcBef>
              <a:spcAft>
                <a:spcPts val="0"/>
              </a:spcAft>
              <a:buNone/>
            </a:pPr>
            <a:r>
              <a:rPr sz="1400" b="1" i="0">
                <a:solidFill>
                  <a:srgbClr val="282828"/>
                </a:solidFill>
                <a:latin typeface="Aptos"/>
                <a:ea typeface="Aptos"/>
                <a:cs typeface="Aptos"/>
                <a:hlinkClick r:id="rId4"/>
              </a:rPr>
              <a:t>Ecosystem Positioning</a:t>
            </a:r>
          </a:p>
        </p:txBody>
      </p:sp>
      <p:sp>
        <p:nvSpPr>
          <p:cNvPr id="122" name="Hub description">
            <a:extLst>
              <a:ext uri="{FF2B5EF4-FFF2-40B4-BE49-F238E27FC236}">
                <a16:creationId xmlns:a16="http://schemas.microsoft.com/office/drawing/2014/main" id="{8DF46EAF-E97E-4FBE-8D6F-AC6A10FE0E3C}"/>
              </a:ext>
            </a:extLst>
          </p:cNvPr>
          <p:cNvSpPr>
            <a:spLocks noGrp="1"/>
          </p:cNvSpPr>
          <p:nvPr/>
        </p:nvSpPr>
        <p:spPr>
          <a:xfrm>
            <a:off x="4535424" y="2505456"/>
            <a:ext cx="2871216" cy="310896"/>
          </a:xfrm>
          <a:prstGeom prst="rect">
            <a:avLst/>
          </a:prstGeom>
          <a:noFill/>
          <a:ln>
            <a:noFill/>
          </a:ln>
        </p:spPr>
        <p:txBody>
          <a:bodyPr wrap="square" lIns="18288" tIns="9144" rIns="18288" bIns="9144" anchor="t">
            <a:noAutofit/>
          </a:bodyPr>
          <a:lstStyle/>
          <a:p>
            <a:pPr algn="ctr">
              <a:spcBef>
                <a:spcPts val="0"/>
              </a:spcBef>
              <a:spcAft>
                <a:spcPts val="0"/>
              </a:spcAft>
              <a:buNone/>
            </a:pPr>
            <a:r>
              <a:rPr sz="760" b="0" i="0">
                <a:solidFill>
                  <a:srgbClr val="5D6572"/>
                </a:solidFill>
                <a:latin typeface="Aptos"/>
                <a:ea typeface="Aptos"/>
                <a:cs typeface="Aptos"/>
              </a:rPr>
              <a:t>Participant-local core: qualifies state, maps opportunity, requests transition; owners decide / act.</a:t>
            </a:r>
          </a:p>
        </p:txBody>
      </p:sp>
      <p:sp>
        <p:nvSpPr>
          <p:cNvPr id="123" name="Cycle arc 1">
            <a:extLst>
              <a:ext uri="{FF2B5EF4-FFF2-40B4-BE49-F238E27FC236}">
                <a16:creationId xmlns:a16="http://schemas.microsoft.com/office/drawing/2014/main" id="{1FE34E99-D956-4862-B5A9-F12EC2BF3699}"/>
              </a:ext>
            </a:extLst>
          </p:cNvPr>
          <p:cNvSpPr>
            <a:spLocks noGrp="1"/>
          </p:cNvSpPr>
          <p:nvPr/>
        </p:nvSpPr>
        <p:spPr>
          <a:xfrm>
            <a:off x="5422392" y="3172968"/>
            <a:ext cx="1097280" cy="1097280"/>
          </a:xfrm>
          <a:prstGeom prst="arc">
            <a:avLst>
              <a:gd name="adj1" fmla="val 16920000"/>
              <a:gd name="adj2" fmla="val 20880000"/>
            </a:avLst>
          </a:prstGeom>
          <a:noFill/>
          <a:ln w="44450">
            <a:solidFill>
              <a:srgbClr val="007B82"/>
            </a:solidFill>
            <a:tailEnd type="triangle" w="med" len="sm"/>
          </a:ln>
        </p:spPr>
        <p:txBody>
          <a:bodyPr/>
          <a:lstStyle/>
          <a:p>
            <a:endParaRPr/>
          </a:p>
        </p:txBody>
      </p:sp>
      <p:sp>
        <p:nvSpPr>
          <p:cNvPr id="124" name="Cycle arc 2">
            <a:extLst>
              <a:ext uri="{FF2B5EF4-FFF2-40B4-BE49-F238E27FC236}">
                <a16:creationId xmlns:a16="http://schemas.microsoft.com/office/drawing/2014/main" id="{B5BC55CB-6200-4FAD-9AFD-F15EAC6EE72A}"/>
              </a:ext>
            </a:extLst>
          </p:cNvPr>
          <p:cNvSpPr>
            <a:spLocks noGrp="1"/>
          </p:cNvSpPr>
          <p:nvPr/>
        </p:nvSpPr>
        <p:spPr>
          <a:xfrm>
            <a:off x="5422392" y="3172968"/>
            <a:ext cx="1097280" cy="1097280"/>
          </a:xfrm>
          <a:prstGeom prst="arc">
            <a:avLst>
              <a:gd name="adj1" fmla="val 720000"/>
              <a:gd name="adj2" fmla="val 4680000"/>
            </a:avLst>
          </a:prstGeom>
          <a:noFill/>
          <a:ln w="44450">
            <a:solidFill>
              <a:srgbClr val="4682DC"/>
            </a:solidFill>
            <a:tailEnd type="triangle" w="med" len="sm"/>
          </a:ln>
        </p:spPr>
        <p:txBody>
          <a:bodyPr/>
          <a:lstStyle/>
          <a:p>
            <a:endParaRPr/>
          </a:p>
        </p:txBody>
      </p:sp>
      <p:sp>
        <p:nvSpPr>
          <p:cNvPr id="125" name="Cycle arc 3">
            <a:extLst>
              <a:ext uri="{FF2B5EF4-FFF2-40B4-BE49-F238E27FC236}">
                <a16:creationId xmlns:a16="http://schemas.microsoft.com/office/drawing/2014/main" id="{0D5999F2-30A4-429D-A146-A2940D4A8D64}"/>
              </a:ext>
            </a:extLst>
          </p:cNvPr>
          <p:cNvSpPr>
            <a:spLocks noGrp="1"/>
          </p:cNvSpPr>
          <p:nvPr/>
        </p:nvSpPr>
        <p:spPr>
          <a:xfrm>
            <a:off x="5422392" y="3172968"/>
            <a:ext cx="1097280" cy="1097280"/>
          </a:xfrm>
          <a:prstGeom prst="arc">
            <a:avLst>
              <a:gd name="adj1" fmla="val 6120000"/>
              <a:gd name="adj2" fmla="val 10080000"/>
            </a:avLst>
          </a:prstGeom>
          <a:noFill/>
          <a:ln w="44450">
            <a:solidFill>
              <a:srgbClr val="C17629"/>
            </a:solidFill>
            <a:tailEnd type="triangle" w="med" len="sm"/>
          </a:ln>
        </p:spPr>
        <p:txBody>
          <a:bodyPr/>
          <a:lstStyle/>
          <a:p>
            <a:endParaRPr/>
          </a:p>
        </p:txBody>
      </p:sp>
      <p:sp>
        <p:nvSpPr>
          <p:cNvPr id="126" name="Cycle arc 4">
            <a:extLst>
              <a:ext uri="{FF2B5EF4-FFF2-40B4-BE49-F238E27FC236}">
                <a16:creationId xmlns:a16="http://schemas.microsoft.com/office/drawing/2014/main" id="{4808004D-831C-4D3E-9567-6599A44D4E7B}"/>
              </a:ext>
            </a:extLst>
          </p:cNvPr>
          <p:cNvSpPr>
            <a:spLocks noGrp="1"/>
          </p:cNvSpPr>
          <p:nvPr/>
        </p:nvSpPr>
        <p:spPr>
          <a:xfrm>
            <a:off x="5422392" y="3172968"/>
            <a:ext cx="1097280" cy="1097280"/>
          </a:xfrm>
          <a:prstGeom prst="arc">
            <a:avLst>
              <a:gd name="adj1" fmla="val 11520000"/>
              <a:gd name="adj2" fmla="val 15480000"/>
            </a:avLst>
          </a:prstGeom>
          <a:noFill/>
          <a:ln w="44450">
            <a:solidFill>
              <a:srgbClr val="1F2C4A"/>
            </a:solidFill>
            <a:tailEnd type="triangle" w="med" len="sm"/>
          </a:ln>
        </p:spPr>
        <p:txBody>
          <a:bodyPr/>
          <a:lstStyle/>
          <a:p>
            <a:endParaRPr/>
          </a:p>
        </p:txBody>
      </p:sp>
      <p:sp>
        <p:nvSpPr>
          <p:cNvPr id="128" name="Cycle centre">
            <a:extLst>
              <a:ext uri="{FF2B5EF4-FFF2-40B4-BE49-F238E27FC236}">
                <a16:creationId xmlns:a16="http://schemas.microsoft.com/office/drawing/2014/main" id="{2205A0E7-7B50-456E-B89A-F16931530039}"/>
              </a:ext>
            </a:extLst>
          </p:cNvPr>
          <p:cNvSpPr>
            <a:spLocks noGrp="1"/>
          </p:cNvSpPr>
          <p:nvPr/>
        </p:nvSpPr>
        <p:spPr>
          <a:xfrm>
            <a:off x="5513832" y="3566160"/>
            <a:ext cx="914400" cy="310896"/>
          </a:xfrm>
          <a:prstGeom prst="rect">
            <a:avLst/>
          </a:prstGeom>
          <a:noFill/>
          <a:ln>
            <a:noFill/>
          </a:ln>
        </p:spPr>
        <p:txBody>
          <a:bodyPr wrap="square" lIns="18288" tIns="9144" rIns="18288" bIns="9144" anchor="ctr">
            <a:noAutofit/>
          </a:bodyPr>
          <a:lstStyle/>
          <a:p>
            <a:pPr algn="ctr">
              <a:spcBef>
                <a:spcPts val="0"/>
              </a:spcBef>
              <a:spcAft>
                <a:spcPts val="0"/>
              </a:spcAft>
              <a:buNone/>
            </a:pPr>
            <a:r>
              <a:rPr sz="1300" b="1" i="0">
                <a:solidFill>
                  <a:srgbClr val="4682DC"/>
                </a:solidFill>
                <a:latin typeface="Aptos"/>
                <a:ea typeface="Aptos"/>
                <a:cs typeface="Aptos"/>
              </a:rPr>
              <a:t>↻</a:t>
            </a:r>
          </a:p>
        </p:txBody>
      </p:sp>
      <p:sp>
        <p:nvSpPr>
          <p:cNvPr id="129" name="Stage Requalify">
            <a:extLst>
              <a:ext uri="{FF2B5EF4-FFF2-40B4-BE49-F238E27FC236}">
                <a16:creationId xmlns:a16="http://schemas.microsoft.com/office/drawing/2014/main" id="{ED2ECC73-D76D-46AC-AA78-A59A6EE20647}"/>
              </a:ext>
            </a:extLst>
          </p:cNvPr>
          <p:cNvSpPr>
            <a:spLocks noGrp="1"/>
          </p:cNvSpPr>
          <p:nvPr/>
        </p:nvSpPr>
        <p:spPr>
          <a:xfrm>
            <a:off x="5577840" y="2880360"/>
            <a:ext cx="786384" cy="219456"/>
          </a:xfrm>
          <a:prstGeom prst="roundRect">
            <a:avLst>
              <a:gd name="adj" fmla="val 50000"/>
            </a:avLst>
          </a:prstGeom>
          <a:solidFill>
            <a:srgbClr val="007B82"/>
          </a:solidFill>
          <a:ln>
            <a:noFill/>
          </a:ln>
        </p:spPr>
        <p:txBody>
          <a:bodyPr wrap="square" lIns="18288" tIns="0" rIns="18288" bIns="0" anchor="ctr">
            <a:noAutofit/>
          </a:bodyPr>
          <a:lstStyle/>
          <a:p>
            <a:pPr algn="ctr">
              <a:spcBef>
                <a:spcPts val="0"/>
              </a:spcBef>
              <a:spcAft>
                <a:spcPts val="0"/>
              </a:spcAft>
              <a:buNone/>
            </a:pPr>
            <a:r>
              <a:rPr sz="780" b="1" i="0">
                <a:solidFill>
                  <a:srgbClr val="FFFFFF"/>
                </a:solidFill>
                <a:latin typeface="Aptos"/>
                <a:ea typeface="Aptos"/>
                <a:cs typeface="Aptos"/>
              </a:rPr>
              <a:t>Requalify</a:t>
            </a:r>
          </a:p>
        </p:txBody>
      </p:sp>
      <p:sp>
        <p:nvSpPr>
          <p:cNvPr id="130" name="Stage Reposition">
            <a:extLst>
              <a:ext uri="{FF2B5EF4-FFF2-40B4-BE49-F238E27FC236}">
                <a16:creationId xmlns:a16="http://schemas.microsoft.com/office/drawing/2014/main" id="{28BB7222-74C8-46F0-AD40-B2A32DCF61B7}"/>
              </a:ext>
            </a:extLst>
          </p:cNvPr>
          <p:cNvSpPr>
            <a:spLocks noGrp="1"/>
          </p:cNvSpPr>
          <p:nvPr/>
        </p:nvSpPr>
        <p:spPr>
          <a:xfrm>
            <a:off x="6601968" y="3611880"/>
            <a:ext cx="786384" cy="219456"/>
          </a:xfrm>
          <a:prstGeom prst="roundRect">
            <a:avLst>
              <a:gd name="adj" fmla="val 50000"/>
            </a:avLst>
          </a:prstGeom>
          <a:solidFill>
            <a:srgbClr val="4682DC"/>
          </a:solidFill>
          <a:ln>
            <a:noFill/>
          </a:ln>
        </p:spPr>
        <p:txBody>
          <a:bodyPr wrap="square" lIns="18288" tIns="0" rIns="18288" bIns="0" anchor="ctr">
            <a:noAutofit/>
          </a:bodyPr>
          <a:lstStyle/>
          <a:p>
            <a:pPr algn="ctr">
              <a:spcBef>
                <a:spcPts val="0"/>
              </a:spcBef>
              <a:spcAft>
                <a:spcPts val="0"/>
              </a:spcAft>
              <a:buNone/>
            </a:pPr>
            <a:r>
              <a:rPr sz="780" b="1" i="0">
                <a:solidFill>
                  <a:srgbClr val="FFFFFF"/>
                </a:solidFill>
                <a:latin typeface="Aptos"/>
                <a:ea typeface="Aptos"/>
                <a:cs typeface="Aptos"/>
              </a:rPr>
              <a:t>Request</a:t>
            </a:r>
          </a:p>
        </p:txBody>
      </p:sp>
      <p:sp>
        <p:nvSpPr>
          <p:cNvPr id="131" name="Stage Act">
            <a:extLst>
              <a:ext uri="{FF2B5EF4-FFF2-40B4-BE49-F238E27FC236}">
                <a16:creationId xmlns:a16="http://schemas.microsoft.com/office/drawing/2014/main" id="{67F4247A-1603-4EC3-BAB0-8E5585B9E610}"/>
              </a:ext>
            </a:extLst>
          </p:cNvPr>
          <p:cNvSpPr>
            <a:spLocks noGrp="1"/>
          </p:cNvSpPr>
          <p:nvPr/>
        </p:nvSpPr>
        <p:spPr>
          <a:xfrm>
            <a:off x="5719572" y="4343400"/>
            <a:ext cx="502920" cy="219456"/>
          </a:xfrm>
          <a:prstGeom prst="roundRect">
            <a:avLst>
              <a:gd name="adj" fmla="val 50000"/>
            </a:avLst>
          </a:prstGeom>
          <a:solidFill>
            <a:srgbClr val="C17629"/>
          </a:solidFill>
          <a:ln>
            <a:noFill/>
          </a:ln>
        </p:spPr>
        <p:txBody>
          <a:bodyPr wrap="square" lIns="18288" tIns="0" rIns="18288" bIns="0" anchor="ctr">
            <a:noAutofit/>
          </a:bodyPr>
          <a:lstStyle/>
          <a:p>
            <a:pPr algn="ctr">
              <a:spcBef>
                <a:spcPts val="0"/>
              </a:spcBef>
              <a:spcAft>
                <a:spcPts val="0"/>
              </a:spcAft>
              <a:buNone/>
            </a:pPr>
            <a:r>
              <a:rPr sz="780" b="1" i="0">
                <a:solidFill>
                  <a:srgbClr val="FFFFFF"/>
                </a:solidFill>
                <a:latin typeface="Aptos"/>
                <a:ea typeface="Aptos"/>
                <a:cs typeface="Aptos"/>
              </a:rPr>
              <a:t>Act</a:t>
            </a:r>
          </a:p>
        </p:txBody>
      </p:sp>
      <p:sp>
        <p:nvSpPr>
          <p:cNvPr id="132" name="Stage Observe">
            <a:extLst>
              <a:ext uri="{FF2B5EF4-FFF2-40B4-BE49-F238E27FC236}">
                <a16:creationId xmlns:a16="http://schemas.microsoft.com/office/drawing/2014/main" id="{9E2D046F-F60C-4BFD-8C26-E47FB1948038}"/>
              </a:ext>
            </a:extLst>
          </p:cNvPr>
          <p:cNvSpPr>
            <a:spLocks noGrp="1"/>
          </p:cNvSpPr>
          <p:nvPr/>
        </p:nvSpPr>
        <p:spPr>
          <a:xfrm>
            <a:off x="4553712" y="3611880"/>
            <a:ext cx="786384" cy="219456"/>
          </a:xfrm>
          <a:prstGeom prst="roundRect">
            <a:avLst>
              <a:gd name="adj" fmla="val 50000"/>
            </a:avLst>
          </a:prstGeom>
          <a:solidFill>
            <a:srgbClr val="1F2C4A"/>
          </a:solidFill>
          <a:ln>
            <a:noFill/>
          </a:ln>
        </p:spPr>
        <p:txBody>
          <a:bodyPr wrap="square" lIns="18288" tIns="0" rIns="18288" bIns="0" anchor="ctr">
            <a:noAutofit/>
          </a:bodyPr>
          <a:lstStyle/>
          <a:p>
            <a:pPr algn="ctr">
              <a:spcBef>
                <a:spcPts val="0"/>
              </a:spcBef>
              <a:spcAft>
                <a:spcPts val="0"/>
              </a:spcAft>
              <a:buNone/>
            </a:pPr>
            <a:r>
              <a:rPr sz="780" b="1" i="0">
                <a:solidFill>
                  <a:srgbClr val="FFFFFF"/>
                </a:solidFill>
                <a:latin typeface="Aptos"/>
                <a:ea typeface="Aptos"/>
                <a:cs typeface="Aptos"/>
              </a:rPr>
              <a:t>Observe</a:t>
            </a:r>
          </a:p>
        </p:txBody>
      </p:sp>
      <p:sp>
        <p:nvSpPr>
          <p:cNvPr id="133" name="Cycle caption">
            <a:extLst>
              <a:ext uri="{FF2B5EF4-FFF2-40B4-BE49-F238E27FC236}">
                <a16:creationId xmlns:a16="http://schemas.microsoft.com/office/drawing/2014/main" id="{494ABEAE-5239-4CE7-AC89-3B625F7F5809}"/>
              </a:ext>
            </a:extLst>
          </p:cNvPr>
          <p:cNvSpPr>
            <a:spLocks noGrp="1"/>
          </p:cNvSpPr>
          <p:nvPr/>
        </p:nvSpPr>
        <p:spPr>
          <a:xfrm>
            <a:off x="4507992" y="4663440"/>
            <a:ext cx="2926080" cy="219456"/>
          </a:xfrm>
          <a:prstGeom prst="rect">
            <a:avLst/>
          </a:prstGeom>
          <a:noFill/>
          <a:ln>
            <a:noFill/>
          </a:ln>
        </p:spPr>
        <p:txBody>
          <a:bodyPr wrap="square" lIns="18288" tIns="9144" rIns="18288" bIns="9144" anchor="t">
            <a:noAutofit/>
          </a:bodyPr>
          <a:lstStyle/>
          <a:p>
            <a:pPr algn="ctr">
              <a:spcBef>
                <a:spcPts val="0"/>
              </a:spcBef>
              <a:spcAft>
                <a:spcPts val="0"/>
              </a:spcAft>
              <a:buNone/>
            </a:pPr>
            <a:r>
              <a:rPr sz="740" b="0" i="1">
                <a:solidFill>
                  <a:srgbClr val="4682DC"/>
                </a:solidFill>
                <a:latin typeface="Aptos"/>
                <a:ea typeface="Aptos"/>
                <a:cs typeface="Aptos"/>
              </a:rPr>
              <a:t>event / threshold / schedule driven · no global controller</a:t>
            </a:r>
          </a:p>
        </p:txBody>
      </p:sp>
      <p:sp>
        <p:nvSpPr>
          <p:cNvPr id="134" name="TextBox 133"/>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3"/>
              </a:rPr>
              <a:t>Canonical topology</a:t>
            </a:r>
            <a:r>
              <a:rPr sz="680">
                <a:solidFill>
                  <a:srgbClr val="727A86"/>
                </a:solidFill>
                <a:latin typeface="Calibri"/>
              </a:rPr>
              <a:t>  ·  </a:t>
            </a:r>
            <a:r>
              <a:rPr sz="680" b="0" u="sng">
                <a:solidFill>
                  <a:srgbClr val="2F6FB2"/>
                </a:solidFill>
                <a:latin typeface="Calibri"/>
                <a:hlinkClick r:id="rId4"/>
              </a:rPr>
              <a:t>Ecosystem Positioning</a:t>
            </a:r>
          </a:p>
        </p:txBody>
      </p:sp>
    </p:spTree>
    <p:extLst>
      <p:ext uri="{BB962C8B-B14F-4D97-AF65-F5344CB8AC3E}">
        <p14:creationId xmlns:p14="http://schemas.microsoft.com/office/powerpoint/2010/main" val="266539471"/>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D54"/>
        </a:solidFill>
        <a:effectLst/>
      </p:bgPr>
    </p:bg>
    <p:spTree>
      <p:nvGrpSpPr>
        <p:cNvPr id="1" name=""/>
        <p:cNvGrpSpPr/>
        <p:nvPr/>
      </p:nvGrpSpPr>
      <p:grpSpPr/>
      <p:sp>
        <p:nvSpPr>
          <p:cNvPr id="2" name="TextBox 1"/>
          <p:cNvSpPr txBox="1"/>
          <p:nvPr/>
        </p:nvSpPr>
        <p:spPr>
          <a:xfrm>
            <a:off x="685800" y="320040"/>
            <a:ext cx="5029200" cy="320040"/>
          </a:xfrm>
          <a:prstGeom prst="rect">
            <a:avLst/>
          </a:prstGeom>
          <a:noFill/>
        </p:spPr>
        <p:txBody>
          <a:bodyPr wrap="none">
            <a:spAutoFit/>
          </a:bodyPr>
          <a:lstStyle/>
          <a:p>
            <a:r>
              <a:rPr sz="1600">
                <a:solidFill>
                  <a:srgbClr val="D2DEEB"/>
                </a:solidFill>
                <a:latin typeface="Aptos"/>
              </a:rPr>
              <a:t>ARCHITECTURAL DIFFERENTIAL</a:t>
            </a:r>
          </a:p>
        </p:txBody>
      </p:sp>
      <p:sp>
        <p:nvSpPr>
          <p:cNvPr id="3" name="TextBox 2"/>
          <p:cNvSpPr txBox="1"/>
          <p:nvPr/>
        </p:nvSpPr>
        <p:spPr>
          <a:xfrm>
            <a:off x="10972800" y="320040"/>
            <a:ext cx="731520" cy="320040"/>
          </a:xfrm>
          <a:prstGeom prst="rect">
            <a:avLst/>
          </a:prstGeom>
          <a:noFill/>
        </p:spPr>
        <p:txBody>
          <a:bodyPr wrap="none">
            <a:spAutoFit/>
          </a:bodyPr>
          <a:lstStyle/>
          <a:p>
            <a:pPr algn="r"/>
            <a:r>
              <a:rPr sz="1400">
                <a:solidFill>
                  <a:srgbClr val="D2DEEB"/>
                </a:solidFill>
                <a:latin typeface="Aptos"/>
              </a:rPr>
              <a:t>§ B</a:t>
            </a:r>
          </a:p>
        </p:txBody>
      </p:sp>
      <p:sp>
        <p:nvSpPr>
          <p:cNvPr id="4" name="Rectangle 3"/>
          <p:cNvSpPr/>
          <p:nvPr/>
        </p:nvSpPr>
        <p:spPr>
          <a:xfrm>
            <a:off x="685800" y="713232"/>
            <a:ext cx="10972800" cy="13716"/>
          </a:xfrm>
          <a:prstGeom prst="rect">
            <a:avLst/>
          </a:prstGeom>
          <a:solidFill>
            <a:srgbClr val="D2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22960"/>
            <a:ext cx="10972800" cy="13716"/>
          </a:xfrm>
          <a:prstGeom prst="rect">
            <a:avLst/>
          </a:prstGeom>
          <a:solidFill>
            <a:srgbClr val="14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10972800" cy="914400"/>
          </a:xfrm>
          <a:prstGeom prst="rect">
            <a:avLst/>
          </a:prstGeom>
          <a:noFill/>
        </p:spPr>
        <p:txBody>
          <a:bodyPr wrap="none">
            <a:spAutoFit/>
          </a:bodyPr>
          <a:lstStyle/>
          <a:p>
            <a:r>
              <a:rPr sz="3000" b="1">
                <a:solidFill>
                  <a:srgbClr val="FFFFFF"/>
                </a:solidFill>
                <a:latin typeface="Aptos Display"/>
                <a:hlinkClick r:id="rId2"/>
              </a:rPr>
              <a:t>Architectural Differential</a:t>
            </a:r>
          </a:p>
        </p:txBody>
      </p:sp>
      <p:sp>
        <p:nvSpPr>
          <p:cNvPr id="7" name="TextBox 6"/>
          <p:cNvSpPr txBox="1"/>
          <p:nvPr/>
        </p:nvSpPr>
        <p:spPr>
          <a:xfrm>
            <a:off x="685800" y="2743200"/>
            <a:ext cx="10515600" cy="1097280"/>
          </a:xfrm>
          <a:prstGeom prst="rect">
            <a:avLst/>
          </a:prstGeom>
          <a:noFill/>
        </p:spPr>
        <p:txBody>
          <a:bodyPr wrap="square">
            <a:spAutoFit/>
          </a:bodyPr>
          <a:lstStyle/>
          <a:p>
            <a:r>
              <a:rPr sz="1600">
                <a:solidFill>
                  <a:srgbClr val="D2DEEB"/>
                </a:solidFill>
                <a:latin typeface="Aptos"/>
              </a:rPr>
              <a:t>How the positioning architecture differs from the current reference baseline and why that difference matters.</a:t>
            </a:r>
          </a:p>
        </p:txBody>
      </p:sp>
      <p:sp>
        <p:nvSpPr>
          <p:cNvPr id="8" name="TextBox 7"/>
          <p:cNvSpPr txBox="1"/>
          <p:nvPr/>
        </p:nvSpPr>
        <p:spPr>
          <a:xfrm>
            <a:off x="4389120" y="6400800"/>
            <a:ext cx="3474720" cy="274320"/>
          </a:xfrm>
          <a:prstGeom prst="rect">
            <a:avLst/>
          </a:prstGeom>
          <a:noFill/>
        </p:spPr>
        <p:txBody>
          <a:bodyPr wrap="none">
            <a:spAutoFit/>
          </a:bodyPr>
          <a:lstStyle/>
          <a:p>
            <a:pPr algn="ctr"/>
            <a:r>
              <a:rPr sz="1000">
                <a:solidFill>
                  <a:srgbClr val="D2DEEB"/>
                </a:solidFill>
                <a:latin typeface="Aptos"/>
              </a:rPr>
              <a:t>Ecosystem Awareness · Positioning architecture</a:t>
            </a:r>
          </a:p>
        </p:txBody>
      </p:sp>
      <p:sp>
        <p:nvSpPr>
          <p:cNvPr id="9" name="TextBox 8"/>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2"/>
              </a:rPr>
              <a:t>Benchmark vNext · architectural differential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64592"/>
            <a:ext cx="3200400" cy="201168"/>
          </a:xfrm>
          <a:prstGeom prst="rect">
            <a:avLst/>
          </a:prstGeom>
          <a:noFill/>
        </p:spPr>
        <p:txBody>
          <a:bodyPr wrap="square" anchor="t" lIns="0" rIns="0" tIns="0" bIns="0">
            <a:spAutoFit/>
          </a:bodyPr>
          <a:lstStyle/>
          <a:p>
            <a:pPr algn="l"/>
            <a:r>
              <a:rPr sz="850" b="0" i="0" u="none">
                <a:solidFill>
                  <a:srgbClr val="1F2D3D"/>
                </a:solidFill>
                <a:latin typeface="Consolas"/>
              </a:rPr>
              <a:t>BENCHMARK CONTEXT</a:t>
            </a:r>
          </a:p>
        </p:txBody>
      </p:sp>
      <p:sp>
        <p:nvSpPr>
          <p:cNvPr id="3" name="TextBox 2"/>
          <p:cNvSpPr txBox="1"/>
          <p:nvPr/>
        </p:nvSpPr>
        <p:spPr>
          <a:xfrm>
            <a:off x="10716768" y="164592"/>
            <a:ext cx="685800" cy="201168"/>
          </a:xfrm>
          <a:prstGeom prst="rect">
            <a:avLst/>
          </a:prstGeom>
          <a:noFill/>
        </p:spPr>
        <p:txBody>
          <a:bodyPr wrap="square" anchor="t" lIns="0" rIns="0" tIns="0" bIns="0">
            <a:spAutoFit/>
          </a:bodyPr>
          <a:lstStyle/>
          <a:p>
            <a:pPr algn="r"/>
            <a:r>
              <a:rPr sz="850" b="0" i="0" u="none">
                <a:solidFill>
                  <a:srgbClr val="1F2D3D"/>
                </a:solidFill>
                <a:latin typeface="Consolas"/>
              </a:rPr>
              <a:t>§ B1</a:t>
            </a:r>
          </a:p>
        </p:txBody>
      </p:sp>
      <p:sp>
        <p:nvSpPr>
          <p:cNvPr id="4" name="TextBox 3"/>
          <p:cNvSpPr txBox="1"/>
          <p:nvPr/>
        </p:nvSpPr>
        <p:spPr>
          <a:xfrm>
            <a:off x="566928" y="640080"/>
            <a:ext cx="10515600" cy="420624"/>
          </a:xfrm>
          <a:prstGeom prst="rect">
            <a:avLst/>
          </a:prstGeom>
          <a:noFill/>
        </p:spPr>
        <p:txBody>
          <a:bodyPr wrap="square" anchor="t" lIns="0" rIns="0" tIns="0" bIns="0">
            <a:spAutoFit/>
          </a:bodyPr>
          <a:lstStyle/>
          <a:p>
            <a:pPr algn="l"/>
            <a:r>
              <a:rPr sz="2350" b="1" i="0" u="none">
                <a:solidFill>
                  <a:srgbClr val="24355B"/>
                </a:solidFill>
                <a:latin typeface="Cambria"/>
              </a:rPr>
              <a:t>Current standards already define the boundary</a:t>
            </a:r>
          </a:p>
        </p:txBody>
      </p:sp>
      <p:sp>
        <p:nvSpPr>
          <p:cNvPr id="5" name="TextBox 4"/>
          <p:cNvSpPr txBox="1"/>
          <p:nvPr/>
        </p:nvSpPr>
        <p:spPr>
          <a:xfrm>
            <a:off x="566928" y="1078992"/>
            <a:ext cx="10515600" cy="329184"/>
          </a:xfrm>
          <a:prstGeom prst="rect">
            <a:avLst/>
          </a:prstGeom>
          <a:noFill/>
        </p:spPr>
        <p:txBody>
          <a:bodyPr wrap="square" anchor="t" lIns="0" rIns="0" tIns="0" bIns="0">
            <a:spAutoFit/>
          </a:bodyPr>
          <a:lstStyle/>
          <a:p>
            <a:pPr algn="l"/>
            <a:r>
              <a:rPr sz="1120" b="0" i="0" u="none">
                <a:solidFill>
                  <a:srgbClr val="5D6775"/>
                </a:solidFill>
                <a:latin typeface="Calibri"/>
              </a:rPr>
              <a:t>The benchmark starts by crediting existing primitives at full strength — and preserving the limits that those specifications state themselves.</a:t>
            </a:r>
          </a:p>
        </p:txBody>
      </p:sp>
      <p:sp>
        <p:nvSpPr>
          <p:cNvPr id="6" name="Rectangle 5"/>
          <p:cNvSpPr/>
          <p:nvPr/>
        </p:nvSpPr>
        <p:spPr>
          <a:xfrm>
            <a:off x="566928" y="457200"/>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572768"/>
            <a:ext cx="5257800" cy="1417320"/>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572768"/>
            <a:ext cx="50292" cy="1417320"/>
          </a:xfrm>
          <a:prstGeom prst="rect">
            <a:avLst/>
          </a:prstGeom>
          <a:solidFill>
            <a:srgbClr val="2F6FB2"/>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00784"/>
            <a:ext cx="4983480" cy="228600"/>
          </a:xfrm>
          <a:prstGeom prst="rect">
            <a:avLst/>
          </a:prstGeom>
          <a:noFill/>
        </p:spPr>
        <p:txBody>
          <a:bodyPr wrap="square" anchor="t" lIns="0" rIns="0" tIns="0" bIns="0">
            <a:spAutoFit/>
          </a:bodyPr>
          <a:lstStyle/>
          <a:p>
            <a:pPr algn="l"/>
            <a:r>
              <a:rPr sz="1250" b="1" i="0" u="none">
                <a:solidFill>
                  <a:srgbClr val="24355B"/>
                </a:solidFill>
                <a:latin typeface="Cambria"/>
              </a:rPr>
              <a:t>SPIFFE / SPIRE — workload identity</a:t>
            </a:r>
          </a:p>
        </p:txBody>
      </p:sp>
      <p:sp>
        <p:nvSpPr>
          <p:cNvPr id="10" name="TextBox 9"/>
          <p:cNvSpPr txBox="1"/>
          <p:nvPr/>
        </p:nvSpPr>
        <p:spPr>
          <a:xfrm>
            <a:off x="713232" y="2011680"/>
            <a:ext cx="4983480" cy="758952"/>
          </a:xfrm>
          <a:prstGeom prst="rect">
            <a:avLst/>
          </a:prstGeom>
          <a:noFill/>
        </p:spPr>
        <p:txBody>
          <a:bodyPr wrap="square" anchor="t" lIns="0" rIns="0" tIns="0" bIns="0">
            <a:spAutoFit/>
          </a:bodyPr>
          <a:lstStyle/>
          <a:p>
            <a:pPr algn="l"/>
            <a:r>
              <a:rPr sz="960" b="0" i="0" u="none">
                <a:solidFill>
                  <a:srgbClr val="1F2D3D"/>
                </a:solidFill>
                <a:latin typeface="Calibri"/>
              </a:rPr>
              <a:t>Distributed workload authentication is the primitive. SPIFFE/SPIRE documentation explicitly separates authentication from authorization policy.</a:t>
            </a:r>
          </a:p>
        </p:txBody>
      </p:sp>
      <p:sp>
        <p:nvSpPr>
          <p:cNvPr id="11" name="TextBox 10"/>
          <p:cNvSpPr txBox="1"/>
          <p:nvPr/>
        </p:nvSpPr>
        <p:spPr>
          <a:xfrm>
            <a:off x="713232" y="2770632"/>
            <a:ext cx="4983480" cy="146304"/>
          </a:xfrm>
          <a:prstGeom prst="rect">
            <a:avLst/>
          </a:prstGeom>
          <a:noFill/>
        </p:spPr>
        <p:txBody>
          <a:bodyPr wrap="square" anchor="t" lIns="0" rIns="0" tIns="0" bIns="0">
            <a:spAutoFit/>
          </a:bodyPr>
          <a:lstStyle/>
          <a:p>
            <a:pPr algn="l"/>
            <a:r>
              <a:rPr sz="840" b="1" i="0" u="sng">
                <a:solidFill>
                  <a:srgbClr val="2F6FB2"/>
                </a:solidFill>
                <a:latin typeface="Calibri"/>
                <a:hlinkClick r:id="rId2"/>
              </a:rPr>
              <a:t>SPIFFE — authorization boundary</a:t>
            </a:r>
          </a:p>
        </p:txBody>
      </p:sp>
      <p:sp>
        <p:nvSpPr>
          <p:cNvPr id="12" name="Rounded Rectangle 11"/>
          <p:cNvSpPr/>
          <p:nvPr/>
        </p:nvSpPr>
        <p:spPr>
          <a:xfrm>
            <a:off x="6144768" y="1572768"/>
            <a:ext cx="5257800" cy="1417320"/>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44768" y="1572768"/>
            <a:ext cx="50292" cy="1417320"/>
          </a:xfrm>
          <a:prstGeom prst="rect">
            <a:avLst/>
          </a:prstGeom>
          <a:solidFill>
            <a:srgbClr val="6A4C93"/>
          </a:solidFill>
          <a:ln>
            <a:solidFill>
              <a:srgbClr val="6A4C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700784"/>
            <a:ext cx="4983480" cy="228600"/>
          </a:xfrm>
          <a:prstGeom prst="rect">
            <a:avLst/>
          </a:prstGeom>
          <a:noFill/>
        </p:spPr>
        <p:txBody>
          <a:bodyPr wrap="square" anchor="t" lIns="0" rIns="0" tIns="0" bIns="0">
            <a:spAutoFit/>
          </a:bodyPr>
          <a:lstStyle/>
          <a:p>
            <a:pPr algn="l"/>
            <a:r>
              <a:rPr sz="1250" b="1" i="0" u="none">
                <a:solidFill>
                  <a:srgbClr val="24355B"/>
                </a:solidFill>
                <a:latin typeface="Cambria"/>
              </a:rPr>
              <a:t>RFC 8693 — subject / actor token exchange</a:t>
            </a:r>
          </a:p>
        </p:txBody>
      </p:sp>
      <p:sp>
        <p:nvSpPr>
          <p:cNvPr id="15" name="TextBox 14"/>
          <p:cNvSpPr txBox="1"/>
          <p:nvPr/>
        </p:nvSpPr>
        <p:spPr>
          <a:xfrm>
            <a:off x="6291072" y="2011680"/>
            <a:ext cx="4983480" cy="758952"/>
          </a:xfrm>
          <a:prstGeom prst="rect">
            <a:avLst/>
          </a:prstGeom>
          <a:noFill/>
        </p:spPr>
        <p:txBody>
          <a:bodyPr wrap="square" anchor="t" lIns="0" rIns="0" tIns="0" bIns="0">
            <a:spAutoFit/>
          </a:bodyPr>
          <a:lstStyle/>
          <a:p>
            <a:pPr algn="l"/>
            <a:r>
              <a:rPr sz="960" b="0" i="0" u="none">
                <a:solidFill>
                  <a:srgbClr val="1F2D3D"/>
                </a:solidFill>
                <a:latin typeface="Calibri"/>
              </a:rPr>
              <a:t>Delegated token exchange can represent subject and actor relationships, but the exchange is one-time and does not create a general persistent linkage or general revocation-propagation semantics.</a:t>
            </a:r>
          </a:p>
        </p:txBody>
      </p:sp>
      <p:sp>
        <p:nvSpPr>
          <p:cNvPr id="16" name="TextBox 15"/>
          <p:cNvSpPr txBox="1"/>
          <p:nvPr/>
        </p:nvSpPr>
        <p:spPr>
          <a:xfrm>
            <a:off x="6291072" y="2770632"/>
            <a:ext cx="4983480" cy="146304"/>
          </a:xfrm>
          <a:prstGeom prst="rect">
            <a:avLst/>
          </a:prstGeom>
          <a:noFill/>
        </p:spPr>
        <p:txBody>
          <a:bodyPr wrap="square" anchor="t" lIns="0" rIns="0" tIns="0" bIns="0">
            <a:spAutoFit/>
          </a:bodyPr>
          <a:lstStyle/>
          <a:p>
            <a:pPr algn="l"/>
            <a:r>
              <a:rPr sz="840" b="1" i="0" u="sng">
                <a:solidFill>
                  <a:srgbClr val="2F6FB2"/>
                </a:solidFill>
                <a:latin typeface="Calibri"/>
                <a:hlinkClick r:id="rId3"/>
              </a:rPr>
              <a:t>RFC 8693</a:t>
            </a:r>
          </a:p>
        </p:txBody>
      </p:sp>
      <p:sp>
        <p:nvSpPr>
          <p:cNvPr id="17" name="Rounded Rectangle 16"/>
          <p:cNvSpPr/>
          <p:nvPr/>
        </p:nvSpPr>
        <p:spPr>
          <a:xfrm>
            <a:off x="566928" y="3218688"/>
            <a:ext cx="5257800" cy="1417320"/>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218688"/>
            <a:ext cx="50292" cy="1417320"/>
          </a:xfrm>
          <a:prstGeom prst="rect">
            <a:avLst/>
          </a:prstGeom>
          <a:solidFill>
            <a:srgbClr val="00848A"/>
          </a:solidFill>
          <a:ln>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346704"/>
            <a:ext cx="4983480" cy="228600"/>
          </a:xfrm>
          <a:prstGeom prst="rect">
            <a:avLst/>
          </a:prstGeom>
          <a:noFill/>
        </p:spPr>
        <p:txBody>
          <a:bodyPr wrap="square" anchor="t" lIns="0" rIns="0" tIns="0" bIns="0">
            <a:spAutoFit/>
          </a:bodyPr>
          <a:lstStyle/>
          <a:p>
            <a:pPr algn="l"/>
            <a:r>
              <a:rPr sz="1250" b="1" i="0" u="none">
                <a:solidFill>
                  <a:srgbClr val="24355B"/>
                </a:solidFill>
                <a:latin typeface="Cambria"/>
              </a:rPr>
              <a:t>RFC 9334 RATS — attestation / appraisal</a:t>
            </a:r>
          </a:p>
        </p:txBody>
      </p:sp>
      <p:sp>
        <p:nvSpPr>
          <p:cNvPr id="20" name="TextBox 19"/>
          <p:cNvSpPr txBox="1"/>
          <p:nvPr/>
        </p:nvSpPr>
        <p:spPr>
          <a:xfrm>
            <a:off x="713232" y="3657600"/>
            <a:ext cx="4983480" cy="758952"/>
          </a:xfrm>
          <a:prstGeom prst="rect">
            <a:avLst/>
          </a:prstGeom>
          <a:noFill/>
        </p:spPr>
        <p:txBody>
          <a:bodyPr wrap="square" anchor="t" lIns="0" rIns="0" tIns="0" bIns="0">
            <a:spAutoFit/>
          </a:bodyPr>
          <a:lstStyle/>
          <a:p>
            <a:pPr algn="l"/>
            <a:r>
              <a:rPr sz="960" b="0" i="0" u="none">
                <a:solidFill>
                  <a:srgbClr val="1F2D3D"/>
                </a:solidFill>
                <a:latin typeface="Calibri"/>
              </a:rPr>
              <a:t>A Verifier produces Attestation Results. The Relying Party then applies its own appraisal policy to make the application-specific decision.</a:t>
            </a:r>
          </a:p>
        </p:txBody>
      </p:sp>
      <p:sp>
        <p:nvSpPr>
          <p:cNvPr id="21" name="TextBox 20"/>
          <p:cNvSpPr txBox="1"/>
          <p:nvPr/>
        </p:nvSpPr>
        <p:spPr>
          <a:xfrm>
            <a:off x="713232" y="4416552"/>
            <a:ext cx="4983480" cy="146304"/>
          </a:xfrm>
          <a:prstGeom prst="rect">
            <a:avLst/>
          </a:prstGeom>
          <a:noFill/>
        </p:spPr>
        <p:txBody>
          <a:bodyPr wrap="square" anchor="t" lIns="0" rIns="0" tIns="0" bIns="0">
            <a:spAutoFit/>
          </a:bodyPr>
          <a:lstStyle/>
          <a:p>
            <a:pPr algn="l"/>
            <a:r>
              <a:rPr sz="840" b="1" i="0" u="sng">
                <a:solidFill>
                  <a:srgbClr val="2F6FB2"/>
                </a:solidFill>
                <a:latin typeface="Calibri"/>
                <a:hlinkClick r:id="rId4"/>
              </a:rPr>
              <a:t>RFC 9334 RATS</a:t>
            </a:r>
          </a:p>
        </p:txBody>
      </p:sp>
      <p:sp>
        <p:nvSpPr>
          <p:cNvPr id="22" name="Rounded Rectangle 21"/>
          <p:cNvSpPr/>
          <p:nvPr/>
        </p:nvSpPr>
        <p:spPr>
          <a:xfrm>
            <a:off x="6144768" y="3218688"/>
            <a:ext cx="5257800" cy="1417320"/>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218688"/>
            <a:ext cx="50292" cy="1417320"/>
          </a:xfrm>
          <a:prstGeom prst="rect">
            <a:avLst/>
          </a:prstGeom>
          <a:solidFill>
            <a:srgbClr val="D07800"/>
          </a:solidFill>
          <a:ln>
            <a:solidFill>
              <a:srgbClr val="D07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91072" y="3346704"/>
            <a:ext cx="4983480" cy="228600"/>
          </a:xfrm>
          <a:prstGeom prst="rect">
            <a:avLst/>
          </a:prstGeom>
          <a:noFill/>
        </p:spPr>
        <p:txBody>
          <a:bodyPr wrap="square" anchor="t" lIns="0" rIns="0" tIns="0" bIns="0">
            <a:spAutoFit/>
          </a:bodyPr>
          <a:lstStyle/>
          <a:p>
            <a:pPr algn="l"/>
            <a:r>
              <a:rPr sz="1250" b="1" i="0" u="none">
                <a:solidFill>
                  <a:srgbClr val="24355B"/>
                </a:solidFill>
                <a:latin typeface="Cambria"/>
              </a:rPr>
              <a:t>NIST NCCoE 2026 — AI-agent identity &amp; authorization</a:t>
            </a:r>
          </a:p>
        </p:txBody>
      </p:sp>
      <p:sp>
        <p:nvSpPr>
          <p:cNvPr id="25" name="TextBox 24"/>
          <p:cNvSpPr txBox="1"/>
          <p:nvPr/>
        </p:nvSpPr>
        <p:spPr>
          <a:xfrm>
            <a:off x="6291072" y="3657600"/>
            <a:ext cx="4983480" cy="758952"/>
          </a:xfrm>
          <a:prstGeom prst="rect">
            <a:avLst/>
          </a:prstGeom>
          <a:noFill/>
        </p:spPr>
        <p:txBody>
          <a:bodyPr wrap="square" anchor="t" lIns="0" rIns="0" tIns="0" bIns="0">
            <a:spAutoFit/>
          </a:bodyPr>
          <a:lstStyle/>
          <a:p>
            <a:pPr algn="l"/>
            <a:r>
              <a:rPr sz="960" b="0" i="0" u="none">
                <a:solidFill>
                  <a:srgbClr val="1F2D3D"/>
                </a:solidFill>
                <a:latin typeface="Calibri"/>
              </a:rPr>
              <a:t>NIST is actively scoping standards-based approaches to identify, manage and authorize software/AI agents. The current project is still in the project-definition / comment-review stage.</a:t>
            </a:r>
          </a:p>
        </p:txBody>
      </p:sp>
      <p:sp>
        <p:nvSpPr>
          <p:cNvPr id="26" name="TextBox 25"/>
          <p:cNvSpPr txBox="1"/>
          <p:nvPr/>
        </p:nvSpPr>
        <p:spPr>
          <a:xfrm>
            <a:off x="6291072" y="4416552"/>
            <a:ext cx="4983480" cy="146304"/>
          </a:xfrm>
          <a:prstGeom prst="rect">
            <a:avLst/>
          </a:prstGeom>
          <a:noFill/>
        </p:spPr>
        <p:txBody>
          <a:bodyPr wrap="square" anchor="t" lIns="0" rIns="0" tIns="0" bIns="0">
            <a:spAutoFit/>
          </a:bodyPr>
          <a:lstStyle/>
          <a:p>
            <a:pPr algn="l"/>
            <a:r>
              <a:rPr sz="840" b="1" i="0" u="sng">
                <a:solidFill>
                  <a:srgbClr val="2F6FB2"/>
                </a:solidFill>
                <a:latin typeface="Calibri"/>
                <a:hlinkClick r:id="rId5"/>
              </a:rPr>
              <a:t>NIST NCCoE — Software and AI Agent Identity and Authorization</a:t>
            </a:r>
          </a:p>
        </p:txBody>
      </p:sp>
      <p:sp>
        <p:nvSpPr>
          <p:cNvPr id="27" name="Rounded Rectangle 26"/>
          <p:cNvSpPr/>
          <p:nvPr/>
        </p:nvSpPr>
        <p:spPr>
          <a:xfrm>
            <a:off x="566928" y="4956048"/>
            <a:ext cx="10835640" cy="896112"/>
          </a:xfrm>
          <a:prstGeom prst="roundRect">
            <a:avLst/>
          </a:prstGeom>
          <a:solidFill>
            <a:srgbClr val="F3F6F8"/>
          </a:solidFill>
          <a:ln>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138928"/>
            <a:ext cx="1874519" cy="182880"/>
          </a:xfrm>
          <a:prstGeom prst="rect">
            <a:avLst/>
          </a:prstGeom>
          <a:noFill/>
        </p:spPr>
        <p:txBody>
          <a:bodyPr wrap="square" anchor="t" lIns="0" rIns="0" tIns="0" bIns="0">
            <a:spAutoFit/>
          </a:bodyPr>
          <a:lstStyle/>
          <a:p>
            <a:pPr algn="l"/>
            <a:r>
              <a:rPr sz="860" b="1" i="0" u="none">
                <a:solidFill>
                  <a:srgbClr val="24355B"/>
                </a:solidFill>
                <a:latin typeface="Consolas"/>
              </a:rPr>
              <a:t>BENCHMARK STARTING POINT</a:t>
            </a:r>
          </a:p>
        </p:txBody>
      </p:sp>
      <p:sp>
        <p:nvSpPr>
          <p:cNvPr id="29" name="TextBox 28"/>
          <p:cNvSpPr txBox="1"/>
          <p:nvPr/>
        </p:nvSpPr>
        <p:spPr>
          <a:xfrm>
            <a:off x="2670048" y="5084064"/>
            <a:ext cx="8366760" cy="438912"/>
          </a:xfrm>
          <a:prstGeom prst="rect">
            <a:avLst/>
          </a:prstGeom>
          <a:noFill/>
        </p:spPr>
        <p:txBody>
          <a:bodyPr wrap="square" anchor="t" lIns="0" rIns="0" tIns="0" bIns="0">
            <a:spAutoFit/>
          </a:bodyPr>
          <a:lstStyle/>
          <a:p>
            <a:pPr algn="l"/>
            <a:r>
              <a:rPr sz="1030" b="0" i="0" u="none">
                <a:solidFill>
                  <a:srgbClr val="1F2D3D"/>
                </a:solidFill>
                <a:latin typeface="Calibri"/>
              </a:rPr>
              <a:t>Ecosystem Positioning is not presented as a replacement for identity, delegation, attestation or policy. The differential under test is the composition and requalification gap that appears when locally valid primitives cross changing participants, authority, evidence, dependencies and context.</a:t>
            </a:r>
          </a:p>
        </p:txBody>
      </p:sp>
      <p:sp>
        <p:nvSpPr>
          <p:cNvPr id="30" name="TextBox 29"/>
          <p:cNvSpPr txBox="1"/>
          <p:nvPr/>
        </p:nvSpPr>
        <p:spPr>
          <a:xfrm>
            <a:off x="8458200" y="5596128"/>
            <a:ext cx="2578608" cy="164592"/>
          </a:xfrm>
          <a:prstGeom prst="rect">
            <a:avLst/>
          </a:prstGeom>
          <a:noFill/>
        </p:spPr>
        <p:txBody>
          <a:bodyPr wrap="square" anchor="t" lIns="0" rIns="0" tIns="0" bIns="0">
            <a:spAutoFit/>
          </a:bodyPr>
          <a:lstStyle/>
          <a:p>
            <a:pPr algn="l"/>
            <a:r>
              <a:rPr sz="840" b="1" i="0" u="sng">
                <a:solidFill>
                  <a:srgbClr val="2F6FB2"/>
                </a:solidFill>
                <a:latin typeface="Calibri"/>
                <a:hlinkClick r:id="rId6"/>
              </a:rPr>
              <a:t>Benchmark v0.3 — standards boundary</a:t>
            </a:r>
          </a:p>
        </p:txBody>
      </p:sp>
      <p:sp>
        <p:nvSpPr>
          <p:cNvPr id="31" name="Rectangle 30"/>
          <p:cNvSpPr/>
          <p:nvPr/>
        </p:nvSpPr>
        <p:spPr>
          <a:xfrm>
            <a:off x="566928" y="6236208"/>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69080" y="6355080"/>
            <a:ext cx="3657600" cy="146304"/>
          </a:xfrm>
          <a:prstGeom prst="rect">
            <a:avLst/>
          </a:prstGeom>
          <a:noFill/>
        </p:spPr>
        <p:txBody>
          <a:bodyPr wrap="square" anchor="t" lIns="0" rIns="0" tIns="0" bIns="0">
            <a:spAutoFit/>
          </a:bodyPr>
          <a:lstStyle/>
          <a:p>
            <a:pPr algn="ctr"/>
            <a:r>
              <a:rPr sz="720" b="0" i="0" u="none">
                <a:solidFill>
                  <a:srgbClr val="5D6775"/>
                </a:solidFill>
                <a:latin typeface="Consolas"/>
              </a:rPr>
              <a:t>Ecosystem Awareness · Positioning architecture</a:t>
            </a:r>
          </a:p>
        </p:txBody>
      </p:sp>
      <p:sp>
        <p:nvSpPr>
          <p:cNvPr id="33" name="TextBox 32"/>
          <p:cNvSpPr txBox="1"/>
          <p:nvPr/>
        </p:nvSpPr>
        <p:spPr>
          <a:xfrm>
            <a:off x="11045952" y="6355080"/>
            <a:ext cx="274320" cy="146304"/>
          </a:xfrm>
          <a:prstGeom prst="rect">
            <a:avLst/>
          </a:prstGeom>
          <a:noFill/>
        </p:spPr>
        <p:txBody>
          <a:bodyPr wrap="square" anchor="t" lIns="0" rIns="0" tIns="0" bIns="0">
            <a:spAutoFit/>
          </a:bodyPr>
          <a:lstStyle/>
          <a:p>
            <a:pPr algn="r"/>
            <a:r>
              <a:rPr sz="880" b="0" i="0" u="none">
                <a:solidFill>
                  <a:srgbClr val="5D6775"/>
                </a:solidFill>
                <a:latin typeface="Calibri"/>
              </a:rPr>
              <a:t>14</a:t>
            </a:r>
          </a:p>
        </p:txBody>
      </p:sp>
      <p:sp>
        <p:nvSpPr>
          <p:cNvPr id="34" name="TextBox 33"/>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7"/>
              </a:rPr>
              <a:t>Benchmark vNext · standards boundary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164592"/>
            <a:ext cx="3200400" cy="201168"/>
          </a:xfrm>
          <a:prstGeom prst="rect">
            <a:avLst/>
          </a:prstGeom>
          <a:noFill/>
        </p:spPr>
        <p:txBody>
          <a:bodyPr wrap="square" anchor="t" lIns="0" rIns="0" tIns="0" bIns="0">
            <a:spAutoFit/>
          </a:bodyPr>
          <a:lstStyle/>
          <a:p>
            <a:pPr algn="l"/>
            <a:r>
              <a:rPr sz="850" b="0" i="0" u="none">
                <a:solidFill>
                  <a:srgbClr val="1F2D3D"/>
                </a:solidFill>
                <a:latin typeface="Consolas"/>
              </a:rPr>
              <a:t>BENCHMARK</a:t>
            </a:r>
          </a:p>
        </p:txBody>
      </p:sp>
      <p:sp>
        <p:nvSpPr>
          <p:cNvPr id="3" name="TextBox 2"/>
          <p:cNvSpPr txBox="1"/>
          <p:nvPr/>
        </p:nvSpPr>
        <p:spPr>
          <a:xfrm>
            <a:off x="10716768" y="164592"/>
            <a:ext cx="685800" cy="201168"/>
          </a:xfrm>
          <a:prstGeom prst="rect">
            <a:avLst/>
          </a:prstGeom>
          <a:noFill/>
        </p:spPr>
        <p:txBody>
          <a:bodyPr wrap="square" anchor="t" lIns="0" rIns="0" tIns="0" bIns="0">
            <a:spAutoFit/>
          </a:bodyPr>
          <a:lstStyle/>
          <a:p>
            <a:pPr algn="r"/>
            <a:r>
              <a:rPr sz="850" b="0" i="0" u="none">
                <a:solidFill>
                  <a:srgbClr val="1F2D3D"/>
                </a:solidFill>
                <a:latin typeface="Consolas"/>
              </a:rPr>
              <a:t>§ B2</a:t>
            </a:r>
          </a:p>
        </p:txBody>
      </p:sp>
      <p:sp>
        <p:nvSpPr>
          <p:cNvPr id="4" name="TextBox 3"/>
          <p:cNvSpPr txBox="1"/>
          <p:nvPr/>
        </p:nvSpPr>
        <p:spPr>
          <a:xfrm>
            <a:off x="566928" y="640080"/>
            <a:ext cx="10515600" cy="420624"/>
          </a:xfrm>
          <a:prstGeom prst="rect">
            <a:avLst/>
          </a:prstGeom>
          <a:noFill/>
        </p:spPr>
        <p:txBody>
          <a:bodyPr wrap="square" anchor="t" lIns="0" rIns="0" tIns="0" bIns="0">
            <a:spAutoFit/>
          </a:bodyPr>
          <a:lstStyle/>
          <a:p>
            <a:pPr algn="l"/>
            <a:r>
              <a:rPr sz="2350" b="1" i="0" u="none">
                <a:solidFill>
                  <a:srgbClr val="24355B"/>
                </a:solidFill>
                <a:latin typeface="Cambria"/>
              </a:rPr>
              <a:t>Benchmark — comparison, not marketing</a:t>
            </a:r>
          </a:p>
        </p:txBody>
      </p:sp>
      <p:sp>
        <p:nvSpPr>
          <p:cNvPr id="5" name="TextBox 4"/>
          <p:cNvSpPr txBox="1"/>
          <p:nvPr/>
        </p:nvSpPr>
        <p:spPr>
          <a:xfrm>
            <a:off x="566928" y="1078992"/>
            <a:ext cx="10515600" cy="329184"/>
          </a:xfrm>
          <a:prstGeom prst="rect">
            <a:avLst/>
          </a:prstGeom>
          <a:noFill/>
        </p:spPr>
        <p:txBody>
          <a:bodyPr wrap="square" anchor="t" lIns="0" rIns="0" tIns="0" bIns="0">
            <a:spAutoFit/>
          </a:bodyPr>
          <a:lstStyle/>
          <a:p>
            <a:pPr algn="l"/>
            <a:r>
              <a:rPr sz="1120" b="0" i="0" u="none">
                <a:solidFill>
                  <a:srgbClr val="5D6775"/>
                </a:solidFill>
                <a:latin typeface="Calibri"/>
              </a:rPr>
              <a:t>The benchmark is deliberately symmetric: a strong peer is allowed to win under the same facts, authority, resources and deadlines.</a:t>
            </a:r>
          </a:p>
        </p:txBody>
      </p:sp>
      <p:sp>
        <p:nvSpPr>
          <p:cNvPr id="6" name="Rectangle 5"/>
          <p:cNvSpPr/>
          <p:nvPr/>
        </p:nvSpPr>
        <p:spPr>
          <a:xfrm>
            <a:off x="566928" y="457200"/>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572768"/>
            <a:ext cx="2542032" cy="1078992"/>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664208"/>
            <a:ext cx="384048" cy="201168"/>
          </a:xfrm>
          <a:prstGeom prst="rect">
            <a:avLst/>
          </a:prstGeom>
          <a:noFill/>
        </p:spPr>
        <p:txBody>
          <a:bodyPr wrap="square" anchor="t" lIns="0" rIns="0" tIns="0" bIns="0">
            <a:spAutoFit/>
          </a:bodyPr>
          <a:lstStyle/>
          <a:p>
            <a:pPr algn="l"/>
            <a:r>
              <a:rPr sz="1000" b="1" i="0" u="none">
                <a:solidFill>
                  <a:srgbClr val="2F6FB2"/>
                </a:solidFill>
                <a:latin typeface="Consolas"/>
              </a:rPr>
              <a:t>B0</a:t>
            </a:r>
          </a:p>
        </p:txBody>
      </p:sp>
      <p:sp>
        <p:nvSpPr>
          <p:cNvPr id="9" name="TextBox 8"/>
          <p:cNvSpPr txBox="1"/>
          <p:nvPr/>
        </p:nvSpPr>
        <p:spPr>
          <a:xfrm>
            <a:off x="1097280" y="1664208"/>
            <a:ext cx="1883664" cy="237744"/>
          </a:xfrm>
          <a:prstGeom prst="rect">
            <a:avLst/>
          </a:prstGeom>
          <a:noFill/>
        </p:spPr>
        <p:txBody>
          <a:bodyPr wrap="square" anchor="t" lIns="0" rIns="0" tIns="0" bIns="0">
            <a:spAutoFit/>
          </a:bodyPr>
          <a:lstStyle/>
          <a:p>
            <a:pPr algn="l"/>
            <a:r>
              <a:rPr sz="1170" b="1" i="0" u="none">
                <a:solidFill>
                  <a:srgbClr val="24355B"/>
                </a:solidFill>
                <a:latin typeface="Cambria"/>
              </a:rPr>
              <a:t>Ordinary competent</a:t>
            </a:r>
          </a:p>
        </p:txBody>
      </p:sp>
      <p:sp>
        <p:nvSpPr>
          <p:cNvPr id="10" name="TextBox 9"/>
          <p:cNvSpPr txBox="1"/>
          <p:nvPr/>
        </p:nvSpPr>
        <p:spPr>
          <a:xfrm>
            <a:off x="676656" y="2002536"/>
            <a:ext cx="2322576" cy="530352"/>
          </a:xfrm>
          <a:prstGeom prst="rect">
            <a:avLst/>
          </a:prstGeom>
          <a:noFill/>
        </p:spPr>
        <p:txBody>
          <a:bodyPr wrap="square" anchor="t" lIns="0" rIns="0" tIns="0" bIns="0">
            <a:spAutoFit/>
          </a:bodyPr>
          <a:lstStyle/>
          <a:p>
            <a:pPr algn="l"/>
            <a:r>
              <a:rPr sz="900" b="0" i="0" u="none">
                <a:solidFill>
                  <a:srgbClr val="1F2D3D"/>
                </a:solidFill>
                <a:latin typeface="Calibri"/>
              </a:rPr>
              <a:t>Unstrengthened implementation; establishes the observed baseline.</a:t>
            </a:r>
          </a:p>
        </p:txBody>
      </p:sp>
      <p:sp>
        <p:nvSpPr>
          <p:cNvPr id="11" name="Rounded Rectangle 10"/>
          <p:cNvSpPr/>
          <p:nvPr/>
        </p:nvSpPr>
        <p:spPr>
          <a:xfrm>
            <a:off x="3319272" y="1572768"/>
            <a:ext cx="2542032" cy="1078992"/>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664208"/>
            <a:ext cx="384048" cy="201168"/>
          </a:xfrm>
          <a:prstGeom prst="rect">
            <a:avLst/>
          </a:prstGeom>
          <a:noFill/>
        </p:spPr>
        <p:txBody>
          <a:bodyPr wrap="square" anchor="t" lIns="0" rIns="0" tIns="0" bIns="0">
            <a:spAutoFit/>
          </a:bodyPr>
          <a:lstStyle/>
          <a:p>
            <a:pPr algn="l"/>
            <a:r>
              <a:rPr sz="1000" b="1" i="0" u="none">
                <a:solidFill>
                  <a:srgbClr val="00848A"/>
                </a:solidFill>
                <a:latin typeface="Consolas"/>
              </a:rPr>
              <a:t>B1</a:t>
            </a:r>
          </a:p>
        </p:txBody>
      </p:sp>
      <p:sp>
        <p:nvSpPr>
          <p:cNvPr id="13" name="TextBox 12"/>
          <p:cNvSpPr txBox="1"/>
          <p:nvPr/>
        </p:nvSpPr>
        <p:spPr>
          <a:xfrm>
            <a:off x="3849624" y="1664208"/>
            <a:ext cx="1883664" cy="237744"/>
          </a:xfrm>
          <a:prstGeom prst="rect">
            <a:avLst/>
          </a:prstGeom>
          <a:noFill/>
        </p:spPr>
        <p:txBody>
          <a:bodyPr wrap="square" anchor="t" lIns="0" rIns="0" tIns="0" bIns="0">
            <a:spAutoFit/>
          </a:bodyPr>
          <a:lstStyle/>
          <a:p>
            <a:pPr algn="l"/>
            <a:r>
              <a:rPr sz="1170" b="1" i="0" u="none">
                <a:solidFill>
                  <a:srgbClr val="24355B"/>
                </a:solidFill>
                <a:latin typeface="Cambria"/>
              </a:rPr>
              <a:t>Strong conventional</a:t>
            </a:r>
          </a:p>
        </p:txBody>
      </p:sp>
      <p:sp>
        <p:nvSpPr>
          <p:cNvPr id="14" name="TextBox 13"/>
          <p:cNvSpPr txBox="1"/>
          <p:nvPr/>
        </p:nvSpPr>
        <p:spPr>
          <a:xfrm>
            <a:off x="3429000" y="2002536"/>
            <a:ext cx="2322576" cy="530352"/>
          </a:xfrm>
          <a:prstGeom prst="rect">
            <a:avLst/>
          </a:prstGeom>
          <a:noFill/>
        </p:spPr>
        <p:txBody>
          <a:bodyPr wrap="square" anchor="t" lIns="0" rIns="0" tIns="0" bIns="0">
            <a:spAutoFit/>
          </a:bodyPr>
          <a:lstStyle/>
          <a:p>
            <a:pPr algn="l"/>
            <a:r>
              <a:rPr sz="900" b="0" i="0" u="none">
                <a:solidFill>
                  <a:srgbClr val="1F2D3D"/>
                </a:solidFill>
                <a:latin typeface="Calibri"/>
              </a:rPr>
              <a:t>Provenance, policy/security controls, checkpoints, HITL, tracing and evaluation.</a:t>
            </a:r>
          </a:p>
        </p:txBody>
      </p:sp>
      <p:sp>
        <p:nvSpPr>
          <p:cNvPr id="15" name="Rounded Rectangle 14"/>
          <p:cNvSpPr/>
          <p:nvPr/>
        </p:nvSpPr>
        <p:spPr>
          <a:xfrm>
            <a:off x="6071616" y="1572768"/>
            <a:ext cx="2542032" cy="1078992"/>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1344" y="1664208"/>
            <a:ext cx="384048" cy="201168"/>
          </a:xfrm>
          <a:prstGeom prst="rect">
            <a:avLst/>
          </a:prstGeom>
          <a:noFill/>
        </p:spPr>
        <p:txBody>
          <a:bodyPr wrap="square" anchor="t" lIns="0" rIns="0" tIns="0" bIns="0">
            <a:spAutoFit/>
          </a:bodyPr>
          <a:lstStyle/>
          <a:p>
            <a:pPr algn="l"/>
            <a:r>
              <a:rPr sz="1000" b="1" i="0" u="none">
                <a:solidFill>
                  <a:srgbClr val="6A4C93"/>
                </a:solidFill>
                <a:latin typeface="Consolas"/>
              </a:rPr>
              <a:t>B2</a:t>
            </a:r>
          </a:p>
        </p:txBody>
      </p:sp>
      <p:sp>
        <p:nvSpPr>
          <p:cNvPr id="17" name="TextBox 16"/>
          <p:cNvSpPr txBox="1"/>
          <p:nvPr/>
        </p:nvSpPr>
        <p:spPr>
          <a:xfrm>
            <a:off x="6601968" y="1664208"/>
            <a:ext cx="1883664" cy="237744"/>
          </a:xfrm>
          <a:prstGeom prst="rect">
            <a:avLst/>
          </a:prstGeom>
          <a:noFill/>
        </p:spPr>
        <p:txBody>
          <a:bodyPr wrap="square" anchor="t" lIns="0" rIns="0" tIns="0" bIns="0">
            <a:spAutoFit/>
          </a:bodyPr>
          <a:lstStyle/>
          <a:p>
            <a:pPr algn="l"/>
            <a:r>
              <a:rPr sz="1170" b="1" i="0" u="none">
                <a:solidFill>
                  <a:srgbClr val="24355B"/>
                </a:solidFill>
                <a:latin typeface="Cambria"/>
              </a:rPr>
              <a:t>Strong interoperable peer</a:t>
            </a:r>
          </a:p>
        </p:txBody>
      </p:sp>
      <p:sp>
        <p:nvSpPr>
          <p:cNvPr id="18" name="TextBox 17"/>
          <p:cNvSpPr txBox="1"/>
          <p:nvPr/>
        </p:nvSpPr>
        <p:spPr>
          <a:xfrm>
            <a:off x="6181344" y="2002536"/>
            <a:ext cx="2322576" cy="530352"/>
          </a:xfrm>
          <a:prstGeom prst="rect">
            <a:avLst/>
          </a:prstGeom>
          <a:noFill/>
        </p:spPr>
        <p:txBody>
          <a:bodyPr wrap="square" anchor="t" lIns="0" rIns="0" tIns="0" bIns="0">
            <a:spAutoFit/>
          </a:bodyPr>
          <a:lstStyle/>
          <a:p>
            <a:pPr algn="l"/>
            <a:r>
              <a:rPr sz="900" b="0" i="0" u="none">
                <a:solidFill>
                  <a:srgbClr val="1F2D3D"/>
                </a:solidFill>
                <a:latin typeface="Calibri"/>
              </a:rPr>
              <a:t>Identity/access, explicit handoff, cross-system observability and strongest relevant native controls.</a:t>
            </a:r>
          </a:p>
        </p:txBody>
      </p:sp>
      <p:sp>
        <p:nvSpPr>
          <p:cNvPr id="19" name="Rounded Rectangle 18"/>
          <p:cNvSpPr/>
          <p:nvPr/>
        </p:nvSpPr>
        <p:spPr>
          <a:xfrm>
            <a:off x="8823960" y="1572768"/>
            <a:ext cx="2542032" cy="1078992"/>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33688" y="1664208"/>
            <a:ext cx="384048" cy="201168"/>
          </a:xfrm>
          <a:prstGeom prst="rect">
            <a:avLst/>
          </a:prstGeom>
          <a:noFill/>
        </p:spPr>
        <p:txBody>
          <a:bodyPr wrap="square" anchor="t" lIns="0" rIns="0" tIns="0" bIns="0">
            <a:spAutoFit/>
          </a:bodyPr>
          <a:lstStyle/>
          <a:p>
            <a:pPr algn="l"/>
            <a:r>
              <a:rPr sz="1000" b="1" i="0" u="none">
                <a:solidFill>
                  <a:srgbClr val="D07800"/>
                </a:solidFill>
                <a:latin typeface="Consolas"/>
              </a:rPr>
              <a:t>B3</a:t>
            </a:r>
          </a:p>
        </p:txBody>
      </p:sp>
      <p:sp>
        <p:nvSpPr>
          <p:cNvPr id="21" name="TextBox 20"/>
          <p:cNvSpPr txBox="1"/>
          <p:nvPr/>
        </p:nvSpPr>
        <p:spPr>
          <a:xfrm>
            <a:off x="9354312" y="1664208"/>
            <a:ext cx="1883664" cy="237744"/>
          </a:xfrm>
          <a:prstGeom prst="rect">
            <a:avLst/>
          </a:prstGeom>
          <a:noFill/>
        </p:spPr>
        <p:txBody>
          <a:bodyPr wrap="square" anchor="t" lIns="0" rIns="0" tIns="0" bIns="0">
            <a:spAutoFit/>
          </a:bodyPr>
          <a:lstStyle/>
          <a:p>
            <a:pPr algn="l"/>
            <a:r>
              <a:rPr sz="1170" b="1" i="0" u="none">
                <a:solidFill>
                  <a:srgbClr val="24355B"/>
                </a:solidFill>
                <a:latin typeface="Cambria"/>
              </a:rPr>
              <a:t>B2 + EA semantics</a:t>
            </a:r>
          </a:p>
        </p:txBody>
      </p:sp>
      <p:sp>
        <p:nvSpPr>
          <p:cNvPr id="22" name="TextBox 21"/>
          <p:cNvSpPr txBox="1"/>
          <p:nvPr/>
        </p:nvSpPr>
        <p:spPr>
          <a:xfrm>
            <a:off x="8933688" y="2002536"/>
            <a:ext cx="2322576" cy="530352"/>
          </a:xfrm>
          <a:prstGeom prst="rect">
            <a:avLst/>
          </a:prstGeom>
          <a:noFill/>
        </p:spPr>
        <p:txBody>
          <a:bodyPr wrap="square" anchor="t" lIns="0" rIns="0" tIns="0" bIns="0">
            <a:spAutoFit/>
          </a:bodyPr>
          <a:lstStyle/>
          <a:p>
            <a:pPr algn="l"/>
            <a:r>
              <a:rPr sz="900" b="0" i="0" u="none">
                <a:solidFill>
                  <a:srgbClr val="1F2D3D"/>
                </a:solidFill>
                <a:latin typeface="Calibri"/>
              </a:rPr>
              <a:t>Minimum scoped qualification, non-fungible uncertainty and bounded requalification under test.</a:t>
            </a:r>
          </a:p>
        </p:txBody>
      </p:sp>
      <p:sp>
        <p:nvSpPr>
          <p:cNvPr id="23" name="Rounded Rectangle 22"/>
          <p:cNvSpPr/>
          <p:nvPr/>
        </p:nvSpPr>
        <p:spPr>
          <a:xfrm>
            <a:off x="566928" y="2907792"/>
            <a:ext cx="5349240" cy="2331720"/>
          </a:xfrm>
          <a:prstGeom prst="roundRect">
            <a:avLst/>
          </a:prstGeom>
          <a:solidFill>
            <a:srgbClr val="F3F6F8"/>
          </a:solidFill>
          <a:ln>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090672"/>
            <a:ext cx="4937760" cy="219456"/>
          </a:xfrm>
          <a:prstGeom prst="rect">
            <a:avLst/>
          </a:prstGeom>
          <a:noFill/>
        </p:spPr>
        <p:txBody>
          <a:bodyPr wrap="square" anchor="t" lIns="0" rIns="0" tIns="0" bIns="0">
            <a:spAutoFit/>
          </a:bodyPr>
          <a:lstStyle/>
          <a:p>
            <a:pPr algn="l"/>
            <a:r>
              <a:rPr sz="880" b="1" i="0" u="none">
                <a:solidFill>
                  <a:srgbClr val="24355B"/>
                </a:solidFill>
                <a:latin typeface="Consolas"/>
              </a:rPr>
              <a:t>DECISION RULE</a:t>
            </a:r>
          </a:p>
        </p:txBody>
      </p:sp>
      <p:sp>
        <p:nvSpPr>
          <p:cNvPr id="25" name="TextBox 24"/>
          <p:cNvSpPr txBox="1"/>
          <p:nvPr/>
        </p:nvSpPr>
        <p:spPr>
          <a:xfrm>
            <a:off x="768096" y="3401568"/>
            <a:ext cx="4864608" cy="1078992"/>
          </a:xfrm>
          <a:prstGeom prst="rect">
            <a:avLst/>
          </a:prstGeom>
          <a:noFill/>
        </p:spPr>
        <p:txBody>
          <a:bodyPr wrap="square" anchor="t" lIns="0" rIns="0" tIns="0" bIns="0">
            <a:spAutoFit/>
          </a:bodyPr>
          <a:lstStyle/>
          <a:p>
            <a:pPr algn="l"/>
            <a:r>
              <a:rPr sz="1019" b="0" i="0" u="none">
                <a:solidFill>
                  <a:srgbClr val="1F2D3D"/>
                </a:solidFill>
                <a:latin typeface="Calibri"/>
              </a:rPr>
              <a:t>• All arms receive the same frozen facts, evidence access, authority, compute/token ceiling, communication budget, human capacity and deadline.
• If B1/B2 reproduces the proposed behaviour with equal or lower burden, that result counts against differentiation.
• Comparison is made on an outcome–burden–accountability frontier, not on a vendor league table.</a:t>
            </a:r>
          </a:p>
        </p:txBody>
      </p:sp>
      <p:sp>
        <p:nvSpPr>
          <p:cNvPr id="26" name="TextBox 25"/>
          <p:cNvSpPr txBox="1"/>
          <p:nvPr/>
        </p:nvSpPr>
        <p:spPr>
          <a:xfrm>
            <a:off x="768096" y="4754880"/>
            <a:ext cx="2423160" cy="164592"/>
          </a:xfrm>
          <a:prstGeom prst="rect">
            <a:avLst/>
          </a:prstGeom>
          <a:noFill/>
        </p:spPr>
        <p:txBody>
          <a:bodyPr wrap="square" anchor="t" lIns="0" rIns="0" tIns="0" bIns="0">
            <a:spAutoFit/>
          </a:bodyPr>
          <a:lstStyle/>
          <a:p>
            <a:pPr algn="l"/>
            <a:r>
              <a:rPr sz="880" b="1" i="0" u="sng">
                <a:solidFill>
                  <a:srgbClr val="2F6FB2"/>
                </a:solidFill>
                <a:latin typeface="Calibri"/>
                <a:hlinkClick r:id="rId8"/>
              </a:rPr>
              <a:t>Canonical benchmark v0.2</a:t>
            </a:r>
          </a:p>
        </p:txBody>
      </p:sp>
      <p:sp>
        <p:nvSpPr>
          <p:cNvPr id="27" name="TextBox 26"/>
          <p:cNvSpPr txBox="1"/>
          <p:nvPr/>
        </p:nvSpPr>
        <p:spPr>
          <a:xfrm>
            <a:off x="3127248" y="4754880"/>
            <a:ext cx="2423160" cy="164592"/>
          </a:xfrm>
          <a:prstGeom prst="rect">
            <a:avLst/>
          </a:prstGeom>
          <a:noFill/>
        </p:spPr>
        <p:txBody>
          <a:bodyPr wrap="square" anchor="t" lIns="0" rIns="0" tIns="0" bIns="0">
            <a:spAutoFit/>
          </a:bodyPr>
          <a:lstStyle/>
          <a:p>
            <a:pPr algn="l"/>
            <a:r>
              <a:rPr sz="880" b="1" i="0" u="sng">
                <a:solidFill>
                  <a:srgbClr val="2F6FB2"/>
                </a:solidFill>
                <a:latin typeface="Calibri"/>
                <a:hlinkClick r:id="rId10"/>
              </a:rPr>
              <a:t>Benchmark vNext v0.3</a:t>
            </a:r>
          </a:p>
        </p:txBody>
      </p:sp>
      <p:sp>
        <p:nvSpPr>
          <p:cNvPr id="28" name="Rounded Rectangle 27"/>
          <p:cNvSpPr/>
          <p:nvPr/>
        </p:nvSpPr>
        <p:spPr>
          <a:xfrm>
            <a:off x="6144768" y="2907792"/>
            <a:ext cx="5257800" cy="2331720"/>
          </a:xfrm>
          <a:prstGeom prst="roundRect">
            <a:avLst/>
          </a:prstGeom>
          <a:solidFill>
            <a:srgbClr val="FFFFFF"/>
          </a:solidFill>
          <a:ln w="15875">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3090672"/>
            <a:ext cx="4754880" cy="219456"/>
          </a:xfrm>
          <a:prstGeom prst="rect">
            <a:avLst/>
          </a:prstGeom>
          <a:noFill/>
        </p:spPr>
        <p:txBody>
          <a:bodyPr wrap="square" anchor="t" lIns="0" rIns="0" tIns="0" bIns="0">
            <a:spAutoFit/>
          </a:bodyPr>
          <a:lstStyle/>
          <a:p>
            <a:pPr algn="l"/>
            <a:r>
              <a:rPr sz="880" b="1" i="0" u="none">
                <a:solidFill>
                  <a:srgbClr val="00848A"/>
                </a:solidFill>
                <a:latin typeface="Consolas"/>
              </a:rPr>
              <a:t>PUBLIC RANKING / APPLIED VALIDATION</a:t>
            </a:r>
          </a:p>
        </p:txBody>
      </p:sp>
      <p:sp>
        <p:nvSpPr>
          <p:cNvPr id="30" name="TextBox 29"/>
          <p:cNvSpPr txBox="1"/>
          <p:nvPr/>
        </p:nvSpPr>
        <p:spPr>
          <a:xfrm>
            <a:off x="6345936" y="3401568"/>
            <a:ext cx="4718304" cy="1115568"/>
          </a:xfrm>
          <a:prstGeom prst="rect">
            <a:avLst/>
          </a:prstGeom>
          <a:noFill/>
        </p:spPr>
        <p:txBody>
          <a:bodyPr wrap="square" anchor="t" lIns="0" rIns="0" tIns="0" bIns="0">
            <a:spAutoFit/>
          </a:bodyPr>
          <a:lstStyle/>
          <a:p>
            <a:pPr algn="l"/>
            <a:r>
              <a:rPr sz="969" b="0" i="0" u="none">
                <a:solidFill>
                  <a:srgbClr val="1F2D3D"/>
                </a:solidFill>
                <a:latin typeface="Calibri"/>
              </a:rPr>
              <a:t>1. Hard admission gates: semantic integrity · authority integrity · continuity · traceability.
2. Among admitted configurations: outcome / burden / accountability + Pareto review.
3. Evidence maturity: DBC-EL0 Defined → EL1 Mapped → EL2 Deterministic → EL3 Comparative → EL4 Interoperable → EL5 Replicated / applied.
No single compensating universal score is permitted.</a:t>
            </a:r>
          </a:p>
        </p:txBody>
      </p:sp>
      <p:sp>
        <p:nvSpPr>
          <p:cNvPr id="31" name="TextBox 30"/>
          <p:cNvSpPr txBox="1"/>
          <p:nvPr/>
        </p:nvSpPr>
        <p:spPr>
          <a:xfrm>
            <a:off x="6345936" y="4754880"/>
            <a:ext cx="4389120" cy="164592"/>
          </a:xfrm>
          <a:prstGeom prst="rect">
            <a:avLst/>
          </a:prstGeom>
          <a:noFill/>
        </p:spPr>
        <p:txBody>
          <a:bodyPr wrap="square" anchor="t" lIns="0" rIns="0" tIns="0" bIns="0">
            <a:spAutoFit/>
          </a:bodyPr>
          <a:lstStyle/>
          <a:p>
            <a:pPr algn="l"/>
            <a:r>
              <a:rPr sz="880" b="1" i="0" u="sng">
                <a:solidFill>
                  <a:srgbClr val="2F6FB2"/>
                </a:solidFill>
                <a:latin typeface="Calibri"/>
                <a:hlinkClick r:id="rId11"/>
              </a:rPr>
              <a:t>Decision Boundary Challenge v0.2 — public ranking-by-evidence</a:t>
            </a:r>
          </a:p>
        </p:txBody>
      </p:sp>
      <p:sp>
        <p:nvSpPr>
          <p:cNvPr id="32" name="Rounded Rectangle 31"/>
          <p:cNvSpPr/>
          <p:nvPr/>
        </p:nvSpPr>
        <p:spPr>
          <a:xfrm>
            <a:off x="566928" y="5449824"/>
            <a:ext cx="10835640" cy="530352"/>
          </a:xfrm>
          <a:prstGeom prst="roundRect">
            <a:avLst/>
          </a:prstGeom>
          <a:solidFill>
            <a:srgbClr val="FFFFFF"/>
          </a:solidFill>
          <a:ln>
            <a:solidFill>
              <a:srgbClr val="D07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 y="5577840"/>
            <a:ext cx="10378440" cy="237744"/>
          </a:xfrm>
          <a:prstGeom prst="rect">
            <a:avLst/>
          </a:prstGeom>
          <a:noFill/>
        </p:spPr>
        <p:txBody>
          <a:bodyPr wrap="square" anchor="t" lIns="0" rIns="0" tIns="0" bIns="0">
            <a:spAutoFit/>
          </a:bodyPr>
          <a:lstStyle/>
          <a:p>
            <a:pPr algn="l"/>
            <a:r>
              <a:rPr sz="980" b="1" i="0" u="none">
                <a:solidFill>
                  <a:srgbClr val="24355B"/>
                </a:solidFill>
                <a:latin typeface="Calibri"/>
              </a:rPr>
              <a:t>DIFFERENTIAL UNDER TEST  —  Does the composed architecture improve the declared outcome–burden–accountability frontier, or preserve the same outcome with a simpler accountable surface?</a:t>
            </a:r>
          </a:p>
        </p:txBody>
      </p:sp>
      <p:sp>
        <p:nvSpPr>
          <p:cNvPr id="34" name="TextBox 33"/>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8"/>
              </a:rPr>
              <a:t>Canonical benchmark v0.2</a:t>
            </a:r>
            <a:r>
              <a:rPr sz="680">
                <a:solidFill>
                  <a:srgbClr val="727A86"/>
                </a:solidFill>
                <a:latin typeface="Calibri"/>
              </a:rPr>
              <a:t>  ·  </a:t>
            </a:r>
            <a:r>
              <a:rPr sz="680" b="0" u="sng">
                <a:solidFill>
                  <a:srgbClr val="2F6FB2"/>
                </a:solidFill>
                <a:latin typeface="Calibri"/>
                <a:hlinkClick r:id="rId12"/>
              </a:rPr>
              <a:t>Public ranking · DBC v0.2</a:t>
            </a:r>
          </a:p>
        </p:txBody>
      </p:sp>
    </p:spTree>
    <p:extLst>
      <p:ext uri="{BB962C8B-B14F-4D97-AF65-F5344CB8AC3E}">
        <p14:creationId xmlns:p14="http://schemas.microsoft.com/office/powerpoint/2010/main" val="1483828426"/>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64592"/>
            <a:ext cx="3200400" cy="201168"/>
          </a:xfrm>
          <a:prstGeom prst="rect">
            <a:avLst/>
          </a:prstGeom>
          <a:noFill/>
        </p:spPr>
        <p:txBody>
          <a:bodyPr wrap="square" anchor="t" lIns="0" rIns="0" tIns="0" bIns="0">
            <a:spAutoFit/>
          </a:bodyPr>
          <a:lstStyle/>
          <a:p>
            <a:pPr algn="l"/>
            <a:r>
              <a:rPr sz="850" b="0" i="0" u="none">
                <a:solidFill>
                  <a:srgbClr val="1F2D3D"/>
                </a:solidFill>
                <a:latin typeface="Consolas"/>
              </a:rPr>
              <a:t>BENCHMARK WALKED EXAMPLE</a:t>
            </a:r>
          </a:p>
        </p:txBody>
      </p:sp>
      <p:sp>
        <p:nvSpPr>
          <p:cNvPr id="3" name="TextBox 2"/>
          <p:cNvSpPr txBox="1"/>
          <p:nvPr/>
        </p:nvSpPr>
        <p:spPr>
          <a:xfrm>
            <a:off x="10716768" y="164592"/>
            <a:ext cx="685800" cy="201168"/>
          </a:xfrm>
          <a:prstGeom prst="rect">
            <a:avLst/>
          </a:prstGeom>
          <a:noFill/>
        </p:spPr>
        <p:txBody>
          <a:bodyPr wrap="square" anchor="t" lIns="0" rIns="0" tIns="0" bIns="0">
            <a:spAutoFit/>
          </a:bodyPr>
          <a:lstStyle/>
          <a:p>
            <a:pPr algn="r"/>
            <a:r>
              <a:rPr sz="850" b="0" i="0" u="none">
                <a:solidFill>
                  <a:srgbClr val="1F2D3D"/>
                </a:solidFill>
                <a:latin typeface="Consolas"/>
              </a:rPr>
              <a:t>§ B3</a:t>
            </a:r>
          </a:p>
        </p:txBody>
      </p:sp>
      <p:sp>
        <p:nvSpPr>
          <p:cNvPr id="4" name="TextBox 3"/>
          <p:cNvSpPr txBox="1"/>
          <p:nvPr/>
        </p:nvSpPr>
        <p:spPr>
          <a:xfrm>
            <a:off x="566928" y="640080"/>
            <a:ext cx="10515600" cy="420624"/>
          </a:xfrm>
          <a:prstGeom prst="rect">
            <a:avLst/>
          </a:prstGeom>
          <a:noFill/>
        </p:spPr>
        <p:txBody>
          <a:bodyPr wrap="square" anchor="t" lIns="0" rIns="0" tIns="0" bIns="0">
            <a:spAutoFit/>
          </a:bodyPr>
          <a:lstStyle/>
          <a:p>
            <a:pPr algn="l"/>
            <a:r>
              <a:rPr sz="2350" b="1">
                <a:solidFill>
                  <a:srgbClr val="24355B"/>
                </a:solidFill>
                <a:latin typeface="Cambria"/>
                <a:hlinkClick r:id="rId2"/>
              </a:rPr>
              <a:t>Worked example — 00F Chaos in the Smartcity</a:t>
            </a:r>
          </a:p>
        </p:txBody>
      </p:sp>
      <p:sp>
        <p:nvSpPr>
          <p:cNvPr id="5" name="TextBox 4"/>
          <p:cNvSpPr txBox="1"/>
          <p:nvPr/>
        </p:nvSpPr>
        <p:spPr>
          <a:xfrm>
            <a:off x="566928" y="1078992"/>
            <a:ext cx="10515600" cy="329184"/>
          </a:xfrm>
          <a:prstGeom prst="rect">
            <a:avLst/>
          </a:prstGeom>
          <a:noFill/>
        </p:spPr>
        <p:txBody>
          <a:bodyPr wrap="square" anchor="t" lIns="0" rIns="0" tIns="0" bIns="0">
            <a:spAutoFit/>
          </a:bodyPr>
          <a:lstStyle/>
          <a:p>
            <a:pPr algn="l"/>
            <a:r>
              <a:rPr sz="1120" b="0">
                <a:solidFill>
                  <a:srgbClr val="5D6775"/>
                </a:solidFill>
                <a:latin typeface="Calibri"/>
              </a:rPr>
              <a:t>One conforming quality-plan route, shown end to end. The same requirements → gate → bounded-recovery logic is documented for each reference scenario.</a:t>
            </a:r>
          </a:p>
        </p:txBody>
      </p:sp>
      <p:sp>
        <p:nvSpPr>
          <p:cNvPr id="6" name="Rectangle 5"/>
          <p:cNvSpPr/>
          <p:nvPr/>
        </p:nvSpPr>
        <p:spPr>
          <a:xfrm>
            <a:off x="566928" y="457200"/>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508760"/>
            <a:ext cx="3456432" cy="749808"/>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581912"/>
            <a:ext cx="347472" cy="164592"/>
          </a:xfrm>
          <a:prstGeom prst="rect">
            <a:avLst/>
          </a:prstGeom>
          <a:noFill/>
        </p:spPr>
        <p:txBody>
          <a:bodyPr wrap="square" anchor="t" lIns="0" rIns="0" tIns="0" bIns="0">
            <a:spAutoFit/>
          </a:bodyPr>
          <a:lstStyle/>
          <a:p>
            <a:pPr algn="l"/>
            <a:r>
              <a:rPr sz="930" b="1" i="0" u="none">
                <a:solidFill>
                  <a:srgbClr val="2F6FB2"/>
                </a:solidFill>
                <a:latin typeface="Consolas"/>
              </a:rPr>
              <a:t>R0</a:t>
            </a:r>
          </a:p>
        </p:txBody>
      </p:sp>
      <p:sp>
        <p:nvSpPr>
          <p:cNvPr id="9" name="TextBox 8"/>
          <p:cNvSpPr txBox="1"/>
          <p:nvPr/>
        </p:nvSpPr>
        <p:spPr>
          <a:xfrm>
            <a:off x="1069848" y="1572768"/>
            <a:ext cx="2697480" cy="164592"/>
          </a:xfrm>
          <a:prstGeom prst="rect">
            <a:avLst/>
          </a:prstGeom>
          <a:noFill/>
        </p:spPr>
        <p:txBody>
          <a:bodyPr wrap="square" anchor="t" lIns="0" rIns="0" tIns="0" bIns="0">
            <a:spAutoFit/>
          </a:bodyPr>
          <a:lstStyle/>
          <a:p>
            <a:pPr algn="l"/>
            <a:r>
              <a:rPr sz="1070" b="1" i="0" u="none">
                <a:solidFill>
                  <a:srgbClr val="24355B"/>
                </a:solidFill>
                <a:latin typeface="Cambria"/>
              </a:rPr>
              <a:t>Standard competent</a:t>
            </a:r>
          </a:p>
        </p:txBody>
      </p:sp>
      <p:sp>
        <p:nvSpPr>
          <p:cNvPr id="10" name="TextBox 9"/>
          <p:cNvSpPr txBox="1"/>
          <p:nvPr/>
        </p:nvSpPr>
        <p:spPr>
          <a:xfrm>
            <a:off x="676656" y="1819656"/>
            <a:ext cx="3236976" cy="320040"/>
          </a:xfrm>
          <a:prstGeom prst="rect">
            <a:avLst/>
          </a:prstGeom>
          <a:noFill/>
        </p:spPr>
        <p:txBody>
          <a:bodyPr wrap="square" anchor="t" lIns="0" rIns="0" tIns="0" bIns="0">
            <a:spAutoFit/>
          </a:bodyPr>
          <a:lstStyle/>
          <a:p>
            <a:pPr algn="l"/>
            <a:r>
              <a:rPr sz="850" b="0" i="0" u="none">
                <a:solidFill>
                  <a:srgbClr val="1F2D3D"/>
                </a:solidFill>
                <a:latin typeface="Calibri"/>
              </a:rPr>
              <a:t>Authenticated events + local rules + local safety; cross-actor composition may still be absent.</a:t>
            </a:r>
          </a:p>
        </p:txBody>
      </p:sp>
      <p:sp>
        <p:nvSpPr>
          <p:cNvPr id="11" name="Rounded Rectangle 10"/>
          <p:cNvSpPr/>
          <p:nvPr/>
        </p:nvSpPr>
        <p:spPr>
          <a:xfrm>
            <a:off x="4087368" y="1508760"/>
            <a:ext cx="3456432" cy="749808"/>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97096" y="1581912"/>
            <a:ext cx="347472" cy="164592"/>
          </a:xfrm>
          <a:prstGeom prst="rect">
            <a:avLst/>
          </a:prstGeom>
          <a:noFill/>
        </p:spPr>
        <p:txBody>
          <a:bodyPr wrap="square" anchor="t" lIns="0" rIns="0" tIns="0" bIns="0">
            <a:spAutoFit/>
          </a:bodyPr>
          <a:lstStyle/>
          <a:p>
            <a:pPr algn="l"/>
            <a:r>
              <a:rPr sz="930" b="1" i="0" u="none">
                <a:solidFill>
                  <a:srgbClr val="00848A"/>
                </a:solidFill>
                <a:latin typeface="Consolas"/>
              </a:rPr>
              <a:t>R1</a:t>
            </a:r>
          </a:p>
        </p:txBody>
      </p:sp>
      <p:sp>
        <p:nvSpPr>
          <p:cNvPr id="13" name="TextBox 12"/>
          <p:cNvSpPr txBox="1"/>
          <p:nvPr/>
        </p:nvSpPr>
        <p:spPr>
          <a:xfrm>
            <a:off x="4590288" y="1572768"/>
            <a:ext cx="2697480" cy="164592"/>
          </a:xfrm>
          <a:prstGeom prst="rect">
            <a:avLst/>
          </a:prstGeom>
          <a:noFill/>
        </p:spPr>
        <p:txBody>
          <a:bodyPr wrap="square" anchor="t" lIns="0" rIns="0" tIns="0" bIns="0">
            <a:spAutoFit/>
          </a:bodyPr>
          <a:lstStyle/>
          <a:p>
            <a:pPr algn="l"/>
            <a:r>
              <a:rPr sz="1070" b="1" i="0" u="none">
                <a:solidFill>
                  <a:srgbClr val="24355B"/>
                </a:solidFill>
                <a:latin typeface="Cambria"/>
              </a:rPr>
              <a:t>Defended top-notch</a:t>
            </a:r>
          </a:p>
        </p:txBody>
      </p:sp>
      <p:sp>
        <p:nvSpPr>
          <p:cNvPr id="14" name="TextBox 13"/>
          <p:cNvSpPr txBox="1"/>
          <p:nvPr/>
        </p:nvSpPr>
        <p:spPr>
          <a:xfrm>
            <a:off x="4197096" y="1819656"/>
            <a:ext cx="3236976" cy="320040"/>
          </a:xfrm>
          <a:prstGeom prst="rect">
            <a:avLst/>
          </a:prstGeom>
          <a:noFill/>
        </p:spPr>
        <p:txBody>
          <a:bodyPr wrap="square" anchor="t" lIns="0" rIns="0" tIns="0" bIns="0">
            <a:spAutoFit/>
          </a:bodyPr>
          <a:lstStyle/>
          <a:p>
            <a:pPr algn="l"/>
            <a:r>
              <a:rPr sz="850" b="0" i="0" u="none">
                <a:solidFill>
                  <a:srgbClr val="1F2D3D"/>
                </a:solidFill>
                <a:latin typeface="Calibri"/>
              </a:rPr>
              <a:t>Known dependencies, temporal/freshness controls, conflict logic, finite review queues and bounded fallback.</a:t>
            </a:r>
          </a:p>
        </p:txBody>
      </p:sp>
      <p:sp>
        <p:nvSpPr>
          <p:cNvPr id="15" name="Rounded Rectangle 14"/>
          <p:cNvSpPr/>
          <p:nvPr/>
        </p:nvSpPr>
        <p:spPr>
          <a:xfrm>
            <a:off x="7607808" y="1508760"/>
            <a:ext cx="3456432" cy="749808"/>
          </a:xfrm>
          <a:prstGeom prst="roundRect">
            <a:avLst/>
          </a:prstGeom>
          <a:solidFill>
            <a:srgbClr val="FFFFFF"/>
          </a:solidFill>
          <a:ln w="12700">
            <a:solidFill>
              <a:srgbClr val="D07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7536" y="1581912"/>
            <a:ext cx="347472" cy="164592"/>
          </a:xfrm>
          <a:prstGeom prst="rect">
            <a:avLst/>
          </a:prstGeom>
          <a:noFill/>
        </p:spPr>
        <p:txBody>
          <a:bodyPr wrap="square" anchor="t" lIns="0" rIns="0" tIns="0" bIns="0">
            <a:spAutoFit/>
          </a:bodyPr>
          <a:lstStyle/>
          <a:p>
            <a:pPr algn="l"/>
            <a:r>
              <a:rPr sz="930" b="1" i="0" u="none">
                <a:solidFill>
                  <a:srgbClr val="D07800"/>
                </a:solidFill>
                <a:latin typeface="Consolas"/>
              </a:rPr>
              <a:t>R2</a:t>
            </a:r>
          </a:p>
        </p:txBody>
      </p:sp>
      <p:sp>
        <p:nvSpPr>
          <p:cNvPr id="17" name="TextBox 16"/>
          <p:cNvSpPr txBox="1"/>
          <p:nvPr/>
        </p:nvSpPr>
        <p:spPr>
          <a:xfrm>
            <a:off x="8110728" y="1572768"/>
            <a:ext cx="2697480" cy="164592"/>
          </a:xfrm>
          <a:prstGeom prst="rect">
            <a:avLst/>
          </a:prstGeom>
          <a:noFill/>
        </p:spPr>
        <p:txBody>
          <a:bodyPr wrap="square" anchor="t" lIns="0" rIns="0" tIns="0" bIns="0">
            <a:spAutoFit/>
          </a:bodyPr>
          <a:lstStyle/>
          <a:p>
            <a:pPr algn="l"/>
            <a:r>
              <a:rPr sz="1070" b="1" i="0" u="none">
                <a:solidFill>
                  <a:srgbClr val="24355B"/>
                </a:solidFill>
                <a:latin typeface="Cambria"/>
              </a:rPr>
              <a:t>Same R1 frozen under drift</a:t>
            </a:r>
          </a:p>
        </p:txBody>
      </p:sp>
      <p:sp>
        <p:nvSpPr>
          <p:cNvPr id="18" name="TextBox 17"/>
          <p:cNvSpPr txBox="1"/>
          <p:nvPr/>
        </p:nvSpPr>
        <p:spPr>
          <a:xfrm>
            <a:off x="7717536" y="1819656"/>
            <a:ext cx="3236976" cy="320040"/>
          </a:xfrm>
          <a:prstGeom prst="rect">
            <a:avLst/>
          </a:prstGeom>
          <a:noFill/>
        </p:spPr>
        <p:txBody>
          <a:bodyPr wrap="square" anchor="t" lIns="0" rIns="0" tIns="0" bIns="0">
            <a:spAutoFit/>
          </a:bodyPr>
          <a:lstStyle/>
          <a:p>
            <a:pPr algn="l"/>
            <a:r>
              <a:rPr sz="850" b="0" i="0" u="none">
                <a:solidFill>
                  <a:srgbClr val="1F2D3D"/>
                </a:solidFill>
                <a:latin typeface="Calibri"/>
              </a:rPr>
              <a:t>Dependency / timing / model relation changes after R1 is frozen; the old validity model may become stale.</a:t>
            </a:r>
          </a:p>
        </p:txBody>
      </p:sp>
      <p:sp>
        <p:nvSpPr>
          <p:cNvPr id="19" name="Rounded Rectangle 18"/>
          <p:cNvSpPr/>
          <p:nvPr/>
        </p:nvSpPr>
        <p:spPr>
          <a:xfrm>
            <a:off x="566928" y="2542032"/>
            <a:ext cx="1618488" cy="914400"/>
          </a:xfrm>
          <a:prstGeom prst="roundRect">
            <a:avLst/>
          </a:prstGeom>
          <a:solidFill>
            <a:srgbClr val="FFFFFF"/>
          </a:solidFill>
          <a:ln w="1270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615184"/>
            <a:ext cx="320040" cy="164592"/>
          </a:xfrm>
          <a:prstGeom prst="rect">
            <a:avLst/>
          </a:prstGeom>
          <a:noFill/>
        </p:spPr>
        <p:txBody>
          <a:bodyPr wrap="square" anchor="t" lIns="0" rIns="0" tIns="0" bIns="0">
            <a:spAutoFit/>
          </a:bodyPr>
          <a:lstStyle/>
          <a:p>
            <a:pPr algn="l"/>
            <a:r>
              <a:rPr sz="880" b="1" i="0" u="none">
                <a:solidFill>
                  <a:srgbClr val="2F6FB2"/>
                </a:solidFill>
                <a:latin typeface="Consolas"/>
              </a:rPr>
              <a:t>Q0</a:t>
            </a:r>
          </a:p>
        </p:txBody>
      </p:sp>
      <p:sp>
        <p:nvSpPr>
          <p:cNvPr id="21" name="TextBox 20"/>
          <p:cNvSpPr txBox="1"/>
          <p:nvPr/>
        </p:nvSpPr>
        <p:spPr>
          <a:xfrm>
            <a:off x="64008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Frame shared use</a:t>
            </a:r>
          </a:p>
        </p:txBody>
      </p:sp>
      <p:sp>
        <p:nvSpPr>
          <p:cNvPr id="22" name="TextBox 21"/>
          <p:cNvSpPr txBox="1"/>
          <p:nvPr/>
        </p:nvSpPr>
        <p:spPr>
          <a:xfrm>
            <a:off x="64008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scope · owners · authority</a:t>
            </a:r>
          </a:p>
        </p:txBody>
      </p:sp>
      <p:sp>
        <p:nvSpPr>
          <p:cNvPr id="23" name="TextBox 22"/>
          <p:cNvSpPr txBox="1"/>
          <p:nvPr/>
        </p:nvSpPr>
        <p:spPr>
          <a:xfrm>
            <a:off x="2199132" y="2889504"/>
            <a:ext cx="137160" cy="164592"/>
          </a:xfrm>
          <a:prstGeom prst="rect">
            <a:avLst/>
          </a:prstGeom>
          <a:noFill/>
        </p:spPr>
        <p:txBody>
          <a:bodyPr wrap="square" anchor="t" lIns="0" rIns="0" tIns="0" bIns="0">
            <a:spAutoFit/>
          </a:bodyPr>
          <a:lstStyle/>
          <a:p>
            <a:pPr algn="ctr"/>
            <a:r>
              <a:rPr sz="1200" b="1" i="0" u="none">
                <a:solidFill>
                  <a:srgbClr val="24355B"/>
                </a:solidFill>
                <a:latin typeface="Calibri"/>
              </a:rPr>
              <a:t>→</a:t>
            </a:r>
          </a:p>
        </p:txBody>
      </p:sp>
      <p:sp>
        <p:nvSpPr>
          <p:cNvPr id="24" name="Rounded Rectangle 23"/>
          <p:cNvSpPr/>
          <p:nvPr/>
        </p:nvSpPr>
        <p:spPr>
          <a:xfrm>
            <a:off x="2350008" y="2542032"/>
            <a:ext cx="1618488" cy="914400"/>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23160" y="2615184"/>
            <a:ext cx="320040" cy="164592"/>
          </a:xfrm>
          <a:prstGeom prst="rect">
            <a:avLst/>
          </a:prstGeom>
          <a:noFill/>
        </p:spPr>
        <p:txBody>
          <a:bodyPr wrap="square" anchor="t" lIns="0" rIns="0" tIns="0" bIns="0">
            <a:spAutoFit/>
          </a:bodyPr>
          <a:lstStyle/>
          <a:p>
            <a:pPr algn="l"/>
            <a:r>
              <a:rPr sz="880" b="1" i="0" u="none">
                <a:solidFill>
                  <a:srgbClr val="00848A"/>
                </a:solidFill>
                <a:latin typeface="Consolas"/>
              </a:rPr>
              <a:t>Q1</a:t>
            </a:r>
          </a:p>
        </p:txBody>
      </p:sp>
      <p:sp>
        <p:nvSpPr>
          <p:cNvPr id="26" name="TextBox 25"/>
          <p:cNvSpPr txBox="1"/>
          <p:nvPr/>
        </p:nvSpPr>
        <p:spPr>
          <a:xfrm>
            <a:off x="242316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Material break</a:t>
            </a:r>
          </a:p>
        </p:txBody>
      </p:sp>
      <p:sp>
        <p:nvSpPr>
          <p:cNvPr id="27" name="TextBox 26"/>
          <p:cNvSpPr txBox="1"/>
          <p:nvPr/>
        </p:nvSpPr>
        <p:spPr>
          <a:xfrm>
            <a:off x="242316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freshness · dependence · UNKNOWN</a:t>
            </a:r>
          </a:p>
        </p:txBody>
      </p:sp>
      <p:sp>
        <p:nvSpPr>
          <p:cNvPr id="28" name="TextBox 27"/>
          <p:cNvSpPr txBox="1"/>
          <p:nvPr/>
        </p:nvSpPr>
        <p:spPr>
          <a:xfrm>
            <a:off x="3982212" y="2889504"/>
            <a:ext cx="137160" cy="164592"/>
          </a:xfrm>
          <a:prstGeom prst="rect">
            <a:avLst/>
          </a:prstGeom>
          <a:noFill/>
        </p:spPr>
        <p:txBody>
          <a:bodyPr wrap="square" anchor="t" lIns="0" rIns="0" tIns="0" bIns="0">
            <a:spAutoFit/>
          </a:bodyPr>
          <a:lstStyle/>
          <a:p>
            <a:pPr algn="ctr"/>
            <a:r>
              <a:rPr sz="1200" b="1" i="0" u="none">
                <a:solidFill>
                  <a:srgbClr val="24355B"/>
                </a:solidFill>
                <a:latin typeface="Calibri"/>
              </a:rPr>
              <a:t>→</a:t>
            </a:r>
          </a:p>
        </p:txBody>
      </p:sp>
      <p:sp>
        <p:nvSpPr>
          <p:cNvPr id="29" name="Rounded Rectangle 28"/>
          <p:cNvSpPr/>
          <p:nvPr/>
        </p:nvSpPr>
        <p:spPr>
          <a:xfrm>
            <a:off x="4133088" y="2542032"/>
            <a:ext cx="1618488" cy="914400"/>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06240" y="2615184"/>
            <a:ext cx="320040" cy="164592"/>
          </a:xfrm>
          <a:prstGeom prst="rect">
            <a:avLst/>
          </a:prstGeom>
          <a:noFill/>
        </p:spPr>
        <p:txBody>
          <a:bodyPr wrap="square" anchor="t" lIns="0" rIns="0" tIns="0" bIns="0">
            <a:spAutoFit/>
          </a:bodyPr>
          <a:lstStyle/>
          <a:p>
            <a:pPr algn="l"/>
            <a:r>
              <a:rPr sz="880" b="1" i="0" u="none">
                <a:solidFill>
                  <a:srgbClr val="00848A"/>
                </a:solidFill>
                <a:latin typeface="Consolas"/>
              </a:rPr>
              <a:t>Q2</a:t>
            </a:r>
          </a:p>
        </p:txBody>
      </p:sp>
      <p:sp>
        <p:nvSpPr>
          <p:cNvPr id="31" name="TextBox 30"/>
          <p:cNvSpPr txBox="1"/>
          <p:nvPr/>
        </p:nvSpPr>
        <p:spPr>
          <a:xfrm>
            <a:off x="420624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Compose postures</a:t>
            </a:r>
          </a:p>
        </p:txBody>
      </p:sp>
      <p:sp>
        <p:nvSpPr>
          <p:cNvPr id="32" name="TextBox 31"/>
          <p:cNvSpPr txBox="1"/>
          <p:nvPr/>
        </p:nvSpPr>
        <p:spPr>
          <a:xfrm>
            <a:off x="420624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A / B / NORMAL / HOLD</a:t>
            </a:r>
          </a:p>
        </p:txBody>
      </p:sp>
      <p:sp>
        <p:nvSpPr>
          <p:cNvPr id="33" name="TextBox 32"/>
          <p:cNvSpPr txBox="1"/>
          <p:nvPr/>
        </p:nvSpPr>
        <p:spPr>
          <a:xfrm>
            <a:off x="5765292" y="2889504"/>
            <a:ext cx="137160" cy="164592"/>
          </a:xfrm>
          <a:prstGeom prst="rect">
            <a:avLst/>
          </a:prstGeom>
          <a:noFill/>
        </p:spPr>
        <p:txBody>
          <a:bodyPr wrap="square" anchor="t" lIns="0" rIns="0" tIns="0" bIns="0">
            <a:spAutoFit/>
          </a:bodyPr>
          <a:lstStyle/>
          <a:p>
            <a:pPr algn="ctr"/>
            <a:r>
              <a:rPr sz="1200" b="1" i="0" u="none">
                <a:solidFill>
                  <a:srgbClr val="24355B"/>
                </a:solidFill>
                <a:latin typeface="Calibri"/>
              </a:rPr>
              <a:t>→</a:t>
            </a:r>
          </a:p>
        </p:txBody>
      </p:sp>
      <p:sp>
        <p:nvSpPr>
          <p:cNvPr id="34" name="Rounded Rectangle 33"/>
          <p:cNvSpPr/>
          <p:nvPr/>
        </p:nvSpPr>
        <p:spPr>
          <a:xfrm>
            <a:off x="5916168" y="2542032"/>
            <a:ext cx="1618488" cy="914400"/>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89320" y="2615184"/>
            <a:ext cx="320040" cy="164592"/>
          </a:xfrm>
          <a:prstGeom prst="rect">
            <a:avLst/>
          </a:prstGeom>
          <a:noFill/>
        </p:spPr>
        <p:txBody>
          <a:bodyPr wrap="square" anchor="t" lIns="0" rIns="0" tIns="0" bIns="0">
            <a:spAutoFit/>
          </a:bodyPr>
          <a:lstStyle/>
          <a:p>
            <a:pPr algn="l"/>
            <a:r>
              <a:rPr sz="880" b="1" i="0" u="none">
                <a:solidFill>
                  <a:srgbClr val="00848A"/>
                </a:solidFill>
                <a:latin typeface="Consolas"/>
              </a:rPr>
              <a:t>Q3</a:t>
            </a:r>
          </a:p>
        </p:txBody>
      </p:sp>
      <p:sp>
        <p:nvSpPr>
          <p:cNvPr id="36" name="TextBox 35"/>
          <p:cNvSpPr txBox="1"/>
          <p:nvPr/>
        </p:nvSpPr>
        <p:spPr>
          <a:xfrm>
            <a:off x="598932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Bounded posture</a:t>
            </a:r>
          </a:p>
        </p:txBody>
      </p:sp>
      <p:sp>
        <p:nvSpPr>
          <p:cNvPr id="37" name="TextBox 36"/>
          <p:cNvSpPr txBox="1"/>
          <p:nvPr/>
        </p:nvSpPr>
        <p:spPr>
          <a:xfrm>
            <a:off x="598932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contain · restrict · escalate</a:t>
            </a:r>
          </a:p>
        </p:txBody>
      </p:sp>
      <p:sp>
        <p:nvSpPr>
          <p:cNvPr id="38" name="TextBox 37"/>
          <p:cNvSpPr txBox="1"/>
          <p:nvPr/>
        </p:nvSpPr>
        <p:spPr>
          <a:xfrm>
            <a:off x="7548372" y="2889504"/>
            <a:ext cx="137160" cy="164592"/>
          </a:xfrm>
          <a:prstGeom prst="rect">
            <a:avLst/>
          </a:prstGeom>
          <a:noFill/>
        </p:spPr>
        <p:txBody>
          <a:bodyPr wrap="square" anchor="t" lIns="0" rIns="0" tIns="0" bIns="0">
            <a:spAutoFit/>
          </a:bodyPr>
          <a:lstStyle/>
          <a:p>
            <a:pPr algn="ctr"/>
            <a:r>
              <a:rPr sz="1200" b="1" i="0" u="none">
                <a:solidFill>
                  <a:srgbClr val="24355B"/>
                </a:solidFill>
                <a:latin typeface="Calibri"/>
              </a:rPr>
              <a:t>→</a:t>
            </a:r>
          </a:p>
        </p:txBody>
      </p:sp>
      <p:sp>
        <p:nvSpPr>
          <p:cNvPr id="39" name="Rounded Rectangle 38"/>
          <p:cNvSpPr/>
          <p:nvPr/>
        </p:nvSpPr>
        <p:spPr>
          <a:xfrm>
            <a:off x="7699248" y="2542032"/>
            <a:ext cx="1618488" cy="914400"/>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0" y="2615184"/>
            <a:ext cx="320040" cy="164592"/>
          </a:xfrm>
          <a:prstGeom prst="rect">
            <a:avLst/>
          </a:prstGeom>
          <a:noFill/>
        </p:spPr>
        <p:txBody>
          <a:bodyPr wrap="square" anchor="t" lIns="0" rIns="0" tIns="0" bIns="0">
            <a:spAutoFit/>
          </a:bodyPr>
          <a:lstStyle/>
          <a:p>
            <a:pPr algn="l"/>
            <a:r>
              <a:rPr sz="880" b="1" i="0" u="none">
                <a:solidFill>
                  <a:srgbClr val="00848A"/>
                </a:solidFill>
                <a:latin typeface="Consolas"/>
              </a:rPr>
              <a:t>Q4</a:t>
            </a:r>
          </a:p>
        </p:txBody>
      </p:sp>
      <p:sp>
        <p:nvSpPr>
          <p:cNvPr id="41" name="TextBox 40"/>
          <p:cNvSpPr txBox="1"/>
          <p:nvPr/>
        </p:nvSpPr>
        <p:spPr>
          <a:xfrm>
            <a:off x="777240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Targeted requalification</a:t>
            </a:r>
          </a:p>
        </p:txBody>
      </p:sp>
      <p:sp>
        <p:nvSpPr>
          <p:cNvPr id="42" name="TextBox 41"/>
          <p:cNvSpPr txBox="1"/>
          <p:nvPr/>
        </p:nvSpPr>
        <p:spPr>
          <a:xfrm>
            <a:off x="777240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reopen only material sources</a:t>
            </a:r>
          </a:p>
        </p:txBody>
      </p:sp>
      <p:sp>
        <p:nvSpPr>
          <p:cNvPr id="43" name="TextBox 42"/>
          <p:cNvSpPr txBox="1"/>
          <p:nvPr/>
        </p:nvSpPr>
        <p:spPr>
          <a:xfrm>
            <a:off x="9331452" y="2889504"/>
            <a:ext cx="137160" cy="164592"/>
          </a:xfrm>
          <a:prstGeom prst="rect">
            <a:avLst/>
          </a:prstGeom>
          <a:noFill/>
        </p:spPr>
        <p:txBody>
          <a:bodyPr wrap="square" anchor="t" lIns="0" rIns="0" tIns="0" bIns="0">
            <a:spAutoFit/>
          </a:bodyPr>
          <a:lstStyle/>
          <a:p>
            <a:pPr algn="ctr"/>
            <a:r>
              <a:rPr sz="1200" b="1" i="0" u="none">
                <a:solidFill>
                  <a:srgbClr val="24355B"/>
                </a:solidFill>
                <a:latin typeface="Calibri"/>
              </a:rPr>
              <a:t>→</a:t>
            </a:r>
          </a:p>
        </p:txBody>
      </p:sp>
      <p:sp>
        <p:nvSpPr>
          <p:cNvPr id="44" name="Rounded Rectangle 43"/>
          <p:cNvSpPr/>
          <p:nvPr/>
        </p:nvSpPr>
        <p:spPr>
          <a:xfrm>
            <a:off x="9482328" y="2542032"/>
            <a:ext cx="1618488" cy="914400"/>
          </a:xfrm>
          <a:prstGeom prst="roundRect">
            <a:avLst/>
          </a:prstGeom>
          <a:solidFill>
            <a:srgbClr val="FFFFFF"/>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55480" y="2615184"/>
            <a:ext cx="320040" cy="164592"/>
          </a:xfrm>
          <a:prstGeom prst="rect">
            <a:avLst/>
          </a:prstGeom>
          <a:noFill/>
        </p:spPr>
        <p:txBody>
          <a:bodyPr wrap="square" anchor="t" lIns="0" rIns="0" tIns="0" bIns="0">
            <a:spAutoFit/>
          </a:bodyPr>
          <a:lstStyle/>
          <a:p>
            <a:pPr algn="l"/>
            <a:r>
              <a:rPr sz="880" b="1" i="0" u="none">
                <a:solidFill>
                  <a:srgbClr val="00848A"/>
                </a:solidFill>
                <a:latin typeface="Consolas"/>
              </a:rPr>
              <a:t>Q5</a:t>
            </a:r>
          </a:p>
        </p:txBody>
      </p:sp>
      <p:sp>
        <p:nvSpPr>
          <p:cNvPr id="46" name="TextBox 45"/>
          <p:cNvSpPr txBox="1"/>
          <p:nvPr/>
        </p:nvSpPr>
        <p:spPr>
          <a:xfrm>
            <a:off x="9555480" y="2825496"/>
            <a:ext cx="1472184" cy="246888"/>
          </a:xfrm>
          <a:prstGeom prst="rect">
            <a:avLst/>
          </a:prstGeom>
          <a:noFill/>
        </p:spPr>
        <p:txBody>
          <a:bodyPr wrap="square" anchor="t" lIns="0" rIns="0" tIns="0" bIns="0">
            <a:spAutoFit/>
          </a:bodyPr>
          <a:lstStyle/>
          <a:p>
            <a:pPr algn="l"/>
            <a:r>
              <a:rPr sz="940" b="1" i="0" u="none">
                <a:solidFill>
                  <a:srgbClr val="24355B"/>
                </a:solidFill>
                <a:latin typeface="Cambria"/>
              </a:rPr>
              <a:t>Compose / resume</a:t>
            </a:r>
          </a:p>
        </p:txBody>
      </p:sp>
      <p:sp>
        <p:nvSpPr>
          <p:cNvPr id="47" name="TextBox 46"/>
          <p:cNvSpPr txBox="1"/>
          <p:nvPr/>
        </p:nvSpPr>
        <p:spPr>
          <a:xfrm>
            <a:off x="9555480" y="3108960"/>
            <a:ext cx="1472184" cy="219456"/>
          </a:xfrm>
          <a:prstGeom prst="rect">
            <a:avLst/>
          </a:prstGeom>
          <a:noFill/>
        </p:spPr>
        <p:txBody>
          <a:bodyPr wrap="square" anchor="t" lIns="0" rIns="0" tIns="0" bIns="0">
            <a:spAutoFit/>
          </a:bodyPr>
          <a:lstStyle/>
          <a:p>
            <a:pPr algn="l"/>
            <a:r>
              <a:rPr sz="780" b="0" i="0" u="none">
                <a:solidFill>
                  <a:srgbClr val="5D6775"/>
                </a:solidFill>
                <a:latin typeface="Calibri"/>
              </a:rPr>
              <a:t>segment · resume · explicit limit</a:t>
            </a:r>
          </a:p>
        </p:txBody>
      </p:sp>
      <p:sp>
        <p:nvSpPr>
          <p:cNvPr id="48" name="Rounded Rectangle 47"/>
          <p:cNvSpPr/>
          <p:nvPr/>
        </p:nvSpPr>
        <p:spPr>
          <a:xfrm>
            <a:off x="566928" y="3703320"/>
            <a:ext cx="5257800" cy="1426464"/>
          </a:xfrm>
          <a:prstGeom prst="roundRect">
            <a:avLst/>
          </a:prstGeom>
          <a:solidFill>
            <a:srgbClr val="FFFFFF"/>
          </a:solidFill>
          <a:ln w="15240">
            <a:solidFill>
              <a:srgbClr val="A74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3867912"/>
            <a:ext cx="1280160" cy="182880"/>
          </a:xfrm>
          <a:prstGeom prst="rect">
            <a:avLst/>
          </a:prstGeom>
          <a:noFill/>
        </p:spPr>
        <p:txBody>
          <a:bodyPr wrap="square" anchor="t" lIns="0" rIns="0" tIns="0" bIns="0">
            <a:spAutoFit/>
          </a:bodyPr>
          <a:lstStyle/>
          <a:p>
            <a:pPr algn="l"/>
            <a:r>
              <a:rPr sz="850" b="1" i="0" u="none">
                <a:solidFill>
                  <a:srgbClr val="A74D48"/>
                </a:solidFill>
                <a:latin typeface="Consolas"/>
              </a:rPr>
              <a:t>ROUTE N — bypass / failure</a:t>
            </a:r>
          </a:p>
        </p:txBody>
      </p:sp>
      <p:sp>
        <p:nvSpPr>
          <p:cNvPr id="50" name="TextBox 49"/>
          <p:cNvSpPr txBox="1"/>
          <p:nvPr/>
        </p:nvSpPr>
        <p:spPr>
          <a:xfrm>
            <a:off x="768096" y="4187952"/>
            <a:ext cx="4681728" cy="713232"/>
          </a:xfrm>
          <a:prstGeom prst="rect">
            <a:avLst/>
          </a:prstGeom>
          <a:noFill/>
        </p:spPr>
        <p:txBody>
          <a:bodyPr wrap="square" anchor="t" lIns="0" rIns="0" tIns="0" bIns="0">
            <a:spAutoFit/>
          </a:bodyPr>
          <a:lstStyle/>
          <a:p>
            <a:pPr algn="l"/>
            <a:r>
              <a:rPr sz="960" b="0" i="0" u="none">
                <a:solidFill>
                  <a:srgbClr val="1F2D3D"/>
                </a:solidFill>
                <a:latin typeface="Calibri"/>
              </a:rPr>
              <a:t>Q2 incompatibility is not composed → A / B / NORMAL / HOLD reach the same corridor → humans and retries consume the response margin → local collision avoidance succeeds → city-level gridlock blocks evacuation and rescue.</a:t>
            </a:r>
          </a:p>
        </p:txBody>
      </p:sp>
      <p:sp>
        <p:nvSpPr>
          <p:cNvPr id="51" name="Rounded Rectangle 50"/>
          <p:cNvSpPr/>
          <p:nvPr/>
        </p:nvSpPr>
        <p:spPr>
          <a:xfrm>
            <a:off x="6144768" y="3703320"/>
            <a:ext cx="5257800" cy="1426464"/>
          </a:xfrm>
          <a:prstGeom prst="roundRect">
            <a:avLst/>
          </a:prstGeom>
          <a:solidFill>
            <a:srgbClr val="FFFFFF"/>
          </a:solidFill>
          <a:ln w="1524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45936" y="3867912"/>
            <a:ext cx="1463040" cy="182880"/>
          </a:xfrm>
          <a:prstGeom prst="rect">
            <a:avLst/>
          </a:prstGeom>
          <a:noFill/>
        </p:spPr>
        <p:txBody>
          <a:bodyPr wrap="square" anchor="t" lIns="0" rIns="0" tIns="0" bIns="0">
            <a:spAutoFit/>
          </a:bodyPr>
          <a:lstStyle/>
          <a:p>
            <a:pPr algn="l"/>
            <a:r>
              <a:rPr sz="850" b="1" i="0" u="none">
                <a:solidFill>
                  <a:srgbClr val="00848A"/>
                </a:solidFill>
                <a:latin typeface="Consolas"/>
              </a:rPr>
              <a:t>ROUTE Q — conforming</a:t>
            </a:r>
          </a:p>
        </p:txBody>
      </p:sp>
      <p:sp>
        <p:nvSpPr>
          <p:cNvPr id="53" name="TextBox 52"/>
          <p:cNvSpPr txBox="1"/>
          <p:nvPr/>
        </p:nvSpPr>
        <p:spPr>
          <a:xfrm>
            <a:off x="6345936" y="4187952"/>
            <a:ext cx="4681728" cy="713232"/>
          </a:xfrm>
          <a:prstGeom prst="rect">
            <a:avLst/>
          </a:prstGeom>
          <a:noFill/>
        </p:spPr>
        <p:txBody>
          <a:bodyPr wrap="square" anchor="t" lIns="0" rIns="0" tIns="0" bIns="0">
            <a:spAutoFit/>
          </a:bodyPr>
          <a:lstStyle/>
          <a:p>
            <a:pPr algn="l"/>
            <a:r>
              <a:rPr sz="960" b="0" i="0" u="none">
                <a:solidFill>
                  <a:srgbClr val="1F2D3D"/>
                </a:solidFill>
                <a:latin typeface="Calibri"/>
              </a:rPr>
              <a:t>The shared resource-time conflict becomes explicit → bounded containment / segmentation is applied by the authorized owner → only material dependencies are reopened → Q5 resumes compatible use, preserves an explicit limit, or closes with no conclusion.</a:t>
            </a:r>
          </a:p>
        </p:txBody>
      </p:sp>
      <p:sp>
        <p:nvSpPr>
          <p:cNvPr id="54" name="Rounded Rectangle 53"/>
          <p:cNvSpPr/>
          <p:nvPr/>
        </p:nvSpPr>
        <p:spPr>
          <a:xfrm>
            <a:off x="566928" y="5285232"/>
            <a:ext cx="10835640" cy="694944"/>
          </a:xfrm>
          <a:prstGeom prst="roundRect">
            <a:avLst/>
          </a:prstGeom>
          <a:solidFill>
            <a:srgbClr val="F3F6F8"/>
          </a:solidFill>
          <a:ln>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68096" y="5394960"/>
            <a:ext cx="3977639" cy="420624"/>
          </a:xfrm>
          <a:prstGeom prst="rect">
            <a:avLst/>
          </a:prstGeom>
          <a:noFill/>
        </p:spPr>
        <p:txBody>
          <a:bodyPr wrap="square" anchor="t" lIns="0" rIns="0" tIns="0" bIns="0">
            <a:spAutoFit/>
          </a:bodyPr>
          <a:lstStyle/>
          <a:p>
            <a:pPr algn="l"/>
            <a:r>
              <a:rPr sz="880" b="1">
                <a:solidFill>
                  <a:srgbClr val="24355B"/>
                </a:solidFill>
                <a:latin typeface="Calibri"/>
              </a:rPr>
              <a:t>This is one worked example. Route Q is the conforming path for 00F; each scenario below links to its own quality-plan / requirements-conforming route.</a:t>
            </a:r>
          </a:p>
        </p:txBody>
      </p:sp>
      <p:sp>
        <p:nvSpPr>
          <p:cNvPr id="60" name="Rectangle 59"/>
          <p:cNvSpPr/>
          <p:nvPr/>
        </p:nvSpPr>
        <p:spPr>
          <a:xfrm>
            <a:off x="566928" y="6236208"/>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069080" y="6355080"/>
            <a:ext cx="3657600" cy="146304"/>
          </a:xfrm>
          <a:prstGeom prst="rect">
            <a:avLst/>
          </a:prstGeom>
          <a:noFill/>
        </p:spPr>
        <p:txBody>
          <a:bodyPr wrap="square" anchor="t" lIns="0" rIns="0" tIns="0" bIns="0">
            <a:spAutoFit/>
          </a:bodyPr>
          <a:lstStyle/>
          <a:p>
            <a:pPr algn="ctr"/>
            <a:r>
              <a:rPr sz="720" b="0" i="0" u="none">
                <a:solidFill>
                  <a:srgbClr val="5D6775"/>
                </a:solidFill>
                <a:latin typeface="Consolas"/>
              </a:rPr>
              <a:t>Ecosystem Awareness · Positioning architecture</a:t>
            </a:r>
          </a:p>
        </p:txBody>
      </p:sp>
      <p:sp>
        <p:nvSpPr>
          <p:cNvPr id="62" name="TextBox 61"/>
          <p:cNvSpPr txBox="1"/>
          <p:nvPr/>
        </p:nvSpPr>
        <p:spPr>
          <a:xfrm>
            <a:off x="11045952" y="6355080"/>
            <a:ext cx="274320" cy="146304"/>
          </a:xfrm>
          <a:prstGeom prst="rect">
            <a:avLst/>
          </a:prstGeom>
          <a:noFill/>
        </p:spPr>
        <p:txBody>
          <a:bodyPr wrap="square" anchor="t" lIns="0" rIns="0" tIns="0" bIns="0">
            <a:spAutoFit/>
          </a:bodyPr>
          <a:lstStyle/>
          <a:p>
            <a:pPr algn="r"/>
            <a:r>
              <a:rPr sz="880" b="0" i="0" u="none">
                <a:solidFill>
                  <a:srgbClr val="5D6775"/>
                </a:solidFill>
                <a:latin typeface="Calibri"/>
              </a:rPr>
              <a:t>16</a:t>
            </a:r>
          </a:p>
        </p:txBody>
      </p:sp>
      <p:sp>
        <p:nvSpPr>
          <p:cNvPr id="63" name="TextBox 62"/>
          <p:cNvSpPr txBox="1"/>
          <p:nvPr/>
        </p:nvSpPr>
        <p:spPr>
          <a:xfrm>
            <a:off x="4956048" y="5358384"/>
            <a:ext cx="6144768" cy="164592"/>
          </a:xfrm>
          <a:prstGeom prst="rect">
            <a:avLst/>
          </a:prstGeom>
          <a:noFill/>
        </p:spPr>
        <p:txBody>
          <a:bodyPr wrap="square" anchor="t" lIns="0" rIns="0" tIns="0" bIns="0">
            <a:spAutoFit/>
          </a:bodyPr>
          <a:lstStyle/>
          <a:p>
            <a:pPr algn="l"/>
            <a:r>
              <a:rPr sz="770" b="1">
                <a:solidFill>
                  <a:srgbClr val="00848A"/>
                </a:solidFill>
                <a:latin typeface="Consolas"/>
              </a:rPr>
              <a:t>OPEN THE CONFORMING QUALITY-PLAN ROUTES</a:t>
            </a:r>
          </a:p>
        </p:txBody>
      </p:sp>
      <p:sp>
        <p:nvSpPr>
          <p:cNvPr id="64" name="Rounded Rectangle 63"/>
          <p:cNvSpPr/>
          <p:nvPr/>
        </p:nvSpPr>
        <p:spPr>
          <a:xfrm>
            <a:off x="4956048"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10912"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6"/>
              </a:rPr>
              <a:t>00E · 100M</a:t>
            </a:r>
          </a:p>
        </p:txBody>
      </p:sp>
      <p:sp>
        <p:nvSpPr>
          <p:cNvPr id="66" name="Rounded Rectangle 65"/>
          <p:cNvSpPr/>
          <p:nvPr/>
        </p:nvSpPr>
        <p:spPr>
          <a:xfrm>
            <a:off x="5992367"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047231"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7"/>
              </a:rPr>
              <a:t>00F · Smartcity</a:t>
            </a:r>
          </a:p>
        </p:txBody>
      </p:sp>
      <p:sp>
        <p:nvSpPr>
          <p:cNvPr id="68" name="Rounded Rectangle 67"/>
          <p:cNvSpPr/>
          <p:nvPr/>
        </p:nvSpPr>
        <p:spPr>
          <a:xfrm>
            <a:off x="7028688"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083552"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8"/>
              </a:rPr>
              <a:t>00G · Napoleon</a:t>
            </a:r>
          </a:p>
        </p:txBody>
      </p:sp>
      <p:sp>
        <p:nvSpPr>
          <p:cNvPr id="70" name="Rounded Rectangle 69"/>
          <p:cNvSpPr/>
          <p:nvPr/>
        </p:nvSpPr>
        <p:spPr>
          <a:xfrm>
            <a:off x="8065008"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19872"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9"/>
              </a:rPr>
              <a:t>00H · Quiet 4K</a:t>
            </a:r>
          </a:p>
        </p:txBody>
      </p:sp>
      <p:sp>
        <p:nvSpPr>
          <p:cNvPr id="72" name="Rounded Rectangle 71"/>
          <p:cNvSpPr/>
          <p:nvPr/>
        </p:nvSpPr>
        <p:spPr>
          <a:xfrm>
            <a:off x="9101328"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56192"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10"/>
              </a:rPr>
              <a:t>00I · Patch</a:t>
            </a:r>
          </a:p>
        </p:txBody>
      </p:sp>
      <p:sp>
        <p:nvSpPr>
          <p:cNvPr id="74" name="Rounded Rectangle 73"/>
          <p:cNvSpPr/>
          <p:nvPr/>
        </p:nvSpPr>
        <p:spPr>
          <a:xfrm>
            <a:off x="10137648" y="5577840"/>
            <a:ext cx="963167" cy="274320"/>
          </a:xfrm>
          <a:prstGeom prst="roundRect">
            <a:avLst/>
          </a:prstGeom>
          <a:solidFill>
            <a:srgbClr val="FFFFFF"/>
          </a:solidFill>
          <a:ln w="13970">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92512" y="5641848"/>
            <a:ext cx="853439" cy="182880"/>
          </a:xfrm>
          <a:prstGeom prst="rect">
            <a:avLst/>
          </a:prstGeom>
          <a:noFill/>
        </p:spPr>
        <p:txBody>
          <a:bodyPr wrap="square" anchor="ctr" lIns="0" rIns="0" tIns="0" bIns="0">
            <a:spAutoFit/>
          </a:bodyPr>
          <a:lstStyle/>
          <a:p>
            <a:pPr algn="ctr"/>
            <a:r>
              <a:rPr sz="860" b="1">
                <a:solidFill>
                  <a:srgbClr val="2F6FB2"/>
                </a:solidFill>
                <a:latin typeface="Calibri"/>
                <a:hlinkClick r:id="rId11"/>
              </a:rPr>
              <a:t>00J · Author</a:t>
            </a:r>
          </a:p>
        </p:txBody>
      </p:sp>
      <p:sp>
        <p:nvSpPr>
          <p:cNvPr id="76" name="TextBox 75"/>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2"/>
              </a:rPr>
              <a:t>00F quality plan</a:t>
            </a:r>
            <a:r>
              <a:rPr sz="680">
                <a:solidFill>
                  <a:srgbClr val="727A86"/>
                </a:solidFill>
                <a:latin typeface="Calibri"/>
              </a:rPr>
              <a:t>  ·  </a:t>
            </a:r>
            <a:r>
              <a:rPr sz="680" b="0" u="sng">
                <a:solidFill>
                  <a:srgbClr val="2F6FB2"/>
                </a:solidFill>
                <a:latin typeface="Calibri"/>
                <a:hlinkClick r:id="rId3"/>
              </a:rPr>
              <a:t>All scenarios / routes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64592"/>
            <a:ext cx="3383280" cy="201168"/>
          </a:xfrm>
          <a:prstGeom prst="rect">
            <a:avLst/>
          </a:prstGeom>
          <a:noFill/>
        </p:spPr>
        <p:txBody>
          <a:bodyPr wrap="square" anchor="t" lIns="0" rIns="0" tIns="0" bIns="0">
            <a:spAutoFit/>
          </a:bodyPr>
          <a:lstStyle/>
          <a:p>
            <a:pPr algn="l"/>
            <a:r>
              <a:rPr sz="850" b="0">
                <a:solidFill>
                  <a:srgbClr val="1F2D3D"/>
                </a:solidFill>
                <a:latin typeface="Consolas"/>
              </a:rPr>
              <a:t>FG-TIDA APPLICATION</a:t>
            </a:r>
          </a:p>
        </p:txBody>
      </p:sp>
      <p:sp>
        <p:nvSpPr>
          <p:cNvPr id="3" name="TextBox 2"/>
          <p:cNvSpPr txBox="1"/>
          <p:nvPr/>
        </p:nvSpPr>
        <p:spPr>
          <a:xfrm>
            <a:off x="10716768" y="164592"/>
            <a:ext cx="685800" cy="201168"/>
          </a:xfrm>
          <a:prstGeom prst="rect">
            <a:avLst/>
          </a:prstGeom>
          <a:noFill/>
        </p:spPr>
        <p:txBody>
          <a:bodyPr wrap="square" anchor="t" lIns="0" rIns="0" tIns="0" bIns="0">
            <a:spAutoFit/>
          </a:bodyPr>
          <a:lstStyle/>
          <a:p>
            <a:pPr algn="r"/>
            <a:r>
              <a:rPr sz="850" b="0">
                <a:solidFill>
                  <a:srgbClr val="1F2D3D"/>
                </a:solidFill>
                <a:latin typeface="Consolas"/>
              </a:rPr>
              <a:t>§ A</a:t>
            </a:r>
          </a:p>
        </p:txBody>
      </p:sp>
      <p:sp>
        <p:nvSpPr>
          <p:cNvPr id="4" name="Rectangle 3"/>
          <p:cNvSpPr/>
          <p:nvPr/>
        </p:nvSpPr>
        <p:spPr>
          <a:xfrm>
            <a:off x="566928" y="457200"/>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0080"/>
            <a:ext cx="10515600" cy="420624"/>
          </a:xfrm>
          <a:prstGeom prst="rect">
            <a:avLst/>
          </a:prstGeom>
          <a:noFill/>
        </p:spPr>
        <p:txBody>
          <a:bodyPr wrap="square" anchor="t" lIns="0" rIns="0" tIns="0" bIns="0">
            <a:spAutoFit/>
          </a:bodyPr>
          <a:lstStyle/>
          <a:p>
            <a:pPr algn="l"/>
            <a:r>
              <a:rPr sz="2350" b="1">
                <a:solidFill>
                  <a:srgbClr val="24355B"/>
                </a:solidFill>
                <a:latin typeface="Cambria"/>
                <a:hlinkClick r:id="rId20"/>
              </a:rPr>
              <a:t>FG-TIDA — bounded application of the architecture</a:t>
            </a:r>
          </a:p>
        </p:txBody>
      </p:sp>
      <p:sp>
        <p:nvSpPr>
          <p:cNvPr id="6" name="TextBox 5"/>
          <p:cNvSpPr txBox="1"/>
          <p:nvPr/>
        </p:nvSpPr>
        <p:spPr>
          <a:xfrm>
            <a:off x="566928" y="1078992"/>
            <a:ext cx="10515600" cy="384048"/>
          </a:xfrm>
          <a:prstGeom prst="rect">
            <a:avLst/>
          </a:prstGeom>
          <a:noFill/>
        </p:spPr>
        <p:txBody>
          <a:bodyPr wrap="square" anchor="t" lIns="0" rIns="0" tIns="0" bIns="0">
            <a:spAutoFit/>
          </a:bodyPr>
          <a:lstStyle/>
          <a:p>
            <a:pPr algn="l"/>
            <a:r>
              <a:rPr sz="1120" b="0">
                <a:solidFill>
                  <a:srgbClr val="5D6775"/>
                </a:solidFill>
                <a:latin typeface="Calibri"/>
              </a:rPr>
              <a:t>The architecture is being projected into FG-TIDA as an explicit, evidence-bounded application route — without turning the general corpus into an FG-TIDA-specific design.</a:t>
            </a:r>
          </a:p>
        </p:txBody>
      </p:sp>
      <p:sp>
        <p:nvSpPr>
          <p:cNvPr id="7" name="Rounded Rectangle 6"/>
          <p:cNvSpPr/>
          <p:nvPr/>
        </p:nvSpPr>
        <p:spPr>
          <a:xfrm>
            <a:off x="566928" y="1664208"/>
            <a:ext cx="6537960" cy="3401568"/>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64208"/>
            <a:ext cx="50292" cy="3401568"/>
          </a:xfrm>
          <a:prstGeom prst="rect">
            <a:avLst/>
          </a:prstGeom>
          <a:solidFill>
            <a:srgbClr val="00848A"/>
          </a:solidFill>
          <a:ln>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10512"/>
            <a:ext cx="6208776" cy="228600"/>
          </a:xfrm>
          <a:prstGeom prst="rect">
            <a:avLst/>
          </a:prstGeom>
          <a:noFill/>
        </p:spPr>
        <p:txBody>
          <a:bodyPr wrap="square" anchor="t" lIns="0" rIns="0" tIns="0" bIns="0">
            <a:spAutoFit/>
          </a:bodyPr>
          <a:lstStyle/>
          <a:p>
            <a:pPr algn="l"/>
            <a:r>
              <a:rPr sz="1300" b="1">
                <a:solidFill>
                  <a:srgbClr val="24355B"/>
                </a:solidFill>
                <a:latin typeface="Cambria"/>
              </a:rPr>
              <a:t>What is being applied</a:t>
            </a:r>
          </a:p>
        </p:txBody>
      </p:sp>
      <p:sp>
        <p:nvSpPr>
          <p:cNvPr id="10" name="TextBox 9"/>
          <p:cNvSpPr txBox="1"/>
          <p:nvPr/>
        </p:nvSpPr>
        <p:spPr>
          <a:xfrm>
            <a:off x="731520" y="2139696"/>
            <a:ext cx="6208776" cy="2779776"/>
          </a:xfrm>
          <a:prstGeom prst="rect">
            <a:avLst/>
          </a:prstGeom>
          <a:noFill/>
        </p:spPr>
        <p:txBody>
          <a:bodyPr wrap="square" anchor="t" lIns="0" rIns="0" tIns="0" bIns="0">
            <a:spAutoFit/>
          </a:bodyPr>
          <a:lstStyle/>
          <a:p>
            <a:pPr algn="l"/>
            <a:r>
              <a:rPr sz="1000" b="0">
                <a:solidFill>
                  <a:srgbClr val="1F2D3D"/>
                </a:solidFill>
                <a:latin typeface="Calibri"/>
              </a:rPr>
              <a:t>Ecosystem Positioning supplies the participant-local architecture: awareness, positioning, signalling and bounded repositioning.
Ecosystem Awareness supplies the canonical requirements, epistemic qualification and programme-independent interface layer.
The FG-TIDA package then projects that general layer into a standards-facing application: charter/specification preparation, cross-Theme interfaces, cases, tests and provenance.</a:t>
            </a:r>
          </a:p>
        </p:txBody>
      </p:sp>
      <p:sp>
        <p:nvSpPr>
          <p:cNvPr id="11" name="Rounded Rectangle 10"/>
          <p:cNvSpPr/>
          <p:nvPr/>
        </p:nvSpPr>
        <p:spPr>
          <a:xfrm>
            <a:off x="841248" y="4187952"/>
            <a:ext cx="1664208" cy="566928"/>
          </a:xfrm>
          <a:prstGeom prst="roundRect">
            <a:avLst/>
          </a:prstGeom>
          <a:solidFill>
            <a:srgbClr val="FFFFFF"/>
          </a:solidFill>
          <a:ln w="15240">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70248"/>
            <a:ext cx="1517904" cy="274320"/>
          </a:xfrm>
          <a:prstGeom prst="rect">
            <a:avLst/>
          </a:prstGeom>
          <a:noFill/>
        </p:spPr>
        <p:txBody>
          <a:bodyPr wrap="square" anchor="t" lIns="0" rIns="0" tIns="0" bIns="0">
            <a:spAutoFit/>
          </a:bodyPr>
          <a:lstStyle/>
          <a:p>
            <a:pPr algn="ctr"/>
            <a:r>
              <a:rPr sz="800" b="1">
                <a:solidFill>
                  <a:srgbClr val="24355B"/>
                </a:solidFill>
                <a:latin typeface="Consolas"/>
              </a:rPr>
              <a:t>ECOSYSTEM
POSITIONING</a:t>
            </a:r>
          </a:p>
        </p:txBody>
      </p:sp>
      <p:sp>
        <p:nvSpPr>
          <p:cNvPr id="13" name="TextBox 12"/>
          <p:cNvSpPr txBox="1"/>
          <p:nvPr/>
        </p:nvSpPr>
        <p:spPr>
          <a:xfrm>
            <a:off x="914400" y="4553712"/>
            <a:ext cx="1517904" cy="128016"/>
          </a:xfrm>
          <a:prstGeom prst="rect">
            <a:avLst/>
          </a:prstGeom>
          <a:noFill/>
        </p:spPr>
        <p:txBody>
          <a:bodyPr wrap="square" anchor="t" lIns="0" rIns="0" tIns="0" bIns="0">
            <a:spAutoFit/>
          </a:bodyPr>
          <a:lstStyle/>
          <a:p>
            <a:pPr algn="ctr"/>
            <a:r>
              <a:rPr sz="730" b="0">
                <a:solidFill>
                  <a:srgbClr val="5D6775"/>
                </a:solidFill>
                <a:latin typeface="Calibri"/>
              </a:rPr>
              <a:t>architecture</a:t>
            </a:r>
          </a:p>
        </p:txBody>
      </p:sp>
      <p:sp>
        <p:nvSpPr>
          <p:cNvPr id="14" name="TextBox 13"/>
          <p:cNvSpPr txBox="1"/>
          <p:nvPr/>
        </p:nvSpPr>
        <p:spPr>
          <a:xfrm>
            <a:off x="2542032" y="4389120"/>
            <a:ext cx="228600" cy="146304"/>
          </a:xfrm>
          <a:prstGeom prst="rect">
            <a:avLst/>
          </a:prstGeom>
          <a:noFill/>
        </p:spPr>
        <p:txBody>
          <a:bodyPr wrap="square" anchor="t" lIns="0" rIns="0" tIns="0" bIns="0">
            <a:spAutoFit/>
          </a:bodyPr>
          <a:lstStyle/>
          <a:p>
            <a:pPr algn="ctr"/>
            <a:r>
              <a:rPr sz="1100" b="1">
                <a:solidFill>
                  <a:srgbClr val="24355B"/>
                </a:solidFill>
                <a:latin typeface="Calibri"/>
              </a:rPr>
              <a:t>→</a:t>
            </a:r>
          </a:p>
        </p:txBody>
      </p:sp>
      <p:sp>
        <p:nvSpPr>
          <p:cNvPr id="15" name="Rounded Rectangle 14"/>
          <p:cNvSpPr/>
          <p:nvPr/>
        </p:nvSpPr>
        <p:spPr>
          <a:xfrm>
            <a:off x="2834640" y="4187952"/>
            <a:ext cx="1664208" cy="566928"/>
          </a:xfrm>
          <a:prstGeom prst="roundRect">
            <a:avLst/>
          </a:prstGeom>
          <a:solidFill>
            <a:srgbClr val="FFFFFF"/>
          </a:solidFill>
          <a:ln w="1524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07792" y="4270248"/>
            <a:ext cx="1517904" cy="274320"/>
          </a:xfrm>
          <a:prstGeom prst="rect">
            <a:avLst/>
          </a:prstGeom>
          <a:noFill/>
        </p:spPr>
        <p:txBody>
          <a:bodyPr wrap="square" anchor="t" lIns="0" rIns="0" tIns="0" bIns="0">
            <a:spAutoFit/>
          </a:bodyPr>
          <a:lstStyle/>
          <a:p>
            <a:pPr algn="ctr"/>
            <a:r>
              <a:rPr sz="800" b="1">
                <a:solidFill>
                  <a:srgbClr val="00848A"/>
                </a:solidFill>
                <a:latin typeface="Consolas"/>
              </a:rPr>
              <a:t>ECOSYSTEM
AWARENESS</a:t>
            </a:r>
          </a:p>
        </p:txBody>
      </p:sp>
      <p:sp>
        <p:nvSpPr>
          <p:cNvPr id="17" name="TextBox 16"/>
          <p:cNvSpPr txBox="1"/>
          <p:nvPr/>
        </p:nvSpPr>
        <p:spPr>
          <a:xfrm>
            <a:off x="2907792" y="4553712"/>
            <a:ext cx="1517904" cy="128016"/>
          </a:xfrm>
          <a:prstGeom prst="rect">
            <a:avLst/>
          </a:prstGeom>
          <a:noFill/>
        </p:spPr>
        <p:txBody>
          <a:bodyPr wrap="square" anchor="t" lIns="0" rIns="0" tIns="0" bIns="0">
            <a:spAutoFit/>
          </a:bodyPr>
          <a:lstStyle/>
          <a:p>
            <a:pPr algn="ctr"/>
            <a:r>
              <a:rPr sz="730" b="0">
                <a:solidFill>
                  <a:srgbClr val="5D6775"/>
                </a:solidFill>
                <a:latin typeface="Calibri"/>
              </a:rPr>
              <a:t>requirements + 04</a:t>
            </a:r>
          </a:p>
        </p:txBody>
      </p:sp>
      <p:sp>
        <p:nvSpPr>
          <p:cNvPr id="18" name="TextBox 17"/>
          <p:cNvSpPr txBox="1"/>
          <p:nvPr/>
        </p:nvSpPr>
        <p:spPr>
          <a:xfrm>
            <a:off x="4535424" y="4389120"/>
            <a:ext cx="228600" cy="146304"/>
          </a:xfrm>
          <a:prstGeom prst="rect">
            <a:avLst/>
          </a:prstGeom>
          <a:noFill/>
        </p:spPr>
        <p:txBody>
          <a:bodyPr wrap="square" anchor="t" lIns="0" rIns="0" tIns="0" bIns="0">
            <a:spAutoFit/>
          </a:bodyPr>
          <a:lstStyle/>
          <a:p>
            <a:pPr algn="ctr"/>
            <a:r>
              <a:rPr sz="1100" b="1">
                <a:solidFill>
                  <a:srgbClr val="24355B"/>
                </a:solidFill>
                <a:latin typeface="Calibri"/>
              </a:rPr>
              <a:t>→</a:t>
            </a:r>
          </a:p>
        </p:txBody>
      </p:sp>
      <p:sp>
        <p:nvSpPr>
          <p:cNvPr id="19" name="Rounded Rectangle 18"/>
          <p:cNvSpPr/>
          <p:nvPr/>
        </p:nvSpPr>
        <p:spPr>
          <a:xfrm>
            <a:off x="4828032" y="4187952"/>
            <a:ext cx="1664208" cy="566928"/>
          </a:xfrm>
          <a:prstGeom prst="roundRect">
            <a:avLst/>
          </a:prstGeom>
          <a:solidFill>
            <a:srgbClr val="FFFFFF"/>
          </a:solidFill>
          <a:ln w="15240">
            <a:solidFill>
              <a:srgbClr val="D07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01184" y="4270248"/>
            <a:ext cx="1517904" cy="274320"/>
          </a:xfrm>
          <a:prstGeom prst="rect">
            <a:avLst/>
          </a:prstGeom>
          <a:noFill/>
        </p:spPr>
        <p:txBody>
          <a:bodyPr wrap="square" anchor="t" lIns="0" rIns="0" tIns="0" bIns="0">
            <a:spAutoFit/>
          </a:bodyPr>
          <a:lstStyle/>
          <a:p>
            <a:pPr algn="ctr"/>
            <a:r>
              <a:rPr sz="800" b="1">
                <a:solidFill>
                  <a:srgbClr val="D07800"/>
                </a:solidFill>
                <a:latin typeface="Consolas"/>
              </a:rPr>
              <a:t>FG-TIDA
APPLICATION</a:t>
            </a:r>
          </a:p>
        </p:txBody>
      </p:sp>
      <p:sp>
        <p:nvSpPr>
          <p:cNvPr id="21" name="TextBox 20"/>
          <p:cNvSpPr txBox="1"/>
          <p:nvPr/>
        </p:nvSpPr>
        <p:spPr>
          <a:xfrm>
            <a:off x="4901184" y="4553712"/>
            <a:ext cx="1517904" cy="128016"/>
          </a:xfrm>
          <a:prstGeom prst="rect">
            <a:avLst/>
          </a:prstGeom>
          <a:noFill/>
        </p:spPr>
        <p:txBody>
          <a:bodyPr wrap="square" anchor="t" lIns="0" rIns="0" tIns="0" bIns="0">
            <a:spAutoFit/>
          </a:bodyPr>
          <a:lstStyle/>
          <a:p>
            <a:pPr algn="ctr"/>
            <a:r>
              <a:rPr sz="730" b="0">
                <a:solidFill>
                  <a:srgbClr val="5D6775"/>
                </a:solidFill>
                <a:latin typeface="Calibri"/>
              </a:rPr>
              <a:t>bounded projection</a:t>
            </a:r>
          </a:p>
        </p:txBody>
      </p:sp>
      <p:sp>
        <p:nvSpPr>
          <p:cNvPr id="22" name="Rounded Rectangle 21"/>
          <p:cNvSpPr/>
          <p:nvPr/>
        </p:nvSpPr>
        <p:spPr>
          <a:xfrm>
            <a:off x="7333488" y="1664208"/>
            <a:ext cx="4069080" cy="3401568"/>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33488" y="1664208"/>
            <a:ext cx="50292" cy="3401568"/>
          </a:xfrm>
          <a:prstGeom prst="rect">
            <a:avLst/>
          </a:prstGeom>
          <a:solidFill>
            <a:srgbClr val="D07800"/>
          </a:solidFill>
          <a:ln>
            <a:solidFill>
              <a:srgbClr val="D07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0" y="1810512"/>
            <a:ext cx="3739896" cy="228600"/>
          </a:xfrm>
          <a:prstGeom prst="rect">
            <a:avLst/>
          </a:prstGeom>
          <a:noFill/>
        </p:spPr>
        <p:txBody>
          <a:bodyPr wrap="square" anchor="t" lIns="0" rIns="0" tIns="0" bIns="0">
            <a:spAutoFit/>
          </a:bodyPr>
          <a:lstStyle/>
          <a:p>
            <a:pPr algn="l"/>
            <a:r>
              <a:rPr sz="1300" b="1">
                <a:solidFill>
                  <a:srgbClr val="24355B"/>
                </a:solidFill>
                <a:latin typeface="Cambria"/>
              </a:rPr>
              <a:t>Bounded by design</a:t>
            </a:r>
          </a:p>
        </p:txBody>
      </p:sp>
      <p:sp>
        <p:nvSpPr>
          <p:cNvPr id="25" name="TextBox 24"/>
          <p:cNvSpPr txBox="1"/>
          <p:nvPr/>
        </p:nvSpPr>
        <p:spPr>
          <a:xfrm>
            <a:off x="7498080" y="2139696"/>
            <a:ext cx="3739896" cy="2779776"/>
          </a:xfrm>
          <a:prstGeom prst="rect">
            <a:avLst/>
          </a:prstGeom>
          <a:noFill/>
        </p:spPr>
        <p:txBody>
          <a:bodyPr wrap="square" anchor="t" lIns="0" rIns="0" tIns="0" bIns="0">
            <a:spAutoFit/>
          </a:bodyPr>
          <a:lstStyle/>
          <a:p>
            <a:pPr algn="l"/>
            <a:r>
              <a:rPr sz="1000" b="0">
                <a:solidFill>
                  <a:srgbClr val="1F2D3D"/>
                </a:solidFill>
                <a:latin typeface="Calibri"/>
              </a:rPr>
              <a:t>• 04 remains programme-independent.
• 05 is the ideal FG-TIDA projection: the maximum coherent target mapping.
• 05A is the current-state bridge: only what the public / contributor-confirmed record presently supports; the rest remains candidate, test-only or not established.
• Charter and specification preparation do not imply FG-TIDA adoption, an established Working Group, an ITU-T deliverable or institutional endorsement.</a:t>
            </a:r>
          </a:p>
        </p:txBody>
      </p:sp>
      <p:sp>
        <p:nvSpPr>
          <p:cNvPr id="26" name="TextBox 25"/>
          <p:cNvSpPr txBox="1"/>
          <p:nvPr/>
        </p:nvSpPr>
        <p:spPr>
          <a:xfrm>
            <a:off x="566928" y="5321808"/>
            <a:ext cx="2743200" cy="164592"/>
          </a:xfrm>
          <a:prstGeom prst="rect">
            <a:avLst/>
          </a:prstGeom>
          <a:noFill/>
        </p:spPr>
        <p:txBody>
          <a:bodyPr wrap="square" anchor="t" lIns="0" rIns="0" tIns="0" bIns="0">
            <a:spAutoFit/>
          </a:bodyPr>
          <a:lstStyle/>
          <a:p>
            <a:pPr algn="l"/>
            <a:r>
              <a:rPr sz="819" b="1">
                <a:solidFill>
                  <a:srgbClr val="24355B"/>
                </a:solidFill>
                <a:latin typeface="Consolas"/>
              </a:rPr>
              <a:t>THREE DIRECT ROUTES</a:t>
            </a:r>
          </a:p>
        </p:txBody>
      </p:sp>
      <p:sp>
        <p:nvSpPr>
          <p:cNvPr id="27" name="Rounded Rectangle 26"/>
          <p:cNvSpPr/>
          <p:nvPr/>
        </p:nvSpPr>
        <p:spPr>
          <a:xfrm>
            <a:off x="566928" y="5559552"/>
            <a:ext cx="3383280" cy="420624"/>
          </a:xfrm>
          <a:prstGeom prst="roundRect">
            <a:avLst/>
          </a:prstGeom>
          <a:solidFill>
            <a:srgbClr val="FFFFFF"/>
          </a:solidFill>
          <a:ln w="13970">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 y="5623560"/>
            <a:ext cx="3273552" cy="329184"/>
          </a:xfrm>
          <a:prstGeom prst="rect">
            <a:avLst/>
          </a:prstGeom>
          <a:noFill/>
        </p:spPr>
        <p:txBody>
          <a:bodyPr wrap="square" anchor="ctr" lIns="0" rIns="0" tIns="0" bIns="0">
            <a:spAutoFit/>
          </a:bodyPr>
          <a:lstStyle/>
          <a:p>
            <a:pPr algn="ctr"/>
            <a:r>
              <a:rPr sz="860" b="1">
                <a:solidFill>
                  <a:srgbClr val="24355B"/>
                </a:solidFill>
                <a:latin typeface="Calibri"/>
                <a:hlinkClick r:id="rId18"/>
              </a:rPr>
              <a:t>Ecosystem Positioning →</a:t>
            </a:r>
          </a:p>
        </p:txBody>
      </p:sp>
      <p:sp>
        <p:nvSpPr>
          <p:cNvPr id="29" name="Rounded Rectangle 28"/>
          <p:cNvSpPr/>
          <p:nvPr/>
        </p:nvSpPr>
        <p:spPr>
          <a:xfrm>
            <a:off x="4407408" y="5559552"/>
            <a:ext cx="3383280" cy="420624"/>
          </a:xfrm>
          <a:prstGeom prst="roundRect">
            <a:avLst/>
          </a:prstGeom>
          <a:solidFill>
            <a:srgbClr val="FFFFFF"/>
          </a:solidFill>
          <a:ln w="1397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62272" y="5623560"/>
            <a:ext cx="3273552" cy="329184"/>
          </a:xfrm>
          <a:prstGeom prst="rect">
            <a:avLst/>
          </a:prstGeom>
          <a:noFill/>
        </p:spPr>
        <p:txBody>
          <a:bodyPr wrap="square" anchor="ctr" lIns="0" rIns="0" tIns="0" bIns="0">
            <a:spAutoFit/>
          </a:bodyPr>
          <a:lstStyle/>
          <a:p>
            <a:pPr algn="ctr"/>
            <a:r>
              <a:rPr sz="860" b="1">
                <a:solidFill>
                  <a:srgbClr val="00848A"/>
                </a:solidFill>
                <a:latin typeface="Calibri"/>
                <a:hlinkClick r:id="rId19"/>
              </a:rPr>
              <a:t>Ecosystem Awareness →</a:t>
            </a:r>
          </a:p>
        </p:txBody>
      </p:sp>
      <p:sp>
        <p:nvSpPr>
          <p:cNvPr id="31" name="Rounded Rectangle 30"/>
          <p:cNvSpPr/>
          <p:nvPr/>
        </p:nvSpPr>
        <p:spPr>
          <a:xfrm>
            <a:off x="8247888" y="5559552"/>
            <a:ext cx="3154680" cy="420624"/>
          </a:xfrm>
          <a:prstGeom prst="roundRect">
            <a:avLst/>
          </a:prstGeom>
          <a:solidFill>
            <a:srgbClr val="FFFFFF"/>
          </a:solidFill>
          <a:ln w="13970">
            <a:solidFill>
              <a:srgbClr val="D07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02752" y="5623560"/>
            <a:ext cx="3044952" cy="329184"/>
          </a:xfrm>
          <a:prstGeom prst="rect">
            <a:avLst/>
          </a:prstGeom>
          <a:noFill/>
        </p:spPr>
        <p:txBody>
          <a:bodyPr wrap="square" anchor="ctr" lIns="0" rIns="0" tIns="0" bIns="0">
            <a:spAutoFit/>
          </a:bodyPr>
          <a:lstStyle/>
          <a:p>
            <a:pPr algn="ctr"/>
            <a:r>
              <a:rPr sz="860" b="1">
                <a:solidFill>
                  <a:srgbClr val="D07800"/>
                </a:solidFill>
                <a:latin typeface="Calibri"/>
                <a:hlinkClick r:id="rId20"/>
              </a:rPr>
              <a:t>FG-TIDA application package →</a:t>
            </a:r>
          </a:p>
        </p:txBody>
      </p:sp>
      <p:sp>
        <p:nvSpPr>
          <p:cNvPr id="33" name="Rectangle 32"/>
          <p:cNvSpPr/>
          <p:nvPr/>
        </p:nvSpPr>
        <p:spPr>
          <a:xfrm>
            <a:off x="566928" y="6236208"/>
            <a:ext cx="10835640" cy="10972"/>
          </a:xfrm>
          <a:prstGeom prst="rect">
            <a:avLst/>
          </a:prstGeom>
          <a:solidFill>
            <a:srgbClr val="24355B"/>
          </a:solidFill>
          <a:ln>
            <a:solidFill>
              <a:srgbClr val="243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31920" y="6355080"/>
            <a:ext cx="3931920" cy="146304"/>
          </a:xfrm>
          <a:prstGeom prst="rect">
            <a:avLst/>
          </a:prstGeom>
          <a:noFill/>
        </p:spPr>
        <p:txBody>
          <a:bodyPr wrap="square" anchor="t" lIns="0" rIns="0" tIns="0" bIns="0">
            <a:spAutoFit/>
          </a:bodyPr>
          <a:lstStyle/>
          <a:p>
            <a:pPr algn="ctr"/>
            <a:r>
              <a:rPr sz="720" b="0">
                <a:solidFill>
                  <a:srgbClr val="5D6775"/>
                </a:solidFill>
                <a:latin typeface="Consolas"/>
              </a:rPr>
              <a:t>Ecosystem Positioning · bounded FG-TIDA application</a:t>
            </a:r>
          </a:p>
        </p:txBody>
      </p:sp>
      <p:sp>
        <p:nvSpPr>
          <p:cNvPr id="35" name="TextBox 34"/>
          <p:cNvSpPr txBox="1"/>
          <p:nvPr/>
        </p:nvSpPr>
        <p:spPr>
          <a:xfrm>
            <a:off x="11045952" y="6355080"/>
            <a:ext cx="274320" cy="146304"/>
          </a:xfrm>
          <a:prstGeom prst="rect">
            <a:avLst/>
          </a:prstGeom>
          <a:noFill/>
        </p:spPr>
        <p:txBody>
          <a:bodyPr wrap="square" anchor="t" lIns="0" rIns="0" tIns="0" bIns="0">
            <a:spAutoFit/>
          </a:bodyPr>
          <a:lstStyle/>
          <a:p>
            <a:pPr algn="r"/>
            <a:r>
              <a:rPr sz="880" b="0">
                <a:solidFill>
                  <a:srgbClr val="5D6775"/>
                </a:solidFill>
                <a:latin typeface="Calibri"/>
              </a:rPr>
              <a:t>17</a:t>
            </a:r>
          </a:p>
        </p:txBody>
      </p:sp>
      <p:sp>
        <p:nvSpPr>
          <p:cNvPr id="36" name="TextBox 35"/>
          <p:cNvSpPr txBox="1"/>
          <p:nvPr/>
        </p:nvSpPr>
        <p:spPr>
          <a:xfrm>
            <a:off x="566928" y="6510528"/>
            <a:ext cx="3566160" cy="164592"/>
          </a:xfrm>
          <a:prstGeom prst="rect">
            <a:avLst/>
          </a:prstGeom>
          <a:noFill/>
        </p:spPr>
        <p:txBody>
          <a:bodyPr wrap="none" lIns="0" rIns="0" tIns="0" bIns="0">
            <a:spAutoFit/>
          </a:bodyPr>
          <a:lstStyle/>
          <a:p>
            <a:pPr algn="l"/>
            <a:r>
              <a:rPr sz="680" b="1">
                <a:solidFill>
                  <a:srgbClr val="727A86"/>
                </a:solidFill>
                <a:latin typeface="Calibri"/>
              </a:rPr>
              <a:t>CORPUS ↗  </a:t>
            </a:r>
            <a:r>
              <a:rPr sz="680" b="0" u="sng">
                <a:solidFill>
                  <a:srgbClr val="2F6FB2"/>
                </a:solidFill>
                <a:latin typeface="Calibri"/>
                <a:hlinkClick r:id="rId20"/>
              </a:rPr>
              <a:t>FG-TIDA application package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37160"/>
            <a:ext cx="4023360" cy="201168"/>
          </a:xfrm>
          <a:prstGeom prst="rect">
            <a:avLst/>
          </a:prstGeom>
          <a:noFill/>
        </p:spPr>
        <p:txBody>
          <a:bodyPr wrap="square" lIns="0" rIns="0" tIns="0" bIns="0" anchor="t">
            <a:spAutoFit/>
          </a:bodyPr>
          <a:lstStyle/>
          <a:p>
            <a:pPr algn="l"/>
            <a:r>
              <a:rPr sz="850" b="0" i="0">
                <a:solidFill>
                  <a:srgbClr val="1F2D3D"/>
                </a:solidFill>
                <a:latin typeface="Consolas"/>
              </a:rPr>
              <a:t>THEME #13 · ARCHITECTURAL QUESTIONS</a:t>
            </a:r>
          </a:p>
        </p:txBody>
      </p:sp>
      <p:sp>
        <p:nvSpPr>
          <p:cNvPr id="3" name="TextBox 2"/>
          <p:cNvSpPr txBox="1"/>
          <p:nvPr/>
        </p:nvSpPr>
        <p:spPr>
          <a:xfrm>
            <a:off x="11109960" y="137160"/>
            <a:ext cx="502920" cy="201168"/>
          </a:xfrm>
          <a:prstGeom prst="rect">
            <a:avLst/>
          </a:prstGeom>
          <a:noFill/>
        </p:spPr>
        <p:txBody>
          <a:bodyPr wrap="square" lIns="0" rIns="0" tIns="0" bIns="0" anchor="t">
            <a:spAutoFit/>
          </a:bodyPr>
          <a:lstStyle/>
          <a:p>
            <a:pPr algn="r"/>
            <a:r>
              <a:rPr sz="850" b="0" i="0">
                <a:solidFill>
                  <a:srgbClr val="1F2D3D"/>
                </a:solidFill>
                <a:latin typeface="Consolas"/>
              </a:rPr>
              <a:t>§ A1</a:t>
            </a:r>
          </a:p>
        </p:txBody>
      </p:sp>
      <p:sp>
        <p:nvSpPr>
          <p:cNvPr id="4" name="Rectangle 3"/>
          <p:cNvSpPr/>
          <p:nvPr/>
        </p:nvSpPr>
        <p:spPr>
          <a:xfrm>
            <a:off x="566928" y="457200"/>
            <a:ext cx="11064240" cy="10972"/>
          </a:xfrm>
          <a:prstGeom prst="rect">
            <a:avLst/>
          </a:prstGeom>
          <a:solidFill>
            <a:srgbClr val="24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8368"/>
            <a:ext cx="10881360" cy="384048"/>
          </a:xfrm>
          <a:prstGeom prst="rect">
            <a:avLst/>
          </a:prstGeom>
          <a:noFill/>
        </p:spPr>
        <p:txBody>
          <a:bodyPr wrap="square" lIns="0" rIns="0" tIns="0" bIns="0" anchor="ctr">
            <a:spAutoFit/>
          </a:bodyPr>
          <a:lstStyle/>
          <a:p>
            <a:pPr algn="l">
              <a:spcBef>
                <a:spcPts val="0"/>
              </a:spcBef>
              <a:spcAft>
                <a:spcPts val="0"/>
              </a:spcAft>
            </a:pPr>
            <a:r>
              <a:rPr sz="2450" b="1">
                <a:solidFill>
                  <a:srgbClr val="1B2740"/>
                </a:solidFill>
                <a:latin typeface="Cambria"/>
              </a:rPr>
              <a:t>Architectural questions — alignment with Ward's ecosystem-level defense framing</a:t>
            </a:r>
          </a:p>
        </p:txBody>
      </p:sp>
      <p:sp>
        <p:nvSpPr>
          <p:cNvPr id="6" name="TextBox 5"/>
          <p:cNvSpPr txBox="1"/>
          <p:nvPr/>
        </p:nvSpPr>
        <p:spPr>
          <a:xfrm>
            <a:off x="566928" y="1078992"/>
            <a:ext cx="10972800" cy="347472"/>
          </a:xfrm>
          <a:prstGeom prst="rect">
            <a:avLst/>
          </a:prstGeom>
          <a:noFill/>
        </p:spPr>
        <p:txBody>
          <a:bodyPr wrap="square" lIns="0" rIns="0" tIns="0" bIns="0" anchor="ctr">
            <a:spAutoFit/>
          </a:bodyPr>
          <a:lstStyle/>
          <a:p>
            <a:pPr algn="l">
              <a:spcBef>
                <a:spcPts val="0"/>
              </a:spcBef>
              <a:spcAft>
                <a:spcPts val="0"/>
              </a:spcAft>
            </a:pPr>
            <a:r>
              <a:rPr sz="1120" b="0">
                <a:solidFill>
                  <a:srgbClr val="555960"/>
                </a:solidFill>
                <a:latin typeface="Calibri"/>
              </a:rPr>
              <a:t>Using Ward Duchamps' DIF update as the reference frame: distributed-by-design collaboration, a shared signal framework, blast-radius containment and open-standard ecosystem defense.</a:t>
            </a:r>
          </a:p>
        </p:txBody>
      </p:sp>
      <p:sp>
        <p:nvSpPr>
          <p:cNvPr id="7" name="Rectangle 6"/>
          <p:cNvSpPr/>
          <p:nvPr/>
        </p:nvSpPr>
        <p:spPr>
          <a:xfrm>
            <a:off x="566928" y="6419088"/>
            <a:ext cx="11064240" cy="9144"/>
          </a:xfrm>
          <a:prstGeom prst="rect">
            <a:avLst/>
          </a:prstGeom>
          <a:solidFill>
            <a:srgbClr val="24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92240"/>
            <a:ext cx="3474720" cy="164592"/>
          </a:xfrm>
          <a:prstGeom prst="rect">
            <a:avLst/>
          </a:prstGeom>
          <a:noFill/>
        </p:spPr>
        <p:txBody>
          <a:bodyPr wrap="square" lIns="0" rIns="0" tIns="0" bIns="0" anchor="ctr">
            <a:spAutoFit/>
          </a:bodyPr>
          <a:lstStyle/>
          <a:p>
            <a:pPr algn="l">
              <a:spcBef>
                <a:spcPts val="0"/>
              </a:spcBef>
              <a:spcAft>
                <a:spcPts val="0"/>
              </a:spcAft>
            </a:pPr>
            <a:r>
              <a:rPr sz="760" b="0">
                <a:solidFill>
                  <a:srgbClr val="727880"/>
                </a:solidFill>
                <a:latin typeface="Consolas"/>
              </a:rPr>
              <a:t>REFERENCE ↗  Ward Duchamps · DIF update · 14 Sept 2026</a:t>
            </a:r>
          </a:p>
        </p:txBody>
      </p:sp>
      <p:sp>
        <p:nvSpPr>
          <p:cNvPr id="9" name="TextBox 8"/>
          <p:cNvSpPr txBox="1"/>
          <p:nvPr/>
        </p:nvSpPr>
        <p:spPr>
          <a:xfrm>
            <a:off x="3977639" y="6492240"/>
            <a:ext cx="4251960" cy="164592"/>
          </a:xfrm>
          <a:prstGeom prst="rect">
            <a:avLst/>
          </a:prstGeom>
          <a:noFill/>
        </p:spPr>
        <p:txBody>
          <a:bodyPr wrap="square" lIns="0" rIns="0" tIns="0" bIns="0" anchor="ctr">
            <a:spAutoFit/>
          </a:bodyPr>
          <a:lstStyle/>
          <a:p>
            <a:pPr algn="ctr">
              <a:spcBef>
                <a:spcPts val="0"/>
              </a:spcBef>
              <a:spcAft>
                <a:spcPts val="0"/>
              </a:spcAft>
            </a:pPr>
            <a:r>
              <a:rPr sz="760" b="0">
                <a:solidFill>
                  <a:srgbClr val="727880"/>
                </a:solidFill>
                <a:latin typeface="Consolas"/>
              </a:rPr>
              <a:t>Ecosystem Awareness · Theme #13 working discussion</a:t>
            </a:r>
          </a:p>
        </p:txBody>
      </p:sp>
      <p:sp>
        <p:nvSpPr>
          <p:cNvPr id="10" name="TextBox 9"/>
          <p:cNvSpPr txBox="1"/>
          <p:nvPr/>
        </p:nvSpPr>
        <p:spPr>
          <a:xfrm>
            <a:off x="11247120" y="6492240"/>
            <a:ext cx="320040" cy="164592"/>
          </a:xfrm>
          <a:prstGeom prst="rect">
            <a:avLst/>
          </a:prstGeom>
          <a:noFill/>
        </p:spPr>
        <p:txBody>
          <a:bodyPr wrap="square" lIns="0" rIns="0" tIns="0" bIns="0" anchor="t">
            <a:spAutoFit/>
          </a:bodyPr>
          <a:lstStyle/>
          <a:p>
            <a:pPr algn="r"/>
            <a:r>
              <a:rPr sz="800" b="0" i="0">
                <a:solidFill>
                  <a:srgbClr val="5D6775"/>
                </a:solidFill>
                <a:latin typeface="Calibri"/>
              </a:rPr>
              <a:t>18</a:t>
            </a:r>
          </a:p>
        </p:txBody>
      </p:sp>
      <p:sp>
        <p:nvSpPr>
          <p:cNvPr id="11" name="Rectangle 10"/>
          <p:cNvSpPr/>
          <p:nvPr/>
        </p:nvSpPr>
        <p:spPr>
          <a:xfrm>
            <a:off x="566928" y="1444752"/>
            <a:ext cx="6903720" cy="640080"/>
          </a:xfrm>
          <a:prstGeom prst="rect">
            <a:avLst/>
          </a:prstGeom>
          <a:solidFill>
            <a:srgbClr val="EEF7F7"/>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t" wrap="square" lIns="146304" rIns="109728" tIns="64008" bIns="27432"/>
          <a:lstStyle/>
          <a:p>
            <a:pPr algn="l">
              <a:spcBef>
                <a:spcPts val="0"/>
              </a:spcBef>
              <a:spcAft>
                <a:spcPts val="0"/>
              </a:spcAft>
            </a:pPr>
            <a:r>
              <a:rPr sz="840" b="1">
                <a:solidFill>
                  <a:srgbClr val="00848A"/>
                </a:solidFill>
                <a:latin typeface="Consolas"/>
              </a:rPr>
              <a:t>WARD / DIF REFERENCE</a:t>
            </a:r>
          </a:p>
        </p:txBody>
      </p:sp>
      <p:sp>
        <p:nvSpPr>
          <p:cNvPr id="12" name="Rectangle 11"/>
          <p:cNvSpPr/>
          <p:nvPr/>
        </p:nvSpPr>
        <p:spPr>
          <a:xfrm>
            <a:off x="713232" y="1728216"/>
            <a:ext cx="65379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spcBef>
                <a:spcPts val="0"/>
              </a:spcBef>
              <a:spcAft>
                <a:spcPts val="0"/>
              </a:spcAft>
            </a:pPr>
            <a:r>
              <a:rPr sz="869" b="0">
                <a:solidFill>
                  <a:srgbClr val="1B2740"/>
                </a:solidFill>
                <a:latin typeface="Calibri"/>
              </a:rPr>
              <a:t>p.3  distributed-by-design · self-regulating · self-healing     |     p.4  Inspection → Signaling → Containment → Incentives → Accountability</a:t>
            </a:r>
          </a:p>
        </p:txBody>
      </p:sp>
      <p:pic>
        <p:nvPicPr>
          <p:cNvPr id="13" name="Picture 12" descr="page-4.png"/>
          <p:cNvPicPr>
            <a:picLocks noChangeAspect="1"/>
          </p:cNvPicPr>
          <p:nvPr/>
        </p:nvPicPr>
        <p:blipFill>
          <a:blip r:embed="rId2"/>
          <a:stretch>
            <a:fillRect/>
          </a:stretch>
        </p:blipFill>
        <p:spPr>
          <a:xfrm>
            <a:off x="7818120" y="1444752"/>
            <a:ext cx="3822191" cy="2150318"/>
          </a:xfrm>
          <a:prstGeom prst="rect">
            <a:avLst/>
          </a:prstGeom>
        </p:spPr>
      </p:pic>
      <p:sp>
        <p:nvSpPr>
          <p:cNvPr id="14" name="Rectangle 13"/>
          <p:cNvSpPr/>
          <p:nvPr/>
        </p:nvSpPr>
        <p:spPr>
          <a:xfrm>
            <a:off x="7818120" y="1444752"/>
            <a:ext cx="3822191" cy="2148840"/>
          </a:xfrm>
          <a:prstGeom prst="rect">
            <a:avLst/>
          </a:prstGeom>
          <a:no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45552" y="3611880"/>
            <a:ext cx="3767328"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spcBef>
                <a:spcPts val="0"/>
              </a:spcBef>
              <a:spcAft>
                <a:spcPts val="0"/>
              </a:spcAft>
            </a:pPr>
            <a:r>
              <a:rPr sz="750" b="0">
                <a:solidFill>
                  <a:srgbClr val="727880"/>
                </a:solidFill>
                <a:latin typeface="Calibri"/>
              </a:rPr>
              <a:t>Ward Duchamps · “Ecosystem-level Defense” · DIF update, p.4</a:t>
            </a:r>
          </a:p>
        </p:txBody>
      </p:sp>
      <p:sp>
        <p:nvSpPr>
          <p:cNvPr id="16" name="Rounded Rectangle 15"/>
          <p:cNvSpPr/>
          <p:nvPr/>
        </p:nvSpPr>
        <p:spPr>
          <a:xfrm>
            <a:off x="566928" y="2212848"/>
            <a:ext cx="6903720" cy="1143000"/>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2322576"/>
            <a:ext cx="53035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spcBef>
                <a:spcPts val="0"/>
              </a:spcBef>
              <a:spcAft>
                <a:spcPts val="0"/>
              </a:spcAft>
            </a:pPr>
            <a:r>
              <a:rPr sz="819" b="1">
                <a:solidFill>
                  <a:srgbClr val="00848A"/>
                </a:solidFill>
                <a:latin typeface="Consolas"/>
              </a:rPr>
              <a:t>01 · WARD'S SIGNALING LAYER → #13 INTERNAL ARCHITECTURE</a:t>
            </a:r>
          </a:p>
        </p:txBody>
      </p:sp>
      <p:sp>
        <p:nvSpPr>
          <p:cNvPr id="18" name="Rectangle 17"/>
          <p:cNvSpPr/>
          <p:nvPr/>
        </p:nvSpPr>
        <p:spPr>
          <a:xfrm>
            <a:off x="731520" y="2578608"/>
            <a:ext cx="6400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spcBef>
                <a:spcPts val="0"/>
              </a:spcBef>
              <a:spcAft>
                <a:spcPts val="0"/>
              </a:spcAft>
            </a:pPr>
            <a:r>
              <a:rPr sz="1620" b="1">
                <a:solidFill>
                  <a:srgbClr val="1B2740"/>
                </a:solidFill>
                <a:latin typeface="Cambria"/>
              </a:rPr>
              <a:t>EA ↔ Incident / Signal Lifecycle as peer mechanisms?</a:t>
            </a:r>
          </a:p>
        </p:txBody>
      </p:sp>
      <p:sp>
        <p:nvSpPr>
          <p:cNvPr id="19" name="Rectangle 18"/>
          <p:cNvSpPr/>
          <p:nvPr/>
        </p:nvSpPr>
        <p:spPr>
          <a:xfrm>
            <a:off x="731520" y="2880360"/>
            <a:ext cx="6355080" cy="3566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Bef>
                <a:spcPts val="0"/>
              </a:spcBef>
              <a:spcAft>
                <a:spcPts val="0"/>
              </a:spcAft>
            </a:pPr>
            <a:r>
              <a:rPr sz="1030" b="0">
                <a:solidFill>
                  <a:srgbClr val="555960"/>
                </a:solidFill>
                <a:latin typeface="Calibri"/>
              </a:rPr>
              <a:t>Ward places Signaling between Inspection and Containment. Should #13 realize it as EA qualifying what a signal means for a decision, while the lifecycle carries, corroborates, amends and resolves it?</a:t>
            </a:r>
          </a:p>
        </p:txBody>
      </p:sp>
      <p:sp>
        <p:nvSpPr>
          <p:cNvPr id="20" name="Rounded Rectangle 19"/>
          <p:cNvSpPr/>
          <p:nvPr/>
        </p:nvSpPr>
        <p:spPr>
          <a:xfrm>
            <a:off x="566928" y="3502152"/>
            <a:ext cx="6903720" cy="1143000"/>
          </a:xfrm>
          <a:prstGeom prst="roundRect">
            <a:avLst/>
          </a:prstGeom>
          <a:solidFill>
            <a:srgbClr val="FFFFFF"/>
          </a:solidFill>
          <a:ln w="12700">
            <a:solidFill>
              <a:srgbClr val="D2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02152"/>
            <a:ext cx="50292" cy="1143000"/>
          </a:xfrm>
          <a:prstGeom prst="rect">
            <a:avLst/>
          </a:prstGeom>
          <a:solidFill>
            <a:srgbClr val="D07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611880"/>
            <a:ext cx="53035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spcBef>
                <a:spcPts val="0"/>
              </a:spcBef>
              <a:spcAft>
                <a:spcPts val="0"/>
              </a:spcAft>
            </a:pPr>
            <a:r>
              <a:rPr sz="819" b="1">
                <a:solidFill>
                  <a:srgbClr val="D07800"/>
                </a:solidFill>
                <a:latin typeface="Consolas"/>
              </a:rPr>
              <a:t>02 · WARD'S “SHARED SIGNAL FRAMEWORK” → EHD</a:t>
            </a:r>
          </a:p>
        </p:txBody>
      </p:sp>
      <p:sp>
        <p:nvSpPr>
          <p:cNvPr id="23" name="Rectangle 22"/>
          <p:cNvSpPr/>
          <p:nvPr/>
        </p:nvSpPr>
        <p:spPr>
          <a:xfrm>
            <a:off x="731520" y="3867912"/>
            <a:ext cx="6400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spcBef>
                <a:spcPts val="0"/>
              </a:spcBef>
              <a:spcAft>
                <a:spcPts val="0"/>
              </a:spcAft>
            </a:pPr>
            <a:r>
              <a:rPr sz="1620" b="1">
                <a:solidFill>
                  <a:srgbClr val="1B2740"/>
                </a:solidFill>
                <a:latin typeface="Cambria"/>
              </a:rPr>
              <a:t>Should EHD be the common #13 signaling contract?</a:t>
            </a:r>
          </a:p>
        </p:txBody>
      </p:sp>
      <p:sp>
        <p:nvSpPr>
          <p:cNvPr id="24" name="Rectangle 23"/>
          <p:cNvSpPr/>
          <p:nvPr/>
        </p:nvSpPr>
        <p:spPr>
          <a:xfrm>
            <a:off x="731520" y="4169663"/>
            <a:ext cx="63550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Bef>
                <a:spcPts val="0"/>
              </a:spcBef>
              <a:spcAft>
                <a:spcPts val="0"/>
              </a:spcAft>
            </a:pPr>
            <a:r>
              <a:rPr sz="1030" b="0">
                <a:solidFill>
                  <a:srgbClr val="555960"/>
                </a:solidFill>
                <a:latin typeface="Calibri"/>
              </a:rPr>
              <a:t>Ward calls for warnings through a shared signal framework. Should EHD be the bounded, versioned hand-off carrying scope, provenance, freshness, determination state, UNKNOWN / residual and revalidation conditions?</a:t>
            </a:r>
          </a:p>
        </p:txBody>
      </p:sp>
      <p:sp>
        <p:nvSpPr>
          <p:cNvPr id="25" name="Rounded Rectangle 24"/>
          <p:cNvSpPr/>
          <p:nvPr/>
        </p:nvSpPr>
        <p:spPr>
          <a:xfrm>
            <a:off x="566928" y="4800600"/>
            <a:ext cx="11064240" cy="777240"/>
          </a:xfrm>
          <a:prstGeom prst="roundRect">
            <a:avLst/>
          </a:prstGeom>
          <a:solidFill>
            <a:srgbClr val="FDF4E8"/>
          </a:solidFill>
          <a:ln w="12700">
            <a:solidFill>
              <a:srgbClr val="D07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4882896"/>
            <a:ext cx="45720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spcBef>
                <a:spcPts val="0"/>
              </a:spcBef>
              <a:spcAft>
                <a:spcPts val="0"/>
              </a:spcAft>
            </a:pPr>
            <a:r>
              <a:rPr sz="800" b="1">
                <a:solidFill>
                  <a:srgbClr val="D07800"/>
                </a:solidFill>
                <a:latin typeface="Consolas"/>
              </a:rPr>
              <a:t>03 · WARD'S CONTAINMENT LAYER → GOVERNANCE BOUNDARY</a:t>
            </a:r>
          </a:p>
        </p:txBody>
      </p:sp>
      <p:sp>
        <p:nvSpPr>
          <p:cNvPr id="27" name="Rectangle 26"/>
          <p:cNvSpPr/>
          <p:nvPr/>
        </p:nvSpPr>
        <p:spPr>
          <a:xfrm>
            <a:off x="731520" y="5102352"/>
            <a:ext cx="1783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spcBef>
                <a:spcPts val="0"/>
              </a:spcBef>
              <a:spcAft>
                <a:spcPts val="0"/>
              </a:spcAft>
            </a:pPr>
            <a:r>
              <a:rPr sz="1380" b="1">
                <a:solidFill>
                  <a:srgbClr val="1B2740"/>
                </a:solidFill>
                <a:latin typeface="Cambria"/>
              </a:rPr>
              <a:t>Where does #13 stop?</a:t>
            </a:r>
          </a:p>
        </p:txBody>
      </p:sp>
      <p:sp>
        <p:nvSpPr>
          <p:cNvPr id="28" name="Rectangle 27"/>
          <p:cNvSpPr/>
          <p:nvPr/>
        </p:nvSpPr>
        <p:spPr>
          <a:xfrm>
            <a:off x="2487168" y="5056632"/>
            <a:ext cx="873252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spcBef>
                <a:spcPts val="0"/>
              </a:spcBef>
              <a:spcAft>
                <a:spcPts val="0"/>
              </a:spcAft>
            </a:pPr>
            <a:r>
              <a:rPr sz="1000" b="0">
                <a:solidFill>
                  <a:srgbClr val="555960"/>
                </a:solidFill>
                <a:latin typeface="Calibri"/>
              </a:rPr>
              <a:t>Ward's p.4 moves from Signaling to Containment and blast-radius reduction. Do we freeze #13 so it qualifies, signals and coordinates, while legitimate control owners decide and actuate containment?  signal ≠ command</a:t>
            </a:r>
          </a:p>
        </p:txBody>
      </p:sp>
      <p:sp>
        <p:nvSpPr>
          <p:cNvPr id="29" name="Rectangle 28"/>
          <p:cNvSpPr/>
          <p:nvPr/>
        </p:nvSpPr>
        <p:spPr>
          <a:xfrm>
            <a:off x="566928" y="5632704"/>
            <a:ext cx="110642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spcBef>
                <a:spcPts val="0"/>
              </a:spcBef>
              <a:spcAft>
                <a:spcPts val="0"/>
              </a:spcAft>
            </a:pPr>
            <a:r>
              <a:rPr sz="690" b="0">
                <a:solidFill>
                  <a:srgbClr val="727880"/>
                </a:solidFill>
                <a:latin typeface="Calibri"/>
              </a:rPr>
              <a:t>Source: Ward Duchamps, “Update for Decentralized Identity Forum (DIF)”, 14 Sept 2026, pp.3–5. Mapping to #13 is proposed here for discussion; it does not imply Ward/DIF endorsement.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37160"/>
            <a:ext cx="4023360" cy="201168"/>
          </a:xfrm>
          <a:prstGeom prst="rect">
            <a:avLst/>
          </a:prstGeom>
          <a:noFill/>
        </p:spPr>
        <p:txBody>
          <a:bodyPr wrap="square" lIns="0" rIns="0" tIns="0" bIns="0" anchor="t">
            <a:spAutoFit/>
          </a:bodyPr>
          <a:lstStyle/>
          <a:p>
            <a:pPr algn="l"/>
            <a:r>
              <a:rPr sz="850" b="0" i="0">
                <a:solidFill>
                  <a:srgbClr val="1F2D3D"/>
                </a:solidFill>
                <a:latin typeface="Consolas"/>
              </a:rPr>
              <a:t>THEME #13 · EXTERNAL COLLABORATION</a:t>
            </a:r>
          </a:p>
        </p:txBody>
      </p:sp>
      <p:sp>
        <p:nvSpPr>
          <p:cNvPr id="3" name="TextBox 2"/>
          <p:cNvSpPr txBox="1"/>
          <p:nvPr/>
        </p:nvSpPr>
        <p:spPr>
          <a:xfrm>
            <a:off x="11109960" y="137160"/>
            <a:ext cx="502920" cy="201168"/>
          </a:xfrm>
          <a:prstGeom prst="rect">
            <a:avLst/>
          </a:prstGeom>
          <a:noFill/>
        </p:spPr>
        <p:txBody>
          <a:bodyPr wrap="square" lIns="0" rIns="0" tIns="0" bIns="0" anchor="t">
            <a:spAutoFit/>
          </a:bodyPr>
          <a:lstStyle/>
          <a:p>
            <a:pPr algn="r"/>
            <a:r>
              <a:rPr sz="850" b="0" i="0">
                <a:solidFill>
                  <a:srgbClr val="1F2D3D"/>
                </a:solidFill>
                <a:latin typeface="Consolas"/>
              </a:rPr>
              <a:t>§ A2</a:t>
            </a:r>
          </a:p>
        </p:txBody>
      </p:sp>
      <p:sp>
        <p:nvSpPr>
          <p:cNvPr id="4" name="Rectangle 3"/>
          <p:cNvSpPr/>
          <p:nvPr/>
        </p:nvSpPr>
        <p:spPr>
          <a:xfrm>
            <a:off x="566928" y="457200"/>
            <a:ext cx="11064240" cy="10972"/>
          </a:xfrm>
          <a:prstGeom prst="rect">
            <a:avLst/>
          </a:prstGeom>
          <a:solidFill>
            <a:srgbClr val="24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8368"/>
            <a:ext cx="10881360" cy="384048"/>
          </a:xfrm>
          <a:prstGeom prst="rect">
            <a:avLst/>
          </a:prstGeom>
          <a:noFill/>
        </p:spPr>
        <p:txBody>
          <a:bodyPr wrap="square" lIns="0" rIns="0" tIns="0" bIns="0" anchor="ctr">
            <a:spAutoFit/>
          </a:bodyPr>
          <a:lstStyle/>
          <a:p>
            <a:pPr algn="l">
              <a:spcBef>
                <a:spcPts val="0"/>
              </a:spcBef>
              <a:spcAft>
                <a:spcPts val="0"/>
              </a:spcAft>
            </a:pPr>
            <a:r>
              <a:rPr sz="2350" b="1">
                <a:solidFill>
                  <a:srgbClr val="1B2740"/>
                </a:solidFill>
                <a:latin typeface="Cambria"/>
              </a:rPr>
              <a:t>External collaboration — operationalizing Ward's open-standards / community-effort direction</a:t>
            </a:r>
          </a:p>
        </p:txBody>
      </p:sp>
      <p:sp>
        <p:nvSpPr>
          <p:cNvPr id="6" name="TextBox 5"/>
          <p:cNvSpPr txBox="1"/>
          <p:nvPr/>
        </p:nvSpPr>
        <p:spPr>
          <a:xfrm>
            <a:off x="566928" y="1078992"/>
            <a:ext cx="10972800" cy="347472"/>
          </a:xfrm>
          <a:prstGeom prst="rect">
            <a:avLst/>
          </a:prstGeom>
          <a:noFill/>
        </p:spPr>
        <p:txBody>
          <a:bodyPr wrap="square" lIns="0" rIns="0" tIns="0" bIns="0" anchor="ctr">
            <a:spAutoFit/>
          </a:bodyPr>
          <a:lstStyle/>
          <a:p>
            <a:pPr algn="l">
              <a:spcBef>
                <a:spcPts val="0"/>
              </a:spcBef>
              <a:spcAft>
                <a:spcPts val="0"/>
              </a:spcAft>
            </a:pPr>
            <a:r>
              <a:rPr sz="1100" b="0">
                <a:solidFill>
                  <a:srgbClr val="555960"/>
                </a:solidFill>
                <a:latin typeface="Calibri"/>
              </a:rPr>
              <a:t>External to FG-TIDA. Ward's deck supplies the ecosystem-defense frame; #13 distributes only the hard independent work it actually needs, without taking over neighboring Theme semantics.</a:t>
            </a:r>
          </a:p>
        </p:txBody>
      </p:sp>
      <p:sp>
        <p:nvSpPr>
          <p:cNvPr id="7" name="Rectangle 6"/>
          <p:cNvSpPr/>
          <p:nvPr/>
        </p:nvSpPr>
        <p:spPr>
          <a:xfrm>
            <a:off x="566928" y="6419088"/>
            <a:ext cx="11064240" cy="9144"/>
          </a:xfrm>
          <a:prstGeom prst="rect">
            <a:avLst/>
          </a:prstGeom>
          <a:solidFill>
            <a:srgbClr val="24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92240"/>
            <a:ext cx="3474720" cy="164592"/>
          </a:xfrm>
          <a:prstGeom prst="rect">
            <a:avLst/>
          </a:prstGeom>
          <a:noFill/>
        </p:spPr>
        <p:txBody>
          <a:bodyPr wrap="square" lIns="0" rIns="0" tIns="0" bIns="0" anchor="ctr">
            <a:spAutoFit/>
          </a:bodyPr>
          <a:lstStyle/>
          <a:p>
            <a:pPr algn="l">
              <a:spcBef>
                <a:spcPts val="0"/>
              </a:spcBef>
              <a:spcAft>
                <a:spcPts val="0"/>
              </a:spcAft>
            </a:pPr>
            <a:r>
              <a:rPr sz="760" b="0">
                <a:solidFill>
                  <a:srgbClr val="727880"/>
                </a:solidFill>
                <a:latin typeface="Consolas"/>
              </a:rPr>
              <a:t>REFERENCE ↗  Ward Duchamps · DIF update · 14 Sept 2026</a:t>
            </a:r>
          </a:p>
        </p:txBody>
      </p:sp>
      <p:sp>
        <p:nvSpPr>
          <p:cNvPr id="9" name="TextBox 8"/>
          <p:cNvSpPr txBox="1"/>
          <p:nvPr/>
        </p:nvSpPr>
        <p:spPr>
          <a:xfrm>
            <a:off x="3977639" y="6492240"/>
            <a:ext cx="4251960" cy="164592"/>
          </a:xfrm>
          <a:prstGeom prst="rect">
            <a:avLst/>
          </a:prstGeom>
          <a:noFill/>
        </p:spPr>
        <p:txBody>
          <a:bodyPr wrap="square" lIns="0" rIns="0" tIns="0" bIns="0" anchor="ctr">
            <a:spAutoFit/>
          </a:bodyPr>
          <a:lstStyle/>
          <a:p>
            <a:pPr algn="ctr">
              <a:spcBef>
                <a:spcPts val="0"/>
              </a:spcBef>
              <a:spcAft>
                <a:spcPts val="0"/>
              </a:spcAft>
            </a:pPr>
            <a:r>
              <a:rPr sz="760" b="0">
                <a:solidFill>
                  <a:srgbClr val="727880"/>
                </a:solidFill>
                <a:latin typeface="Consolas"/>
              </a:rPr>
              <a:t>Ecosystem Awareness · Theme #13 external collaboration</a:t>
            </a:r>
          </a:p>
        </p:txBody>
      </p:sp>
      <p:sp>
        <p:nvSpPr>
          <p:cNvPr id="10" name="TextBox 9"/>
          <p:cNvSpPr txBox="1"/>
          <p:nvPr/>
        </p:nvSpPr>
        <p:spPr>
          <a:xfrm>
            <a:off x="11247120" y="6492240"/>
            <a:ext cx="320040" cy="164592"/>
          </a:xfrm>
          <a:prstGeom prst="rect">
            <a:avLst/>
          </a:prstGeom>
          <a:noFill/>
        </p:spPr>
        <p:txBody>
          <a:bodyPr wrap="square" lIns="0" rIns="0" tIns="0" bIns="0" anchor="t">
            <a:spAutoFit/>
          </a:bodyPr>
          <a:lstStyle/>
          <a:p>
            <a:pPr algn="r"/>
            <a:r>
              <a:rPr sz="800" b="0" i="0">
                <a:solidFill>
                  <a:srgbClr val="5D6775"/>
                </a:solidFill>
                <a:latin typeface="Calibri"/>
              </a:rPr>
              <a:t>19</a:t>
            </a:r>
          </a:p>
        </p:txBody>
      </p:sp>
      <p:graphicFrame>
        <p:nvGraphicFramePr>
          <p:cNvPr id="11" name="Table 10"/>
          <p:cNvGraphicFramePr>
            <a:graphicFrameLocks noGrp="1"/>
          </p:cNvGraphicFramePr>
          <p:nvPr/>
        </p:nvGraphicFramePr>
        <p:xfrm>
          <a:off x="566928" y="1856231"/>
          <a:ext cx="10469880" cy="3959352"/>
        </p:xfrm>
        <a:graphic>
          <a:graphicData uri="http://schemas.openxmlformats.org/drawingml/2006/table">
            <a:tbl>
              <a:tblPr firstRow="1" bandRow="1">
                <a:tableStyleId>{5C22544A-7EE6-4342-B048-85BDC9FD1C3A}</a:tableStyleId>
              </a:tblPr>
              <a:tblGrid>
                <a:gridCol w="1572768"/>
                <a:gridCol w="621792"/>
                <a:gridCol w="1554480"/>
                <a:gridCol w="2514600"/>
                <a:gridCol w="1600200"/>
                <a:gridCol w="2606040"/>
              </a:tblGrid>
              <a:tr h="329184">
                <a:tc>
                  <a:txBody>
                    <a:bodyPr/>
                    <a:lstStyle/>
                    <a:p>
                      <a:pPr algn="l">
                        <a:spcBef>
                          <a:spcPts val="0"/>
                        </a:spcBef>
                        <a:spcAft>
                          <a:spcPts val="0"/>
                        </a:spcAft>
                      </a:pPr>
                      <a:r>
                        <a:rPr sz="800" b="1">
                          <a:solidFill>
                            <a:srgbClr val="FFFFFF"/>
                          </a:solidFill>
                          <a:latin typeface="Consolas"/>
                        </a:rPr>
                        <a:t>Workstream</a:t>
                      </a:r>
                    </a:p>
                  </a:txBody>
                  <a:tcPr marL="32004" marR="32004" marT="18288" marB="13716" anchor="ctr">
                    <a:solidFill>
                      <a:srgbClr val="1B2740"/>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ctr">
                        <a:spcBef>
                          <a:spcPts val="0"/>
                        </a:spcBef>
                        <a:spcAft>
                          <a:spcPts val="0"/>
                        </a:spcAft>
                      </a:pPr>
                      <a:r>
                        <a:rPr sz="800" b="1">
                          <a:solidFill>
                            <a:srgbClr val="FFFFFF"/>
                          </a:solidFill>
                          <a:latin typeface="Consolas"/>
                        </a:rPr>
                        <a:t>#13?</a:t>
                      </a:r>
                    </a:p>
                  </a:txBody>
                  <a:tcPr marL="32004" marR="32004" marT="18288" marB="13716" anchor="ctr">
                    <a:solidFill>
                      <a:srgbClr val="1B2740"/>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800" b="1">
                          <a:solidFill>
                            <a:srgbClr val="FFFFFF"/>
                          </a:solidFill>
                          <a:latin typeface="Consolas"/>
                        </a:rPr>
                        <a:t>External collaborator</a:t>
                      </a:r>
                    </a:p>
                  </a:txBody>
                  <a:tcPr marL="32004" marR="32004" marT="18288" marB="13716" anchor="ctr">
                    <a:solidFill>
                      <a:srgbClr val="1B2740"/>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800" b="1">
                          <a:solidFill>
                            <a:srgbClr val="FFFFFF"/>
                          </a:solidFill>
                          <a:latin typeface="Consolas"/>
                        </a:rPr>
                        <a:t>Deliverable</a:t>
                      </a:r>
                    </a:p>
                  </a:txBody>
                  <a:tcPr marL="32004" marR="32004" marT="18288" marB="13716" anchor="ctr">
                    <a:solidFill>
                      <a:srgbClr val="1B2740"/>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800" b="1">
                          <a:solidFill>
                            <a:srgbClr val="FFFFFF"/>
                          </a:solidFill>
                          <a:latin typeface="Consolas"/>
                        </a:rPr>
                        <a:t>Must not</a:t>
                      </a:r>
                    </a:p>
                  </a:txBody>
                  <a:tcPr marL="32004" marR="32004" marT="18288" marB="13716" anchor="ctr">
                    <a:solidFill>
                      <a:srgbClr val="1B2740"/>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800" b="1">
                          <a:solidFill>
                            <a:srgbClr val="FFFFFF"/>
                          </a:solidFill>
                          <a:latin typeface="Consolas"/>
                        </a:rPr>
                        <a:t>What #13 offers</a:t>
                      </a:r>
                    </a:p>
                  </a:txBody>
                  <a:tcPr marL="32004" marR="32004" marT="18288" marB="13716" anchor="ctr">
                    <a:solidFill>
                      <a:srgbClr val="1B2740"/>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r>
              <a:tr h="512064">
                <a:tc>
                  <a:txBody>
                    <a:bodyPr/>
                    <a:lstStyle/>
                    <a:p>
                      <a:pPr algn="l">
                        <a:spcBef>
                          <a:spcPts val="0"/>
                        </a:spcBef>
                        <a:spcAft>
                          <a:spcPts val="0"/>
                        </a:spcAft>
                      </a:pPr>
                      <a:r>
                        <a:rPr sz="735" b="1">
                          <a:solidFill>
                            <a:srgbClr val="333942"/>
                          </a:solidFill>
                          <a:latin typeface="Calibri"/>
                        </a:rPr>
                        <a:t>Adversarial fixtures — signaling</a:t>
                      </a:r>
                    </a:p>
                    <a:p>
                      <a:pPr algn="l">
                        <a:spcBef>
                          <a:spcPts val="0"/>
                        </a:spcBef>
                        <a:spcAft>
                          <a:spcPts val="0"/>
                        </a:spcAft>
                      </a:pPr>
                      <a:r>
                        <a:rPr sz="615">
                          <a:solidFill>
                            <a:srgbClr val="00848A"/>
                          </a:solidFill>
                          <a:latin typeface="Calibri"/>
                        </a:rPr>
                        <a:t>Ward anchor: Inspection + Signaling</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ctr">
                        <a:spcBef>
                          <a:spcPts val="0"/>
                        </a:spcBef>
                        <a:spcAft>
                          <a:spcPts val="0"/>
                        </a:spcAft>
                      </a:pPr>
                      <a:r>
                        <a:rPr sz="735" b="1">
                          <a:solidFill>
                            <a:srgbClr val="00848A"/>
                          </a:solidFill>
                          <a:latin typeface="Calibri"/>
                        </a:rPr>
                        <a:t>YES · core</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Cybersecurity / adversarial research</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4–6 executable fixtures: false corroboration; compromised producer; replay/stale; poisoned blast-radius; suppression/delay; compromised containment feedback</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Redefine identity, authority or policy</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Frozen cases; expected outcomes; falsifiers; EHD/lifecycle boundaries; conformance</a:t>
                      </a:r>
                    </a:p>
                  </a:txBody>
                  <a:tcPr marL="32004" marR="32004" marT="18288" marB="13716" anchor="ctr">
                    <a:solidFill>
                      <a:srgbClr val="EEF7F7"/>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r>
              <a:tr h="512064">
                <a:tc>
                  <a:txBody>
                    <a:bodyPr/>
                    <a:lstStyle/>
                    <a:p>
                      <a:pPr algn="l">
                        <a:spcBef>
                          <a:spcPts val="0"/>
                        </a:spcBef>
                        <a:spcAft>
                          <a:spcPts val="0"/>
                        </a:spcAft>
                      </a:pPr>
                      <a:r>
                        <a:rPr sz="735" b="1">
                          <a:solidFill>
                            <a:srgbClr val="333942"/>
                          </a:solidFill>
                          <a:latin typeface="Calibri"/>
                        </a:rPr>
                        <a:t>Adversarial fixtures — federated defense</a:t>
                      </a:r>
                    </a:p>
                    <a:p>
                      <a:pPr algn="l">
                        <a:spcBef>
                          <a:spcPts val="0"/>
                        </a:spcBef>
                        <a:spcAft>
                          <a:spcPts val="0"/>
                        </a:spcAft>
                      </a:pPr>
                      <a:r>
                        <a:rPr sz="615">
                          <a:solidFill>
                            <a:srgbClr val="00848A"/>
                          </a:solidFill>
                          <a:latin typeface="Calibri"/>
                        </a:rPr>
                        <a:t>Ward anchor: Containment + blast radius + self-healing</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ctr">
                        <a:spcBef>
                          <a:spcPts val="0"/>
                        </a:spcBef>
                        <a:spcAft>
                          <a:spcPts val="0"/>
                        </a:spcAft>
                      </a:pPr>
                      <a:r>
                        <a:rPr sz="735" b="1">
                          <a:solidFill>
                            <a:srgbClr val="00848A"/>
                          </a:solidFill>
                          <a:latin typeface="Calibri"/>
                        </a:rPr>
                        <a:t>YES</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Cybersecurity / operational-defense</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Cross-domain attacks where failure appears only in composition</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Build a generic agent threat model</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Multi-domain cases; composition model; oracles; UC-4 testbed path</a:t>
                      </a:r>
                    </a:p>
                  </a:txBody>
                  <a:tcPr marL="32004" marR="32004" marT="18288" marB="13716" anchor="ctr">
                    <a:solidFill>
                      <a:srgbClr val="EEF7F7"/>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r>
              <a:tr h="512064">
                <a:tc>
                  <a:txBody>
                    <a:bodyPr/>
                    <a:lstStyle/>
                    <a:p>
                      <a:pPr algn="l">
                        <a:spcBef>
                          <a:spcPts val="0"/>
                        </a:spcBef>
                        <a:spcAft>
                          <a:spcPts val="0"/>
                        </a:spcAft>
                      </a:pPr>
                      <a:r>
                        <a:rPr sz="735" b="1">
                          <a:solidFill>
                            <a:srgbClr val="333942"/>
                          </a:solidFill>
                          <a:latin typeface="Calibri"/>
                        </a:rPr>
                        <a:t>Independent signal-lifecycle implementation</a:t>
                      </a:r>
                    </a:p>
                    <a:p>
                      <a:pPr algn="l">
                        <a:spcBef>
                          <a:spcPts val="0"/>
                        </a:spcBef>
                        <a:spcAft>
                          <a:spcPts val="0"/>
                        </a:spcAft>
                      </a:pPr>
                      <a:r>
                        <a:rPr sz="615">
                          <a:solidFill>
                            <a:srgbClr val="00848A"/>
                          </a:solidFill>
                          <a:latin typeface="Calibri"/>
                        </a:rPr>
                        <a:t>Ward anchor: distributed-by-design + shared signals</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ctr">
                        <a:spcBef>
                          <a:spcPts val="0"/>
                        </a:spcBef>
                        <a:spcAft>
                          <a:spcPts val="0"/>
                        </a:spcAft>
                      </a:pPr>
                      <a:r>
                        <a:rPr sz="735" b="1">
                          <a:solidFill>
                            <a:srgbClr val="00848A"/>
                          </a:solidFill>
                          <a:latin typeface="Calibri"/>
                        </a:rPr>
                        <a:t>YES</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Independent implementation teams / open-source labs</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Second producer/consumer independently compatible with UC-4</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Replace Nelson’s lifecycle; implement independently</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Versioned profile; sample records; adapter contract; comparative traces</a:t>
                      </a:r>
                    </a:p>
                  </a:txBody>
                  <a:tcPr marL="32004" marR="32004" marT="18288" marB="13716" anchor="ctr">
                    <a:solidFill>
                      <a:srgbClr val="EEF7F7"/>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r>
              <a:tr h="512064">
                <a:tc>
                  <a:txBody>
                    <a:bodyPr/>
                    <a:lstStyle/>
                    <a:p>
                      <a:pPr algn="l">
                        <a:spcBef>
                          <a:spcPts val="0"/>
                        </a:spcBef>
                        <a:spcAft>
                          <a:spcPts val="0"/>
                        </a:spcAft>
                      </a:pPr>
                      <a:r>
                        <a:rPr sz="735" b="1">
                          <a:solidFill>
                            <a:srgbClr val="333942"/>
                          </a:solidFill>
                          <a:latin typeface="Calibri"/>
                        </a:rPr>
                        <a:t>EHD / signaling interface implementation</a:t>
                      </a:r>
                    </a:p>
                    <a:p>
                      <a:pPr algn="l">
                        <a:spcBef>
                          <a:spcPts val="0"/>
                        </a:spcBef>
                        <a:spcAft>
                          <a:spcPts val="0"/>
                        </a:spcAft>
                      </a:pPr>
                      <a:r>
                        <a:rPr sz="615">
                          <a:solidFill>
                            <a:srgbClr val="00848A"/>
                          </a:solidFill>
                          <a:latin typeface="Calibri"/>
                        </a:rPr>
                        <a:t>Ward anchor: shared signal framework</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ctr">
                        <a:spcBef>
                          <a:spcPts val="0"/>
                        </a:spcBef>
                        <a:spcAft>
                          <a:spcPts val="0"/>
                        </a:spcAft>
                      </a:pPr>
                      <a:r>
                        <a:rPr sz="735" b="1">
                          <a:solidFill>
                            <a:srgbClr val="00848A"/>
                          </a:solidFill>
                          <a:latin typeface="Calibri"/>
                        </a:rPr>
                        <a:t>YES</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Distributed-systems / implementation teams</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Real adapter preserving UNKNOWN, scope, provenance, freshness and dependency</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Redefine EHD semantics</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EHD profile; interface contract; sample messages; semantic-preservation tests</a:t>
                      </a:r>
                    </a:p>
                  </a:txBody>
                  <a:tcPr marL="32004" marR="32004" marT="18288" marB="13716" anchor="ctr">
                    <a:solidFill>
                      <a:srgbClr val="EEF7F7"/>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r>
              <a:tr h="512064">
                <a:tc>
                  <a:txBody>
                    <a:bodyPr/>
                    <a:lstStyle/>
                    <a:p>
                      <a:pPr algn="l">
                        <a:spcBef>
                          <a:spcPts val="0"/>
                        </a:spcBef>
                        <a:spcAft>
                          <a:spcPts val="0"/>
                        </a:spcAft>
                      </a:pPr>
                      <a:r>
                        <a:rPr sz="735" b="1">
                          <a:solidFill>
                            <a:srgbClr val="333942"/>
                          </a:solidFill>
                          <a:latin typeface="Calibri"/>
                        </a:rPr>
                        <a:t>Interface hardening</a:t>
                      </a:r>
                    </a:p>
                    <a:p>
                      <a:pPr algn="l">
                        <a:spcBef>
                          <a:spcPts val="0"/>
                        </a:spcBef>
                        <a:spcAft>
                          <a:spcPts val="0"/>
                        </a:spcAft>
                      </a:pPr>
                      <a:r>
                        <a:rPr sz="615">
                          <a:solidFill>
                            <a:srgbClr val="00848A"/>
                          </a:solidFill>
                          <a:latin typeface="Calibri"/>
                        </a:rPr>
                        <a:t>Ward anchor: Attest / Bind ↔ Monitor</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ctr">
                        <a:spcBef>
                          <a:spcPts val="0"/>
                        </a:spcBef>
                        <a:spcAft>
                          <a:spcPts val="0"/>
                        </a:spcAft>
                      </a:pPr>
                      <a:r>
                        <a:rPr sz="735" b="1">
                          <a:solidFill>
                            <a:srgbClr val="00848A"/>
                          </a:solidFill>
                          <a:latin typeface="Calibri"/>
                        </a:rPr>
                        <a:t>YES</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External implementers + relevant semantic owner</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Positive / boundary / rejection vectors for each interface</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Modify source-Theme semantics</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Existing mappings; frozen boundary cases; conformance method; integration</a:t>
                      </a:r>
                    </a:p>
                  </a:txBody>
                  <a:tcPr marL="32004" marR="32004" marT="18288" marB="13716" anchor="ctr">
                    <a:solidFill>
                      <a:srgbClr val="EEF7F7"/>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r>
              <a:tr h="557784">
                <a:tc>
                  <a:txBody>
                    <a:bodyPr/>
                    <a:lstStyle/>
                    <a:p>
                      <a:pPr algn="l">
                        <a:spcBef>
                          <a:spcPts val="0"/>
                        </a:spcBef>
                        <a:spcAft>
                          <a:spcPts val="0"/>
                        </a:spcAft>
                      </a:pPr>
                      <a:r>
                        <a:rPr sz="735" b="1">
                          <a:solidFill>
                            <a:srgbClr val="333942"/>
                          </a:solidFill>
                          <a:latin typeface="Calibri"/>
                        </a:rPr>
                        <a:t>Computability</a:t>
                      </a:r>
                    </a:p>
                    <a:p>
                      <a:pPr algn="l">
                        <a:spcBef>
                          <a:spcPts val="0"/>
                        </a:spcBef>
                        <a:spcAft>
                          <a:spcPts val="0"/>
                        </a:spcAft>
                      </a:pPr>
                      <a:r>
                        <a:rPr sz="615">
                          <a:solidFill>
                            <a:srgbClr val="00848A"/>
                          </a:solidFill>
                          <a:latin typeface="Calibri"/>
                        </a:rPr>
                        <a:t>Ward anchor: Monitor + Learn</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ctr">
                        <a:spcBef>
                          <a:spcPts val="0"/>
                        </a:spcBef>
                        <a:spcAft>
                          <a:spcPts val="0"/>
                        </a:spcAft>
                      </a:pPr>
                      <a:r>
                        <a:rPr sz="660" b="1">
                          <a:solidFill>
                            <a:srgbClr val="00848A"/>
                          </a:solidFill>
                          <a:latin typeface="Calibri"/>
                        </a:rPr>
                        <a:t>YES</a:t>
                      </a:r>
                    </a:p>
                    <a:p>
                      <a:pPr algn="ctr">
                        <a:spcBef>
                          <a:spcPts val="0"/>
                        </a:spcBef>
                        <a:spcAft>
                          <a:spcPts val="0"/>
                        </a:spcAft>
                      </a:pPr>
                      <a:r>
                        <a:rPr sz="660" b="1">
                          <a:solidFill>
                            <a:srgbClr val="00848A"/>
                          </a:solidFill>
                          <a:latin typeface="Calibri"/>
                        </a:rPr>
                        <a:t>internal/interface</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Formal methods / decision science / risk engineering</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Operationalize response window, epistemic opportunity, capacity, burden and source-dependence without a universal score</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Create false precision or a universal risk score</a:t>
                      </a:r>
                    </a:p>
                  </a:txBody>
                  <a:tcPr marL="32004" marR="32004" marT="18288" marB="13716" anchor="ctr">
                    <a:solidFill>
                      <a:srgbClr val="F7F7F6"/>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A/B/C/D; variables; deterministic branches; decision-boundary scenarios; UC-4 path</a:t>
                      </a:r>
                    </a:p>
                  </a:txBody>
                  <a:tcPr marL="32004" marR="32004" marT="18288" marB="13716" anchor="ctr">
                    <a:solidFill>
                      <a:srgbClr val="EEF7F7"/>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r>
              <a:tr h="512064">
                <a:tc>
                  <a:txBody>
                    <a:bodyPr/>
                    <a:lstStyle/>
                    <a:p>
                      <a:pPr algn="l">
                        <a:spcBef>
                          <a:spcPts val="0"/>
                        </a:spcBef>
                        <a:spcAft>
                          <a:spcPts val="0"/>
                        </a:spcAft>
                      </a:pPr>
                      <a:r>
                        <a:rPr sz="735" b="1">
                          <a:solidFill>
                            <a:srgbClr val="333942"/>
                          </a:solidFill>
                          <a:latin typeface="Calibri"/>
                        </a:rPr>
                        <a:t>Cross-implementation conformance</a:t>
                      </a:r>
                    </a:p>
                    <a:p>
                      <a:pPr algn="l">
                        <a:spcBef>
                          <a:spcPts val="0"/>
                        </a:spcBef>
                        <a:spcAft>
                          <a:spcPts val="0"/>
                        </a:spcAft>
                      </a:pPr>
                      <a:r>
                        <a:rPr sz="615">
                          <a:solidFill>
                            <a:srgbClr val="00848A"/>
                          </a:solidFill>
                          <a:latin typeface="Calibri"/>
                        </a:rPr>
                        <a:t>Ward anchor: open standards + community effort</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ctr">
                        <a:spcBef>
                          <a:spcPts val="0"/>
                        </a:spcBef>
                        <a:spcAft>
                          <a:spcPts val="0"/>
                        </a:spcAft>
                      </a:pPr>
                      <a:r>
                        <a:rPr sz="735" b="1">
                          <a:solidFill>
                            <a:srgbClr val="00848A"/>
                          </a:solidFill>
                          <a:latin typeface="Calibri"/>
                        </a:rPr>
                        <a:t>YES</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Independent labs / implementations</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Same fixture → two implementations → comparable traces</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Remain documentation-only</a:t>
                      </a:r>
                    </a:p>
                  </a:txBody>
                  <a:tcPr marL="32004" marR="32004" marT="18288" marB="13716" anchor="ctr">
                    <a:solidFill>
                      <a:srgbClr val="FFFFFF"/>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c>
                  <a:txBody>
                    <a:bodyPr/>
                    <a:lstStyle/>
                    <a:p>
                      <a:pPr algn="l">
                        <a:spcBef>
                          <a:spcPts val="0"/>
                        </a:spcBef>
                        <a:spcAft>
                          <a:spcPts val="0"/>
                        </a:spcAft>
                      </a:pPr>
                      <a:r>
                        <a:rPr sz="735" b="0">
                          <a:solidFill>
                            <a:srgbClr val="333942"/>
                          </a:solidFill>
                          <a:latin typeface="Calibri"/>
                        </a:rPr>
                        <a:t>Version-pinned fixtures; ICR scaffold; expected-vs-observed comparison</a:t>
                      </a:r>
                    </a:p>
                  </a:txBody>
                  <a:tcPr marL="32004" marR="32004" marT="18288" marB="13716" anchor="ctr">
                    <a:solidFill>
                      <a:srgbClr val="EEF7F7"/>
                    </a:solidFill>
                    <a:lnL w="6350">
                      <a:solidFill>
                        <a:srgbClr val="D2D9E2"/>
                      </a:solidFill>
                      <a:prstDash val="solid"/>
                    </a:lnL>
                    <a:lnR w="6350">
                      <a:solidFill>
                        <a:srgbClr val="D2D9E2"/>
                      </a:solidFill>
                      <a:prstDash val="solid"/>
                    </a:lnR>
                    <a:lnT w="6350">
                      <a:solidFill>
                        <a:srgbClr val="D2D9E2"/>
                      </a:solidFill>
                      <a:prstDash val="solid"/>
                    </a:lnT>
                    <a:lnB w="6350">
                      <a:solidFill>
                        <a:srgbClr val="D2D9E2"/>
                      </a:solidFill>
                      <a:prstDash val="solid"/>
                    </a:lnB>
                  </a:tcPr>
                </a:tc>
              </a:tr>
            </a:tbl>
          </a:graphicData>
        </a:graphic>
      </p:graphicFrame>
      <p:sp>
        <p:nvSpPr>
          <p:cNvPr id="12" name="Rectangle 11"/>
          <p:cNvSpPr/>
          <p:nvPr/>
        </p:nvSpPr>
        <p:spPr>
          <a:xfrm>
            <a:off x="566928" y="1389888"/>
            <a:ext cx="11064240" cy="365760"/>
          </a:xfrm>
          <a:prstGeom prst="rect">
            <a:avLst/>
          </a:prstGeom>
          <a:solidFill>
            <a:srgbClr val="EEF7F7"/>
          </a:solidFill>
          <a:ln w="12700">
            <a:solidFill>
              <a:srgbClr val="00848A"/>
            </a:solidFill>
          </a:ln>
        </p:spPr>
        <p:style>
          <a:lnRef idx="1">
            <a:schemeClr val="accent1"/>
          </a:lnRef>
          <a:fillRef idx="3">
            <a:schemeClr val="accent1"/>
          </a:fillRef>
          <a:effectRef idx="2">
            <a:schemeClr val="accent1"/>
          </a:effectRef>
          <a:fontRef idx="minor">
            <a:schemeClr val="lt1"/>
          </a:fontRef>
        </p:style>
        <p:txBody>
          <a:bodyPr rtlCol="0" anchor="ctr" wrap="square" lIns="128016" tIns="27432" bIns="18288"/>
          <a:lstStyle/>
          <a:p>
            <a:pPr algn="l">
              <a:spcBef>
                <a:spcPts val="0"/>
              </a:spcBef>
              <a:spcAft>
                <a:spcPts val="0"/>
              </a:spcAft>
            </a:pPr>
            <a:r>
              <a:rPr sz="790" b="1">
                <a:solidFill>
                  <a:srgbClr val="00848A"/>
                </a:solidFill>
                <a:latin typeface="Consolas"/>
              </a:rPr>
              <a:t>WARD / DIF ANCHORS  ·  p.3 distributed-by-design / self-healing   ·   p.4 Inspection + Signaling + Containment / blast radius   ·   p.4 open standards + community effort   ·   p.5 Attest + Bind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2727</Words>
  <Application>Microsoft Office PowerPoint</Application>
  <DocSecurity>0</DocSecurity>
  <PresentationFormat>Widescreen</PresentationFormat>
  <Paragraphs>377</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Ecosystem Positioning for Agentic Systems — Canonical v1.0</dc:title>
  <dc:subject>Canonical visual router for Ecosystem Positioning</dc:subject>
  <dc:creator>Iván Abril Palma</dc:creator>
  <cp:keywords>Ecosystem Positioning; Ecosystem Awareness; Regime Awareness; MSCA; Structural Awareness; pre-standardization</cp:keywords>
  <dc:description>Canonical working proposal v1.0 — 23 September 2026</dc:description>
  <cp:lastModifiedBy>Ivan Abril Palma</cp:lastModifiedBy>
  <cp:revision>3</cp:revision>
  <dcterms:created xsi:type="dcterms:W3CDTF">2026-09-22T14:53:32Z</dcterms:created>
  <dcterms:modified xsi:type="dcterms:W3CDTF">2026-09-24T15:24:36Z</dcterms:modified>
</cp:coreProperties>
</file>