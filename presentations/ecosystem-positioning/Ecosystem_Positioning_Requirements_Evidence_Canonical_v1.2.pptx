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25e6207fe94234" /><Relationship Type="http://schemas.openxmlformats.org/officeDocument/2006/relationships/extended-properties" Target="/docProps/app.xml" Id="R06b08f6638884f7f" /><Relationship Type="http://schemas.openxmlformats.org/officeDocument/2006/relationships/officeDocument" Target="/ppt/presentation.xml" Id="R862e799031904255" /></Relationships>
</file>

<file path=ppt/presentation.xml><?xml version="1.0" encoding="utf-8"?>
<p:presentation xmlns:p="http://schemas.openxmlformats.org/presentationml/2006/main">
  <p:sldMasterIdLst>
    <p:sldMasterId xmlns:r="http://schemas.openxmlformats.org/officeDocument/2006/relationships" id="2147483648" r:id="R95c4ef6a14e34235"/>
  </p:sldMasterIdLst>
  <p:notesMasterIdLst>
    <p:notesMasterId xmlns:r="http://schemas.openxmlformats.org/officeDocument/2006/relationships" r:id="R1c73a08ce9334256"/>
  </p:notesMasterIdLst>
  <p:sldIdLst>
    <p:sldId xmlns:r="http://schemas.openxmlformats.org/officeDocument/2006/relationships" id="256" r:id="R2e2f7890cf2e46e4"/>
    <p:sldId xmlns:r="http://schemas.openxmlformats.org/officeDocument/2006/relationships" id="257" r:id="R90678cdd552e442d"/>
    <p:sldId xmlns:r="http://schemas.openxmlformats.org/officeDocument/2006/relationships" id="258" r:id="Rc89b3404b7384696"/>
    <p:sldId xmlns:r="http://schemas.openxmlformats.org/officeDocument/2006/relationships" id="259" r:id="R62bce4489e254097"/>
    <p:sldId xmlns:r="http://schemas.openxmlformats.org/officeDocument/2006/relationships" id="260" r:id="Rf3b0301a96b3409f"/>
    <p:sldId xmlns:r="http://schemas.openxmlformats.org/officeDocument/2006/relationships" id="261" r:id="R8581e60a76854cb1"/>
    <p:sldId xmlns:r="http://schemas.openxmlformats.org/officeDocument/2006/relationships" id="262" r:id="R6618074447544023"/>
    <p:sldId xmlns:r="http://schemas.openxmlformats.org/officeDocument/2006/relationships" id="263" r:id="R794f5b15cffe4cda"/>
    <p:sldId xmlns:r="http://schemas.openxmlformats.org/officeDocument/2006/relationships" id="264" r:id="Rabfefee1f13343f2"/>
    <p:sldId xmlns:r="http://schemas.openxmlformats.org/officeDocument/2006/relationships" id="265" r:id="Reabddc7e32aa4179"/>
    <p:sldId xmlns:r="http://schemas.openxmlformats.org/officeDocument/2006/relationships" id="266" r:id="R8c39abb6a4b74c71"/>
    <p:sldId xmlns:r="http://schemas.openxmlformats.org/officeDocument/2006/relationships" id="267" r:id="R08335f2ae70040eb"/>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authors.xml><?xml version="1.0" encoding="utf-8"?>
<p188:authorLst xmlns:p188="http://schemas.microsoft.com/office/powerpoint/2018/8/main">
  <p188:author id="{08D4D544-A292-4829-B32B-F321090D9532}" name="Codex" initials="CX"/>
  <p188:author id="{A1367D4F-5962-5773-E0CE-22E838CB07E5}" name="Ivan Abril Palma" initials="IA" userId="1518fb449b47511d" providerId="Windows Live"/>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36c2a17cc2747bf" /><Relationship Type="http://schemas.openxmlformats.org/officeDocument/2006/relationships/slideMaster" Target="/ppt/slideMasters/slideMaster1.xml" Id="R95c4ef6a14e34235" /><Relationship Type="http://schemas.openxmlformats.org/officeDocument/2006/relationships/notesMaster" Target="/ppt/notesMasters/notesMaster1.xml" Id="R1c73a08ce9334256" /><Relationship Type="http://schemas.openxmlformats.org/officeDocument/2006/relationships/presProps" Target="/ppt/presProps.xml" Id="R76c0a4cd0f36445e" /><Relationship Type="http://schemas.openxmlformats.org/officeDocument/2006/relationships/viewProps" Target="/ppt/viewProps.xml" Id="R7ec08e7fc3a542d6" /><Relationship Type="http://schemas.openxmlformats.org/officeDocument/2006/relationships/tableStyles" Target="/ppt/tableStyles.xml" Id="Rba90687b488b4f99" /><Relationship Type="http://schemas.microsoft.com/office/2018/10/relationships/authors" Target="/ppt/authors.xml" Id="R8eb6e8d67f8149e7" /><Relationship Type="http://schemas.openxmlformats.org/officeDocument/2006/relationships/slide" Target="/ppt/slides/slide1.xml" Id="R2e2f7890cf2e46e4" /><Relationship Type="http://schemas.openxmlformats.org/officeDocument/2006/relationships/slide" Target="/ppt/slides/slide2.xml" Id="R90678cdd552e442d" /><Relationship Type="http://schemas.openxmlformats.org/officeDocument/2006/relationships/slide" Target="/ppt/slides/slide3.xml" Id="Rc89b3404b7384696" /><Relationship Type="http://schemas.openxmlformats.org/officeDocument/2006/relationships/slide" Target="/ppt/slides/slide4.xml" Id="R62bce4489e254097" /><Relationship Type="http://schemas.openxmlformats.org/officeDocument/2006/relationships/slide" Target="/ppt/slides/slide5.xml" Id="Rf3b0301a96b3409f" /><Relationship Type="http://schemas.openxmlformats.org/officeDocument/2006/relationships/slide" Target="/ppt/slides/slide6.xml" Id="R8581e60a76854cb1" /><Relationship Type="http://schemas.openxmlformats.org/officeDocument/2006/relationships/slide" Target="/ppt/slides/slide7.xml" Id="R6618074447544023" /><Relationship Type="http://schemas.openxmlformats.org/officeDocument/2006/relationships/slide" Target="/ppt/slides/slide8.xml" Id="R794f5b15cffe4cda" /><Relationship Type="http://schemas.openxmlformats.org/officeDocument/2006/relationships/slide" Target="/ppt/slides/slide9.xml" Id="Rabfefee1f13343f2" /><Relationship Type="http://schemas.openxmlformats.org/officeDocument/2006/relationships/slide" Target="/ppt/slides/slide10.xml" Id="Reabddc7e32aa4179" /><Relationship Type="http://schemas.openxmlformats.org/officeDocument/2006/relationships/slide" Target="/ppt/slides/slide11.xml" Id="R8c39abb6a4b74c71" /><Relationship Type="http://schemas.openxmlformats.org/officeDocument/2006/relationships/slide" Target="/ppt/slides/slide12.xml" Id="R08335f2ae70040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17390bc73540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8ea035b1394a4b" /><Relationship Type="http://schemas.openxmlformats.org/officeDocument/2006/relationships/notesMaster" Target="/ppt/notesMasters/notesMaster1.xml" Id="R18dd6a26160945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19db490598400a" /><Relationship Type="http://schemas.openxmlformats.org/officeDocument/2006/relationships/notesMaster" Target="/ppt/notesMasters/notesMaster1.xml" Id="Rb259a3e038cc4a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cce1a610d94173" /><Relationship Type="http://schemas.openxmlformats.org/officeDocument/2006/relationships/notesMaster" Target="/ppt/notesMasters/notesMaster1.xml" Id="Re83ab9bc442f47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09c8f38acba84476" /><Relationship Type="http://schemas.openxmlformats.org/officeDocument/2006/relationships/notesMaster" Target="/ppt/notesMasters/notesMaster1.xml" Id="R2b7e598cc6f244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2b1838f4d24c0d" /><Relationship Type="http://schemas.openxmlformats.org/officeDocument/2006/relationships/notesMaster" Target="/ppt/notesMasters/notesMaster1.xml" Id="Ra836ccd624d540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2c80cdda678444d" /><Relationship Type="http://schemas.openxmlformats.org/officeDocument/2006/relationships/notesMaster" Target="/ppt/notesMasters/notesMaster1.xml" Id="Rec39467441ba48c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33039873d3478c" /><Relationship Type="http://schemas.openxmlformats.org/officeDocument/2006/relationships/notesMaster" Target="/ppt/notesMasters/notesMaster1.xml" Id="Re26644938bb24cc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b528a78ff5c4a3a" /><Relationship Type="http://schemas.openxmlformats.org/officeDocument/2006/relationships/notesMaster" Target="/ppt/notesMasters/notesMaster1.xml" Id="R920f46a17a454d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05e7678d4a4c23" /><Relationship Type="http://schemas.openxmlformats.org/officeDocument/2006/relationships/notesMaster" Target="/ppt/notesMasters/notesMaster1.xml" Id="R87337d292c6747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26b6d011c824a93" /><Relationship Type="http://schemas.openxmlformats.org/officeDocument/2006/relationships/notesMaster" Target="/ppt/notesMasters/notesMaster1.xml" Id="R97b9305449cf4ff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c3243d7932451e" /><Relationship Type="http://schemas.openxmlformats.org/officeDocument/2006/relationships/notesMaster" Target="/ppt/notesMasters/notesMaster1.xml" Id="R095e0dd83530492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0cafd8a89fc4c4d" /><Relationship Type="http://schemas.openxmlformats.org/officeDocument/2006/relationships/notesMaster" Target="/ppt/notesMasters/notesMaster1.xml" Id="R96b9998d280544c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668629ec7645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f41a70f236f412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BASE">
    <p:bg>
      <p:bgPr>
        <a:solidFill xmlns:a="http://schemas.openxmlformats.org/drawingml/2006/main">
          <a:srgbClr val="F8F9FB"/>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24AC05A-A514-42F8-9016-2E5D147A1C0F}"/>
              </a:ext>
            </a:extLst>
          </p:cNvPr>
          <p:cNvSpPr>
            <a:spLocks xmlns:a="http://schemas.openxmlformats.org/drawingml/2006/main" noGrp="1"/>
          </p:cNvSpPr>
          <p:nvPr/>
        </p:nvSpPr>
        <p:spPr>
          <a:xfrm xmlns:a="http://schemas.openxmlformats.org/drawingml/2006/main">
            <a:off x="566928" y="457200"/>
            <a:ext cx="11045952" cy="0"/>
          </a:xfrm>
          <a:prstGeom xmlns:a="http://schemas.openxmlformats.org/drawingml/2006/main" prst="line">
            <a:avLst/>
          </a:prstGeom>
          <a:noFill xmlns:a="http://schemas.openxmlformats.org/drawingml/2006/main"/>
          <a:ln xmlns:a="http://schemas.openxmlformats.org/drawingml/2006/main" w="19050">
            <a:solidFill>
              <a:srgbClr val="1B273F"/>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Shape 1">
            <a:extLst xmlns:a="http://schemas.openxmlformats.org/drawingml/2006/main">
              <a:ext uri="{FF2B5EF4-FFF2-40B4-BE49-F238E27FC236}">
                <a16:creationId xmlns:a16="http://schemas.microsoft.com/office/drawing/2014/main" id="{20BA3AA8-903F-4A9F-BD7E-F197175788E2}"/>
              </a:ext>
            </a:extLst>
          </p:cNvPr>
          <p:cNvSpPr>
            <a:spLocks xmlns:a="http://schemas.openxmlformats.org/drawingml/2006/main" noGrp="1"/>
          </p:cNvSpPr>
          <p:nvPr/>
        </p:nvSpPr>
        <p:spPr>
          <a:xfrm xmlns:a="http://schemas.openxmlformats.org/drawingml/2006/main">
            <a:off x="566928" y="512064"/>
            <a:ext cx="11045952" cy="0"/>
          </a:xfrm>
          <a:prstGeom xmlns:a="http://schemas.openxmlformats.org/drawingml/2006/main" prst="line">
            <a:avLst/>
          </a:prstGeom>
          <a:noFill xmlns:a="http://schemas.openxmlformats.org/drawingml/2006/main"/>
          <a:ln xmlns:a="http://schemas.openxmlformats.org/drawingml/2006/main" w="8890">
            <a:solidFill>
              <a:srgbClr val="1B273F"/>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Shape 2">
            <a:extLst xmlns:a="http://schemas.openxmlformats.org/drawingml/2006/main">
              <a:ext uri="{FF2B5EF4-FFF2-40B4-BE49-F238E27FC236}">
                <a16:creationId xmlns:a16="http://schemas.microsoft.com/office/drawing/2014/main" id="{0FD5C33F-27A7-4571-BF55-2281985972E4}"/>
              </a:ext>
            </a:extLst>
          </p:cNvPr>
          <p:cNvSpPr>
            <a:spLocks xmlns:a="http://schemas.openxmlformats.org/drawingml/2006/main" noGrp="1"/>
          </p:cNvSpPr>
          <p:nvPr/>
        </p:nvSpPr>
        <p:spPr>
          <a:xfrm xmlns:a="http://schemas.openxmlformats.org/drawingml/2006/main">
            <a:off x="566928" y="6510528"/>
            <a:ext cx="11045952" cy="0"/>
          </a:xfrm>
          <a:prstGeom xmlns:a="http://schemas.openxmlformats.org/drawingml/2006/main" prst="line">
            <a:avLst/>
          </a:prstGeom>
          <a:noFill xmlns:a="http://schemas.openxmlformats.org/drawingml/2006/main"/>
          <a:ln xmlns:a="http://schemas.openxmlformats.org/drawingml/2006/main" w="10160">
            <a:solidFill>
              <a:srgbClr val="1B273F"/>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787C5CD3-1C90-4DE4-AC10-83A6A6D3A474}"/>
              </a:ext>
            </a:extLst>
          </p:cNvPr>
          <p:cNvSpPr>
            <a:spLocks xmlns:a="http://schemas.openxmlformats.org/drawingml/2006/main" noGrp="1"/>
          </p:cNvSpPr>
          <p:nvPr/>
        </p:nvSpPr>
        <p:spPr>
          <a:xfrm xmlns:a="http://schemas.openxmlformats.org/drawingml/2006/main">
            <a:off x="566928" y="6547104"/>
            <a:ext cx="32461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670"/>
          </a:p>
        </p:txBody>
      </p:sp>
      <p:sp>
        <p:nvSpPr>
          <p:cNvPr id="6" name="Text 4">
            <a:extLst xmlns:a="http://schemas.openxmlformats.org/drawingml/2006/main">
              <a:ext uri="{FF2B5EF4-FFF2-40B4-BE49-F238E27FC236}">
                <a16:creationId xmlns:a16="http://schemas.microsoft.com/office/drawing/2014/main" id="{510B3E1A-A271-4DB8-96AC-80B94A660E23}"/>
              </a:ext>
            </a:extLst>
          </p:cNvPr>
          <p:cNvSpPr>
            <a:spLocks xmlns:a="http://schemas.openxmlformats.org/drawingml/2006/main" noGrp="1"/>
          </p:cNvSpPr>
          <p:nvPr/>
        </p:nvSpPr>
        <p:spPr>
          <a:xfrm xmlns:a="http://schemas.openxmlformats.org/drawingml/2006/main">
            <a:off x="4187952" y="6547104"/>
            <a:ext cx="3383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670">
                <a:solidFill>
                  <a:srgbClr val="7A7E84"/>
                </a:solidFill>
                <a:latin typeface="Consolas"/>
                <a:ea typeface="Consolas"/>
                <a:cs typeface="Consolas"/>
              </a:rPr>
              <a:t>Ecosystem Awareness · Positioning architecture</a:t>
            </a:r>
            <a:endParaRPr sz="670"/>
          </a:p>
        </p:txBody>
      </p:sp>
      <p:sp>
        <p:nvSpPr>
          <p:cNvPr id="25" name="Slide Number Placeholder 0">
            <a:extLst xmlns:a="http://schemas.openxmlformats.org/drawingml/2006/main">
              <a:ext uri="{FF2B5EF4-FFF2-40B4-BE49-F238E27FC236}">
                <a16:creationId xmlns:a16="http://schemas.microsoft.com/office/drawing/2014/main" id="{D58AFA47-6D7A-4B0F-8606-AF5E073936E3}"/>
              </a:ext>
            </a:extLst>
          </p:cNvPr>
          <p:cNvSpPr>
            <a:spLocks xmlns:a="http://schemas.openxmlformats.org/drawingml/2006/main" noGrp="1"/>
          </p:cNvSpPr>
          <p:nvPr>
            <p:ph type="sldNum" idx="4294967295"/>
          </p:nvPr>
        </p:nvSpPr>
        <p:spPr>
          <a:xfrm xmlns:a="http://schemas.openxmlformats.org/drawingml/2006/main">
            <a:off x="11064240" y="6537960"/>
            <a:ext cx="502920" cy="164592"/>
          </a:xfrm>
          <a:prstGeom xmlns:a="http://schemas.openxmlformats.org/drawingml/2006/main" prst="rect">
            <a:avLst/>
          </a:prstGeom>
        </p:spPr>
        <p:txBody>
          <a:bodyPr xmlns:a="http://schemas.openxmlformats.org/drawingml/2006/main"/>
          <a:lstStyle xmlns:a="http://schemas.openxmlformats.org/drawingml/2006/main">
            <a:lvl1pPr>
              <a:buNone/>
              <a:defRPr sz="750">
                <a:solidFill>
                  <a:srgbClr val="1B273F"/>
                </a:solidFill>
                <a:latin typeface="Consolas"/>
                <a:ea typeface="Consolas"/>
                <a:cs typeface="Consolas"/>
              </a:defRPr>
            </a:lvl1pPr>
          </a:lstStyle>
          <a:p xmlns:a="http://schemas.openxmlformats.org/drawingml/2006/main">
            <a:pPr algn="r">
              <a:buNone/>
            </a:pPr>
            <a:fld id="{F7021451-1387-4CA6-816F-3879F97B5CBC}" type="slidenum">
              <a:rPr b="1"/>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259f6ee8f14c3c" /><Relationship Type="http://schemas.openxmlformats.org/officeDocument/2006/relationships/slideLayout" Target="/ppt/slideLayouts/slideLayout1.xml" Id="Rdb49bc6ce32d4fe3" /><Relationship Type="http://schemas.openxmlformats.org/officeDocument/2006/relationships/slideLayout" Target="/ppt/slideLayouts/slideLayout2.xml" Id="Ra504ad4e05ed491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57F9CD0A-AACD-49F3-918C-789F249C6D53}"/>
              </a:ext>
            </a:extLst>
          </p:cNvPr>
          <p:cNvSpPr>
            <a:spLocks xmlns:a="http://schemas.openxmlformats.org/drawingml/2006/main" noGrp="1"/>
          </p:cNvSpPr>
          <p:nvPr>
            <p:ph type="sldNum" idx="4294967295"/>
          </p:nvPr>
        </p:nvSpPr>
        <p:spPr>
          <a:xfrm xmlns:a="http://schemas.openxmlformats.org/drawingml/2006/main">
            <a:off x="11064240" y="6537960"/>
            <a:ext cx="502920" cy="164592"/>
          </a:xfrm>
          <a:prstGeom xmlns:a="http://schemas.openxmlformats.org/drawingml/2006/main" prst="rect">
            <a:avLst/>
          </a:prstGeom>
        </p:spPr>
        <p:txBody>
          <a:bodyPr xmlns:a="http://schemas.openxmlformats.org/drawingml/2006/main"/>
          <a:lstStyle xmlns:a="http://schemas.openxmlformats.org/drawingml/2006/main">
            <a:lvl1pPr>
              <a:buNone/>
              <a:defRPr sz="750">
                <a:solidFill>
                  <a:srgbClr val="1B273F"/>
                </a:solidFill>
                <a:latin typeface="Consolas"/>
                <a:ea typeface="Consolas"/>
                <a:cs typeface="Consolas"/>
              </a:defRPr>
            </a:lvl1pPr>
          </a:lstStyle>
          <a:p xmlns:a="http://schemas.openxmlformats.org/drawingml/2006/main">
            <a:pPr algn="r">
              <a:buNone/>
            </a:pPr>
            <a:fld id="{F7021451-1387-4CA6-816F-3879F97B5CBC}" type="slidenum">
              <a:rPr b="1"/>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b49bc6ce32d4fe3"/>
    <p:sldLayoutId xmlns:r="http://schemas.openxmlformats.org/officeDocument/2006/relationships" id="2147483650" r:id="Ra504ad4e05ed491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fbb49f88b6941e2" /><Relationship Type="http://schemas.openxmlformats.org/officeDocument/2006/relationships/hyperlink" Target="https://github.com/dakleyer/structural-awareness-contributions/blob/main/architectural-contributions/ecosystem-positioning/README.md" TargetMode="External" Id="R83a4323c4bde47a5" /><Relationship Type="http://schemas.openxmlformats.org/officeDocument/2006/relationships/hyperlink" Target="https://github.com/dakleyer/structural-awareness-contributions/blob/main/architectural-contributions/ecosystem-positioning/README.md" TargetMode="External" Id="Rcde06d855da1436a" /><Relationship Type="http://schemas.openxmlformats.org/officeDocument/2006/relationships/hyperlink" Target="https://github.com/dakleyer/structural-awareness-contributions/blob/main/architectural-contributions/ecosystem-positioning/README.md" TargetMode="External" Id="Rcd31cf3174514bd9" /><Relationship Type="http://schemas.openxmlformats.org/officeDocument/2006/relationships/notesSlide" Target="/ppt/notesSlides/notesSlide1.xml" Id="Ra916f2dea3b843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80b1e16a36b0484e" /><Relationship Type="http://schemas.openxmlformats.org/officeDocument/2006/relationships/hyperlink" Target="https://github.com/dakleyer/structural-awareness-contributions/blob/main/research/ecosystem-awareness/baseline/00D_CANONICAL_ARCHITECTURE_BENCHMARK_v0.3_DRAFT_ECOSYSTEM_POSITIONING.md" TargetMode="External" Id="R20b2091f249a4ada" /><Relationship Type="http://schemas.openxmlformats.org/officeDocument/2006/relationships/hyperlink" Target="https://github.com/dakleyer/structural-awareness-contributions/blob/main/research/ecosystem-awareness/baseline/00D_CANONICAL_ARCHITECTURE_BENCHMARK_v0.3_DRAFT_ECOSYSTEM_POSITIONING.md" TargetMode="External" Id="Re6d5c8507765447b" /><Relationship Type="http://schemas.openxmlformats.org/officeDocument/2006/relationships/notesSlide" Target="/ppt/notesSlides/notesSlide2.xml" Id="Rd778c352669846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656f2be8c3d34f38" /><Relationship Type="http://schemas.openxmlformats.org/officeDocument/2006/relationships/hyperlink" Target="https://github.com/dakleyer/structural-awareness-contributions/blob/main/research/ecosystem-awareness/baseline/01_FOUNDATIONAL_THEORY_v0.5_INTEGRATED.md" TargetMode="External" Id="R7270332c9c224a1e" /><Relationship Type="http://schemas.openxmlformats.org/officeDocument/2006/relationships/hyperlink" Target="https://github.com/dakleyer/structural-awareness-contributions/blob/main/research/ecosystem-awareness/baseline/01_FOUNDATIONAL_THEORY_v0.5_INTEGRATED.md" TargetMode="External" Id="R7d7664336c214f7d" /><Relationship Type="http://schemas.openxmlformats.org/officeDocument/2006/relationships/hyperlink" Target="https://github.com/dakleyer/structural-awareness-contributions/blob/main/research/ecosystem-awareness/baseline/02_EPISTEMIC_SAFETY_PRINCIPLES_CONTROL_MATRIX_v0.4.part01.md" TargetMode="External" Id="R72f7aec34fef4bfe" /><Relationship Type="http://schemas.openxmlformats.org/officeDocument/2006/relationships/notesSlide" Target="/ppt/notesSlides/notesSlide3.xml" Id="Rf16276ced67f476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48223d92ee74864" /><Relationship Type="http://schemas.openxmlformats.org/officeDocument/2006/relationships/hyperlink" Target="https://github.com/dakleyer/structural-awareness-contributions/blob/main/research/ecosystem-awareness/baseline/00E_FAILURE_MODES_100M_TOKEN_COMPOUNDING_v0.1.md" TargetMode="External" Id="R87bf997f94764328" /><Relationship Type="http://schemas.openxmlformats.org/officeDocument/2006/relationships/hyperlink" Target="https://github.com/dakleyer/structural-awareness-contributions/blob/main/research/ecosystem-awareness/baseline/00F_FAILURE_MODE_SMART_CITY_MOBILITY_SYSTEMIC_DIVERGENCE_v0.2_FREEZE_EDITION.md" TargetMode="External" Id="Rf6ef60aa6b4f4c3d" /><Relationship Type="http://schemas.openxmlformats.org/officeDocument/2006/relationships/hyperlink" Target="https://github.com/dakleyer/structural-awareness-contributions/blob/main/research/ecosystem-awareness/baseline/00G_FAILURE_MODE_COLLECTIVE_FALSE_CONTEXT_CONVERGENCE_v0.4.md" TargetMode="External" Id="R28ccddfa93ca433d" /><Relationship Type="http://schemas.openxmlformats.org/officeDocument/2006/relationships/hyperlink" Target="https://github.com/dakleyer/structural-awareness-contributions/blob/main/research/ecosystem-awareness/baseline/00H_FAILURE_MODE_BATCH_OPPORTUNITY_BEYOND_AUTHORITY_v0.5_DRAFT.md" TargetMode="External" Id="R5dcb2c274d174cb0" /><Relationship Type="http://schemas.openxmlformats.org/officeDocument/2006/relationships/hyperlink" Target="https://github.com/dakleyer/structural-awareness-contributions/blob/main/research/ecosystem-awareness/baseline/00I_FAILURE_MODE_SEMANTIC_TOCTOU_v0.5_FREEZE_EDITION.md" TargetMode="External" Id="R98a6433a4a8f42dd" /><Relationship Type="http://schemas.openxmlformats.org/officeDocument/2006/relationships/hyperlink" Target="https://github.com/dakleyer/structural-awareness-contributions/blob/main/research/ecosystem-awareness/baseline/00J_FAILURE_MODE_RIGHTS_PROVENANCE_INVERSION_v0.1_DRAFT.md" TargetMode="External" Id="R51dc008c6454482b" /><Relationship Type="http://schemas.openxmlformats.org/officeDocument/2006/relationships/hyperlink" Target="https://github.com/dakleyer/structural-awareness-contributions/blob/main/research/ecosystem-awareness/baseline/README.md" TargetMode="External" Id="R45f55b2776324fb0" /><Relationship Type="http://schemas.openxmlformats.org/officeDocument/2006/relationships/notesSlide" Target="/ppt/notesSlides/notesSlide4.xml" Id="Ra502389c49da42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fb208c70ff74b92" /><Relationship Type="http://schemas.openxmlformats.org/officeDocument/2006/relationships/hyperlink" Target="https://github.com/dakleyer/structural-awareness-contributions/blob/main/research/ecosystem-awareness/baseline/00E_A01_MICROSOFT_AGENT_365_IMPLEMENTATION_PROFILE_v0.2_DRAFT.md" TargetMode="External" Id="R96430af6d3e24769" /><Relationship Type="http://schemas.openxmlformats.org/officeDocument/2006/relationships/hyperlink" Target="https://github.com/dakleyer/structural-awareness-contributions/blob/main/research/ecosystem-awareness/baseline/00E_A02_LANGGRAPH_LANGSMITH_IMPLEMENTATION_PROFILE_v0.2_DRAFT.md" TargetMode="External" Id="R72cb7a65400f48b9" /><Relationship Type="http://schemas.openxmlformats.org/officeDocument/2006/relationships/hyperlink" Target="https://github.com/dakleyer/structural-awareness-contributions/blob/main/research/ecosystem-awareness/baseline/00F_A01_FIWARE_NGSI_LD_IMPLEMENTATION_PROFILE_v0.2_DRAFT.md" TargetMode="External" Id="R50c38bb9cdf34a57" /><Relationship Type="http://schemas.openxmlformats.org/officeDocument/2006/relationships/hyperlink" Target="https://github.com/dakleyer/structural-awareness-contributions/blob/main/research/ecosystem-awareness/baseline/00F_A02_AWS_IOT_TWINMAKER_CORE_IMPLEMENTATION_PROFILE_v0.2_DRAFT.md" TargetMode="External" Id="Rc69ba01fcca04dda" /><Relationship Type="http://schemas.openxmlformats.org/officeDocument/2006/relationships/hyperlink" Target="https://github.com/dakleyer/structural-awareness-contributions/blob/main/research/ecosystem-awareness/baseline/00G_FAILURE_MODE_COLLECTIVE_FALSE_CONTEXT_CONVERGENCE_v0.4.md#17-integrated-openai-agent-stack-implementation-trajectories" TargetMode="External" Id="R97351d5abff249a2" /><Relationship Type="http://schemas.openxmlformats.org/officeDocument/2006/relationships/hyperlink" Target="https://github.com/dakleyer/structural-awareness-contributions/blob/main/research/ecosystem-awareness/baseline/00H_A01_CLAUDE_AGENT_SDK_IMPLEMENTATION_PROFILE_v0.4_DRAFT.md" TargetMode="External" Id="Rc188677e26ea44ea" /><Relationship Type="http://schemas.openxmlformats.org/officeDocument/2006/relationships/hyperlink" Target="https://github.com/dakleyer/structural-awareness-contributions/blob/main/research/ecosystem-awareness/baseline/00H_A02_STRIPE_RADAR_IMPLEMENTATION_PROFILE_v0.4_DRAFT.md" TargetMode="External" Id="Rdfdc3454ce3e43fd" /><Relationship Type="http://schemas.openxmlformats.org/officeDocument/2006/relationships/hyperlink" Target="https://github.com/dakleyer/structural-awareness-contributions/blob/main/research/ecosystem-awareness/baseline/00I_A01_AWS_STEP_FUNCTIONS_RDS_IMPLEMENTATION_PROFILE_v0.2_DRAFT.md" TargetMode="External" Id="Rb44eda4654a446d7" /><Relationship Type="http://schemas.openxmlformats.org/officeDocument/2006/relationships/hyperlink" Target="https://github.com/dakleyer/structural-awareness-contributions/blob/main/research/ecosystem-awareness/baseline/00J_A01_PANODYSSEY_TEMS_RIGHTS_PORTABILITY_IMPLEMENTATION_PROFILE_v0.1_DRAFT.md" TargetMode="External" Id="R2e547d15349247ff" /><Relationship Type="http://schemas.openxmlformats.org/officeDocument/2006/relationships/hyperlink" Target="https://github.com/dakleyer/structural-awareness-contributions/blob/main/research/ecosystem-awareness/baseline/README.md" TargetMode="External" Id="Rc267bfb355c04149" /><Relationship Type="http://schemas.openxmlformats.org/officeDocument/2006/relationships/hyperlink" Target="https://github.com/dakleyer/structural-awareness-contributions/blob/main/research/ecosystem-awareness/baseline/README.md" TargetMode="External" Id="R9ea9064587ae43e0" /><Relationship Type="http://schemas.openxmlformats.org/officeDocument/2006/relationships/notesSlide" Target="/ppt/notesSlides/notesSlide5.xml" Id="R56545227d95b46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de7ca6325e824d34" /><Relationship Type="http://schemas.openxmlformats.org/officeDocument/2006/relationships/hyperlink" Target="https://github.com/dakleyer/structural-awareness-contributions/blob/main/research/ecosystem-awareness/baseline/01_FOUNDATIONAL_THEORY_v0.5_INTEGRATED.md" TargetMode="External" Id="R62b82180d8ca4f64" /><Relationship Type="http://schemas.openxmlformats.org/officeDocument/2006/relationships/hyperlink" Target="https://github.com/dakleyer/structural-awareness-contributions/blob/main/research/ecosystem-awareness/baseline/01_FOUNDATIONAL_THEORY_v0.5_INTEGRATED.md" TargetMode="External" Id="R660b76446c64440b" /><Relationship Type="http://schemas.openxmlformats.org/officeDocument/2006/relationships/hyperlink" Target="https://github.com/dakleyer/structural-awareness-contributions/blob/main/research/ecosystem-awareness/baseline/01_FOUNDATIONAL_THEORY_v0.5_INTEGRATED.md" TargetMode="External" Id="R010a37b5b8df4c1e" /><Relationship Type="http://schemas.openxmlformats.org/officeDocument/2006/relationships/hyperlink" Target="https://github.com/dakleyer/structural-awareness-contributions/blob/main/research/ecosystem-awareness/baseline/01_FOUNDATIONAL_THEORY_v0.5_INTEGRATED.md" TargetMode="External" Id="R807573c163cd40d3" /><Relationship Type="http://schemas.openxmlformats.org/officeDocument/2006/relationships/hyperlink" Target="https://github.com/dakleyer/structural-awareness-contributions/blob/main/research/ecosystem-awareness/baseline/01_FOUNDATIONAL_THEORY_v0.5_INTEGRATED.md" TargetMode="External" Id="R9fa8d89cf6124be3" /><Relationship Type="http://schemas.openxmlformats.org/officeDocument/2006/relationships/hyperlink" Target="https://github.com/dakleyer/structural-awareness-contributions/blob/main/research/ecosystem-awareness/baseline/00_CANONICAL_ARCHITECTURE_TOPOLOGY.md" TargetMode="External" Id="R7aeb5c0d6ae5421f" /><Relationship Type="http://schemas.openxmlformats.org/officeDocument/2006/relationships/notesSlide" Target="/ppt/notesSlides/notesSlide6.xml" Id="Ra3a66388ecb348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60c794f20374bda" /><Relationship Type="http://schemas.openxmlformats.org/officeDocument/2006/relationships/hyperlink" Target="https://github.com/dakleyer/structural-awareness-contributions/blob/main/research/ecosystem-awareness/baseline/00_CANONICAL_REQUIREMENTS_CHALLENGES_SUFFICIENCY_HYPOTHESES_KPIS.md" TargetMode="External" Id="R781dcf3b999144e0" /><Relationship Type="http://schemas.openxmlformats.org/officeDocument/2006/relationships/hyperlink" Target="https://github.com/dakleyer/structural-awareness-contributions/blob/main/research/ecosystem-awareness/baseline/00E_FAILURE_MODES_100M_TOKEN_COMPOUNDING_v0.1.md#82-route-q--requirements-satisfied-for-the-run" TargetMode="External" Id="Rb83815b97d7548e1" /><Relationship Type="http://schemas.openxmlformats.org/officeDocument/2006/relationships/hyperlink" Target="https://github.com/dakleyer/structural-awareness-contributions/blob/main/research/ecosystem-awareness/baseline/00E_FAILURE_MODES_100M_TOKEN_COMPOUNDING_v0.1.md#82-route-q--requirements-satisfied-for-the-run" TargetMode="External" Id="R03718830b45f417e" /><Relationship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 Id="R3d9ba56482d74f05" /><Relationship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 Id="Rd1cb5f3d70024a53" /><Relationship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 Id="R15b0bea42cee48eb" /><Relationship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 Id="R4e5281c289214a80" /><Relationship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 Id="R93ef6054a1f64144" /><Relationship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 Id="Rbc12ea83ef554c92" /><Relationship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 Id="R39e39aed4cbc46a4" /><Relationship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 Id="Rcbf2ef518e7a4712" /><Relationship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 Id="R1b11526b8ff248ac" /><Relationship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 Id="R191e434c7267422b" /><Relationship Type="http://schemas.openxmlformats.org/officeDocument/2006/relationships/hyperlink" Target="https://github.com/dakleyer/structural-awareness-contributions/blob/main/research/ecosystem-awareness/baseline/00_CANONICAL_REQUIREMENTS_CHALLENGES_SUFFICIENCY_HYPOTHESES_KPIS.md" TargetMode="External" Id="R08b5853b26754324" /><Relationship Type="http://schemas.openxmlformats.org/officeDocument/2006/relationships/hyperlink" Target="https://github.com/dakleyer/structural-awareness-contributions/blob/main/research/ecosystem-awareness/baseline/USE_CASE_PORTFOLIO_REQUIREMENTS_COVERAGE_MAP_v0.1.md" TargetMode="External" Id="Rb64e9b98a37b4278" /><Relationship Type="http://schemas.openxmlformats.org/officeDocument/2006/relationships/hyperlink" Target="https://github.com/dakleyer/structural-awareness-contributions/blob/main/research/ecosystem-awareness/baseline/README.md" TargetMode="External" Id="Rd11e94acb66b468f" /><Relationship Type="http://schemas.openxmlformats.org/officeDocument/2006/relationships/notesSlide" Target="/ppt/notesSlides/notesSlide7.xml" Id="R874ef6745b2a4b6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d48b62139d40f7" /><Relationship Type="http://schemas.openxmlformats.org/officeDocument/2006/relationships/hyperlink" Target="https://github.com/dakleyer/structural-awareness-contributions/blob/main/research/ecosystem-awareness/baseline/00F_FAILURE_MODE_SMART_CITY_MOBILITY_SYSTEMIC_DIVERGENCE_v0.2_FREEZE_EDITION.md" TargetMode="External" Id="R7d52ceedefaa41d0" /><Relationship Type="http://schemas.openxmlformats.org/officeDocument/2006/relationships/hyperlink" Target="https://github.com/dakleyer/structural-awareness-contributions/blob/main/research/ecosystem-awareness/baseline/00E_FAILURE_MODES_100M_TOKEN_COMPOUNDING_v0.1.md#82-route-q--requirements-satisfied-for-the-run" TargetMode="External" Id="R30a33db4c9244840" /><Relationship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 Id="Rdc36008db3c04966" /><Relationship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 Id="R12b29cd6db8f40e4" /><Relationship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 Id="Rf62d91ba9c434efd" /><Relationship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 Id="Rabb1f16d0ff84eed" /><Relationship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 Id="Ra30bac2caac844c3" /><Relationship Type="http://schemas.openxmlformats.org/officeDocument/2006/relationships/hyperlink" Target="https://github.com/dakleyer/structural-awareness-contributions/blob/main/research/ecosystem-awareness/baseline/00F_FAILURE_MODE_SMART_CITY_MOBILITY_SYSTEMIC_DIVERGENCE_v0.2_FREEZE_EDITION.md" TargetMode="External" Id="Ra985356d61a84734" /><Relationship Type="http://schemas.openxmlformats.org/officeDocument/2006/relationships/hyperlink" Target="https://github.com/dakleyer/structural-awareness-contributions/blob/main/research/ecosystem-awareness/baseline/README.md" TargetMode="External" Id="R685f6ac4259b444c" /><Relationship Type="http://schemas.openxmlformats.org/officeDocument/2006/relationships/notesSlide" Target="/ppt/notesSlides/notesSlide8.xml" Id="R5f36bc4ee0364f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1b5e5d3ad484323" /><Relationship Type="http://schemas.openxmlformats.org/officeDocument/2006/relationships/notesSlide" Target="/ppt/notesSlides/notesSlide9.xml" Id="R6dd408290508409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cdd2978aa09473e" /><Relationship Type="http://schemas.openxmlformats.org/officeDocument/2006/relationships/hyperlink" Target="https://github.com/dakleyer/structural-awareness-contributions/blob/main/research/ecosystem-awareness/baseline/00D_CANONICAL_ARCHITECTURE_BENCHMARK_v0.3_DRAFT_ECOSYSTEM_POSITIONING.md" TargetMode="External" Id="Rc010c47372494748" /><Relationship Type="http://schemas.openxmlformats.org/officeDocument/2006/relationships/hyperlink" Target="https://github.com/dakleyer/structural-awareness-contributions/blob/main/research/ecosystem-awareness/baseline/00D_CANONICAL_ARCHITECTURE_BENCHMARK_v0.3_DRAFT_ECOSYSTEM_POSITIONING.md" TargetMode="External" Id="R2b6dfac1ee9e4ac6" /><Relationship Type="http://schemas.openxmlformats.org/officeDocument/2006/relationships/notesSlide" Target="/ppt/notesSlides/notesSlide10.xml" Id="R4aee597a70ae424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b01e46a828c463f" /><Relationship Type="http://schemas.openxmlformats.org/officeDocument/2006/relationships/hyperlink" Target="https://spiffe.io/docs/latest/spire-about/comparisons/" TargetMode="External" Id="Ra3fa15664b4d4cc2" /><Relationship Type="http://schemas.openxmlformats.org/officeDocument/2006/relationships/hyperlink" Target="https://www.rfc-editor.org/rfc/rfc8693.html" TargetMode="External" Id="R8dcf60a992f44f27" /><Relationship Type="http://schemas.openxmlformats.org/officeDocument/2006/relationships/hyperlink" Target="https://www.rfc-editor.org/rfc/rfc9334.html" TargetMode="External" Id="R7648da2a38144a94" /><Relationship Type="http://schemas.openxmlformats.org/officeDocument/2006/relationships/hyperlink" Target="https://www.nccoe.nist.gov/projects/software-and-ai-agent-identity-and-authorization" TargetMode="External" Id="R716e5871c20b445c" /><Relationship Type="http://schemas.openxmlformats.org/officeDocument/2006/relationships/hyperlink" Target="https://github.com/dakleyer/structural-awareness-contributions/blob/main/research/ecosystem-awareness/baseline/00D_CANONICAL_ARCHITECTURE_BENCHMARK_v0.3_DRAFT_ECOSYSTEM_POSITIONING.md#51-industry-arms" TargetMode="External" Id="R54c6c9107679461e" /><Relationship Type="http://schemas.openxmlformats.org/officeDocument/2006/relationships/hyperlink" Target="https://github.com/dakleyer/structural-awareness-contributions/blob/main/research/ecosystem-awareness/baseline/00D_CANONICAL_ARCHITECTURE_BENCHMARK_v0.3_DRAFT_ECOSYSTEM_POSITIONING.md" TargetMode="External" Id="R80e99c6edbfd4314" /><Relationship Type="http://schemas.openxmlformats.org/officeDocument/2006/relationships/notesSlide" Target="/ppt/notesSlides/notesSlide11.xml" Id="R7e0dfe50edf84b3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2a15b38c7d4d4e06" /><Relationship Type="http://schemas.openxmlformats.org/officeDocument/2006/relationships/hyperlink" Target="https://github.com/dakleyer/structural-awareness-contributions/blob/main/research/ecosystem-awareness/baseline/00D_CANONICAL_ARCHITECTURE_BENCHMARK_AND_REFERENCE_SCENARIO_EVIDENCE_v0.2.md" TargetMode="External" Id="Rd0fc6af8887c4a35" /><Relationship Type="http://schemas.openxmlformats.org/officeDocument/2006/relationships/hyperlink" Target="https://github.com/dakleyer/structural-awareness-contributions/blob/main/research/ecosystem-awareness/baseline/00D_CANONICAL_ARCHITECTURE_BENCHMARK_v0.3_DRAFT_ECOSYSTEM_POSITIONING.md" TargetMode="External" Id="R7e2b8f5fc09c45bc" /><Relationship Type="http://schemas.openxmlformats.org/officeDocument/2006/relationships/hyperlink" Target="https://github.com/dakleyer/structural-awareness-contributions/blob/main/research/ecosystem-awareness/DECISION_BOUNDARY_CHALLENGE_v0.2.md#10-ranking-and-review-rule" TargetMode="External" Id="Rbc920b6768a2430a" /><Relationship Type="http://schemas.openxmlformats.org/officeDocument/2006/relationships/hyperlink" Target="https://github.com/dakleyer/structural-awareness-contributions/blob/main/research/ecosystem-awareness/baseline/00D_CANONICAL_ARCHITECTURE_BENCHMARK_AND_REFERENCE_SCENARIO_EVIDENCE_v0.2.md" TargetMode="External" Id="R4e27b7b35b0e4376" /><Relationship Type="http://schemas.openxmlformats.org/officeDocument/2006/relationships/hyperlink" Target="https://github.com/dakleyer/structural-awareness-contributions/blob/main/research/ecosystem-awareness/DECISION_BOUNDARY_CHALLENGE_v0.2.md" TargetMode="External" Id="R6dd8073031e64176" /><Relationship Type="http://schemas.openxmlformats.org/officeDocument/2006/relationships/notesSlide" Target="/ppt/notesSlides/notesSlide12.xml" Id="Rada587ada3c44101" /></Relationships>
</file>

<file path=ppt/slides/slide1.xml><?xml version="1.0" encoding="utf-8"?>
<p:sld xmlns:p="http://schemas.openxmlformats.org/presentationml/2006/main">
  <p:cSld>
    <p:bg>
      <p:bgPr>
        <a:solidFill xmlns:a="http://schemas.openxmlformats.org/drawingml/2006/main">
          <a:srgbClr val="1B2740"/>
        </a:solidFill>
      </p:bgPr>
    </p:bg>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EA44C1FD-9BE7-4172-8EB3-B600C9604AC5}"/>
              </a:ext>
            </a:extLst>
          </p:cNvPr>
          <p:cNvSpPr>
            <a:spLocks xmlns:a="http://schemas.openxmlformats.org/drawingml/2006/main" noGrp="1"/>
          </p:cNvSpPr>
          <p:nvPr/>
        </p:nvSpPr>
        <p:spPr>
          <a:xfrm xmlns:a="http://schemas.openxmlformats.org/drawingml/2006/main">
            <a:off x="9795967" y="365760"/>
            <a:ext cx="18288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endParaRPr/>
          </a:p>
        </p:txBody>
      </p:sp>
      <p:sp>
        <p:nvSpPr>
          <p:cNvPr id="4" name="Connector 3">
            <a:extLst xmlns:a="http://schemas.openxmlformats.org/drawingml/2006/main">
              <a:ext uri="{FF2B5EF4-FFF2-40B4-BE49-F238E27FC236}">
                <a16:creationId xmlns:a16="http://schemas.microsoft.com/office/drawing/2014/main" id="{88B86075-DCCC-4A44-AD37-7FBEBF0D2087}"/>
              </a:ext>
            </a:extLst>
          </p:cNvPr>
          <p:cNvSpPr>
            <a:spLocks xmlns:a="http://schemas.openxmlformats.org/drawingml/2006/main" noGrp="1"/>
          </p:cNvSpPr>
          <p:nvPr/>
        </p:nvSpPr>
        <p:spPr>
          <a:xfrm xmlns:a="http://schemas.openxmlformats.org/drawingml/2006/main">
            <a:off x="566928" y="713232"/>
            <a:ext cx="11057839" cy="0"/>
          </a:xfrm>
          <a:prstGeom xmlns:a="http://schemas.openxmlformats.org/drawingml/2006/main" prst="line">
            <a:avLst/>
          </a:prstGeom>
          <a:ln xmlns:a="http://schemas.openxmlformats.org/drawingml/2006/main" w="19050">
            <a:solidFill>
              <a:srgbClr val="D3D6DC"/>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
        <p:nvSpPr>
          <p:cNvPr id="5" name="Connector 4">
            <a:extLst xmlns:a="http://schemas.openxmlformats.org/drawingml/2006/main">
              <a:ext uri="{FF2B5EF4-FFF2-40B4-BE49-F238E27FC236}">
                <a16:creationId xmlns:a16="http://schemas.microsoft.com/office/drawing/2014/main" id="{CB3F87A0-9B7F-4CC6-AEBA-4ADB2ED68A79}"/>
              </a:ext>
            </a:extLst>
          </p:cNvPr>
          <p:cNvSpPr>
            <a:spLocks xmlns:a="http://schemas.openxmlformats.org/drawingml/2006/main" noGrp="1"/>
          </p:cNvSpPr>
          <p:nvPr/>
        </p:nvSpPr>
        <p:spPr>
          <a:xfrm xmlns:a="http://schemas.openxmlformats.org/drawingml/2006/main">
            <a:off x="566928" y="763524"/>
            <a:ext cx="11057839" cy="0"/>
          </a:xfrm>
          <a:prstGeom xmlns:a="http://schemas.openxmlformats.org/drawingml/2006/main" prst="line">
            <a:avLst/>
          </a:prstGeom>
          <a:ln xmlns:a="http://schemas.openxmlformats.org/drawingml/2006/main" w="7620">
            <a:solidFill>
              <a:srgbClr val="D3D6DC"/>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
        <p:nvSpPr>
          <p:cNvPr id="7" name="TextBox 6">
            <a:extLst xmlns:a="http://schemas.openxmlformats.org/drawingml/2006/main">
              <a:ext uri="{FF2B5EF4-FFF2-40B4-BE49-F238E27FC236}">
                <a16:creationId xmlns:a16="http://schemas.microsoft.com/office/drawing/2014/main" id="{1D5B8D62-E8BB-4E19-A69A-7C23C3E24251}"/>
              </a:ext>
            </a:extLst>
          </p:cNvPr>
          <p:cNvSpPr>
            <a:spLocks xmlns:a="http://schemas.openxmlformats.org/drawingml/2006/main" noGrp="1"/>
          </p:cNvSpPr>
          <p:nvPr/>
        </p:nvSpPr>
        <p:spPr>
          <a:xfrm xmlns:a="http://schemas.openxmlformats.org/drawingml/2006/main">
            <a:off x="566928" y="1783080"/>
            <a:ext cx="704088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95000"/>
              </a:lnSpc>
              <a:buNone/>
            </a:pPr>
            <a:r>
              <a:rPr sz="4600" b="1" i="0" spc="-100">
                <a:solidFill>
                  <a:srgbClr val="FCFCFD"/>
                </a:solidFill>
                <a:latin typeface="Cambria"/>
                <a:ea typeface="Cambria"/>
                <a:cs typeface="Cambria"/>
                <a:hlinkClick xmlns:r="http://schemas.openxmlformats.org/officeDocument/2006/relationships" r:id="R83a4323c4bde47a5"/>
              </a:rPr>
              <a:t>Ecosystem Positioning</a:t>
            </a:r>
          </a:p>
          <a:p xmlns:a="http://schemas.openxmlformats.org/drawingml/2006/main">
            <a:pPr algn="l">
              <a:lnSpc>
                <a:spcPct val="95000"/>
              </a:lnSpc>
              <a:buNone/>
            </a:pPr>
            <a:r>
              <a:rPr sz="4600" b="1" i="0" spc="-100">
                <a:solidFill>
                  <a:srgbClr val="FCFCFD"/>
                </a:solidFill>
                <a:latin typeface="Cambria"/>
                <a:ea typeface="Cambria"/>
                <a:cs typeface="Cambria"/>
                <a:hlinkClick xmlns:r="http://schemas.openxmlformats.org/officeDocument/2006/relationships" r:id="Rcde06d855da1436a"/>
              </a:rPr>
              <a:t>for Agentic Systems</a:t>
            </a:r>
          </a:p>
        </p:txBody>
      </p:sp>
      <p:sp>
        <p:nvSpPr>
          <p:cNvPr id="8" name="TextBox 7">
            <a:extLst xmlns:a="http://schemas.openxmlformats.org/drawingml/2006/main">
              <a:ext uri="{FF2B5EF4-FFF2-40B4-BE49-F238E27FC236}">
                <a16:creationId xmlns:a16="http://schemas.microsoft.com/office/drawing/2014/main" id="{6C3FFF38-AB10-4A8D-82EC-580B75F79819}"/>
              </a:ext>
            </a:extLst>
          </p:cNvPr>
          <p:cNvSpPr>
            <a:spLocks xmlns:a="http://schemas.openxmlformats.org/drawingml/2006/main" noGrp="1"/>
          </p:cNvSpPr>
          <p:nvPr/>
        </p:nvSpPr>
        <p:spPr>
          <a:xfrm xmlns:a="http://schemas.openxmlformats.org/drawingml/2006/main">
            <a:off x="566928" y="3383280"/>
            <a:ext cx="6309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5000"/>
              </a:lnSpc>
              <a:buNone/>
            </a:pPr>
            <a:r>
              <a:rPr sz="1350" b="0" i="0">
                <a:solidFill>
                  <a:srgbClr val="CACDD3"/>
                </a:solidFill>
                <a:latin typeface="Calibri"/>
                <a:ea typeface="Calibri"/>
                <a:cs typeface="Calibri"/>
              </a:rPr>
              <a:t>A proposed architecture for participants that must stay situated, and requalify, as authority, evidence, roles and the ecosystem itself change.</a:t>
            </a:r>
          </a:p>
        </p:txBody>
      </p:sp>
      <p:sp>
        <p:nvSpPr>
          <p:cNvPr id="9" name="Oval 8">
            <a:extLst xmlns:a="http://schemas.openxmlformats.org/drawingml/2006/main">
              <a:ext uri="{FF2B5EF4-FFF2-40B4-BE49-F238E27FC236}">
                <a16:creationId xmlns:a16="http://schemas.microsoft.com/office/drawing/2014/main" id="{E8D80915-4B47-4AED-B24B-784257D0C6FA}"/>
              </a:ext>
            </a:extLst>
          </p:cNvPr>
          <p:cNvSpPr>
            <a:spLocks xmlns:a="http://schemas.openxmlformats.org/drawingml/2006/main" noGrp="1"/>
          </p:cNvSpPr>
          <p:nvPr/>
        </p:nvSpPr>
        <p:spPr>
          <a:xfrm xmlns:a="http://schemas.openxmlformats.org/drawingml/2006/main">
            <a:off x="630936" y="4928616"/>
            <a:ext cx="292608" cy="292608"/>
          </a:xfrm>
          <a:prstGeom xmlns:a="http://schemas.openxmlformats.org/drawingml/2006/main" prst="ellipse">
            <a:avLst/>
          </a:prstGeom>
          <a:noFill xmlns:a="http://schemas.openxmlformats.org/drawingml/2006/main"/>
          <a:ln xmlns:a="http://schemas.openxmlformats.org/drawingml/2006/main" w="12700">
            <a:solidFill>
              <a:srgbClr val="7FB2DE"/>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ectangle 9">
            <a:extLst xmlns:a="http://schemas.openxmlformats.org/drawingml/2006/main">
              <a:ext uri="{FF2B5EF4-FFF2-40B4-BE49-F238E27FC236}">
                <a16:creationId xmlns:a16="http://schemas.microsoft.com/office/drawing/2014/main" id="{A716341C-B92E-4F9B-B4CA-A2BD3CF1B83C}"/>
              </a:ext>
            </a:extLst>
          </p:cNvPr>
          <p:cNvSpPr>
            <a:spLocks xmlns:a="http://schemas.openxmlformats.org/drawingml/2006/main" noGrp="1"/>
          </p:cNvSpPr>
          <p:nvPr/>
        </p:nvSpPr>
        <p:spPr>
          <a:xfrm xmlns:a="http://schemas.openxmlformats.org/drawingml/2006/main">
            <a:off x="2560320" y="4937759"/>
            <a:ext cx="274320" cy="274320"/>
          </a:xfrm>
          <a:prstGeom xmlns:a="http://schemas.openxmlformats.org/drawingml/2006/main" prst="rect">
            <a:avLst/>
          </a:prstGeom>
          <a:noFill xmlns:a="http://schemas.openxmlformats.org/drawingml/2006/main"/>
          <a:ln xmlns:a="http://schemas.openxmlformats.org/drawingml/2006/main" w="12700">
            <a:solidFill>
              <a:srgbClr val="7FB2DE"/>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ectangle 10">
            <a:extLst xmlns:a="http://schemas.openxmlformats.org/drawingml/2006/main">
              <a:ext uri="{FF2B5EF4-FFF2-40B4-BE49-F238E27FC236}">
                <a16:creationId xmlns:a16="http://schemas.microsoft.com/office/drawing/2014/main" id="{984407DF-E482-4DAA-8190-BCBEF679B05D}"/>
              </a:ext>
            </a:extLst>
          </p:cNvPr>
          <p:cNvSpPr>
            <a:spLocks xmlns:a="http://schemas.openxmlformats.org/drawingml/2006/main" noGrp="1"/>
          </p:cNvSpPr>
          <p:nvPr/>
        </p:nvSpPr>
        <p:spPr>
          <a:xfrm xmlns:a="http://schemas.openxmlformats.org/drawingml/2006/main">
            <a:off x="4480559" y="4937759"/>
            <a:ext cx="274320" cy="274320"/>
          </a:xfrm>
          <a:prstGeom xmlns:a="http://schemas.openxmlformats.org/drawingml/2006/main" prst="rect">
            <a:avLst/>
          </a:prstGeom>
          <a:noFill xmlns:a="http://schemas.openxmlformats.org/drawingml/2006/main"/>
          <a:ln xmlns:a="http://schemas.openxmlformats.org/drawingml/2006/main" w="12700">
            <a:solidFill>
              <a:srgbClr val="7FB2DE"/>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ectangle 11">
            <a:extLst xmlns:a="http://schemas.openxmlformats.org/drawingml/2006/main">
              <a:ext uri="{FF2B5EF4-FFF2-40B4-BE49-F238E27FC236}">
                <a16:creationId xmlns:a16="http://schemas.microsoft.com/office/drawing/2014/main" id="{A8E96F78-EE96-491B-86E3-289BE64F5D29}"/>
              </a:ext>
            </a:extLst>
          </p:cNvPr>
          <p:cNvSpPr>
            <a:spLocks xmlns:a="http://schemas.openxmlformats.org/drawingml/2006/main" noGrp="1"/>
          </p:cNvSpPr>
          <p:nvPr/>
        </p:nvSpPr>
        <p:spPr>
          <a:xfrm xmlns:a="http://schemas.openxmlformats.org/drawingml/2006/main">
            <a:off x="6400800" y="4937759"/>
            <a:ext cx="274320" cy="274320"/>
          </a:xfrm>
          <a:prstGeom xmlns:a="http://schemas.openxmlformats.org/drawingml/2006/main" prst="rect">
            <a:avLst/>
          </a:prstGeom>
          <a:noFill xmlns:a="http://schemas.openxmlformats.org/drawingml/2006/main"/>
          <a:ln xmlns:a="http://schemas.openxmlformats.org/drawingml/2006/main" w="12700">
            <a:solidFill>
              <a:srgbClr val="7FB2DE"/>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Connector 12">
            <a:extLst xmlns:a="http://schemas.openxmlformats.org/drawingml/2006/main">
              <a:ext uri="{FF2B5EF4-FFF2-40B4-BE49-F238E27FC236}">
                <a16:creationId xmlns:a16="http://schemas.microsoft.com/office/drawing/2014/main" id="{C8EFA27D-7367-4FDD-8492-2D7BFD38E59C}"/>
              </a:ext>
            </a:extLst>
          </p:cNvPr>
          <p:cNvSpPr>
            <a:spLocks xmlns:a="http://schemas.openxmlformats.org/drawingml/2006/main" noGrp="1"/>
          </p:cNvSpPr>
          <p:nvPr/>
        </p:nvSpPr>
        <p:spPr>
          <a:xfrm xmlns:a="http://schemas.openxmlformats.org/drawingml/2006/main">
            <a:off x="978408" y="5074920"/>
            <a:ext cx="1517904" cy="0"/>
          </a:xfrm>
          <a:prstGeom xmlns:a="http://schemas.openxmlformats.org/drawingml/2006/main" prst="line">
            <a:avLst/>
          </a:prstGeom>
          <a:ln xmlns:a="http://schemas.openxmlformats.org/drawingml/2006/main" w="12700">
            <a:solidFill>
              <a:srgbClr val="7FB2DE"/>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
        <p:nvSpPr>
          <p:cNvPr id="14" name="Connector 13">
            <a:extLst xmlns:a="http://schemas.openxmlformats.org/drawingml/2006/main">
              <a:ext uri="{FF2B5EF4-FFF2-40B4-BE49-F238E27FC236}">
                <a16:creationId xmlns:a16="http://schemas.microsoft.com/office/drawing/2014/main" id="{52460077-9A01-4EB7-8E4D-B20BEED93C72}"/>
              </a:ext>
            </a:extLst>
          </p:cNvPr>
          <p:cNvSpPr>
            <a:spLocks xmlns:a="http://schemas.openxmlformats.org/drawingml/2006/main" noGrp="1"/>
          </p:cNvSpPr>
          <p:nvPr/>
        </p:nvSpPr>
        <p:spPr>
          <a:xfrm xmlns:a="http://schemas.openxmlformats.org/drawingml/2006/main">
            <a:off x="2898648" y="5074920"/>
            <a:ext cx="1517904" cy="0"/>
          </a:xfrm>
          <a:prstGeom xmlns:a="http://schemas.openxmlformats.org/drawingml/2006/main" prst="line">
            <a:avLst/>
          </a:prstGeom>
          <a:ln xmlns:a="http://schemas.openxmlformats.org/drawingml/2006/main" w="12700">
            <a:solidFill>
              <a:srgbClr val="7FB2DE"/>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
        <p:nvSpPr>
          <p:cNvPr id="15" name="Connector 14">
            <a:extLst xmlns:a="http://schemas.openxmlformats.org/drawingml/2006/main">
              <a:ext uri="{FF2B5EF4-FFF2-40B4-BE49-F238E27FC236}">
                <a16:creationId xmlns:a16="http://schemas.microsoft.com/office/drawing/2014/main" id="{A33DCA61-C02F-4ECB-836D-01059D11CA72}"/>
              </a:ext>
            </a:extLst>
          </p:cNvPr>
          <p:cNvSpPr>
            <a:spLocks xmlns:a="http://schemas.openxmlformats.org/drawingml/2006/main" noGrp="1"/>
          </p:cNvSpPr>
          <p:nvPr/>
        </p:nvSpPr>
        <p:spPr>
          <a:xfrm xmlns:a="http://schemas.openxmlformats.org/drawingml/2006/main">
            <a:off x="4818888" y="5074920"/>
            <a:ext cx="1517904" cy="0"/>
          </a:xfrm>
          <a:prstGeom xmlns:a="http://schemas.openxmlformats.org/drawingml/2006/main" prst="line">
            <a:avLst/>
          </a:prstGeom>
          <a:ln xmlns:a="http://schemas.openxmlformats.org/drawingml/2006/main" w="12700">
            <a:solidFill>
              <a:srgbClr val="7FB2DE"/>
            </a:solidFill>
            <a:tailEnd type="triangle" w="med" len="med"/>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
        <p:nvSpPr>
          <p:cNvPr id="16" name="TextBox 15">
            <a:extLst xmlns:a="http://schemas.openxmlformats.org/drawingml/2006/main">
              <a:ext uri="{FF2B5EF4-FFF2-40B4-BE49-F238E27FC236}">
                <a16:creationId xmlns:a16="http://schemas.microsoft.com/office/drawing/2014/main" id="{FAA8AB46-338A-41D8-9072-2B79785B1B9F}"/>
              </a:ext>
            </a:extLst>
          </p:cNvPr>
          <p:cNvSpPr>
            <a:spLocks xmlns:a="http://schemas.openxmlformats.org/drawingml/2006/main" noGrp="1"/>
          </p:cNvSpPr>
          <p:nvPr/>
        </p:nvSpPr>
        <p:spPr>
          <a:xfrm xmlns:a="http://schemas.openxmlformats.org/drawingml/2006/main">
            <a:off x="1188720" y="4782312"/>
            <a:ext cx="109728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800" b="0" i="0">
                <a:solidFill>
                  <a:srgbClr val="8B919E"/>
                </a:solidFill>
                <a:latin typeface="Consolas"/>
                <a:ea typeface="Consolas"/>
                <a:cs typeface="Consolas"/>
              </a:rPr>
              <a:t>triggers</a:t>
            </a:r>
          </a:p>
        </p:txBody>
      </p:sp>
      <p:sp>
        <p:nvSpPr>
          <p:cNvPr id="17" name="TextBox 16">
            <a:extLst xmlns:a="http://schemas.openxmlformats.org/drawingml/2006/main">
              <a:ext uri="{FF2B5EF4-FFF2-40B4-BE49-F238E27FC236}">
                <a16:creationId xmlns:a16="http://schemas.microsoft.com/office/drawing/2014/main" id="{80E9A3CA-6531-4F27-B60A-D8193F71AF48}"/>
              </a:ext>
            </a:extLst>
          </p:cNvPr>
          <p:cNvSpPr>
            <a:spLocks xmlns:a="http://schemas.openxmlformats.org/drawingml/2006/main" noGrp="1"/>
          </p:cNvSpPr>
          <p:nvPr/>
        </p:nvSpPr>
        <p:spPr>
          <a:xfrm xmlns:a="http://schemas.openxmlformats.org/drawingml/2006/main">
            <a:off x="3108960" y="4782312"/>
            <a:ext cx="109728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800" b="0" i="0">
                <a:solidFill>
                  <a:srgbClr val="8B919E"/>
                </a:solidFill>
                <a:latin typeface="Consolas"/>
                <a:ea typeface="Consolas"/>
                <a:cs typeface="Consolas"/>
              </a:rPr>
              <a:t>informs</a:t>
            </a:r>
          </a:p>
        </p:txBody>
      </p:sp>
      <p:sp>
        <p:nvSpPr>
          <p:cNvPr id="18" name="TextBox 17">
            <a:extLst xmlns:a="http://schemas.openxmlformats.org/drawingml/2006/main">
              <a:ext uri="{FF2B5EF4-FFF2-40B4-BE49-F238E27FC236}">
                <a16:creationId xmlns:a16="http://schemas.microsoft.com/office/drawing/2014/main" id="{FD3604AD-BA4A-4398-BCC2-5B233B20FCAC}"/>
              </a:ext>
            </a:extLst>
          </p:cNvPr>
          <p:cNvSpPr>
            <a:spLocks xmlns:a="http://schemas.openxmlformats.org/drawingml/2006/main" noGrp="1"/>
          </p:cNvSpPr>
          <p:nvPr/>
        </p:nvSpPr>
        <p:spPr>
          <a:xfrm xmlns:a="http://schemas.openxmlformats.org/drawingml/2006/main">
            <a:off x="5029200" y="4782312"/>
            <a:ext cx="109728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800" b="0" i="0">
                <a:solidFill>
                  <a:srgbClr val="8B919E"/>
                </a:solidFill>
                <a:latin typeface="Consolas"/>
                <a:ea typeface="Consolas"/>
                <a:cs typeface="Consolas"/>
              </a:rPr>
              <a:t>guides</a:t>
            </a:r>
          </a:p>
        </p:txBody>
      </p:sp>
      <p:sp>
        <p:nvSpPr>
          <p:cNvPr id="19" name="TextBox 18">
            <a:extLst xmlns:a="http://schemas.openxmlformats.org/drawingml/2006/main">
              <a:ext uri="{FF2B5EF4-FFF2-40B4-BE49-F238E27FC236}">
                <a16:creationId xmlns:a16="http://schemas.microsoft.com/office/drawing/2014/main" id="{13424855-CA76-4EC6-A838-59A192F22622}"/>
              </a:ext>
            </a:extLst>
          </p:cNvPr>
          <p:cNvSpPr>
            <a:spLocks xmlns:a="http://schemas.openxmlformats.org/drawingml/2006/main" noGrp="1"/>
          </p:cNvSpPr>
          <p:nvPr/>
        </p:nvSpPr>
        <p:spPr>
          <a:xfrm xmlns:a="http://schemas.openxmlformats.org/drawingml/2006/main">
            <a:off x="137160" y="5330952"/>
            <a:ext cx="12801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850" b="0" i="0" spc="130">
                <a:solidFill>
                  <a:srgbClr val="A6ABB5"/>
                </a:solidFill>
                <a:latin typeface="Consolas"/>
                <a:ea typeface="Consolas"/>
                <a:cs typeface="Consolas"/>
              </a:rPr>
              <a:t>CHANGE</a:t>
            </a:r>
          </a:p>
        </p:txBody>
      </p:sp>
      <p:sp>
        <p:nvSpPr>
          <p:cNvPr id="20" name="TextBox 19">
            <a:extLst xmlns:a="http://schemas.openxmlformats.org/drawingml/2006/main">
              <a:ext uri="{FF2B5EF4-FFF2-40B4-BE49-F238E27FC236}">
                <a16:creationId xmlns:a16="http://schemas.microsoft.com/office/drawing/2014/main" id="{58CFE189-58C0-40C4-9878-C5C5E1C230A6}"/>
              </a:ext>
            </a:extLst>
          </p:cNvPr>
          <p:cNvSpPr>
            <a:spLocks xmlns:a="http://schemas.openxmlformats.org/drawingml/2006/main" noGrp="1"/>
          </p:cNvSpPr>
          <p:nvPr/>
        </p:nvSpPr>
        <p:spPr>
          <a:xfrm xmlns:a="http://schemas.openxmlformats.org/drawingml/2006/main">
            <a:off x="2057400" y="5330952"/>
            <a:ext cx="12801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850" b="0" i="0" spc="130">
                <a:solidFill>
                  <a:srgbClr val="A6ABB5"/>
                </a:solidFill>
                <a:latin typeface="Consolas"/>
                <a:ea typeface="Consolas"/>
                <a:cs typeface="Consolas"/>
              </a:rPr>
              <a:t>AWARENESS</a:t>
            </a:r>
          </a:p>
        </p:txBody>
      </p:sp>
      <p:sp>
        <p:nvSpPr>
          <p:cNvPr id="21" name="TextBox 20">
            <a:extLst xmlns:a="http://schemas.openxmlformats.org/drawingml/2006/main">
              <a:ext uri="{FF2B5EF4-FFF2-40B4-BE49-F238E27FC236}">
                <a16:creationId xmlns:a16="http://schemas.microsoft.com/office/drawing/2014/main" id="{30CC274B-1102-4ED1-9240-F522FA0A70E4}"/>
              </a:ext>
            </a:extLst>
          </p:cNvPr>
          <p:cNvSpPr>
            <a:spLocks xmlns:a="http://schemas.openxmlformats.org/drawingml/2006/main" noGrp="1"/>
          </p:cNvSpPr>
          <p:nvPr/>
        </p:nvSpPr>
        <p:spPr>
          <a:xfrm xmlns:a="http://schemas.openxmlformats.org/drawingml/2006/main">
            <a:off x="3977639" y="5330952"/>
            <a:ext cx="12801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850" b="0" i="0" spc="130">
                <a:solidFill>
                  <a:srgbClr val="A6ABB5"/>
                </a:solidFill>
                <a:latin typeface="Consolas"/>
                <a:ea typeface="Consolas"/>
                <a:cs typeface="Consolas"/>
              </a:rPr>
              <a:t>GRADIENT</a:t>
            </a:r>
          </a:p>
        </p:txBody>
      </p:sp>
      <p:sp>
        <p:nvSpPr>
          <p:cNvPr id="22" name="TextBox 21">
            <a:extLst xmlns:a="http://schemas.openxmlformats.org/drawingml/2006/main">
              <a:ext uri="{FF2B5EF4-FFF2-40B4-BE49-F238E27FC236}">
                <a16:creationId xmlns:a16="http://schemas.microsoft.com/office/drawing/2014/main" id="{5C849B5E-791B-46D2-B407-98F8694A420A}"/>
              </a:ext>
            </a:extLst>
          </p:cNvPr>
          <p:cNvSpPr>
            <a:spLocks xmlns:a="http://schemas.openxmlformats.org/drawingml/2006/main" noGrp="1"/>
          </p:cNvSpPr>
          <p:nvPr/>
        </p:nvSpPr>
        <p:spPr>
          <a:xfrm xmlns:a="http://schemas.openxmlformats.org/drawingml/2006/main">
            <a:off x="5897880" y="5330952"/>
            <a:ext cx="12801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850" b="0" i="0" spc="130">
                <a:solidFill>
                  <a:srgbClr val="A6ABB5"/>
                </a:solidFill>
                <a:latin typeface="Consolas"/>
                <a:ea typeface="Consolas"/>
                <a:cs typeface="Consolas"/>
              </a:rPr>
              <a:t>REPOSITIONING</a:t>
            </a:r>
          </a:p>
        </p:txBody>
      </p:sp>
      <p:sp>
        <p:nvSpPr>
          <p:cNvPr id="23" name="TextBox 22">
            <a:extLst xmlns:a="http://schemas.openxmlformats.org/drawingml/2006/main">
              <a:ext uri="{FF2B5EF4-FFF2-40B4-BE49-F238E27FC236}">
                <a16:creationId xmlns:a16="http://schemas.microsoft.com/office/drawing/2014/main" id="{06C8ED7C-AF29-45CC-94C6-AD5C455D53DF}"/>
              </a:ext>
            </a:extLst>
          </p:cNvPr>
          <p:cNvSpPr>
            <a:spLocks xmlns:a="http://schemas.openxmlformats.org/drawingml/2006/main" noGrp="1"/>
          </p:cNvSpPr>
          <p:nvPr/>
        </p:nvSpPr>
        <p:spPr>
          <a:xfrm xmlns:a="http://schemas.openxmlformats.org/drawingml/2006/main">
            <a:off x="5440680" y="5550408"/>
            <a:ext cx="21945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800" b="0" i="0">
                <a:solidFill>
                  <a:srgbClr val="8B919E"/>
                </a:solidFill>
                <a:latin typeface="Consolas"/>
                <a:ea typeface="Consolas"/>
                <a:cs typeface="Consolas"/>
              </a:rPr>
              <a:t>signal ≠ command</a:t>
            </a:r>
          </a:p>
        </p:txBody>
      </p:sp>
      <p:sp>
        <p:nvSpPr>
          <p:cNvPr id="24" name="Rectangle 23">
            <a:extLst xmlns:a="http://schemas.openxmlformats.org/drawingml/2006/main">
              <a:ext uri="{FF2B5EF4-FFF2-40B4-BE49-F238E27FC236}">
                <a16:creationId xmlns:a16="http://schemas.microsoft.com/office/drawing/2014/main" id="{2B39579E-1223-4732-A566-50EA4B906736}"/>
              </a:ext>
            </a:extLst>
          </p:cNvPr>
          <p:cNvSpPr>
            <a:spLocks xmlns:a="http://schemas.openxmlformats.org/drawingml/2006/main" noGrp="1"/>
          </p:cNvSpPr>
          <p:nvPr/>
        </p:nvSpPr>
        <p:spPr>
          <a:xfrm xmlns:a="http://schemas.openxmlformats.org/drawingml/2006/main">
            <a:off x="8001000" y="1371600"/>
            <a:ext cx="3621024" cy="3429000"/>
          </a:xfrm>
          <a:prstGeom xmlns:a="http://schemas.openxmlformats.org/drawingml/2006/main" prst="rect">
            <a:avLst/>
          </a:prstGeom>
          <a:solidFill xmlns:a="http://schemas.openxmlformats.org/drawingml/2006/main">
            <a:srgbClr val="27324A"/>
          </a:solidFill>
          <a:ln xmlns:a="http://schemas.openxmlformats.org/drawingml/2006/main" w="7620">
            <a:solidFill>
              <a:srgbClr val="3F495E"/>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Rectangle 24">
            <a:extLst xmlns:a="http://schemas.openxmlformats.org/drawingml/2006/main">
              <a:ext uri="{FF2B5EF4-FFF2-40B4-BE49-F238E27FC236}">
                <a16:creationId xmlns:a16="http://schemas.microsoft.com/office/drawing/2014/main" id="{90077071-B7F3-409A-9E21-C4A07FC8B413}"/>
              </a:ext>
            </a:extLst>
          </p:cNvPr>
          <p:cNvSpPr>
            <a:spLocks xmlns:a="http://schemas.openxmlformats.org/drawingml/2006/main" noGrp="1"/>
          </p:cNvSpPr>
          <p:nvPr/>
        </p:nvSpPr>
        <p:spPr>
          <a:xfrm xmlns:a="http://schemas.openxmlformats.org/drawingml/2006/main">
            <a:off x="8001000" y="1371600"/>
            <a:ext cx="41148" cy="3429000"/>
          </a:xfrm>
          <a:prstGeom xmlns:a="http://schemas.openxmlformats.org/drawingml/2006/main" prst="rect">
            <a:avLst/>
          </a:prstGeom>
          <a:solidFill xmlns:a="http://schemas.openxmlformats.org/drawingml/2006/main">
            <a:srgbClr val="7FB2D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6" name="TextBox 25">
            <a:extLst xmlns:a="http://schemas.openxmlformats.org/drawingml/2006/main">
              <a:ext uri="{FF2B5EF4-FFF2-40B4-BE49-F238E27FC236}">
                <a16:creationId xmlns:a16="http://schemas.microsoft.com/office/drawing/2014/main" id="{787BBAD8-8C10-41B7-A960-401218E4901A}"/>
              </a:ext>
            </a:extLst>
          </p:cNvPr>
          <p:cNvSpPr>
            <a:spLocks xmlns:a="http://schemas.openxmlformats.org/drawingml/2006/main" noGrp="1"/>
          </p:cNvSpPr>
          <p:nvPr/>
        </p:nvSpPr>
        <p:spPr>
          <a:xfrm xmlns:a="http://schemas.openxmlformats.org/drawingml/2006/main">
            <a:off x="8275320" y="1627632"/>
            <a:ext cx="316382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a:solidFill>
                  <a:srgbClr val="FFFFFF"/>
                </a:solidFill>
                <a:latin typeface="Consolas"/>
                <a:ea typeface="Consolas"/>
                <a:cs typeface="Consolas"/>
              </a:rPr>
              <a:t>DECK I · REQUIREMENTS &amp; EVIDENCE</a:t>
            </a:r>
          </a:p>
        </p:txBody>
      </p:sp>
      <p:sp>
        <p:nvSpPr>
          <p:cNvPr id="27" name="TextBox 26">
            <a:extLst xmlns:a="http://schemas.openxmlformats.org/drawingml/2006/main">
              <a:ext uri="{FF2B5EF4-FFF2-40B4-BE49-F238E27FC236}">
                <a16:creationId xmlns:a16="http://schemas.microsoft.com/office/drawing/2014/main" id="{A230DBCA-C598-4CBC-A2F8-927CD883B311}"/>
              </a:ext>
            </a:extLst>
          </p:cNvPr>
          <p:cNvSpPr>
            <a:spLocks xmlns:a="http://schemas.openxmlformats.org/drawingml/2006/main" noGrp="1"/>
          </p:cNvSpPr>
          <p:nvPr/>
        </p:nvSpPr>
        <p:spPr>
          <a:xfrm xmlns:a="http://schemas.openxmlformats.org/drawingml/2006/main">
            <a:off x="8275320" y="1938528"/>
            <a:ext cx="3163824"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98000"/>
              </a:lnSpc>
              <a:buNone/>
            </a:pPr>
            <a:r>
              <a:rPr sz="1650" b="1">
                <a:solidFill>
                  <a:srgbClr val="D7E4F2"/>
                </a:solidFill>
                <a:latin typeface="Cambria"/>
                <a:ea typeface="Cambria"/>
                <a:cs typeface="Cambria"/>
              </a:rPr>
              <a:t>Failure routes → common contract → proof → benchmark</a:t>
            </a:r>
          </a:p>
        </p:txBody>
      </p:sp>
      <p:sp>
        <p:nvSpPr>
          <p:cNvPr id="28" name="TextBox 27">
            <a:extLst xmlns:a="http://schemas.openxmlformats.org/drawingml/2006/main">
              <a:ext uri="{FF2B5EF4-FFF2-40B4-BE49-F238E27FC236}">
                <a16:creationId xmlns:a16="http://schemas.microsoft.com/office/drawing/2014/main" id="{5CC0098D-5598-4259-9996-0A3CB712FBB0}"/>
              </a:ext>
            </a:extLst>
          </p:cNvPr>
          <p:cNvSpPr>
            <a:spLocks xmlns:a="http://schemas.openxmlformats.org/drawingml/2006/main" noGrp="1"/>
          </p:cNvSpPr>
          <p:nvPr/>
        </p:nvSpPr>
        <p:spPr>
          <a:xfrm xmlns:a="http://schemas.openxmlformats.org/drawingml/2006/main">
            <a:off x="8275320" y="2788920"/>
            <a:ext cx="3072384"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5000"/>
              </a:lnSpc>
              <a:buNone/>
            </a:pPr>
            <a:r>
              <a:rPr sz="1050" b="1">
                <a:solidFill>
                  <a:srgbClr val="A6ABB5"/>
                </a:solidFill>
                <a:latin typeface="Consolas"/>
                <a:ea typeface="Consolas"/>
                <a:cs typeface="Consolas"/>
              </a:rPr>
              <a:t>CREATED BY</a:t>
            </a:r>
          </a:p>
          <a:p xmlns:a="http://schemas.openxmlformats.org/drawingml/2006/main">
            <a:pPr algn="l">
              <a:buNone/>
            </a:pPr>
            <a:r>
              <a:rPr sz="1700" b="1">
                <a:solidFill>
                  <a:srgbClr val="FCFCFD"/>
                </a:solidFill>
                <a:latin typeface="Cambria"/>
                <a:ea typeface="Cambria"/>
                <a:cs typeface="Cambria"/>
              </a:rPr>
              <a:t>Iván Abril Palma</a:t>
            </a:r>
          </a:p>
          <a:p xmlns:a="http://schemas.openxmlformats.org/drawingml/2006/main">
            <a:pPr algn="l">
              <a:buNone/>
            </a:pPr>
            <a:r>
              <a:rPr sz="1150" b="0">
                <a:solidFill>
                  <a:srgbClr val="CACDD3"/>
                </a:solidFill>
                <a:latin typeface="Calibri"/>
                <a:ea typeface="Calibri"/>
                <a:cs typeface="Calibri"/>
              </a:rPr>
              <a:t>Tegrity.ai</a:t>
            </a:r>
          </a:p>
        </p:txBody>
      </p:sp>
      <p:sp>
        <p:nvSpPr>
          <p:cNvPr id="29" name="TextBox 28">
            <a:extLst xmlns:a="http://schemas.openxmlformats.org/drawingml/2006/main">
              <a:ext uri="{FF2B5EF4-FFF2-40B4-BE49-F238E27FC236}">
                <a16:creationId xmlns:a16="http://schemas.microsoft.com/office/drawing/2014/main" id="{A2C1FE84-E727-4E00-89B0-AE684AE870BE}"/>
              </a:ext>
            </a:extLst>
          </p:cNvPr>
          <p:cNvSpPr>
            <a:spLocks xmlns:a="http://schemas.openxmlformats.org/drawingml/2006/main" noGrp="1"/>
          </p:cNvSpPr>
          <p:nvPr/>
        </p:nvSpPr>
        <p:spPr>
          <a:xfrm xmlns:a="http://schemas.openxmlformats.org/drawingml/2006/main">
            <a:off x="8275320" y="4114800"/>
            <a:ext cx="316382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50000"/>
              </a:lnSpc>
              <a:buNone/>
            </a:pPr>
            <a:r>
              <a:rPr sz="1000">
                <a:solidFill>
                  <a:srgbClr val="5D6775"/>
                </a:solidFill>
                <a:latin typeface="Aptos"/>
                <a:ea typeface="Aptos"/>
                <a:cs typeface="Aptos"/>
              </a:rPr>
              <a:t>CREATIVE COMMONS · ATTRIBUTION</a:t>
            </a:r>
            <a:br/>
            <a:r>
              <a:rPr sz="1000">
                <a:solidFill>
                  <a:srgbClr val="5D6775"/>
                </a:solidFill>
                <a:latin typeface="Aptos"/>
                <a:ea typeface="Aptos"/>
                <a:cs typeface="Aptos"/>
              </a:rPr>
              <a:t>V1.1 · 2026-09-25 · CANONICAL WORKING PROPOSAL</a:t>
            </a:r>
          </a:p>
        </p:txBody>
      </p:sp>
      <p:sp>
        <p:nvSpPr>
          <p:cNvPr id="30" name="Connector 29">
            <a:extLst xmlns:a="http://schemas.openxmlformats.org/drawingml/2006/main">
              <a:ext uri="{FF2B5EF4-FFF2-40B4-BE49-F238E27FC236}">
                <a16:creationId xmlns:a16="http://schemas.microsoft.com/office/drawing/2014/main" id="{6E104162-6C42-4DC6-8D59-85A25DD63B37}"/>
              </a:ext>
            </a:extLst>
          </p:cNvPr>
          <p:cNvSpPr>
            <a:spLocks xmlns:a="http://schemas.openxmlformats.org/drawingml/2006/main" noGrp="1"/>
          </p:cNvSpPr>
          <p:nvPr/>
        </p:nvSpPr>
        <p:spPr>
          <a:xfrm xmlns:a="http://schemas.openxmlformats.org/drawingml/2006/main">
            <a:off x="566928" y="6217920"/>
            <a:ext cx="11057839" cy="0"/>
          </a:xfrm>
          <a:prstGeom xmlns:a="http://schemas.openxmlformats.org/drawingml/2006/main" prst="line">
            <a:avLst/>
          </a:prstGeom>
          <a:ln xmlns:a="http://schemas.openxmlformats.org/drawingml/2006/main" w="6350">
            <a:solidFill>
              <a:srgbClr val="3A456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
        <p:nvSpPr>
          <p:cNvPr id="32" name="TextBox 31">
            <a:extLst xmlns:a="http://schemas.openxmlformats.org/drawingml/2006/main">
              <a:ext uri="{FF2B5EF4-FFF2-40B4-BE49-F238E27FC236}">
                <a16:creationId xmlns:a16="http://schemas.microsoft.com/office/drawing/2014/main" id="{0716A0F1-7C69-469B-93BA-5C85695950E2}"/>
              </a:ext>
            </a:extLst>
          </p:cNvPr>
          <p:cNvSpPr>
            <a:spLocks xmlns:a="http://schemas.openxmlformats.org/drawingml/2006/main" noGrp="1"/>
          </p:cNvSpPr>
          <p:nvPr/>
        </p:nvSpPr>
        <p:spPr>
          <a:xfrm xmlns:a="http://schemas.openxmlformats.org/drawingml/2006/main">
            <a:off x="10527487" y="629107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endParaRPr/>
          </a:p>
        </p:txBody>
      </p:sp>
      <p:sp>
        <p:nvSpPr>
          <p:cNvPr id="33" name="TextBox 32">
            <a:extLst xmlns:a="http://schemas.openxmlformats.org/drawingml/2006/main">
              <a:ext uri="{FF2B5EF4-FFF2-40B4-BE49-F238E27FC236}">
                <a16:creationId xmlns:a16="http://schemas.microsoft.com/office/drawing/2014/main" id="{B28FFE1E-4C11-41B8-8BB7-4786CAD38956}"/>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cd31cf3174514bd9"/>
              </a:rPr>
              <a:t>Ecosystem Positioning README</a:t>
            </a:r>
          </a:p>
        </p:txBody>
      </p:sp>
    </p:spTree>
    <p:extLst>
      <p:ext uri="{BB962C8B-B14F-4D97-AF65-F5344CB8AC3E}">
        <p14:creationId xmlns:p14="http://schemas.microsoft.com/office/powerpoint/2010/main" val="67671782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79E3BDE-1284-4B1B-9B10-BFDC278B1E25}"/>
              </a:ext>
            </a:extLst>
          </p:cNvPr>
          <p:cNvSpPr>
            <a:spLocks xmlns:a="http://schemas.openxmlformats.org/drawingml/2006/main" noGrp="1"/>
          </p:cNvSpPr>
          <p:nvPr/>
        </p:nvSpPr>
        <p:spPr>
          <a:xfrm xmlns:a="http://schemas.openxmlformats.org/drawingml/2006/main">
            <a:off x="566928" y="164592"/>
            <a:ext cx="21945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20">
                <a:solidFill>
                  <a:srgbClr val="7A7E84"/>
                </a:solidFill>
                <a:latin typeface="Consolas"/>
                <a:ea typeface="Consolas"/>
                <a:cs typeface="Consolas"/>
              </a:rPr>
              <a:t>SYSTEM BASELINE</a:t>
            </a:r>
            <a:endParaRPr sz="820"/>
          </a:p>
        </p:txBody>
      </p:sp>
      <p:sp>
        <p:nvSpPr>
          <p:cNvPr id="3" name="Text 1">
            <a:extLst xmlns:a="http://schemas.openxmlformats.org/drawingml/2006/main">
              <a:ext uri="{FF2B5EF4-FFF2-40B4-BE49-F238E27FC236}">
                <a16:creationId xmlns:a16="http://schemas.microsoft.com/office/drawing/2014/main" id="{B351A636-F99F-46F8-930F-3473466EB27B}"/>
              </a:ext>
            </a:extLst>
          </p:cNvPr>
          <p:cNvSpPr>
            <a:spLocks xmlns:a="http://schemas.openxmlformats.org/drawingml/2006/main" noGrp="1"/>
          </p:cNvSpPr>
          <p:nvPr/>
        </p:nvSpPr>
        <p:spPr>
          <a:xfrm xmlns:a="http://schemas.openxmlformats.org/drawingml/2006/main">
            <a:off x="10927080" y="164592"/>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20">
                <a:solidFill>
                  <a:srgbClr val="7A7E84"/>
                </a:solidFill>
                <a:latin typeface="Consolas"/>
                <a:ea typeface="Consolas"/>
                <a:cs typeface="Consolas"/>
              </a:rPr>
              <a:t>§ 01</a:t>
            </a:r>
            <a:endParaRPr sz="820"/>
          </a:p>
        </p:txBody>
      </p:sp>
      <p:sp>
        <p:nvSpPr>
          <p:cNvPr id="4" name="Text 2">
            <a:extLst xmlns:a="http://schemas.openxmlformats.org/drawingml/2006/main">
              <a:ext uri="{FF2B5EF4-FFF2-40B4-BE49-F238E27FC236}">
                <a16:creationId xmlns:a16="http://schemas.microsoft.com/office/drawing/2014/main" id="{FFB24B58-671A-4E32-9998-DD545763B10B}"/>
              </a:ext>
            </a:extLst>
          </p:cNvPr>
          <p:cNvSpPr>
            <a:spLocks xmlns:a="http://schemas.openxmlformats.org/drawingml/2006/main" noGrp="1"/>
          </p:cNvSpPr>
          <p:nvPr/>
        </p:nvSpPr>
        <p:spPr>
          <a:xfrm xmlns:a="http://schemas.openxmlformats.org/drawingml/2006/main">
            <a:off x="566928" y="658368"/>
            <a:ext cx="109728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50" b="1">
                <a:solidFill>
                  <a:srgbClr val="1B273F"/>
                </a:solidFill>
                <a:latin typeface="Cambria"/>
                <a:ea typeface="Cambria"/>
                <a:cs typeface="Cambria"/>
                <a:hlinkClick xmlns:r="http://schemas.openxmlformats.org/officeDocument/2006/relationships" r:id="R20b2091f249a4ada"/>
              </a:rPr>
              <a:t>Current Reference Architecture for Agentic AI</a:t>
            </a:r>
            <a:endParaRPr sz="2550"/>
          </a:p>
        </p:txBody>
      </p:sp>
      <p:sp>
        <p:nvSpPr>
          <p:cNvPr id="5" name="Text 3">
            <a:extLst xmlns:a="http://schemas.openxmlformats.org/drawingml/2006/main">
              <a:ext uri="{FF2B5EF4-FFF2-40B4-BE49-F238E27FC236}">
                <a16:creationId xmlns:a16="http://schemas.microsoft.com/office/drawing/2014/main" id="{72145A4B-6146-4384-A88B-A42157ADB836}"/>
              </a:ext>
            </a:extLst>
          </p:cNvPr>
          <p:cNvSpPr>
            <a:spLocks xmlns:a="http://schemas.openxmlformats.org/drawingml/2006/main" noGrp="1"/>
          </p:cNvSpPr>
          <p:nvPr/>
        </p:nvSpPr>
        <p:spPr>
          <a:xfrm xmlns:a="http://schemas.openxmlformats.org/drawingml/2006/main">
            <a:off x="566928" y="1115568"/>
            <a:ext cx="1097280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55595F"/>
                </a:solidFill>
                <a:latin typeface="Calibri"/>
                <a:ea typeface="Calibri"/>
                <a:cs typeface="Calibri"/>
              </a:rPr>
              <a:t>A composite of current practice: the strong baseline EA is benchmarked against (arms B1/B2), not a strawman.</a:t>
            </a:r>
            <a:endParaRPr sz="1200"/>
          </a:p>
        </p:txBody>
      </p:sp>
      <p:sp>
        <p:nvSpPr>
          <p:cNvPr id="6" name="Text 4">
            <a:extLst xmlns:a="http://schemas.openxmlformats.org/drawingml/2006/main">
              <a:ext uri="{FF2B5EF4-FFF2-40B4-BE49-F238E27FC236}">
                <a16:creationId xmlns:a16="http://schemas.microsoft.com/office/drawing/2014/main" id="{78FF3C8C-AFD8-4864-84BB-796E30E103A3}"/>
              </a:ext>
            </a:extLst>
          </p:cNvPr>
          <p:cNvSpPr>
            <a:spLocks xmlns:a="http://schemas.openxmlformats.org/drawingml/2006/main" noGrp="1"/>
          </p:cNvSpPr>
          <p:nvPr/>
        </p:nvSpPr>
        <p:spPr>
          <a:xfrm xmlns:a="http://schemas.openxmlformats.org/drawingml/2006/main">
            <a:off x="594360" y="1591056"/>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7A7E84"/>
                </a:solidFill>
                <a:latin typeface="Consolas"/>
                <a:ea typeface="Consolas"/>
                <a:cs typeface="Consolas"/>
              </a:rPr>
              <a:t>CONTROL RAILS</a:t>
            </a:r>
            <a:endParaRPr sz="900"/>
          </a:p>
        </p:txBody>
      </p:sp>
      <p:sp>
        <p:nvSpPr>
          <p:cNvPr id="7" name="Shape 5">
            <a:extLst xmlns:a="http://schemas.openxmlformats.org/drawingml/2006/main">
              <a:ext uri="{FF2B5EF4-FFF2-40B4-BE49-F238E27FC236}">
                <a16:creationId xmlns:a16="http://schemas.microsoft.com/office/drawing/2014/main" id="{F324F58C-AF02-4F62-8960-424C461E88CB}"/>
              </a:ext>
            </a:extLst>
          </p:cNvPr>
          <p:cNvSpPr>
            <a:spLocks xmlns:a="http://schemas.openxmlformats.org/drawingml/2006/main" noGrp="1"/>
          </p:cNvSpPr>
          <p:nvPr/>
        </p:nvSpPr>
        <p:spPr>
          <a:xfrm xmlns:a="http://schemas.openxmlformats.org/drawingml/2006/main">
            <a:off x="1965960" y="1517904"/>
            <a:ext cx="2148840" cy="347472"/>
          </a:xfrm>
          <a:prstGeom xmlns:a="http://schemas.openxmlformats.org/drawingml/2006/main" prst="roundRect">
            <a:avLst/>
          </a:prstGeom>
          <a:solidFill xmlns:a="http://schemas.openxmlformats.org/drawingml/2006/main">
            <a:srgbClr val="FFFFFF"/>
          </a:solidFill>
          <a:ln xmlns:a="http://schemas.openxmlformats.org/drawingml/2006/main" w="15240">
            <a:solidFill>
              <a:srgbClr val="1B4D8E"/>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3AD43A0B-101C-4F50-A9E7-FD1640987A91}"/>
              </a:ext>
            </a:extLst>
          </p:cNvPr>
          <p:cNvSpPr>
            <a:spLocks xmlns:a="http://schemas.openxmlformats.org/drawingml/2006/main" noGrp="1"/>
          </p:cNvSpPr>
          <p:nvPr/>
        </p:nvSpPr>
        <p:spPr>
          <a:xfrm xmlns:a="http://schemas.openxmlformats.org/drawingml/2006/main">
            <a:off x="2039112" y="1609344"/>
            <a:ext cx="2002536"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1B273F"/>
                </a:solidFill>
                <a:latin typeface="Calibri"/>
                <a:ea typeface="Calibri"/>
                <a:cs typeface="Calibri"/>
              </a:rPr>
              <a:t>Identity and delegated authority</a:t>
            </a:r>
            <a:endParaRPr sz="950"/>
          </a:p>
        </p:txBody>
      </p:sp>
      <p:sp>
        <p:nvSpPr>
          <p:cNvPr id="9" name="Shape 7">
            <a:extLst xmlns:a="http://schemas.openxmlformats.org/drawingml/2006/main">
              <a:ext uri="{FF2B5EF4-FFF2-40B4-BE49-F238E27FC236}">
                <a16:creationId xmlns:a16="http://schemas.microsoft.com/office/drawing/2014/main" id="{2C1AE034-87A2-411C-B227-1FFF92E497DF}"/>
              </a:ext>
            </a:extLst>
          </p:cNvPr>
          <p:cNvSpPr>
            <a:spLocks xmlns:a="http://schemas.openxmlformats.org/drawingml/2006/main" noGrp="1"/>
          </p:cNvSpPr>
          <p:nvPr/>
        </p:nvSpPr>
        <p:spPr>
          <a:xfrm xmlns:a="http://schemas.openxmlformats.org/drawingml/2006/main">
            <a:off x="4233672" y="1517904"/>
            <a:ext cx="1508760" cy="347472"/>
          </a:xfrm>
          <a:prstGeom xmlns:a="http://schemas.openxmlformats.org/drawingml/2006/main" prst="roundRect">
            <a:avLst/>
          </a:prstGeom>
          <a:solidFill xmlns:a="http://schemas.openxmlformats.org/drawingml/2006/main">
            <a:srgbClr val="FFFFFF"/>
          </a:solidFill>
          <a:ln xmlns:a="http://schemas.openxmlformats.org/drawingml/2006/main" w="15240">
            <a:solidFill>
              <a:srgbClr val="006970"/>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Text 8">
            <a:extLst xmlns:a="http://schemas.openxmlformats.org/drawingml/2006/main">
              <a:ext uri="{FF2B5EF4-FFF2-40B4-BE49-F238E27FC236}">
                <a16:creationId xmlns:a16="http://schemas.microsoft.com/office/drawing/2014/main" id="{41F4C507-4A1B-465A-9191-0CEA11BDECA8}"/>
              </a:ext>
            </a:extLst>
          </p:cNvPr>
          <p:cNvSpPr>
            <a:spLocks xmlns:a="http://schemas.openxmlformats.org/drawingml/2006/main" noGrp="1"/>
          </p:cNvSpPr>
          <p:nvPr/>
        </p:nvSpPr>
        <p:spPr>
          <a:xfrm xmlns:a="http://schemas.openxmlformats.org/drawingml/2006/main">
            <a:off x="4306824" y="1609344"/>
            <a:ext cx="1362456"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1B273F"/>
                </a:solidFill>
                <a:latin typeface="Calibri"/>
                <a:ea typeface="Calibri"/>
                <a:cs typeface="Calibri"/>
              </a:rPr>
              <a:t>Policy and intent</a:t>
            </a:r>
            <a:endParaRPr sz="950"/>
          </a:p>
        </p:txBody>
      </p:sp>
      <p:sp>
        <p:nvSpPr>
          <p:cNvPr id="11" name="Shape 9">
            <a:extLst xmlns:a="http://schemas.openxmlformats.org/drawingml/2006/main">
              <a:ext uri="{FF2B5EF4-FFF2-40B4-BE49-F238E27FC236}">
                <a16:creationId xmlns:a16="http://schemas.microsoft.com/office/drawing/2014/main" id="{F1D45423-8BF9-48C6-A747-20A3F6498C64}"/>
              </a:ext>
            </a:extLst>
          </p:cNvPr>
          <p:cNvSpPr>
            <a:spLocks xmlns:a="http://schemas.openxmlformats.org/drawingml/2006/main" noGrp="1"/>
          </p:cNvSpPr>
          <p:nvPr/>
        </p:nvSpPr>
        <p:spPr>
          <a:xfrm xmlns:a="http://schemas.openxmlformats.org/drawingml/2006/main">
            <a:off x="5861304" y="1517904"/>
            <a:ext cx="1572768" cy="347472"/>
          </a:xfrm>
          <a:prstGeom xmlns:a="http://schemas.openxmlformats.org/drawingml/2006/main" prst="roundRect">
            <a:avLst/>
          </a:prstGeom>
          <a:solidFill xmlns:a="http://schemas.openxmlformats.org/drawingml/2006/main">
            <a:srgbClr val="FFFFFF"/>
          </a:solidFill>
          <a:ln xmlns:a="http://schemas.openxmlformats.org/drawingml/2006/main" w="15240">
            <a:solidFill>
              <a:srgbClr val="A8642A"/>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95744DA7-C476-44F4-A951-A93436EB81D0}"/>
              </a:ext>
            </a:extLst>
          </p:cNvPr>
          <p:cNvSpPr>
            <a:spLocks xmlns:a="http://schemas.openxmlformats.org/drawingml/2006/main" noGrp="1"/>
          </p:cNvSpPr>
          <p:nvPr/>
        </p:nvSpPr>
        <p:spPr>
          <a:xfrm xmlns:a="http://schemas.openxmlformats.org/drawingml/2006/main">
            <a:off x="5934456" y="1609344"/>
            <a:ext cx="1426464"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1B273F"/>
                </a:solidFill>
                <a:latin typeface="Calibri"/>
                <a:ea typeface="Calibri"/>
                <a:cs typeface="Calibri"/>
              </a:rPr>
              <a:t>Runtime evidence</a:t>
            </a:r>
            <a:endParaRPr sz="950"/>
          </a:p>
        </p:txBody>
      </p:sp>
      <p:sp>
        <p:nvSpPr>
          <p:cNvPr id="13" name="Shape 11">
            <a:extLst xmlns:a="http://schemas.openxmlformats.org/drawingml/2006/main">
              <a:ext uri="{FF2B5EF4-FFF2-40B4-BE49-F238E27FC236}">
                <a16:creationId xmlns:a16="http://schemas.microsoft.com/office/drawing/2014/main" id="{7E98E576-7BA2-4AF3-B970-0AAA03631EC6}"/>
              </a:ext>
            </a:extLst>
          </p:cNvPr>
          <p:cNvSpPr>
            <a:spLocks xmlns:a="http://schemas.openxmlformats.org/drawingml/2006/main" noGrp="1"/>
          </p:cNvSpPr>
          <p:nvPr/>
        </p:nvSpPr>
        <p:spPr>
          <a:xfrm xmlns:a="http://schemas.openxmlformats.org/drawingml/2006/main">
            <a:off x="7552944" y="1517904"/>
            <a:ext cx="1417320" cy="347472"/>
          </a:xfrm>
          <a:prstGeom xmlns:a="http://schemas.openxmlformats.org/drawingml/2006/main" prst="roundRect">
            <a:avLst/>
          </a:prstGeom>
          <a:solidFill xmlns:a="http://schemas.openxmlformats.org/drawingml/2006/main">
            <a:srgbClr val="FFFFFF"/>
          </a:solidFill>
          <a:ln xmlns:a="http://schemas.openxmlformats.org/drawingml/2006/main" w="15240">
            <a:solidFill>
              <a:srgbClr val="3D6D65"/>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Text 12">
            <a:extLst xmlns:a="http://schemas.openxmlformats.org/drawingml/2006/main">
              <a:ext uri="{FF2B5EF4-FFF2-40B4-BE49-F238E27FC236}">
                <a16:creationId xmlns:a16="http://schemas.microsoft.com/office/drawing/2014/main" id="{5532CB07-03D9-4292-AF09-9B9B56B7BA79}"/>
              </a:ext>
            </a:extLst>
          </p:cNvPr>
          <p:cNvSpPr>
            <a:spLocks xmlns:a="http://schemas.openxmlformats.org/drawingml/2006/main" noGrp="1"/>
          </p:cNvSpPr>
          <p:nvPr/>
        </p:nvSpPr>
        <p:spPr>
          <a:xfrm xmlns:a="http://schemas.openxmlformats.org/drawingml/2006/main">
            <a:off x="7626096" y="1609344"/>
            <a:ext cx="1271016"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1B273F"/>
                </a:solidFill>
                <a:latin typeface="Calibri"/>
                <a:ea typeface="Calibri"/>
                <a:cs typeface="Calibri"/>
              </a:rPr>
              <a:t>Human oversight</a:t>
            </a:r>
            <a:endParaRPr sz="950"/>
          </a:p>
        </p:txBody>
      </p:sp>
      <p:sp>
        <p:nvSpPr>
          <p:cNvPr id="15" name="Shape 13">
            <a:extLst xmlns:a="http://schemas.openxmlformats.org/drawingml/2006/main">
              <a:ext uri="{FF2B5EF4-FFF2-40B4-BE49-F238E27FC236}">
                <a16:creationId xmlns:a16="http://schemas.microsoft.com/office/drawing/2014/main" id="{64F19D25-4A4A-4E39-9C67-5AA8367E3668}"/>
              </a:ext>
            </a:extLst>
          </p:cNvPr>
          <p:cNvSpPr>
            <a:spLocks xmlns:a="http://schemas.openxmlformats.org/drawingml/2006/main" noGrp="1"/>
          </p:cNvSpPr>
          <p:nvPr/>
        </p:nvSpPr>
        <p:spPr>
          <a:xfrm xmlns:a="http://schemas.openxmlformats.org/drawingml/2006/main">
            <a:off x="685800" y="2514600"/>
            <a:ext cx="1737360" cy="123444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F1559022-5BD7-4331-918B-52080413839C}"/>
              </a:ext>
            </a:extLst>
          </p:cNvPr>
          <p:cNvSpPr>
            <a:spLocks xmlns:a="http://schemas.openxmlformats.org/drawingml/2006/main" noGrp="1"/>
          </p:cNvSpPr>
          <p:nvPr/>
        </p:nvSpPr>
        <p:spPr>
          <a:xfrm xmlns:a="http://schemas.openxmlformats.org/drawingml/2006/main">
            <a:off x="795528" y="2715768"/>
            <a:ext cx="151790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50" b="1">
                <a:solidFill>
                  <a:srgbClr val="1B273F"/>
                </a:solidFill>
                <a:latin typeface="Cambria"/>
                <a:ea typeface="Cambria"/>
                <a:cs typeface="Cambria"/>
              </a:rPr>
              <a:t>Objective and request</a:t>
            </a:r>
            <a:endParaRPr sz="1450"/>
          </a:p>
        </p:txBody>
      </p:sp>
      <p:sp>
        <p:nvSpPr>
          <p:cNvPr id="17" name="Text 15">
            <a:extLst xmlns:a="http://schemas.openxmlformats.org/drawingml/2006/main">
              <a:ext uri="{FF2B5EF4-FFF2-40B4-BE49-F238E27FC236}">
                <a16:creationId xmlns:a16="http://schemas.microsoft.com/office/drawing/2014/main" id="{C2CE9AC7-6608-4A98-A86A-D19A2A9E4D1F}"/>
              </a:ext>
            </a:extLst>
          </p:cNvPr>
          <p:cNvSpPr>
            <a:spLocks xmlns:a="http://schemas.openxmlformats.org/drawingml/2006/main" noGrp="1"/>
          </p:cNvSpPr>
          <p:nvPr/>
        </p:nvSpPr>
        <p:spPr>
          <a:xfrm xmlns:a="http://schemas.openxmlformats.org/drawingml/2006/main">
            <a:off x="795528" y="3108960"/>
            <a:ext cx="151790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80">
                <a:solidFill>
                  <a:srgbClr val="55595F"/>
                </a:solidFill>
                <a:latin typeface="Calibri"/>
                <a:ea typeface="Calibri"/>
                <a:cs typeface="Calibri"/>
              </a:rPr>
              <a:t>Goal, context and initial constraints</a:t>
            </a:r>
            <a:endParaRPr sz="980"/>
          </a:p>
        </p:txBody>
      </p:sp>
      <p:sp>
        <p:nvSpPr>
          <p:cNvPr id="18" name="Shape 16">
            <a:extLst xmlns:a="http://schemas.openxmlformats.org/drawingml/2006/main">
              <a:ext uri="{FF2B5EF4-FFF2-40B4-BE49-F238E27FC236}">
                <a16:creationId xmlns:a16="http://schemas.microsoft.com/office/drawing/2014/main" id="{0A6D307D-81D1-4B35-AFD2-AA99E8FDE8F4}"/>
              </a:ext>
            </a:extLst>
          </p:cNvPr>
          <p:cNvSpPr>
            <a:spLocks xmlns:a="http://schemas.openxmlformats.org/drawingml/2006/main" noGrp="1"/>
          </p:cNvSpPr>
          <p:nvPr/>
        </p:nvSpPr>
        <p:spPr>
          <a:xfrm xmlns:a="http://schemas.openxmlformats.org/drawingml/2006/main">
            <a:off x="2423160" y="3136392"/>
            <a:ext cx="384048" cy="0"/>
          </a:xfrm>
          <a:prstGeom xmlns:a="http://schemas.openxmlformats.org/drawingml/2006/main" prst="line">
            <a:avLst/>
          </a:prstGeom>
          <a:noFill xmlns:a="http://schemas.openxmlformats.org/drawingml/2006/main"/>
          <a:ln xmlns:a="http://schemas.openxmlformats.org/drawingml/2006/main" w="19050">
            <a:solidFill>
              <a:srgbClr val="7A7E84"/>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19" name="Shape 17">
            <a:extLst xmlns:a="http://schemas.openxmlformats.org/drawingml/2006/main">
              <a:ext uri="{FF2B5EF4-FFF2-40B4-BE49-F238E27FC236}">
                <a16:creationId xmlns:a16="http://schemas.microsoft.com/office/drawing/2014/main" id="{7013E1D3-71F6-49C6-81C6-74EB8DED56BF}"/>
              </a:ext>
            </a:extLst>
          </p:cNvPr>
          <p:cNvSpPr>
            <a:spLocks xmlns:a="http://schemas.openxmlformats.org/drawingml/2006/main" noGrp="1"/>
          </p:cNvSpPr>
          <p:nvPr/>
        </p:nvSpPr>
        <p:spPr>
          <a:xfrm xmlns:a="http://schemas.openxmlformats.org/drawingml/2006/main">
            <a:off x="2880360" y="2514600"/>
            <a:ext cx="1737360" cy="123444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Text 18">
            <a:extLst xmlns:a="http://schemas.openxmlformats.org/drawingml/2006/main">
              <a:ext uri="{FF2B5EF4-FFF2-40B4-BE49-F238E27FC236}">
                <a16:creationId xmlns:a16="http://schemas.microsoft.com/office/drawing/2014/main" id="{C1AB9883-DBA5-4D6A-98A3-C628870DAF79}"/>
              </a:ext>
            </a:extLst>
          </p:cNvPr>
          <p:cNvSpPr>
            <a:spLocks xmlns:a="http://schemas.openxmlformats.org/drawingml/2006/main" noGrp="1"/>
          </p:cNvSpPr>
          <p:nvPr/>
        </p:nvSpPr>
        <p:spPr>
          <a:xfrm xmlns:a="http://schemas.openxmlformats.org/drawingml/2006/main">
            <a:off x="2990088" y="2715768"/>
            <a:ext cx="151790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50" b="1">
                <a:solidFill>
                  <a:srgbClr val="1B273F"/>
                </a:solidFill>
                <a:latin typeface="Cambria"/>
                <a:ea typeface="Cambria"/>
                <a:cs typeface="Cambria"/>
              </a:rPr>
              <a:t>Orchestration</a:t>
            </a:r>
            <a:endParaRPr sz="1450"/>
          </a:p>
        </p:txBody>
      </p:sp>
      <p:sp>
        <p:nvSpPr>
          <p:cNvPr id="21" name="Text 19">
            <a:extLst xmlns:a="http://schemas.openxmlformats.org/drawingml/2006/main">
              <a:ext uri="{FF2B5EF4-FFF2-40B4-BE49-F238E27FC236}">
                <a16:creationId xmlns:a16="http://schemas.microsoft.com/office/drawing/2014/main" id="{13F7FC89-F31F-4B71-9D0F-10965013B790}"/>
              </a:ext>
            </a:extLst>
          </p:cNvPr>
          <p:cNvSpPr>
            <a:spLocks xmlns:a="http://schemas.openxmlformats.org/drawingml/2006/main" noGrp="1"/>
          </p:cNvSpPr>
          <p:nvPr/>
        </p:nvSpPr>
        <p:spPr>
          <a:xfrm xmlns:a="http://schemas.openxmlformats.org/drawingml/2006/main">
            <a:off x="2990088" y="3108960"/>
            <a:ext cx="151790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80">
                <a:solidFill>
                  <a:srgbClr val="55595F"/>
                </a:solidFill>
                <a:latin typeface="Calibri"/>
                <a:ea typeface="Calibri"/>
                <a:cs typeface="Calibri"/>
              </a:rPr>
              <a:t>Plan, route and allocate work</a:t>
            </a:r>
            <a:endParaRPr sz="980"/>
          </a:p>
        </p:txBody>
      </p:sp>
      <p:sp>
        <p:nvSpPr>
          <p:cNvPr id="22" name="Shape 20">
            <a:extLst xmlns:a="http://schemas.openxmlformats.org/drawingml/2006/main">
              <a:ext uri="{FF2B5EF4-FFF2-40B4-BE49-F238E27FC236}">
                <a16:creationId xmlns:a16="http://schemas.microsoft.com/office/drawing/2014/main" id="{5B0F7C25-E2FB-49F8-91D8-D76D2FBC592E}"/>
              </a:ext>
            </a:extLst>
          </p:cNvPr>
          <p:cNvSpPr>
            <a:spLocks xmlns:a="http://schemas.openxmlformats.org/drawingml/2006/main" noGrp="1"/>
          </p:cNvSpPr>
          <p:nvPr/>
        </p:nvSpPr>
        <p:spPr>
          <a:xfrm xmlns:a="http://schemas.openxmlformats.org/drawingml/2006/main">
            <a:off x="4617720" y="3136392"/>
            <a:ext cx="475488" cy="0"/>
          </a:xfrm>
          <a:prstGeom xmlns:a="http://schemas.openxmlformats.org/drawingml/2006/main" prst="line">
            <a:avLst/>
          </a:prstGeom>
          <a:noFill xmlns:a="http://schemas.openxmlformats.org/drawingml/2006/main"/>
          <a:ln xmlns:a="http://schemas.openxmlformats.org/drawingml/2006/main" w="19050">
            <a:solidFill>
              <a:srgbClr val="7A7E84"/>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23" name="Shape 21">
            <a:extLst xmlns:a="http://schemas.openxmlformats.org/drawingml/2006/main">
              <a:ext uri="{FF2B5EF4-FFF2-40B4-BE49-F238E27FC236}">
                <a16:creationId xmlns:a16="http://schemas.microsoft.com/office/drawing/2014/main" id="{CD1D8DC5-8B07-4EA4-B6C2-AEC1779BA936}"/>
              </a:ext>
            </a:extLst>
          </p:cNvPr>
          <p:cNvSpPr>
            <a:spLocks xmlns:a="http://schemas.openxmlformats.org/drawingml/2006/main" noGrp="1"/>
          </p:cNvSpPr>
          <p:nvPr/>
        </p:nvSpPr>
        <p:spPr>
          <a:xfrm xmlns:a="http://schemas.openxmlformats.org/drawingml/2006/main">
            <a:off x="5166360" y="2514600"/>
            <a:ext cx="1737360" cy="123444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Text 22">
            <a:extLst xmlns:a="http://schemas.openxmlformats.org/drawingml/2006/main">
              <a:ext uri="{FF2B5EF4-FFF2-40B4-BE49-F238E27FC236}">
                <a16:creationId xmlns:a16="http://schemas.microsoft.com/office/drawing/2014/main" id="{C6652E29-F8DD-436E-9026-61FDB704EF4D}"/>
              </a:ext>
            </a:extLst>
          </p:cNvPr>
          <p:cNvSpPr>
            <a:spLocks xmlns:a="http://schemas.openxmlformats.org/drawingml/2006/main" noGrp="1"/>
          </p:cNvSpPr>
          <p:nvPr/>
        </p:nvSpPr>
        <p:spPr>
          <a:xfrm xmlns:a="http://schemas.openxmlformats.org/drawingml/2006/main">
            <a:off x="5276088" y="2715768"/>
            <a:ext cx="151790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50" b="1">
                <a:solidFill>
                  <a:srgbClr val="1B273F"/>
                </a:solidFill>
                <a:latin typeface="Cambria"/>
                <a:ea typeface="Cambria"/>
                <a:cs typeface="Cambria"/>
              </a:rPr>
              <a:t>Agents and tools</a:t>
            </a:r>
            <a:endParaRPr sz="1450"/>
          </a:p>
        </p:txBody>
      </p:sp>
      <p:sp>
        <p:nvSpPr>
          <p:cNvPr id="25" name="Text 23">
            <a:extLst xmlns:a="http://schemas.openxmlformats.org/drawingml/2006/main">
              <a:ext uri="{FF2B5EF4-FFF2-40B4-BE49-F238E27FC236}">
                <a16:creationId xmlns:a16="http://schemas.microsoft.com/office/drawing/2014/main" id="{CA739B8C-1CA7-4840-900B-C7D321A1C279}"/>
              </a:ext>
            </a:extLst>
          </p:cNvPr>
          <p:cNvSpPr>
            <a:spLocks xmlns:a="http://schemas.openxmlformats.org/drawingml/2006/main" noGrp="1"/>
          </p:cNvSpPr>
          <p:nvPr/>
        </p:nvSpPr>
        <p:spPr>
          <a:xfrm xmlns:a="http://schemas.openxmlformats.org/drawingml/2006/main">
            <a:off x="5276088" y="3108960"/>
            <a:ext cx="151790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80">
                <a:solidFill>
                  <a:srgbClr val="55595F"/>
                </a:solidFill>
                <a:latin typeface="Calibri"/>
                <a:ea typeface="Calibri"/>
                <a:cs typeface="Calibri"/>
              </a:rPr>
              <a:t>Reason, retrieve, call services and collaborate</a:t>
            </a:r>
            <a:endParaRPr sz="980"/>
          </a:p>
        </p:txBody>
      </p:sp>
      <p:sp>
        <p:nvSpPr>
          <p:cNvPr id="26" name="Shape 24">
            <a:extLst xmlns:a="http://schemas.openxmlformats.org/drawingml/2006/main">
              <a:ext uri="{FF2B5EF4-FFF2-40B4-BE49-F238E27FC236}">
                <a16:creationId xmlns:a16="http://schemas.microsoft.com/office/drawing/2014/main" id="{C573924C-1EB2-4DAE-B123-E2FC2D9D6F55}"/>
              </a:ext>
            </a:extLst>
          </p:cNvPr>
          <p:cNvSpPr>
            <a:spLocks xmlns:a="http://schemas.openxmlformats.org/drawingml/2006/main" noGrp="1"/>
          </p:cNvSpPr>
          <p:nvPr/>
        </p:nvSpPr>
        <p:spPr>
          <a:xfrm xmlns:a="http://schemas.openxmlformats.org/drawingml/2006/main">
            <a:off x="6903720" y="3136392"/>
            <a:ext cx="475488" cy="0"/>
          </a:xfrm>
          <a:prstGeom xmlns:a="http://schemas.openxmlformats.org/drawingml/2006/main" prst="line">
            <a:avLst/>
          </a:prstGeom>
          <a:noFill xmlns:a="http://schemas.openxmlformats.org/drawingml/2006/main"/>
          <a:ln xmlns:a="http://schemas.openxmlformats.org/drawingml/2006/main" w="19050">
            <a:solidFill>
              <a:srgbClr val="7A7E84"/>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27" name="Shape 25">
            <a:extLst xmlns:a="http://schemas.openxmlformats.org/drawingml/2006/main">
              <a:ext uri="{FF2B5EF4-FFF2-40B4-BE49-F238E27FC236}">
                <a16:creationId xmlns:a16="http://schemas.microsoft.com/office/drawing/2014/main" id="{B891F411-FF2B-4568-9687-4B33227364EC}"/>
              </a:ext>
            </a:extLst>
          </p:cNvPr>
          <p:cNvSpPr>
            <a:spLocks xmlns:a="http://schemas.openxmlformats.org/drawingml/2006/main" noGrp="1"/>
          </p:cNvSpPr>
          <p:nvPr/>
        </p:nvSpPr>
        <p:spPr>
          <a:xfrm xmlns:a="http://schemas.openxmlformats.org/drawingml/2006/main">
            <a:off x="7452360" y="2514600"/>
            <a:ext cx="1737360" cy="123444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a:lstStyle xmlns:a="http://schemas.openxmlformats.org/drawingml/2006/main"/>
          <a:p xmlns:a="http://schemas.openxmlformats.org/drawingml/2006/main">
            <a:endParaRPr/>
          </a:p>
        </p:txBody>
      </p:sp>
      <p:sp>
        <p:nvSpPr>
          <p:cNvPr id="28" name="Text 26">
            <a:extLst xmlns:a="http://schemas.openxmlformats.org/drawingml/2006/main">
              <a:ext uri="{FF2B5EF4-FFF2-40B4-BE49-F238E27FC236}">
                <a16:creationId xmlns:a16="http://schemas.microsoft.com/office/drawing/2014/main" id="{0714D90F-F0CC-452D-A28E-C6543BB204AA}"/>
              </a:ext>
            </a:extLst>
          </p:cNvPr>
          <p:cNvSpPr>
            <a:spLocks xmlns:a="http://schemas.openxmlformats.org/drawingml/2006/main" noGrp="1"/>
          </p:cNvSpPr>
          <p:nvPr/>
        </p:nvSpPr>
        <p:spPr>
          <a:xfrm xmlns:a="http://schemas.openxmlformats.org/drawingml/2006/main">
            <a:off x="7562088" y="2715768"/>
            <a:ext cx="151790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50" b="1">
                <a:solidFill>
                  <a:srgbClr val="1B273F"/>
                </a:solidFill>
                <a:latin typeface="Cambria"/>
                <a:ea typeface="Cambria"/>
                <a:cs typeface="Cambria"/>
              </a:rPr>
              <a:t>Authorized action</a:t>
            </a:r>
            <a:endParaRPr sz="1450"/>
          </a:p>
        </p:txBody>
      </p:sp>
      <p:sp>
        <p:nvSpPr>
          <p:cNvPr id="29" name="Text 27">
            <a:extLst xmlns:a="http://schemas.openxmlformats.org/drawingml/2006/main">
              <a:ext uri="{FF2B5EF4-FFF2-40B4-BE49-F238E27FC236}">
                <a16:creationId xmlns:a16="http://schemas.microsoft.com/office/drawing/2014/main" id="{E16A347C-971C-48E2-B047-879B491C5E2B}"/>
              </a:ext>
            </a:extLst>
          </p:cNvPr>
          <p:cNvSpPr>
            <a:spLocks xmlns:a="http://schemas.openxmlformats.org/drawingml/2006/main" noGrp="1"/>
          </p:cNvSpPr>
          <p:nvPr/>
        </p:nvSpPr>
        <p:spPr>
          <a:xfrm xmlns:a="http://schemas.openxmlformats.org/drawingml/2006/main">
            <a:off x="7562088" y="3108960"/>
            <a:ext cx="151790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80">
                <a:solidFill>
                  <a:srgbClr val="55595F"/>
                </a:solidFill>
                <a:latin typeface="Calibri"/>
                <a:ea typeface="Calibri"/>
                <a:cs typeface="Calibri"/>
              </a:rPr>
              <a:t>Execute within policy and capability</a:t>
            </a:r>
            <a:endParaRPr sz="980"/>
          </a:p>
        </p:txBody>
      </p:sp>
      <p:sp>
        <p:nvSpPr>
          <p:cNvPr id="30" name="Shape 28">
            <a:extLst xmlns:a="http://schemas.openxmlformats.org/drawingml/2006/main">
              <a:ext uri="{FF2B5EF4-FFF2-40B4-BE49-F238E27FC236}">
                <a16:creationId xmlns:a16="http://schemas.microsoft.com/office/drawing/2014/main" id="{843AB24C-043F-49D7-92CB-7FF378588210}"/>
              </a:ext>
            </a:extLst>
          </p:cNvPr>
          <p:cNvSpPr>
            <a:spLocks xmlns:a="http://schemas.openxmlformats.org/drawingml/2006/main" noGrp="1"/>
          </p:cNvSpPr>
          <p:nvPr/>
        </p:nvSpPr>
        <p:spPr>
          <a:xfrm xmlns:a="http://schemas.openxmlformats.org/drawingml/2006/main">
            <a:off x="9189720" y="3136392"/>
            <a:ext cx="384048" cy="0"/>
          </a:xfrm>
          <a:prstGeom xmlns:a="http://schemas.openxmlformats.org/drawingml/2006/main" prst="line">
            <a:avLst/>
          </a:prstGeom>
          <a:noFill xmlns:a="http://schemas.openxmlformats.org/drawingml/2006/main"/>
          <a:ln xmlns:a="http://schemas.openxmlformats.org/drawingml/2006/main" w="19050">
            <a:solidFill>
              <a:srgbClr val="7A7E84"/>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1" name="Shape 29">
            <a:extLst xmlns:a="http://schemas.openxmlformats.org/drawingml/2006/main">
              <a:ext uri="{FF2B5EF4-FFF2-40B4-BE49-F238E27FC236}">
                <a16:creationId xmlns:a16="http://schemas.microsoft.com/office/drawing/2014/main" id="{31B22575-7F60-4AE4-9CD4-3C0A93BCBD1B}"/>
              </a:ext>
            </a:extLst>
          </p:cNvPr>
          <p:cNvSpPr>
            <a:spLocks xmlns:a="http://schemas.openxmlformats.org/drawingml/2006/main" noGrp="1"/>
          </p:cNvSpPr>
          <p:nvPr/>
        </p:nvSpPr>
        <p:spPr>
          <a:xfrm xmlns:a="http://schemas.openxmlformats.org/drawingml/2006/main">
            <a:off x="9646920" y="2514600"/>
            <a:ext cx="1737360" cy="123444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Text 30">
            <a:extLst xmlns:a="http://schemas.openxmlformats.org/drawingml/2006/main">
              <a:ext uri="{FF2B5EF4-FFF2-40B4-BE49-F238E27FC236}">
                <a16:creationId xmlns:a16="http://schemas.microsoft.com/office/drawing/2014/main" id="{4B2D2675-D103-4C7D-910D-1E496EA2E6FE}"/>
              </a:ext>
            </a:extLst>
          </p:cNvPr>
          <p:cNvSpPr>
            <a:spLocks xmlns:a="http://schemas.openxmlformats.org/drawingml/2006/main" noGrp="1"/>
          </p:cNvSpPr>
          <p:nvPr/>
        </p:nvSpPr>
        <p:spPr>
          <a:xfrm xmlns:a="http://schemas.openxmlformats.org/drawingml/2006/main">
            <a:off x="9756648" y="2715768"/>
            <a:ext cx="151790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50" b="1">
                <a:solidFill>
                  <a:srgbClr val="1B273F"/>
                </a:solidFill>
                <a:latin typeface="Cambria"/>
                <a:ea typeface="Cambria"/>
                <a:cs typeface="Cambria"/>
              </a:rPr>
              <a:t>Outcome</a:t>
            </a:r>
            <a:endParaRPr sz="1450"/>
          </a:p>
        </p:txBody>
      </p:sp>
      <p:sp>
        <p:nvSpPr>
          <p:cNvPr id="33" name="Text 31">
            <a:extLst xmlns:a="http://schemas.openxmlformats.org/drawingml/2006/main">
              <a:ext uri="{FF2B5EF4-FFF2-40B4-BE49-F238E27FC236}">
                <a16:creationId xmlns:a16="http://schemas.microsoft.com/office/drawing/2014/main" id="{34A72514-8F45-40AD-95B0-F5FD612110E0}"/>
              </a:ext>
            </a:extLst>
          </p:cNvPr>
          <p:cNvSpPr>
            <a:spLocks xmlns:a="http://schemas.openxmlformats.org/drawingml/2006/main" noGrp="1"/>
          </p:cNvSpPr>
          <p:nvPr/>
        </p:nvSpPr>
        <p:spPr>
          <a:xfrm xmlns:a="http://schemas.openxmlformats.org/drawingml/2006/main">
            <a:off x="9756648" y="3108960"/>
            <a:ext cx="151790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80">
                <a:solidFill>
                  <a:srgbClr val="55595F"/>
                </a:solidFill>
                <a:latin typeface="Calibri"/>
                <a:ea typeface="Calibri"/>
                <a:cs typeface="Calibri"/>
              </a:rPr>
              <a:t>Telemetry, receipts and review</a:t>
            </a:r>
            <a:endParaRPr sz="980"/>
          </a:p>
        </p:txBody>
      </p:sp>
      <p:sp>
        <p:nvSpPr>
          <p:cNvPr id="34" name="Shape 32">
            <a:extLst xmlns:a="http://schemas.openxmlformats.org/drawingml/2006/main">
              <a:ext uri="{FF2B5EF4-FFF2-40B4-BE49-F238E27FC236}">
                <a16:creationId xmlns:a16="http://schemas.microsoft.com/office/drawing/2014/main" id="{D87BEA24-A8D7-4CA6-8EE9-E32DC1EFDAD9}"/>
              </a:ext>
            </a:extLst>
          </p:cNvPr>
          <p:cNvSpPr>
            <a:spLocks xmlns:a="http://schemas.openxmlformats.org/drawingml/2006/main" noGrp="1"/>
          </p:cNvSpPr>
          <p:nvPr/>
        </p:nvSpPr>
        <p:spPr>
          <a:xfrm xmlns:a="http://schemas.openxmlformats.org/drawingml/2006/main">
            <a:off x="2423160" y="4315968"/>
            <a:ext cx="7360920" cy="1115568"/>
          </a:xfrm>
          <a:prstGeom xmlns:a="http://schemas.openxmlformats.org/drawingml/2006/main" prst="roundRect">
            <a:avLst/>
          </a:prstGeom>
          <a:solidFill xmlns:a="http://schemas.openxmlformats.org/drawingml/2006/main">
            <a:srgbClr val="F1F4F7"/>
          </a:solidFill>
          <a:ln xmlns:a="http://schemas.openxmlformats.org/drawingml/2006/main" w="12700">
            <a:solidFill>
              <a:srgbClr val="D6DCE4"/>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Text 33">
            <a:extLst xmlns:a="http://schemas.openxmlformats.org/drawingml/2006/main">
              <a:ext uri="{FF2B5EF4-FFF2-40B4-BE49-F238E27FC236}">
                <a16:creationId xmlns:a16="http://schemas.microsoft.com/office/drawing/2014/main" id="{A03A990C-05EB-4B20-9F42-BE842320EAB2}"/>
              </a:ext>
            </a:extLst>
          </p:cNvPr>
          <p:cNvSpPr>
            <a:spLocks xmlns:a="http://schemas.openxmlformats.org/drawingml/2006/main" noGrp="1"/>
          </p:cNvSpPr>
          <p:nvPr/>
        </p:nvSpPr>
        <p:spPr>
          <a:xfrm xmlns:a="http://schemas.openxmlformats.org/drawingml/2006/main">
            <a:off x="2651760" y="4553712"/>
            <a:ext cx="228600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B273F"/>
                </a:solidFill>
                <a:latin typeface="Cambria"/>
                <a:ea typeface="Cambria"/>
                <a:cs typeface="Cambria"/>
              </a:rPr>
              <a:t>Typical operating loop</a:t>
            </a:r>
            <a:endParaRPr sz="1550"/>
          </a:p>
        </p:txBody>
      </p:sp>
      <p:sp>
        <p:nvSpPr>
          <p:cNvPr id="36" name="Text 34">
            <a:extLst xmlns:a="http://schemas.openxmlformats.org/drawingml/2006/main">
              <a:ext uri="{FF2B5EF4-FFF2-40B4-BE49-F238E27FC236}">
                <a16:creationId xmlns:a16="http://schemas.microsoft.com/office/drawing/2014/main" id="{1ABEC168-034E-48FF-BCF8-B89F75369B50}"/>
              </a:ext>
            </a:extLst>
          </p:cNvPr>
          <p:cNvSpPr>
            <a:spLocks xmlns:a="http://schemas.openxmlformats.org/drawingml/2006/main" noGrp="1"/>
          </p:cNvSpPr>
          <p:nvPr/>
        </p:nvSpPr>
        <p:spPr>
          <a:xfrm xmlns:a="http://schemas.openxmlformats.org/drawingml/2006/main">
            <a:off x="2651760" y="5010912"/>
            <a:ext cx="5120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5595F"/>
                </a:solidFill>
                <a:latin typeface="Calibri"/>
                <a:ea typeface="Calibri"/>
                <a:cs typeface="Calibri"/>
              </a:rPr>
              <a:t>Observe outcomes, update the plan and repeat while the local control model remains valid.</a:t>
            </a:r>
            <a:endParaRPr sz="1100"/>
          </a:p>
        </p:txBody>
      </p:sp>
      <p:sp>
        <p:nvSpPr>
          <p:cNvPr id="37" name="Text 35">
            <a:extLst xmlns:a="http://schemas.openxmlformats.org/drawingml/2006/main">
              <a:ext uri="{FF2B5EF4-FFF2-40B4-BE49-F238E27FC236}">
                <a16:creationId xmlns:a16="http://schemas.microsoft.com/office/drawing/2014/main" id="{EE61A8B4-35A3-4061-AABC-CD7404604085}"/>
              </a:ext>
            </a:extLst>
          </p:cNvPr>
          <p:cNvSpPr>
            <a:spLocks xmlns:a="http://schemas.openxmlformats.org/drawingml/2006/main" noGrp="1"/>
          </p:cNvSpPr>
          <p:nvPr/>
        </p:nvSpPr>
        <p:spPr>
          <a:xfrm xmlns:a="http://schemas.openxmlformats.org/drawingml/2006/main">
            <a:off x="8028431" y="4645152"/>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endParaRPr sz="900"/>
          </a:p>
        </p:txBody>
      </p:sp>
      <p:sp>
        <p:nvSpPr>
          <p:cNvPr id="38" name="Shape 36">
            <a:extLst xmlns:a="http://schemas.openxmlformats.org/drawingml/2006/main">
              <a:ext uri="{FF2B5EF4-FFF2-40B4-BE49-F238E27FC236}">
                <a16:creationId xmlns:a16="http://schemas.microsoft.com/office/drawing/2014/main" id="{21647D3F-7B44-4B49-9DA1-69EC04DDE576}"/>
              </a:ext>
            </a:extLst>
          </p:cNvPr>
          <p:cNvSpPr>
            <a:spLocks xmlns:a="http://schemas.openxmlformats.org/drawingml/2006/main" noGrp="1"/>
          </p:cNvSpPr>
          <p:nvPr/>
        </p:nvSpPr>
        <p:spPr>
          <a:xfrm xmlns:a="http://schemas.openxmlformats.org/drawingml/2006/main">
            <a:off x="8321040" y="4773168"/>
            <a:ext cx="0" cy="301752"/>
          </a:xfrm>
          <a:prstGeom xmlns:a="http://schemas.openxmlformats.org/drawingml/2006/main" prst="line">
            <a:avLst/>
          </a:prstGeom>
          <a:noFill xmlns:a="http://schemas.openxmlformats.org/drawingml/2006/main"/>
          <a:ln xmlns:a="http://schemas.openxmlformats.org/drawingml/2006/main" w="20320">
            <a:solidFill>
              <a:srgbClr val="006970"/>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9" name="Text 37">
            <a:extLst xmlns:a="http://schemas.openxmlformats.org/drawingml/2006/main">
              <a:ext uri="{FF2B5EF4-FFF2-40B4-BE49-F238E27FC236}">
                <a16:creationId xmlns:a16="http://schemas.microsoft.com/office/drawing/2014/main" id="{E8D9EFC7-476D-48F5-BB28-7DC548EBE337}"/>
              </a:ext>
            </a:extLst>
          </p:cNvPr>
          <p:cNvSpPr>
            <a:spLocks xmlns:a="http://schemas.openxmlformats.org/drawingml/2006/main" noGrp="1"/>
          </p:cNvSpPr>
          <p:nvPr/>
        </p:nvSpPr>
        <p:spPr>
          <a:xfrm xmlns:a="http://schemas.openxmlformats.org/drawingml/2006/main">
            <a:off x="8796528" y="4645152"/>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endParaRPr sz="900"/>
          </a:p>
        </p:txBody>
      </p:sp>
      <p:sp>
        <p:nvSpPr>
          <p:cNvPr id="40" name="Text 38">
            <a:extLst xmlns:a="http://schemas.openxmlformats.org/drawingml/2006/main">
              <a:ext uri="{FF2B5EF4-FFF2-40B4-BE49-F238E27FC236}">
                <a16:creationId xmlns:a16="http://schemas.microsoft.com/office/drawing/2014/main" id="{07CF55E3-5A38-4595-8D76-0A862B6E910B}"/>
              </a:ext>
            </a:extLst>
          </p:cNvPr>
          <p:cNvSpPr>
            <a:spLocks xmlns:a="http://schemas.openxmlformats.org/drawingml/2006/main" noGrp="1"/>
          </p:cNvSpPr>
          <p:nvPr/>
        </p:nvSpPr>
        <p:spPr>
          <a:xfrm xmlns:a="http://schemas.openxmlformats.org/drawingml/2006/main">
            <a:off x="749808" y="5760720"/>
            <a:ext cx="10652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30" i="1">
                <a:solidFill>
                  <a:srgbClr val="55595F"/>
                </a:solidFill>
                <a:latin typeface="Calibri"/>
                <a:ea typeface="Calibri"/>
                <a:cs typeface="Calibri"/>
              </a:rPr>
              <a:t>The model works while roles, boundaries and the surrounding ecosystem remain legible to the controls that govern the workflow.</a:t>
            </a:r>
            <a:endParaRPr sz="1130"/>
          </a:p>
        </p:txBody>
      </p:sp>
      <p:sp>
        <p:nvSpPr>
          <p:cNvPr id="52" name="Slide Number Placeholder 0">
            <a:extLst xmlns:a="http://schemas.openxmlformats.org/drawingml/2006/main">
              <a:ext uri="{FF2B5EF4-FFF2-40B4-BE49-F238E27FC236}">
                <a16:creationId xmlns:a16="http://schemas.microsoft.com/office/drawing/2014/main" id="{87E8E321-49A0-4E39-BF3E-1973392909BE}"/>
              </a:ext>
            </a:extLst>
          </p:cNvPr>
          <p:cNvSpPr>
            <a:spLocks xmlns:a="http://schemas.openxmlformats.org/drawingml/2006/main" noGrp="1"/>
          </p:cNvSpPr>
          <p:nvPr>
            <p:ph type="sldNum" idx="4294967295"/>
          </p:nvPr>
        </p:nvSpPr>
        <p:spPr>
          <a:xfrm xmlns:a="http://schemas.openxmlformats.org/drawingml/2006/main">
            <a:off x="11064240" y="6537960"/>
            <a:ext cx="502920" cy="164592"/>
          </a:xfrm>
          <a:prstGeom xmlns:a="http://schemas.openxmlformats.org/drawingml/2006/main" prst="rect">
            <a:avLst/>
          </a:prstGeom>
        </p:spPr>
        <p:txBody>
          <a:bodyPr xmlns:a="http://schemas.openxmlformats.org/drawingml/2006/main"/>
          <a:lstStyle xmlns:a="http://schemas.openxmlformats.org/drawingml/2006/main">
            <a:lvl1pPr>
              <a:buNone/>
              <a:defRPr sz="750">
                <a:solidFill>
                  <a:srgbClr val="1B273F"/>
                </a:solidFill>
                <a:latin typeface="Consolas"/>
                <a:ea typeface="Consolas"/>
                <a:cs typeface="Consolas"/>
              </a:defRPr>
            </a:lvl1pPr>
          </a:lstStyle>
          <a:p xmlns:a="http://schemas.openxmlformats.org/drawingml/2006/main">
            <a:pPr algn="r">
              <a:buNone/>
            </a:pPr>
            <a:r>
              <a:rPr sz="850">
                <a:solidFill>
                  <a:srgbClr val="5D6775"/>
                </a:solidFill>
                <a:latin typeface="Aptos"/>
                <a:ea typeface="Aptos"/>
                <a:cs typeface="Aptos"/>
              </a:rPr>
              <a:t>2</a:t>
            </a:r>
          </a:p>
        </p:txBody>
      </p:sp>
      <p:sp>
        <p:nvSpPr>
          <p:cNvPr id="41" name="Connector 40">
            <a:extLst xmlns:a="http://schemas.openxmlformats.org/drawingml/2006/main">
              <a:ext uri="{FF2B5EF4-FFF2-40B4-BE49-F238E27FC236}">
                <a16:creationId xmlns:a16="http://schemas.microsoft.com/office/drawing/2014/main" id="{FAE0C6FC-7B96-4DDB-B261-9683711AE2DC}"/>
              </a:ext>
            </a:extLst>
          </p:cNvPr>
          <p:cNvSpPr>
            <a:spLocks xmlns:a="http://schemas.openxmlformats.org/drawingml/2006/main" noGrp="1"/>
          </p:cNvSpPr>
          <p:nvPr/>
        </p:nvSpPr>
        <p:spPr>
          <a:xfrm xmlns:a="http://schemas.openxmlformats.org/drawingml/2006/main">
            <a:off x="8293608" y="4855464"/>
            <a:ext cx="0" cy="320040"/>
          </a:xfrm>
          <a:prstGeom xmlns:a="http://schemas.openxmlformats.org/drawingml/2006/main" prst="line">
            <a:avLst/>
          </a:prstGeom>
          <a:ln xmlns:a="http://schemas.openxmlformats.org/drawingml/2006/main" w="19050">
            <a:solidFill>
              <a:srgbClr val="007B82"/>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
        <p:nvSpPr>
          <p:cNvPr id="42" name="Connector 41">
            <a:extLst xmlns:a="http://schemas.openxmlformats.org/drawingml/2006/main">
              <a:ext uri="{FF2B5EF4-FFF2-40B4-BE49-F238E27FC236}">
                <a16:creationId xmlns:a16="http://schemas.microsoft.com/office/drawing/2014/main" id="{BC3B3E16-A7A1-4092-A608-3264FD9536C4}"/>
              </a:ext>
            </a:extLst>
          </p:cNvPr>
          <p:cNvSpPr>
            <a:spLocks xmlns:a="http://schemas.openxmlformats.org/drawingml/2006/main" noGrp="1"/>
          </p:cNvSpPr>
          <p:nvPr/>
        </p:nvSpPr>
        <p:spPr>
          <a:xfrm xmlns:a="http://schemas.openxmlformats.org/drawingml/2006/main">
            <a:off x="9070848" y="4855464"/>
            <a:ext cx="0" cy="320040"/>
          </a:xfrm>
          <a:prstGeom xmlns:a="http://schemas.openxmlformats.org/drawingml/2006/main" prst="line">
            <a:avLst/>
          </a:prstGeom>
          <a:ln xmlns:a="http://schemas.openxmlformats.org/drawingml/2006/main" w="19050">
            <a:solidFill>
              <a:srgbClr val="007B82"/>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txBody>
          <a:bodyPr xmlns:a="http://schemas.openxmlformats.org/drawingml/2006/main"/>
          <a:lstStyle xmlns:a="http://schemas.openxmlformats.org/drawingml/2006/main"/>
          <a:p xmlns:a="http://schemas.openxmlformats.org/drawingml/2006/main">
            <a:endParaRPr/>
          </a:p>
        </p:txBody>
      </p:sp>
      <p:sp>
        <p:nvSpPr>
          <p:cNvPr id="43" name="Rectangle 42">
            <a:extLst xmlns:a="http://schemas.openxmlformats.org/drawingml/2006/main">
              <a:ext uri="{FF2B5EF4-FFF2-40B4-BE49-F238E27FC236}">
                <a16:creationId xmlns:a16="http://schemas.microsoft.com/office/drawing/2014/main" id="{F3713040-46F9-417E-AC71-F03F27242112}"/>
              </a:ext>
            </a:extLst>
          </p:cNvPr>
          <p:cNvSpPr>
            <a:spLocks xmlns:a="http://schemas.openxmlformats.org/drawingml/2006/main" noGrp="1"/>
          </p:cNvSpPr>
          <p:nvPr/>
        </p:nvSpPr>
        <p:spPr>
          <a:xfrm xmlns:a="http://schemas.openxmlformats.org/drawingml/2006/main">
            <a:off x="7818120" y="4462272"/>
            <a:ext cx="1965960" cy="868680"/>
          </a:xfrm>
          <a:prstGeom xmlns:a="http://schemas.openxmlformats.org/drawingml/2006/main" prst="rect">
            <a:avLst/>
          </a:prstGeom>
          <a:solidFill xmlns:a="http://schemas.openxmlformats.org/drawingml/2006/main">
            <a:srgbClr val="F4F6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4" name="TextBox 43">
            <a:extLst xmlns:a="http://schemas.openxmlformats.org/drawingml/2006/main">
              <a:ext uri="{FF2B5EF4-FFF2-40B4-BE49-F238E27FC236}">
                <a16:creationId xmlns:a16="http://schemas.microsoft.com/office/drawing/2014/main" id="{9CD21C60-FB7B-4366-BE2D-412813F4F0D5}"/>
              </a:ext>
            </a:extLst>
          </p:cNvPr>
          <p:cNvSpPr>
            <a:spLocks xmlns:a="http://schemas.openxmlformats.org/drawingml/2006/main" noGrp="1"/>
          </p:cNvSpPr>
          <p:nvPr/>
        </p:nvSpPr>
        <p:spPr>
          <a:xfrm xmlns:a="http://schemas.openxmlformats.org/drawingml/2006/main">
            <a:off x="8001000" y="4617720"/>
            <a:ext cx="777240" cy="164592"/>
          </a:xfrm>
          <a:prstGeom xmlns:a="http://schemas.openxmlformats.org/drawingml/2006/main" prst="rect">
            <a:avLst/>
          </a:prstGeom>
          <a:noFill xmlns:a="http://schemas.openxmlformats.org/drawingml/2006/main"/>
        </p:spPr>
        <p:txBody>
          <a:bodyPr xmlns:a="http://schemas.openxmlformats.org/drawingml/2006/main" wrap="square" lIns="38100" tIns="25400" rIns="38100" bIns="25400">
            <a:spAutoFit/>
          </a:bodyPr>
          <a:lstStyle xmlns:a="http://schemas.openxmlformats.org/drawingml/2006/main"/>
          <a:p xmlns:a="http://schemas.openxmlformats.org/drawingml/2006/main">
            <a:pPr algn="ctr">
              <a:buNone/>
            </a:pPr>
            <a:r>
              <a:rPr sz="1000" b="1">
                <a:solidFill>
                  <a:srgbClr val="007B82"/>
                </a:solidFill>
                <a:latin typeface="Aptos"/>
                <a:ea typeface="Aptos"/>
                <a:cs typeface="Aptos"/>
              </a:rPr>
              <a:t>Review</a:t>
            </a:r>
          </a:p>
        </p:txBody>
      </p:sp>
      <p:sp>
        <p:nvSpPr>
          <p:cNvPr id="45" name="TextBox 44">
            <a:extLst xmlns:a="http://schemas.openxmlformats.org/drawingml/2006/main">
              <a:ext uri="{FF2B5EF4-FFF2-40B4-BE49-F238E27FC236}">
                <a16:creationId xmlns:a16="http://schemas.microsoft.com/office/drawing/2014/main" id="{3D7A18EC-ABFE-4345-9916-104CB8285E0E}"/>
              </a:ext>
            </a:extLst>
          </p:cNvPr>
          <p:cNvSpPr>
            <a:spLocks xmlns:a="http://schemas.openxmlformats.org/drawingml/2006/main" noGrp="1"/>
          </p:cNvSpPr>
          <p:nvPr/>
        </p:nvSpPr>
        <p:spPr>
          <a:xfrm xmlns:a="http://schemas.openxmlformats.org/drawingml/2006/main">
            <a:off x="8778240" y="4617720"/>
            <a:ext cx="822960" cy="164592"/>
          </a:xfrm>
          <a:prstGeom xmlns:a="http://schemas.openxmlformats.org/drawingml/2006/main" prst="rect">
            <a:avLst/>
          </a:prstGeom>
          <a:noFill xmlns:a="http://schemas.openxmlformats.org/drawingml/2006/main"/>
        </p:spPr>
        <p:txBody>
          <a:bodyPr xmlns:a="http://schemas.openxmlformats.org/drawingml/2006/main" wrap="square" lIns="38100" tIns="25400" rIns="38100" bIns="25400">
            <a:spAutoFit/>
          </a:bodyPr>
          <a:lstStyle xmlns:a="http://schemas.openxmlformats.org/drawingml/2006/main"/>
          <a:p xmlns:a="http://schemas.openxmlformats.org/drawingml/2006/main">
            <a:pPr algn="ctr">
              <a:buNone/>
            </a:pPr>
            <a:r>
              <a:rPr sz="1000" b="1">
                <a:solidFill>
                  <a:srgbClr val="007B82"/>
                </a:solidFill>
                <a:latin typeface="Aptos"/>
                <a:ea typeface="Aptos"/>
                <a:cs typeface="Aptos"/>
              </a:rPr>
              <a:t>Replan</a:t>
            </a:r>
          </a:p>
        </p:txBody>
      </p:sp>
      <p:sp>
        <p:nvSpPr>
          <p:cNvPr id="50" name="Down Arrow 49">
            <a:extLst xmlns:a="http://schemas.openxmlformats.org/drawingml/2006/main">
              <a:ext uri="{FF2B5EF4-FFF2-40B4-BE49-F238E27FC236}">
                <a16:creationId xmlns:a16="http://schemas.microsoft.com/office/drawing/2014/main" id="{EC81908B-2343-49E1-A794-D74CFA5D68CB}"/>
              </a:ext>
            </a:extLst>
          </p:cNvPr>
          <p:cNvSpPr>
            <a:spLocks xmlns:a="http://schemas.openxmlformats.org/drawingml/2006/main" noGrp="1"/>
          </p:cNvSpPr>
          <p:nvPr/>
        </p:nvSpPr>
        <p:spPr>
          <a:xfrm xmlns:a="http://schemas.openxmlformats.org/drawingml/2006/main">
            <a:off x="8321040" y="4873752"/>
            <a:ext cx="109728" cy="219456"/>
          </a:xfrm>
          <a:prstGeom xmlns:a="http://schemas.openxmlformats.org/drawingml/2006/main" prst="downArrow">
            <a:avLst/>
          </a:prstGeom>
          <a:solidFill xmlns:a="http://schemas.openxmlformats.org/drawingml/2006/main">
            <a:srgbClr val="007B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1" name="Down Arrow 50">
            <a:extLst xmlns:a="http://schemas.openxmlformats.org/drawingml/2006/main">
              <a:ext uri="{FF2B5EF4-FFF2-40B4-BE49-F238E27FC236}">
                <a16:creationId xmlns:a16="http://schemas.microsoft.com/office/drawing/2014/main" id="{A152080C-7C0E-433F-A4A3-264D9F576F64}"/>
              </a:ext>
            </a:extLst>
          </p:cNvPr>
          <p:cNvSpPr>
            <a:spLocks xmlns:a="http://schemas.openxmlformats.org/drawingml/2006/main" noGrp="1"/>
          </p:cNvSpPr>
          <p:nvPr/>
        </p:nvSpPr>
        <p:spPr>
          <a:xfrm xmlns:a="http://schemas.openxmlformats.org/drawingml/2006/main" rot="10800000">
            <a:off x="9098280" y="4873752"/>
            <a:ext cx="109728" cy="219456"/>
          </a:xfrm>
          <a:prstGeom xmlns:a="http://schemas.openxmlformats.org/drawingml/2006/main" prst="downArrow">
            <a:avLst/>
          </a:prstGeom>
          <a:solidFill xmlns:a="http://schemas.openxmlformats.org/drawingml/2006/main">
            <a:srgbClr val="007B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3" name="TextBox 52">
            <a:extLst xmlns:a="http://schemas.openxmlformats.org/drawingml/2006/main">
              <a:ext uri="{FF2B5EF4-FFF2-40B4-BE49-F238E27FC236}">
                <a16:creationId xmlns:a16="http://schemas.microsoft.com/office/drawing/2014/main" id="{3B2F9AE5-98D0-4A29-853B-2F602879B893}"/>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e6d5c8507765447b"/>
              </a:rPr>
              <a:t>Benchmark vNext · comparator baseline</a:t>
            </a:r>
          </a:p>
        </p:txBody>
      </p:sp>
    </p:spTree>
    <p:extLst>
      <p:ext uri="{BB962C8B-B14F-4D97-AF65-F5344CB8AC3E}">
        <p14:creationId xmlns:p14="http://schemas.microsoft.com/office/powerpoint/2010/main" val="161384322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08734D9-38FA-44F5-8FAC-13375A52143F}"/>
              </a:ext>
            </a:extLst>
          </p:cNvPr>
          <p:cNvSpPr>
            <a:spLocks xmlns:a="http://schemas.openxmlformats.org/drawingml/2006/main" noGrp="1"/>
          </p:cNvSpPr>
          <p:nvPr/>
        </p:nvSpPr>
        <p:spPr>
          <a:xfrm xmlns:a="http://schemas.openxmlformats.org/drawingml/2006/main">
            <a:off x="566928" y="164592"/>
            <a:ext cx="21945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20">
                <a:solidFill>
                  <a:srgbClr val="7A7E84"/>
                </a:solidFill>
                <a:latin typeface="Consolas"/>
                <a:ea typeface="Consolas"/>
                <a:cs typeface="Consolas"/>
              </a:rPr>
              <a:t>STRUCTURAL LIMITS</a:t>
            </a:r>
            <a:endParaRPr sz="820"/>
          </a:p>
        </p:txBody>
      </p:sp>
      <p:sp>
        <p:nvSpPr>
          <p:cNvPr id="3" name="Text 1">
            <a:extLst xmlns:a="http://schemas.openxmlformats.org/drawingml/2006/main">
              <a:ext uri="{FF2B5EF4-FFF2-40B4-BE49-F238E27FC236}">
                <a16:creationId xmlns:a16="http://schemas.microsoft.com/office/drawing/2014/main" id="{A038425C-E6E9-4B72-A033-F3EC4F3CA3F1}"/>
              </a:ext>
            </a:extLst>
          </p:cNvPr>
          <p:cNvSpPr>
            <a:spLocks xmlns:a="http://schemas.openxmlformats.org/drawingml/2006/main" noGrp="1"/>
          </p:cNvSpPr>
          <p:nvPr/>
        </p:nvSpPr>
        <p:spPr>
          <a:xfrm xmlns:a="http://schemas.openxmlformats.org/drawingml/2006/main">
            <a:off x="10927080" y="164592"/>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20">
                <a:solidFill>
                  <a:srgbClr val="7A7E84"/>
                </a:solidFill>
                <a:latin typeface="Consolas"/>
                <a:ea typeface="Consolas"/>
                <a:cs typeface="Consolas"/>
              </a:rPr>
              <a:t>§ 02</a:t>
            </a:r>
            <a:endParaRPr sz="820"/>
          </a:p>
        </p:txBody>
      </p:sp>
      <p:sp>
        <p:nvSpPr>
          <p:cNvPr id="4" name="Text 2">
            <a:extLst xmlns:a="http://schemas.openxmlformats.org/drawingml/2006/main">
              <a:ext uri="{FF2B5EF4-FFF2-40B4-BE49-F238E27FC236}">
                <a16:creationId xmlns:a16="http://schemas.microsoft.com/office/drawing/2014/main" id="{A6A876FF-4C56-423D-BAC8-5A6571D81FE8}"/>
              </a:ext>
            </a:extLst>
          </p:cNvPr>
          <p:cNvSpPr>
            <a:spLocks xmlns:a="http://schemas.openxmlformats.org/drawingml/2006/main" noGrp="1"/>
          </p:cNvSpPr>
          <p:nvPr/>
        </p:nvSpPr>
        <p:spPr>
          <a:xfrm xmlns:a="http://schemas.openxmlformats.org/drawingml/2006/main">
            <a:off x="566928" y="658368"/>
            <a:ext cx="109728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50" b="1">
                <a:solidFill>
                  <a:srgbClr val="1B273F"/>
                </a:solidFill>
                <a:latin typeface="Cambria"/>
                <a:ea typeface="Cambria"/>
                <a:cs typeface="Cambria"/>
                <a:hlinkClick xmlns:r="http://schemas.openxmlformats.org/officeDocument/2006/relationships" r:id="R7270332c9c224a1e"/>
              </a:rPr>
              <a:t>Structural problems and current limits</a:t>
            </a:r>
            <a:endParaRPr sz="2550"/>
          </a:p>
        </p:txBody>
      </p:sp>
      <p:sp>
        <p:nvSpPr>
          <p:cNvPr id="5" name="Text 3">
            <a:extLst xmlns:a="http://schemas.openxmlformats.org/drawingml/2006/main">
              <a:ext uri="{FF2B5EF4-FFF2-40B4-BE49-F238E27FC236}">
                <a16:creationId xmlns:a16="http://schemas.microsoft.com/office/drawing/2014/main" id="{C31D962A-BA82-4E14-9132-D09CD18F8586}"/>
              </a:ext>
            </a:extLst>
          </p:cNvPr>
          <p:cNvSpPr>
            <a:spLocks xmlns:a="http://schemas.openxmlformats.org/drawingml/2006/main" noGrp="1"/>
          </p:cNvSpPr>
          <p:nvPr/>
        </p:nvSpPr>
        <p:spPr>
          <a:xfrm xmlns:a="http://schemas.openxmlformats.org/drawingml/2006/main">
            <a:off x="566928" y="1115568"/>
            <a:ext cx="1097280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55595F"/>
                </a:solidFill>
                <a:latin typeface="Calibri"/>
                <a:ea typeface="Calibri"/>
                <a:cs typeface="Calibri"/>
              </a:rPr>
              <a:t>Direct rules and local checks lose explanatory power when participants, roles and dependencies change faster than the control model.</a:t>
            </a:r>
            <a:endParaRPr sz="1200"/>
          </a:p>
        </p:txBody>
      </p:sp>
      <p:sp>
        <p:nvSpPr>
          <p:cNvPr id="6" name="Shape 4">
            <a:extLst xmlns:a="http://schemas.openxmlformats.org/drawingml/2006/main">
              <a:ext uri="{FF2B5EF4-FFF2-40B4-BE49-F238E27FC236}">
                <a16:creationId xmlns:a16="http://schemas.microsoft.com/office/drawing/2014/main" id="{B570C1C4-B82A-4DB0-9DC5-2E298E4B561D}"/>
              </a:ext>
            </a:extLst>
          </p:cNvPr>
          <p:cNvSpPr>
            <a:spLocks xmlns:a="http://schemas.openxmlformats.org/drawingml/2006/main" noGrp="1"/>
          </p:cNvSpPr>
          <p:nvPr/>
        </p:nvSpPr>
        <p:spPr>
          <a:xfrm xmlns:a="http://schemas.openxmlformats.org/drawingml/2006/main">
            <a:off x="640080" y="1691640"/>
            <a:ext cx="3154680" cy="1261872"/>
          </a:xfrm>
          <a:prstGeom xmlns:a="http://schemas.openxmlformats.org/drawingml/2006/main" prst="roundRect">
            <a:avLst>
              <a:gd name="adj" fmla="val 3623"/>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FA3FCC51-D948-4C23-B3BB-608330577F1D}"/>
              </a:ext>
            </a:extLst>
          </p:cNvPr>
          <p:cNvSpPr>
            <a:spLocks xmlns:a="http://schemas.openxmlformats.org/drawingml/2006/main" noGrp="1"/>
          </p:cNvSpPr>
          <p:nvPr/>
        </p:nvSpPr>
        <p:spPr>
          <a:xfrm xmlns:a="http://schemas.openxmlformats.org/drawingml/2006/main">
            <a:off x="640080" y="1691640"/>
            <a:ext cx="50292" cy="1261872"/>
          </a:xfrm>
          <a:prstGeom xmlns:a="http://schemas.openxmlformats.org/drawingml/2006/main" prst="rect">
            <a:avLst/>
          </a:prstGeom>
          <a:solidFill xmlns:a="http://schemas.openxmlformats.org/drawingml/2006/main">
            <a:srgbClr val="1B4D8E"/>
          </a:solidFill>
          <a:ln xmlns:a="http://schemas.openxmlformats.org/drawingml/2006/main" w="12700">
            <a:solidFill>
              <a:srgbClr val="1B4D8E"/>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4EFF4B9C-F2EF-476B-A061-A9106729991D}"/>
              </a:ext>
            </a:extLst>
          </p:cNvPr>
          <p:cNvSpPr>
            <a:spLocks xmlns:a="http://schemas.openxmlformats.org/drawingml/2006/main" noGrp="1"/>
          </p:cNvSpPr>
          <p:nvPr/>
        </p:nvSpPr>
        <p:spPr>
          <a:xfrm xmlns:a="http://schemas.openxmlformats.org/drawingml/2006/main">
            <a:off x="804672" y="1810512"/>
            <a:ext cx="28986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rPr>
              <a:t>Agent multiplication</a:t>
            </a:r>
            <a:endParaRPr sz="1400"/>
          </a:p>
        </p:txBody>
      </p:sp>
      <p:sp>
        <p:nvSpPr>
          <p:cNvPr id="9" name="Text 7">
            <a:extLst xmlns:a="http://schemas.openxmlformats.org/drawingml/2006/main">
              <a:ext uri="{FF2B5EF4-FFF2-40B4-BE49-F238E27FC236}">
                <a16:creationId xmlns:a16="http://schemas.microsoft.com/office/drawing/2014/main" id="{6768C276-9E60-4A6C-995E-01413FB546B5}"/>
              </a:ext>
            </a:extLst>
          </p:cNvPr>
          <p:cNvSpPr>
            <a:spLocks xmlns:a="http://schemas.openxmlformats.org/drawingml/2006/main" noGrp="1"/>
          </p:cNvSpPr>
          <p:nvPr/>
        </p:nvSpPr>
        <p:spPr>
          <a:xfrm xmlns:a="http://schemas.openxmlformats.org/drawingml/2006/main">
            <a:off x="804672" y="2121408"/>
            <a:ext cx="2880360" cy="7315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1020">
                <a:solidFill>
                  <a:srgbClr val="55595F"/>
                </a:solidFill>
                <a:latin typeface="Calibri"/>
                <a:ea typeface="Calibri"/>
                <a:cs typeface="Calibri"/>
              </a:rPr>
              <a:t>More agents, tools and temporary delegates create interaction paths that no operator can review one by one.</a:t>
            </a:r>
            <a:endParaRPr sz="1020"/>
          </a:p>
        </p:txBody>
      </p:sp>
      <p:sp>
        <p:nvSpPr>
          <p:cNvPr id="10" name="Shape 8">
            <a:extLst xmlns:a="http://schemas.openxmlformats.org/drawingml/2006/main">
              <a:ext uri="{FF2B5EF4-FFF2-40B4-BE49-F238E27FC236}">
                <a16:creationId xmlns:a16="http://schemas.microsoft.com/office/drawing/2014/main" id="{C923880E-893F-4D84-8850-5C7D5BE6AB83}"/>
              </a:ext>
            </a:extLst>
          </p:cNvPr>
          <p:cNvSpPr>
            <a:spLocks xmlns:a="http://schemas.openxmlformats.org/drawingml/2006/main" noGrp="1"/>
          </p:cNvSpPr>
          <p:nvPr/>
        </p:nvSpPr>
        <p:spPr>
          <a:xfrm xmlns:a="http://schemas.openxmlformats.org/drawingml/2006/main">
            <a:off x="4178808" y="1700784"/>
            <a:ext cx="3154680" cy="1261872"/>
          </a:xfrm>
          <a:prstGeom xmlns:a="http://schemas.openxmlformats.org/drawingml/2006/main" prst="roundRect">
            <a:avLst>
              <a:gd name="adj" fmla="val 3623"/>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11" name="Shape 9">
            <a:extLst xmlns:a="http://schemas.openxmlformats.org/drawingml/2006/main">
              <a:ext uri="{FF2B5EF4-FFF2-40B4-BE49-F238E27FC236}">
                <a16:creationId xmlns:a16="http://schemas.microsoft.com/office/drawing/2014/main" id="{66100C4E-015E-461E-BD30-2645141BA0EB}"/>
              </a:ext>
            </a:extLst>
          </p:cNvPr>
          <p:cNvSpPr>
            <a:spLocks xmlns:a="http://schemas.openxmlformats.org/drawingml/2006/main" noGrp="1"/>
          </p:cNvSpPr>
          <p:nvPr/>
        </p:nvSpPr>
        <p:spPr>
          <a:xfrm xmlns:a="http://schemas.openxmlformats.org/drawingml/2006/main">
            <a:off x="4160520" y="1691640"/>
            <a:ext cx="50292" cy="1261872"/>
          </a:xfrm>
          <a:prstGeom xmlns:a="http://schemas.openxmlformats.org/drawingml/2006/main" prst="rect">
            <a:avLst/>
          </a:prstGeom>
          <a:solidFill xmlns:a="http://schemas.openxmlformats.org/drawingml/2006/main">
            <a:srgbClr val="006970"/>
          </a:solidFill>
          <a:ln xmlns:a="http://schemas.openxmlformats.org/drawingml/2006/main" w="12700">
            <a:solidFill>
              <a:srgbClr val="006970"/>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12" name="Text 10">
            <a:extLst xmlns:a="http://schemas.openxmlformats.org/drawingml/2006/main">
              <a:ext uri="{FF2B5EF4-FFF2-40B4-BE49-F238E27FC236}">
                <a16:creationId xmlns:a16="http://schemas.microsoft.com/office/drawing/2014/main" id="{41D059C8-E8BE-4909-980A-D4B1ADA1D608}"/>
              </a:ext>
            </a:extLst>
          </p:cNvPr>
          <p:cNvSpPr>
            <a:spLocks xmlns:a="http://schemas.openxmlformats.org/drawingml/2006/main" noGrp="1"/>
          </p:cNvSpPr>
          <p:nvPr/>
        </p:nvSpPr>
        <p:spPr>
          <a:xfrm xmlns:a="http://schemas.openxmlformats.org/drawingml/2006/main">
            <a:off x="4325112" y="1810512"/>
            <a:ext cx="28986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rPr>
              <a:t>Role and identity drift</a:t>
            </a:r>
            <a:endParaRPr sz="1400"/>
          </a:p>
        </p:txBody>
      </p:sp>
      <p:sp>
        <p:nvSpPr>
          <p:cNvPr id="13" name="Text 11">
            <a:extLst xmlns:a="http://schemas.openxmlformats.org/drawingml/2006/main">
              <a:ext uri="{FF2B5EF4-FFF2-40B4-BE49-F238E27FC236}">
                <a16:creationId xmlns:a16="http://schemas.microsoft.com/office/drawing/2014/main" id="{EA52FAFD-ECE6-444A-B2B2-3428BF8503ED}"/>
              </a:ext>
            </a:extLst>
          </p:cNvPr>
          <p:cNvSpPr>
            <a:spLocks xmlns:a="http://schemas.openxmlformats.org/drawingml/2006/main" noGrp="1"/>
          </p:cNvSpPr>
          <p:nvPr/>
        </p:nvSpPr>
        <p:spPr>
          <a:xfrm xmlns:a="http://schemas.openxmlformats.org/drawingml/2006/main">
            <a:off x="4325112" y="2121408"/>
            <a:ext cx="2880360" cy="7315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1020">
                <a:solidFill>
                  <a:srgbClr val="55595F"/>
                </a:solidFill>
                <a:latin typeface="Calibri"/>
                <a:ea typeface="Calibri"/>
                <a:cs typeface="Calibri"/>
              </a:rPr>
              <a:t>One participant can hold hybrid roles, change memberships or act under a different authority across interactions.</a:t>
            </a:r>
            <a:endParaRPr sz="1020"/>
          </a:p>
        </p:txBody>
      </p:sp>
      <p:sp>
        <p:nvSpPr>
          <p:cNvPr id="14" name="Shape 12">
            <a:extLst xmlns:a="http://schemas.openxmlformats.org/drawingml/2006/main">
              <a:ext uri="{FF2B5EF4-FFF2-40B4-BE49-F238E27FC236}">
                <a16:creationId xmlns:a16="http://schemas.microsoft.com/office/drawing/2014/main" id="{2665E16E-BA29-4283-A4E5-995CDE15D8A1}"/>
              </a:ext>
            </a:extLst>
          </p:cNvPr>
          <p:cNvSpPr>
            <a:spLocks xmlns:a="http://schemas.openxmlformats.org/drawingml/2006/main" noGrp="1"/>
          </p:cNvSpPr>
          <p:nvPr/>
        </p:nvSpPr>
        <p:spPr>
          <a:xfrm xmlns:a="http://schemas.openxmlformats.org/drawingml/2006/main">
            <a:off x="7680960" y="1691640"/>
            <a:ext cx="3154680" cy="1261872"/>
          </a:xfrm>
          <a:prstGeom xmlns:a="http://schemas.openxmlformats.org/drawingml/2006/main" prst="roundRect">
            <a:avLst>
              <a:gd name="adj" fmla="val 3623"/>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15" name="Shape 13">
            <a:extLst xmlns:a="http://schemas.openxmlformats.org/drawingml/2006/main">
              <a:ext uri="{FF2B5EF4-FFF2-40B4-BE49-F238E27FC236}">
                <a16:creationId xmlns:a16="http://schemas.microsoft.com/office/drawing/2014/main" id="{DE6BF31D-7B0F-4E19-9D1E-72F54936C56F}"/>
              </a:ext>
            </a:extLst>
          </p:cNvPr>
          <p:cNvSpPr>
            <a:spLocks xmlns:a="http://schemas.openxmlformats.org/drawingml/2006/main" noGrp="1"/>
          </p:cNvSpPr>
          <p:nvPr/>
        </p:nvSpPr>
        <p:spPr>
          <a:xfrm xmlns:a="http://schemas.openxmlformats.org/drawingml/2006/main">
            <a:off x="7680960" y="1691640"/>
            <a:ext cx="50292" cy="1261872"/>
          </a:xfrm>
          <a:prstGeom xmlns:a="http://schemas.openxmlformats.org/drawingml/2006/main" prst="rect">
            <a:avLst/>
          </a:prstGeom>
          <a:solidFill xmlns:a="http://schemas.openxmlformats.org/drawingml/2006/main">
            <a:srgbClr val="A8642A"/>
          </a:solidFill>
          <a:ln xmlns:a="http://schemas.openxmlformats.org/drawingml/2006/main" w="12700">
            <a:solidFill>
              <a:srgbClr val="A8642A"/>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1872E4E4-33DC-4EA0-8357-8D6C2F27690C}"/>
              </a:ext>
            </a:extLst>
          </p:cNvPr>
          <p:cNvSpPr>
            <a:spLocks xmlns:a="http://schemas.openxmlformats.org/drawingml/2006/main" noGrp="1"/>
          </p:cNvSpPr>
          <p:nvPr/>
        </p:nvSpPr>
        <p:spPr>
          <a:xfrm xmlns:a="http://schemas.openxmlformats.org/drawingml/2006/main">
            <a:off x="7845552" y="1810512"/>
            <a:ext cx="28986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rPr>
              <a:t>Ecosystem change</a:t>
            </a:r>
            <a:endParaRPr sz="1400"/>
          </a:p>
        </p:txBody>
      </p:sp>
      <p:sp>
        <p:nvSpPr>
          <p:cNvPr id="17" name="Text 15">
            <a:extLst xmlns:a="http://schemas.openxmlformats.org/drawingml/2006/main">
              <a:ext uri="{FF2B5EF4-FFF2-40B4-BE49-F238E27FC236}">
                <a16:creationId xmlns:a16="http://schemas.microsoft.com/office/drawing/2014/main" id="{8C579E83-7D39-4934-BA77-818C0404A5F5}"/>
              </a:ext>
            </a:extLst>
          </p:cNvPr>
          <p:cNvSpPr>
            <a:spLocks xmlns:a="http://schemas.openxmlformats.org/drawingml/2006/main" noGrp="1"/>
          </p:cNvSpPr>
          <p:nvPr/>
        </p:nvSpPr>
        <p:spPr>
          <a:xfrm xmlns:a="http://schemas.openxmlformats.org/drawingml/2006/main">
            <a:off x="7845552" y="2121408"/>
            <a:ext cx="2880360" cy="7315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1020">
                <a:solidFill>
                  <a:srgbClr val="55595F"/>
                </a:solidFill>
                <a:latin typeface="Calibri"/>
                <a:ea typeface="Calibri"/>
                <a:cs typeface="Calibri"/>
              </a:rPr>
              <a:t>Organizations, dependencies, service availability and external conditions evolve while the system is operating.</a:t>
            </a:r>
            <a:endParaRPr sz="1020"/>
          </a:p>
        </p:txBody>
      </p:sp>
      <p:sp>
        <p:nvSpPr>
          <p:cNvPr id="18" name="Shape 16">
            <a:extLst xmlns:a="http://schemas.openxmlformats.org/drawingml/2006/main">
              <a:ext uri="{FF2B5EF4-FFF2-40B4-BE49-F238E27FC236}">
                <a16:creationId xmlns:a16="http://schemas.microsoft.com/office/drawing/2014/main" id="{28850DE6-713C-4A9F-948E-53A8EB65A52C}"/>
              </a:ext>
            </a:extLst>
          </p:cNvPr>
          <p:cNvSpPr>
            <a:spLocks xmlns:a="http://schemas.openxmlformats.org/drawingml/2006/main" noGrp="1"/>
          </p:cNvSpPr>
          <p:nvPr/>
        </p:nvSpPr>
        <p:spPr>
          <a:xfrm xmlns:a="http://schemas.openxmlformats.org/drawingml/2006/main">
            <a:off x="640080" y="3246120"/>
            <a:ext cx="3154680" cy="1261872"/>
          </a:xfrm>
          <a:prstGeom xmlns:a="http://schemas.openxmlformats.org/drawingml/2006/main" prst="roundRect">
            <a:avLst>
              <a:gd name="adj" fmla="val 3623"/>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19" name="Shape 17">
            <a:extLst xmlns:a="http://schemas.openxmlformats.org/drawingml/2006/main">
              <a:ext uri="{FF2B5EF4-FFF2-40B4-BE49-F238E27FC236}">
                <a16:creationId xmlns:a16="http://schemas.microsoft.com/office/drawing/2014/main" id="{FD5D498D-A479-4851-9F45-D86D536B66E5}"/>
              </a:ext>
            </a:extLst>
          </p:cNvPr>
          <p:cNvSpPr>
            <a:spLocks xmlns:a="http://schemas.openxmlformats.org/drawingml/2006/main" noGrp="1"/>
          </p:cNvSpPr>
          <p:nvPr/>
        </p:nvSpPr>
        <p:spPr>
          <a:xfrm xmlns:a="http://schemas.openxmlformats.org/drawingml/2006/main">
            <a:off x="640080" y="3246120"/>
            <a:ext cx="50292" cy="1261872"/>
          </a:xfrm>
          <a:prstGeom xmlns:a="http://schemas.openxmlformats.org/drawingml/2006/main" prst="rect">
            <a:avLst/>
          </a:prstGeom>
          <a:solidFill xmlns:a="http://schemas.openxmlformats.org/drawingml/2006/main">
            <a:srgbClr val="9A4C48"/>
          </a:solidFill>
          <a:ln xmlns:a="http://schemas.openxmlformats.org/drawingml/2006/main" w="12700">
            <a:solidFill>
              <a:srgbClr val="9A4C48"/>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0" name="Text 18">
            <a:extLst xmlns:a="http://schemas.openxmlformats.org/drawingml/2006/main">
              <a:ext uri="{FF2B5EF4-FFF2-40B4-BE49-F238E27FC236}">
                <a16:creationId xmlns:a16="http://schemas.microsoft.com/office/drawing/2014/main" id="{C9FDE740-5A54-481E-9684-C9AECDB284AC}"/>
              </a:ext>
            </a:extLst>
          </p:cNvPr>
          <p:cNvSpPr>
            <a:spLocks xmlns:a="http://schemas.openxmlformats.org/drawingml/2006/main" noGrp="1"/>
          </p:cNvSpPr>
          <p:nvPr/>
        </p:nvSpPr>
        <p:spPr>
          <a:xfrm xmlns:a="http://schemas.openxmlformats.org/drawingml/2006/main">
            <a:off x="804672" y="3364992"/>
            <a:ext cx="28986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rPr>
              <a:t>Indeterminacy</a:t>
            </a:r>
            <a:endParaRPr sz="1400"/>
          </a:p>
        </p:txBody>
      </p:sp>
      <p:sp>
        <p:nvSpPr>
          <p:cNvPr id="21" name="Text 19">
            <a:extLst xmlns:a="http://schemas.openxmlformats.org/drawingml/2006/main">
              <a:ext uri="{FF2B5EF4-FFF2-40B4-BE49-F238E27FC236}">
                <a16:creationId xmlns:a16="http://schemas.microsoft.com/office/drawing/2014/main" id="{9FC4B1AB-9199-4371-9C83-F2797CDFFC7F}"/>
              </a:ext>
            </a:extLst>
          </p:cNvPr>
          <p:cNvSpPr>
            <a:spLocks xmlns:a="http://schemas.openxmlformats.org/drawingml/2006/main" noGrp="1"/>
          </p:cNvSpPr>
          <p:nvPr/>
        </p:nvSpPr>
        <p:spPr>
          <a:xfrm xmlns:a="http://schemas.openxmlformats.org/drawingml/2006/main">
            <a:off x="804672" y="3675888"/>
            <a:ext cx="2880360" cy="7315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1020">
                <a:solidFill>
                  <a:srgbClr val="55595F"/>
                </a:solidFill>
                <a:latin typeface="Calibri"/>
                <a:ea typeface="Calibri"/>
                <a:cs typeface="Calibri"/>
              </a:rPr>
              <a:t>A local result may be valid but insufficient for the wider decision. Missing scope, provenance or dependency state must remain explicit.</a:t>
            </a:r>
            <a:endParaRPr sz="1020"/>
          </a:p>
        </p:txBody>
      </p:sp>
      <p:sp>
        <p:nvSpPr>
          <p:cNvPr id="22" name="Shape 20">
            <a:extLst xmlns:a="http://schemas.openxmlformats.org/drawingml/2006/main">
              <a:ext uri="{FF2B5EF4-FFF2-40B4-BE49-F238E27FC236}">
                <a16:creationId xmlns:a16="http://schemas.microsoft.com/office/drawing/2014/main" id="{86D64945-EA12-4BD5-BCB2-E5F8E71F19AE}"/>
              </a:ext>
            </a:extLst>
          </p:cNvPr>
          <p:cNvSpPr>
            <a:spLocks xmlns:a="http://schemas.openxmlformats.org/drawingml/2006/main" noGrp="1"/>
          </p:cNvSpPr>
          <p:nvPr/>
        </p:nvSpPr>
        <p:spPr>
          <a:xfrm xmlns:a="http://schemas.openxmlformats.org/drawingml/2006/main">
            <a:off x="4160520" y="3246120"/>
            <a:ext cx="3154680" cy="1261872"/>
          </a:xfrm>
          <a:prstGeom xmlns:a="http://schemas.openxmlformats.org/drawingml/2006/main" prst="roundRect">
            <a:avLst>
              <a:gd name="adj" fmla="val 3623"/>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3" name="Shape 21">
            <a:extLst xmlns:a="http://schemas.openxmlformats.org/drawingml/2006/main">
              <a:ext uri="{FF2B5EF4-FFF2-40B4-BE49-F238E27FC236}">
                <a16:creationId xmlns:a16="http://schemas.microsoft.com/office/drawing/2014/main" id="{DB77CAE3-0E4D-40AA-B394-FE1EBEE9C787}"/>
              </a:ext>
            </a:extLst>
          </p:cNvPr>
          <p:cNvSpPr>
            <a:spLocks xmlns:a="http://schemas.openxmlformats.org/drawingml/2006/main" noGrp="1"/>
          </p:cNvSpPr>
          <p:nvPr/>
        </p:nvSpPr>
        <p:spPr>
          <a:xfrm xmlns:a="http://schemas.openxmlformats.org/drawingml/2006/main">
            <a:off x="4160520" y="3246120"/>
            <a:ext cx="50292" cy="1261872"/>
          </a:xfrm>
          <a:prstGeom xmlns:a="http://schemas.openxmlformats.org/drawingml/2006/main" prst="rect">
            <a:avLst/>
          </a:prstGeom>
          <a:solidFill xmlns:a="http://schemas.openxmlformats.org/drawingml/2006/main">
            <a:srgbClr val="3D6D65"/>
          </a:solidFill>
          <a:ln xmlns:a="http://schemas.openxmlformats.org/drawingml/2006/main" w="12700">
            <a:solidFill>
              <a:srgbClr val="3D6D65"/>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4" name="Text 22">
            <a:extLst xmlns:a="http://schemas.openxmlformats.org/drawingml/2006/main">
              <a:ext uri="{FF2B5EF4-FFF2-40B4-BE49-F238E27FC236}">
                <a16:creationId xmlns:a16="http://schemas.microsoft.com/office/drawing/2014/main" id="{3CDB4833-2605-4AE6-AC61-AD3643445699}"/>
              </a:ext>
            </a:extLst>
          </p:cNvPr>
          <p:cNvSpPr>
            <a:spLocks xmlns:a="http://schemas.openxmlformats.org/drawingml/2006/main" noGrp="1"/>
          </p:cNvSpPr>
          <p:nvPr/>
        </p:nvSpPr>
        <p:spPr>
          <a:xfrm xmlns:a="http://schemas.openxmlformats.org/drawingml/2006/main">
            <a:off x="4325112" y="3364992"/>
            <a:ext cx="28986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rPr>
              <a:t>Interpretation gap</a:t>
            </a:r>
            <a:endParaRPr sz="1400"/>
          </a:p>
        </p:txBody>
      </p:sp>
      <p:sp>
        <p:nvSpPr>
          <p:cNvPr id="25" name="Text 23">
            <a:extLst xmlns:a="http://schemas.openxmlformats.org/drawingml/2006/main">
              <a:ext uri="{FF2B5EF4-FFF2-40B4-BE49-F238E27FC236}">
                <a16:creationId xmlns:a16="http://schemas.microsoft.com/office/drawing/2014/main" id="{7594C41D-6A6E-478E-AE1E-44561BAE94D3}"/>
              </a:ext>
            </a:extLst>
          </p:cNvPr>
          <p:cNvSpPr>
            <a:spLocks xmlns:a="http://schemas.openxmlformats.org/drawingml/2006/main" noGrp="1"/>
          </p:cNvSpPr>
          <p:nvPr/>
        </p:nvSpPr>
        <p:spPr>
          <a:xfrm xmlns:a="http://schemas.openxmlformats.org/drawingml/2006/main">
            <a:off x="4325112" y="3675888"/>
            <a:ext cx="2880360" cy="7315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1020">
                <a:solidFill>
                  <a:srgbClr val="55595F"/>
                </a:solidFill>
                <a:latin typeface="Calibri"/>
                <a:ea typeface="Calibri"/>
                <a:cs typeface="Calibri"/>
              </a:rPr>
              <a:t>Identity, policy and attestation can remain technically valid while their practical meaning changes in the active ecosystem.</a:t>
            </a:r>
            <a:endParaRPr sz="1020"/>
          </a:p>
        </p:txBody>
      </p:sp>
      <p:sp>
        <p:nvSpPr>
          <p:cNvPr id="26" name="Shape 24">
            <a:extLst xmlns:a="http://schemas.openxmlformats.org/drawingml/2006/main">
              <a:ext uri="{FF2B5EF4-FFF2-40B4-BE49-F238E27FC236}">
                <a16:creationId xmlns:a16="http://schemas.microsoft.com/office/drawing/2014/main" id="{BCC735E0-3248-4E81-919C-7F57334155AC}"/>
              </a:ext>
            </a:extLst>
          </p:cNvPr>
          <p:cNvSpPr>
            <a:spLocks xmlns:a="http://schemas.openxmlformats.org/drawingml/2006/main" noGrp="1"/>
          </p:cNvSpPr>
          <p:nvPr/>
        </p:nvSpPr>
        <p:spPr>
          <a:xfrm xmlns:a="http://schemas.openxmlformats.org/drawingml/2006/main">
            <a:off x="7680960" y="3246120"/>
            <a:ext cx="3154680" cy="1261872"/>
          </a:xfrm>
          <a:prstGeom xmlns:a="http://schemas.openxmlformats.org/drawingml/2006/main" prst="roundRect">
            <a:avLst>
              <a:gd name="adj" fmla="val 3623"/>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7" name="Shape 25">
            <a:extLst xmlns:a="http://schemas.openxmlformats.org/drawingml/2006/main">
              <a:ext uri="{FF2B5EF4-FFF2-40B4-BE49-F238E27FC236}">
                <a16:creationId xmlns:a16="http://schemas.microsoft.com/office/drawing/2014/main" id="{1B7610B9-981A-4108-B60E-FDA6BA09050A}"/>
              </a:ext>
            </a:extLst>
          </p:cNvPr>
          <p:cNvSpPr>
            <a:spLocks xmlns:a="http://schemas.openxmlformats.org/drawingml/2006/main" noGrp="1"/>
          </p:cNvSpPr>
          <p:nvPr/>
        </p:nvSpPr>
        <p:spPr>
          <a:xfrm xmlns:a="http://schemas.openxmlformats.org/drawingml/2006/main">
            <a:off x="7680960" y="3246120"/>
            <a:ext cx="50292" cy="1261872"/>
          </a:xfrm>
          <a:prstGeom xmlns:a="http://schemas.openxmlformats.org/drawingml/2006/main" prst="rect">
            <a:avLst/>
          </a:prstGeom>
          <a:solidFill xmlns:a="http://schemas.openxmlformats.org/drawingml/2006/main">
            <a:srgbClr val="1B4D8E"/>
          </a:solidFill>
          <a:ln xmlns:a="http://schemas.openxmlformats.org/drawingml/2006/main" w="12700">
            <a:solidFill>
              <a:srgbClr val="1B4D8E"/>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8" name="Text 26">
            <a:extLst xmlns:a="http://schemas.openxmlformats.org/drawingml/2006/main">
              <a:ext uri="{FF2B5EF4-FFF2-40B4-BE49-F238E27FC236}">
                <a16:creationId xmlns:a16="http://schemas.microsoft.com/office/drawing/2014/main" id="{8C3DD785-2449-4324-8177-5993EA96D29B}"/>
              </a:ext>
            </a:extLst>
          </p:cNvPr>
          <p:cNvSpPr>
            <a:spLocks xmlns:a="http://schemas.openxmlformats.org/drawingml/2006/main" noGrp="1"/>
          </p:cNvSpPr>
          <p:nvPr/>
        </p:nvSpPr>
        <p:spPr>
          <a:xfrm xmlns:a="http://schemas.openxmlformats.org/drawingml/2006/main">
            <a:off x="7845552" y="3364992"/>
            <a:ext cx="28986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rPr>
              <a:t>Limits of AI oversight</a:t>
            </a:r>
            <a:endParaRPr sz="1400"/>
          </a:p>
        </p:txBody>
      </p:sp>
      <p:sp>
        <p:nvSpPr>
          <p:cNvPr id="29" name="Text 27">
            <a:extLst xmlns:a="http://schemas.openxmlformats.org/drawingml/2006/main">
              <a:ext uri="{FF2B5EF4-FFF2-40B4-BE49-F238E27FC236}">
                <a16:creationId xmlns:a16="http://schemas.microsoft.com/office/drawing/2014/main" id="{FCEDFAE5-69EE-4A87-B4D6-222393396CF6}"/>
              </a:ext>
            </a:extLst>
          </p:cNvPr>
          <p:cNvSpPr>
            <a:spLocks xmlns:a="http://schemas.openxmlformats.org/drawingml/2006/main" noGrp="1"/>
          </p:cNvSpPr>
          <p:nvPr/>
        </p:nvSpPr>
        <p:spPr>
          <a:xfrm xmlns:a="http://schemas.openxmlformats.org/drawingml/2006/main">
            <a:off x="7845552" y="3675888"/>
            <a:ext cx="2880360" cy="7315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1020">
                <a:solidFill>
                  <a:srgbClr val="55595F"/>
                </a:solidFill>
                <a:latin typeface="Calibri"/>
                <a:ea typeface="Calibri"/>
                <a:cs typeface="Calibri"/>
              </a:rPr>
              <a:t>Automated review often inherits the same observation window. Human review adds authority and judgment, but attention, time and context remain finite.</a:t>
            </a:r>
            <a:endParaRPr sz="1020"/>
          </a:p>
        </p:txBody>
      </p:sp>
      <p:sp>
        <p:nvSpPr>
          <p:cNvPr id="30" name="Shape 28">
            <a:extLst xmlns:a="http://schemas.openxmlformats.org/drawingml/2006/main">
              <a:ext uri="{FF2B5EF4-FFF2-40B4-BE49-F238E27FC236}">
                <a16:creationId xmlns:a16="http://schemas.microsoft.com/office/drawing/2014/main" id="{2318078F-683F-47F5-9A02-B197829A5B66}"/>
              </a:ext>
            </a:extLst>
          </p:cNvPr>
          <p:cNvSpPr>
            <a:spLocks xmlns:a="http://schemas.openxmlformats.org/drawingml/2006/main" noGrp="1"/>
          </p:cNvSpPr>
          <p:nvPr/>
        </p:nvSpPr>
        <p:spPr>
          <a:xfrm xmlns:a="http://schemas.openxmlformats.org/drawingml/2006/main">
            <a:off x="658368" y="5074920"/>
            <a:ext cx="10652760" cy="804672"/>
          </a:xfrm>
          <a:prstGeom xmlns:a="http://schemas.openxmlformats.org/drawingml/2006/main" prst="roundRect">
            <a:avLst/>
          </a:prstGeom>
          <a:solidFill xmlns:a="http://schemas.openxmlformats.org/drawingml/2006/main">
            <a:srgbClr val="F2F5F8"/>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31" name="Text 29">
            <a:extLst xmlns:a="http://schemas.openxmlformats.org/drawingml/2006/main">
              <a:ext uri="{FF2B5EF4-FFF2-40B4-BE49-F238E27FC236}">
                <a16:creationId xmlns:a16="http://schemas.microsoft.com/office/drawing/2014/main" id="{B5C0DA6F-2F38-42E9-A07D-93D873F5E585}"/>
              </a:ext>
            </a:extLst>
          </p:cNvPr>
          <p:cNvSpPr>
            <a:spLocks xmlns:a="http://schemas.openxmlformats.org/drawingml/2006/main" noGrp="1"/>
          </p:cNvSpPr>
          <p:nvPr/>
        </p:nvSpPr>
        <p:spPr>
          <a:xfrm xmlns:a="http://schemas.openxmlformats.org/drawingml/2006/main">
            <a:off x="896112" y="5266944"/>
            <a:ext cx="19202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A8642A"/>
                </a:solidFill>
                <a:latin typeface="Consolas"/>
                <a:ea typeface="Consolas"/>
                <a:cs typeface="Consolas"/>
              </a:rPr>
              <a:t>STRUCTURAL CONSEQUENCE</a:t>
            </a:r>
            <a:endParaRPr sz="900"/>
          </a:p>
        </p:txBody>
      </p:sp>
      <p:sp>
        <p:nvSpPr>
          <p:cNvPr id="32" name="Text 30">
            <a:extLst xmlns:a="http://schemas.openxmlformats.org/drawingml/2006/main">
              <a:ext uri="{FF2B5EF4-FFF2-40B4-BE49-F238E27FC236}">
                <a16:creationId xmlns:a16="http://schemas.microsoft.com/office/drawing/2014/main" id="{4C479A7C-3A25-4A82-BAF7-FBB108DA3294}"/>
              </a:ext>
            </a:extLst>
          </p:cNvPr>
          <p:cNvSpPr>
            <a:spLocks xmlns:a="http://schemas.openxmlformats.org/drawingml/2006/main" noGrp="1"/>
          </p:cNvSpPr>
          <p:nvPr/>
        </p:nvSpPr>
        <p:spPr>
          <a:xfrm xmlns:a="http://schemas.openxmlformats.org/drawingml/2006/main">
            <a:off x="2743200" y="5193792"/>
            <a:ext cx="822960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a:solidFill>
                  <a:srgbClr val="1B273F"/>
                </a:solidFill>
                <a:latin typeface="Calibri"/>
                <a:ea typeface="Calibri"/>
                <a:cs typeface="Calibri"/>
              </a:rPr>
              <a:t>Local correctness and local compliance do not by themselves establish that the composed system is situated correctly for the current decision.</a:t>
            </a:r>
            <a:endParaRPr sz="1240"/>
          </a:p>
        </p:txBody>
      </p:sp>
      <p:sp>
        <p:nvSpPr>
          <p:cNvPr id="33" name="Slide Number Placeholder 0">
            <a:extLst xmlns:a="http://schemas.openxmlformats.org/drawingml/2006/main">
              <a:ext uri="{FF2B5EF4-FFF2-40B4-BE49-F238E27FC236}">
                <a16:creationId xmlns:a16="http://schemas.microsoft.com/office/drawing/2014/main" id="{68D2D729-1DF8-47C3-BAB8-714B37375022}"/>
              </a:ext>
            </a:extLst>
          </p:cNvPr>
          <p:cNvSpPr>
            <a:spLocks xmlns:a="http://schemas.openxmlformats.org/drawingml/2006/main" noGrp="1"/>
          </p:cNvSpPr>
          <p:nvPr>
            <p:ph type="sldNum" idx="4294967295"/>
          </p:nvPr>
        </p:nvSpPr>
        <p:spPr>
          <a:xfrm xmlns:a="http://schemas.openxmlformats.org/drawingml/2006/main">
            <a:off x="11064240" y="6537960"/>
            <a:ext cx="502920" cy="164592"/>
          </a:xfrm>
          <a:prstGeom xmlns:a="http://schemas.openxmlformats.org/drawingml/2006/main" prst="rect">
            <a:avLst/>
          </a:prstGeom>
        </p:spPr>
        <p:txBody>
          <a:bodyPr xmlns:a="http://schemas.openxmlformats.org/drawingml/2006/main" wrap="square"/>
          <a:lstStyle xmlns:a="http://schemas.openxmlformats.org/drawingml/2006/main">
            <a:lvl1pPr>
              <a:buNone/>
              <a:defRPr sz="750">
                <a:solidFill>
                  <a:srgbClr val="1B273F"/>
                </a:solidFill>
                <a:latin typeface="Consolas"/>
                <a:ea typeface="Consolas"/>
                <a:cs typeface="Consolas"/>
              </a:defRPr>
            </a:lvl1pPr>
          </a:lstStyle>
          <a:p xmlns:a="http://schemas.openxmlformats.org/drawingml/2006/main">
            <a:pPr algn="r">
              <a:buNone/>
            </a:pPr>
            <a:r>
              <a:rPr sz="850">
                <a:solidFill>
                  <a:srgbClr val="5D6775"/>
                </a:solidFill>
                <a:latin typeface="Aptos"/>
                <a:ea typeface="Aptos"/>
                <a:cs typeface="Aptos"/>
              </a:rPr>
              <a:t>3</a:t>
            </a:r>
          </a:p>
        </p:txBody>
      </p:sp>
      <p:sp>
        <p:nvSpPr>
          <p:cNvPr id="34" name="Standards boundary — adjacent primitives">
            <a:extLst xmlns:a="http://schemas.openxmlformats.org/drawingml/2006/main">
              <a:ext uri="{FF2B5EF4-FFF2-40B4-BE49-F238E27FC236}">
                <a16:creationId xmlns:a16="http://schemas.microsoft.com/office/drawing/2014/main" id="{90EC8DAF-D599-4594-967D-F85E7351F369}"/>
              </a:ext>
            </a:extLst>
          </p:cNvPr>
          <p:cNvSpPr>
            <a:spLocks xmlns:a="http://schemas.openxmlformats.org/drawingml/2006/main" noGrp="1"/>
          </p:cNvSpPr>
          <p:nvPr/>
        </p:nvSpPr>
        <p:spPr>
          <a:xfrm xmlns:a="http://schemas.openxmlformats.org/drawingml/2006/main">
            <a:off x="658368" y="4553712"/>
            <a:ext cx="10652760" cy="429768"/>
          </a:xfrm>
          <a:prstGeom xmlns:a="http://schemas.openxmlformats.org/drawingml/2006/main" prst="roundRect">
            <a:avLst/>
          </a:prstGeom>
          <a:solidFill xmlns:a="http://schemas.openxmlformats.org/drawingml/2006/main">
            <a:srgbClr val="F7F9FB"/>
          </a:solidFill>
          <a:ln xmlns:a="http://schemas.openxmlformats.org/drawingml/2006/main" w="1016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lIns="118872" tIns="41148" rIns="118872" bIns="32004" anchor="ctr"/>
          <a:lstStyle xmlns:a="http://schemas.openxmlformats.org/drawingml/2006/main"/>
          <a:p xmlns:a="http://schemas.openxmlformats.org/drawingml/2006/main">
            <a:pPr algn="l">
              <a:spcBef>
                <a:spcPts val="0"/>
              </a:spcBef>
              <a:spcAft>
                <a:spcPts val="0"/>
              </a:spcAft>
              <a:buNone/>
            </a:pPr>
            <a:r>
              <a:rPr sz="780" b="1">
                <a:solidFill>
                  <a:srgbClr val="A8642A"/>
                </a:solidFill>
                <a:latin typeface="Consolas"/>
                <a:ea typeface="Consolas"/>
                <a:cs typeface="Consolas"/>
              </a:rPr>
              <a:t>EXISTING PRIMITIVES  </a:t>
            </a:r>
            <a:r>
              <a:rPr sz="819">
                <a:solidFill>
                  <a:srgbClr val="55595F"/>
                </a:solidFill>
                <a:latin typeface="Calibri"/>
                <a:ea typeface="Calibri"/>
                <a:cs typeface="Calibri"/>
              </a:rPr>
              <a:t>SPIFFE · identity/authentication   |   RFC 8693 · subject/actor token exchange   |   RATS · attestation/appraisal   |   NIST 2026 · active agent-IAM work</a:t>
            </a:r>
          </a:p>
          <a:p xmlns:a="http://schemas.openxmlformats.org/drawingml/2006/main">
            <a:pPr algn="l">
              <a:spcBef>
                <a:spcPts val="0"/>
              </a:spcBef>
              <a:spcAft>
                <a:spcPts val="0"/>
              </a:spcAft>
              <a:buNone/>
            </a:pPr>
            <a:r>
              <a:rPr sz="800" b="1">
                <a:solidFill>
                  <a:srgbClr val="007B82"/>
                </a:solidFill>
                <a:latin typeface="Consolas"/>
                <a:ea typeface="Consolas"/>
                <a:cs typeface="Consolas"/>
              </a:rPr>
              <a:t>REMAINING GAP  </a:t>
            </a:r>
            <a:r>
              <a:rPr sz="860" b="1">
                <a:solidFill>
                  <a:srgbClr val="1B273F"/>
                </a:solidFill>
                <a:latin typeface="Calibri"/>
                <a:ea typeface="Calibri"/>
                <a:cs typeface="Calibri"/>
              </a:rPr>
              <a:t>Preserve what remains valid, knowable and actionable as authority, evidence and context change across handoffs.</a:t>
            </a:r>
          </a:p>
        </p:txBody>
      </p:sp>
      <p:sp>
        <p:nvSpPr>
          <p:cNvPr id="35" name="TextBox 34">
            <a:extLst xmlns:a="http://schemas.openxmlformats.org/drawingml/2006/main">
              <a:ext uri="{FF2B5EF4-FFF2-40B4-BE49-F238E27FC236}">
                <a16:creationId xmlns:a16="http://schemas.microsoft.com/office/drawing/2014/main" id="{5BA9F5EE-78CC-4745-9E86-86041999666A}"/>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7d7664336c214f7d"/>
              </a:rPr>
              <a:t>Foundation 01</a:t>
            </a:r>
            <a:r>
              <a:rPr sz="680">
                <a:solidFill>
                  <a:srgbClr val="727A86"/>
                </a:solidFill>
                <a:latin typeface="Calibri"/>
                <a:ea typeface="Calibri"/>
                <a:cs typeface="Calibri"/>
              </a:rPr>
              <a:t>  ·  </a:t>
            </a:r>
            <a:r>
              <a:rPr sz="680" b="0" u="sng">
                <a:solidFill>
                  <a:srgbClr val="2F6FB2"/>
                </a:solidFill>
                <a:latin typeface="Calibri"/>
                <a:ea typeface="Calibri"/>
                <a:cs typeface="Calibri"/>
                <a:hlinkClick xmlns:r="http://schemas.openxmlformats.org/officeDocument/2006/relationships" r:id="R72f7aec34fef4bfe"/>
              </a:rPr>
              <a:t>Principles 02</a:t>
            </a:r>
          </a:p>
        </p:txBody>
      </p:sp>
    </p:spTree>
    <p:extLst>
      <p:ext uri="{BB962C8B-B14F-4D97-AF65-F5344CB8AC3E}">
        <p14:creationId xmlns:p14="http://schemas.microsoft.com/office/powerpoint/2010/main" val="1586343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C6D57B9-E91C-4CC8-8364-E58B6E9D6275}"/>
              </a:ext>
            </a:extLst>
          </p:cNvPr>
          <p:cNvSpPr>
            <a:spLocks xmlns:a="http://schemas.openxmlformats.org/drawingml/2006/main" noGrp="1"/>
          </p:cNvSpPr>
          <p:nvPr/>
        </p:nvSpPr>
        <p:spPr>
          <a:xfrm xmlns:a="http://schemas.openxmlformats.org/drawingml/2006/main">
            <a:off x="566928" y="164592"/>
            <a:ext cx="2834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19" b="0">
                <a:solidFill>
                  <a:srgbClr val="1F2D3D"/>
                </a:solidFill>
                <a:latin typeface="Consolas"/>
                <a:ea typeface="Consolas"/>
                <a:cs typeface="Consolas"/>
              </a:rPr>
              <a:t>ILLUSTRATIVE FAILURE SCENARIOS</a:t>
            </a:r>
          </a:p>
        </p:txBody>
      </p:sp>
      <p:sp>
        <p:nvSpPr>
          <p:cNvPr id="3" name="TextBox 2">
            <a:extLst xmlns:a="http://schemas.openxmlformats.org/drawingml/2006/main">
              <a:ext uri="{FF2B5EF4-FFF2-40B4-BE49-F238E27FC236}">
                <a16:creationId xmlns:a16="http://schemas.microsoft.com/office/drawing/2014/main" id="{353A709A-7415-42FE-85E9-95E63AF39838}"/>
              </a:ext>
            </a:extLst>
          </p:cNvPr>
          <p:cNvSpPr>
            <a:spLocks xmlns:a="http://schemas.openxmlformats.org/drawingml/2006/main" noGrp="1"/>
          </p:cNvSpPr>
          <p:nvPr/>
        </p:nvSpPr>
        <p:spPr>
          <a:xfrm xmlns:a="http://schemas.openxmlformats.org/drawingml/2006/main">
            <a:off x="10881360" y="164592"/>
            <a:ext cx="6583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19" b="0">
                <a:solidFill>
                  <a:srgbClr val="1F2D3D"/>
                </a:solidFill>
                <a:latin typeface="Consolas"/>
                <a:ea typeface="Consolas"/>
                <a:cs typeface="Consolas"/>
              </a:rPr>
              <a:t>§ 02A</a:t>
            </a:r>
          </a:p>
        </p:txBody>
      </p:sp>
      <p:sp>
        <p:nvSpPr>
          <p:cNvPr id="4" name="TextBox 3">
            <a:extLst xmlns:a="http://schemas.openxmlformats.org/drawingml/2006/main">
              <a:ext uri="{FF2B5EF4-FFF2-40B4-BE49-F238E27FC236}">
                <a16:creationId xmlns:a16="http://schemas.microsoft.com/office/drawing/2014/main" id="{D33E5997-2C6A-4400-ABB9-F56FDDE59655}"/>
              </a:ext>
            </a:extLst>
          </p:cNvPr>
          <p:cNvSpPr>
            <a:spLocks xmlns:a="http://schemas.openxmlformats.org/drawingml/2006/main" noGrp="1"/>
          </p:cNvSpPr>
          <p:nvPr/>
        </p:nvSpPr>
        <p:spPr>
          <a:xfrm xmlns:a="http://schemas.openxmlformats.org/drawingml/2006/main">
            <a:off x="566928" y="649224"/>
            <a:ext cx="106070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2400" b="1">
                <a:solidFill>
                  <a:srgbClr val="1F2D3D"/>
                </a:solidFill>
                <a:latin typeface="Cambria"/>
                <a:ea typeface="Cambria"/>
                <a:cs typeface="Cambria"/>
              </a:rPr>
              <a:t>Six reference scenarios used to stress the corpus</a:t>
            </a:r>
          </a:p>
        </p:txBody>
      </p:sp>
      <p:sp>
        <p:nvSpPr>
          <p:cNvPr id="5" name="TextBox 4">
            <a:extLst xmlns:a="http://schemas.openxmlformats.org/drawingml/2006/main">
              <a:ext uri="{FF2B5EF4-FFF2-40B4-BE49-F238E27FC236}">
                <a16:creationId xmlns:a16="http://schemas.microsoft.com/office/drawing/2014/main" id="{483E631D-A006-40C7-8B3A-3FE4C885C3F4}"/>
              </a:ext>
            </a:extLst>
          </p:cNvPr>
          <p:cNvSpPr>
            <a:spLocks xmlns:a="http://schemas.openxmlformats.org/drawingml/2006/main" noGrp="1"/>
          </p:cNvSpPr>
          <p:nvPr/>
        </p:nvSpPr>
        <p:spPr>
          <a:xfrm xmlns:a="http://schemas.openxmlformats.org/drawingml/2006/main">
            <a:off x="566928" y="1078992"/>
            <a:ext cx="106070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50" b="0">
                <a:solidFill>
                  <a:srgbClr val="556677"/>
                </a:solidFill>
                <a:latin typeface="Calibri"/>
                <a:ea typeface="Calibri"/>
                <a:cs typeface="Calibri"/>
              </a:rPr>
              <a:t>Controlled scenarios that make systemic failure visible even when local components still appear technically correct.</a:t>
            </a:r>
          </a:p>
        </p:txBody>
      </p:sp>
      <p:sp>
        <p:nvSpPr>
          <p:cNvPr id="6" name="TextBox 5">
            <a:extLst xmlns:a="http://schemas.openxmlformats.org/drawingml/2006/main">
              <a:ext uri="{FF2B5EF4-FFF2-40B4-BE49-F238E27FC236}">
                <a16:creationId xmlns:a16="http://schemas.microsoft.com/office/drawing/2014/main" id="{157A4949-3D4C-45C4-8E95-5114F0A5D7D8}"/>
              </a:ext>
            </a:extLst>
          </p:cNvPr>
          <p:cNvSpPr>
            <a:spLocks xmlns:a="http://schemas.openxmlformats.org/drawingml/2006/main" noGrp="1"/>
          </p:cNvSpPr>
          <p:nvPr/>
        </p:nvSpPr>
        <p:spPr>
          <a:xfrm xmlns:a="http://schemas.openxmlformats.org/drawingml/2006/main">
            <a:off x="11064240" y="6409944"/>
            <a:ext cx="320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50">
                <a:solidFill>
                  <a:srgbClr val="5D6775"/>
                </a:solidFill>
                <a:latin typeface="Aptos"/>
                <a:ea typeface="Aptos"/>
                <a:cs typeface="Aptos"/>
              </a:rPr>
              <a:t>4</a:t>
            </a:r>
          </a:p>
        </p:txBody>
      </p:sp>
      <p:sp>
        <p:nvSpPr>
          <p:cNvPr id="7" name="Rounded Rectangle 6">
            <a:extLst xmlns:a="http://schemas.openxmlformats.org/drawingml/2006/main">
              <a:ext uri="{FF2B5EF4-FFF2-40B4-BE49-F238E27FC236}">
                <a16:creationId xmlns:a16="http://schemas.microsoft.com/office/drawing/2014/main" id="{85BE2B2F-D488-4A20-BFDC-9EC8C91F941F}"/>
              </a:ext>
            </a:extLst>
          </p:cNvPr>
          <p:cNvSpPr>
            <a:spLocks xmlns:a="http://schemas.openxmlformats.org/drawingml/2006/main" noGrp="1"/>
          </p:cNvSpPr>
          <p:nvPr/>
        </p:nvSpPr>
        <p:spPr>
          <a:xfrm xmlns:a="http://schemas.openxmlformats.org/drawingml/2006/main">
            <a:off x="658368" y="1627632"/>
            <a:ext cx="2926080" cy="16642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Rectangle 7">
            <a:extLst xmlns:a="http://schemas.openxmlformats.org/drawingml/2006/main">
              <a:ext uri="{FF2B5EF4-FFF2-40B4-BE49-F238E27FC236}">
                <a16:creationId xmlns:a16="http://schemas.microsoft.com/office/drawing/2014/main" id="{66311AF1-7596-44AE-A1FB-48B162C9F7D0}"/>
              </a:ext>
            </a:extLst>
          </p:cNvPr>
          <p:cNvSpPr>
            <a:spLocks xmlns:a="http://schemas.openxmlformats.org/drawingml/2006/main" noGrp="1"/>
          </p:cNvSpPr>
          <p:nvPr/>
        </p:nvSpPr>
        <p:spPr>
          <a:xfrm xmlns:a="http://schemas.openxmlformats.org/drawingml/2006/main">
            <a:off x="658368" y="1627632"/>
            <a:ext cx="64008" cy="1664208"/>
          </a:xfrm>
          <a:prstGeom xmlns:a="http://schemas.openxmlformats.org/drawingml/2006/main" prst="rect">
            <a:avLst/>
          </a:prstGeom>
          <a:solidFill xmlns:a="http://schemas.openxmlformats.org/drawingml/2006/main">
            <a:srgbClr val="1B4D8E"/>
          </a:solidFill>
          <a:ln xmlns:a="http://schemas.openxmlformats.org/drawingml/2006/main">
            <a:solidFill>
              <a:srgbClr val="1B4D8E"/>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28B18B3-641B-438E-BFFE-47A0659A42D7}"/>
              </a:ext>
            </a:extLst>
          </p:cNvPr>
          <p:cNvSpPr>
            <a:spLocks xmlns:a="http://schemas.openxmlformats.org/drawingml/2006/main" noGrp="1"/>
          </p:cNvSpPr>
          <p:nvPr/>
        </p:nvSpPr>
        <p:spPr>
          <a:xfrm xmlns:a="http://schemas.openxmlformats.org/drawingml/2006/main">
            <a:off x="786384" y="1682496"/>
            <a:ext cx="512064"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1">
                <a:solidFill>
                  <a:srgbClr val="1B4D8E"/>
                </a:solidFill>
                <a:latin typeface="Consolas"/>
                <a:ea typeface="Consolas"/>
                <a:cs typeface="Consolas"/>
              </a:rPr>
              <a:t>00E</a:t>
            </a:r>
          </a:p>
        </p:txBody>
      </p:sp>
      <p:sp>
        <p:nvSpPr>
          <p:cNvPr id="10" name="TextBox 9">
            <a:extLst xmlns:a="http://schemas.openxmlformats.org/drawingml/2006/main">
              <a:ext uri="{FF2B5EF4-FFF2-40B4-BE49-F238E27FC236}">
                <a16:creationId xmlns:a16="http://schemas.microsoft.com/office/drawing/2014/main" id="{0264D8A2-7137-4967-BE61-DE7616CB975A}"/>
              </a:ext>
            </a:extLst>
          </p:cNvPr>
          <p:cNvSpPr>
            <a:spLocks xmlns:a="http://schemas.openxmlformats.org/drawingml/2006/main" noGrp="1"/>
          </p:cNvSpPr>
          <p:nvPr/>
        </p:nvSpPr>
        <p:spPr>
          <a:xfrm xmlns:a="http://schemas.openxmlformats.org/drawingml/2006/main">
            <a:off x="822960" y="1828800"/>
            <a:ext cx="267004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320" b="1">
                <a:solidFill>
                  <a:srgbClr val="1F2D3D"/>
                </a:solidFill>
                <a:latin typeface="Cambria"/>
                <a:ea typeface="Cambria"/>
                <a:cs typeface="Cambria"/>
                <a:hlinkClick xmlns:r="http://schemas.openxmlformats.org/officeDocument/2006/relationships" r:id="R87bf997f94764328"/>
              </a:rPr>
              <a:t>The 100 Million Token Enterprise</a:t>
            </a:r>
          </a:p>
        </p:txBody>
      </p:sp>
      <p:sp>
        <p:nvSpPr>
          <p:cNvPr id="11" name="TextBox 10">
            <a:extLst xmlns:a="http://schemas.openxmlformats.org/drawingml/2006/main">
              <a:ext uri="{FF2B5EF4-FFF2-40B4-BE49-F238E27FC236}">
                <a16:creationId xmlns:a16="http://schemas.microsoft.com/office/drawing/2014/main" id="{4FB97507-A0B3-4C94-BE82-ED0F46BB2433}"/>
              </a:ext>
            </a:extLst>
          </p:cNvPr>
          <p:cNvSpPr>
            <a:spLocks xmlns:a="http://schemas.openxmlformats.org/drawingml/2006/main" noGrp="1"/>
          </p:cNvSpPr>
          <p:nvPr/>
        </p:nvSpPr>
        <p:spPr>
          <a:xfrm xmlns:a="http://schemas.openxmlformats.org/drawingml/2006/main">
            <a:off x="822960" y="2139696"/>
            <a:ext cx="2670048" cy="10698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19" b="0">
                <a:solidFill>
                  <a:srgbClr val="1F2D3D"/>
                </a:solidFill>
                <a:latin typeface="Calibri"/>
                <a:ea typeface="Calibri"/>
                <a:cs typeface="Calibri"/>
              </a:rPr>
              <a:t>A large enterprise spends 100 million tokens and adds a heavy human-supervision burden, yet produces little useful work, insight or differential advantage.</a:t>
            </a:r>
          </a:p>
        </p:txBody>
      </p:sp>
      <p:sp>
        <p:nvSpPr>
          <p:cNvPr id="12" name="Rounded Rectangle 11">
            <a:extLst xmlns:a="http://schemas.openxmlformats.org/drawingml/2006/main">
              <a:ext uri="{FF2B5EF4-FFF2-40B4-BE49-F238E27FC236}">
                <a16:creationId xmlns:a16="http://schemas.microsoft.com/office/drawing/2014/main" id="{A979783B-3D28-4C33-A88E-C52FD3972325}"/>
              </a:ext>
            </a:extLst>
          </p:cNvPr>
          <p:cNvSpPr>
            <a:spLocks xmlns:a="http://schemas.openxmlformats.org/drawingml/2006/main" noGrp="1"/>
          </p:cNvSpPr>
          <p:nvPr/>
        </p:nvSpPr>
        <p:spPr>
          <a:xfrm xmlns:a="http://schemas.openxmlformats.org/drawingml/2006/main">
            <a:off x="3959352" y="1627632"/>
            <a:ext cx="2926080" cy="16642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E9EAF3EB-9DD5-4B2A-84FA-BDCCEDD7BF41}"/>
              </a:ext>
            </a:extLst>
          </p:cNvPr>
          <p:cNvSpPr>
            <a:spLocks xmlns:a="http://schemas.openxmlformats.org/drawingml/2006/main" noGrp="1"/>
          </p:cNvSpPr>
          <p:nvPr/>
        </p:nvSpPr>
        <p:spPr>
          <a:xfrm xmlns:a="http://schemas.openxmlformats.org/drawingml/2006/main">
            <a:off x="3959352" y="1627632"/>
            <a:ext cx="64008" cy="1664208"/>
          </a:xfrm>
          <a:prstGeom xmlns:a="http://schemas.openxmlformats.org/drawingml/2006/main" prst="rect">
            <a:avLst/>
          </a:prstGeom>
          <a:solidFill xmlns:a="http://schemas.openxmlformats.org/drawingml/2006/main">
            <a:srgbClr val="006970"/>
          </a:solidFill>
          <a:ln xmlns:a="http://schemas.openxmlformats.org/drawingml/2006/main">
            <a:solidFill>
              <a:srgbClr val="00697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4141723F-A592-45D3-B794-B12D2C8FB4CB}"/>
              </a:ext>
            </a:extLst>
          </p:cNvPr>
          <p:cNvSpPr>
            <a:spLocks xmlns:a="http://schemas.openxmlformats.org/drawingml/2006/main" noGrp="1"/>
          </p:cNvSpPr>
          <p:nvPr/>
        </p:nvSpPr>
        <p:spPr>
          <a:xfrm xmlns:a="http://schemas.openxmlformats.org/drawingml/2006/main">
            <a:off x="4087368" y="1682496"/>
            <a:ext cx="512064"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1">
                <a:solidFill>
                  <a:srgbClr val="006970"/>
                </a:solidFill>
                <a:latin typeface="Consolas"/>
                <a:ea typeface="Consolas"/>
                <a:cs typeface="Consolas"/>
              </a:rPr>
              <a:t>00F</a:t>
            </a:r>
          </a:p>
        </p:txBody>
      </p:sp>
      <p:sp>
        <p:nvSpPr>
          <p:cNvPr id="15" name="TextBox 14">
            <a:extLst xmlns:a="http://schemas.openxmlformats.org/drawingml/2006/main">
              <a:ext uri="{FF2B5EF4-FFF2-40B4-BE49-F238E27FC236}">
                <a16:creationId xmlns:a16="http://schemas.microsoft.com/office/drawing/2014/main" id="{5F011E47-322A-454C-AA40-A71DA40CA054}"/>
              </a:ext>
            </a:extLst>
          </p:cNvPr>
          <p:cNvSpPr>
            <a:spLocks xmlns:a="http://schemas.openxmlformats.org/drawingml/2006/main" noGrp="1"/>
          </p:cNvSpPr>
          <p:nvPr/>
        </p:nvSpPr>
        <p:spPr>
          <a:xfrm xmlns:a="http://schemas.openxmlformats.org/drawingml/2006/main">
            <a:off x="4123944" y="1828800"/>
            <a:ext cx="267004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320" b="1">
                <a:solidFill>
                  <a:srgbClr val="1F2D3D"/>
                </a:solidFill>
                <a:latin typeface="Cambria"/>
                <a:ea typeface="Cambria"/>
                <a:cs typeface="Cambria"/>
                <a:hlinkClick xmlns:r="http://schemas.openxmlformats.org/officeDocument/2006/relationships" r:id="Rf6ef60aa6b4f4c3d"/>
              </a:rPr>
              <a:t>Chaos in the Smartcity</a:t>
            </a:r>
          </a:p>
        </p:txBody>
      </p:sp>
      <p:sp>
        <p:nvSpPr>
          <p:cNvPr id="16" name="TextBox 15">
            <a:extLst xmlns:a="http://schemas.openxmlformats.org/drawingml/2006/main">
              <a:ext uri="{FF2B5EF4-FFF2-40B4-BE49-F238E27FC236}">
                <a16:creationId xmlns:a16="http://schemas.microsoft.com/office/drawing/2014/main" id="{9799088E-9451-4543-9AF2-271793A5AD8A}"/>
              </a:ext>
            </a:extLst>
          </p:cNvPr>
          <p:cNvSpPr>
            <a:spLocks xmlns:a="http://schemas.openxmlformats.org/drawingml/2006/main" noGrp="1"/>
          </p:cNvSpPr>
          <p:nvPr/>
        </p:nvSpPr>
        <p:spPr>
          <a:xfrm xmlns:a="http://schemas.openxmlformats.org/drawingml/2006/main">
            <a:off x="4123944" y="2139696"/>
            <a:ext cx="2670048" cy="10698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19" b="0">
                <a:solidFill>
                  <a:srgbClr val="1F2D3D"/>
                </a:solidFill>
                <a:latin typeface="Calibri"/>
                <a:ea typeface="Calibri"/>
                <a:cs typeface="Calibri"/>
              </a:rPr>
              <a:t>Small drifts split the mobility posture: some vehicles continue normally, some reroute critically and others HOLD awaiting intervention, producing city-level chaos.</a:t>
            </a:r>
          </a:p>
        </p:txBody>
      </p:sp>
      <p:sp>
        <p:nvSpPr>
          <p:cNvPr id="17" name="Rounded Rectangle 16">
            <a:extLst xmlns:a="http://schemas.openxmlformats.org/drawingml/2006/main">
              <a:ext uri="{FF2B5EF4-FFF2-40B4-BE49-F238E27FC236}">
                <a16:creationId xmlns:a16="http://schemas.microsoft.com/office/drawing/2014/main" id="{1FA6E48D-E7A4-4322-B49F-CB3D2CFEADC4}"/>
              </a:ext>
            </a:extLst>
          </p:cNvPr>
          <p:cNvSpPr>
            <a:spLocks xmlns:a="http://schemas.openxmlformats.org/drawingml/2006/main" noGrp="1"/>
          </p:cNvSpPr>
          <p:nvPr/>
        </p:nvSpPr>
        <p:spPr>
          <a:xfrm xmlns:a="http://schemas.openxmlformats.org/drawingml/2006/main">
            <a:off x="7260336" y="1627632"/>
            <a:ext cx="2926080" cy="16642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Rectangle 17">
            <a:extLst xmlns:a="http://schemas.openxmlformats.org/drawingml/2006/main">
              <a:ext uri="{FF2B5EF4-FFF2-40B4-BE49-F238E27FC236}">
                <a16:creationId xmlns:a16="http://schemas.microsoft.com/office/drawing/2014/main" id="{D94BD6AF-72C7-4AFC-92E6-A38EA629519C}"/>
              </a:ext>
            </a:extLst>
          </p:cNvPr>
          <p:cNvSpPr>
            <a:spLocks xmlns:a="http://schemas.openxmlformats.org/drawingml/2006/main" noGrp="1"/>
          </p:cNvSpPr>
          <p:nvPr/>
        </p:nvSpPr>
        <p:spPr>
          <a:xfrm xmlns:a="http://schemas.openxmlformats.org/drawingml/2006/main">
            <a:off x="7260336" y="1627632"/>
            <a:ext cx="64008" cy="1664208"/>
          </a:xfrm>
          <a:prstGeom xmlns:a="http://schemas.openxmlformats.org/drawingml/2006/main" prst="rect">
            <a:avLst/>
          </a:prstGeom>
          <a:solidFill xmlns:a="http://schemas.openxmlformats.org/drawingml/2006/main">
            <a:srgbClr val="9A4C48"/>
          </a:solidFill>
          <a:ln xmlns:a="http://schemas.openxmlformats.org/drawingml/2006/main">
            <a:solidFill>
              <a:srgbClr val="9A4C4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9081DD5C-3348-49D6-A8F7-25709E84168C}"/>
              </a:ext>
            </a:extLst>
          </p:cNvPr>
          <p:cNvSpPr>
            <a:spLocks xmlns:a="http://schemas.openxmlformats.org/drawingml/2006/main" noGrp="1"/>
          </p:cNvSpPr>
          <p:nvPr/>
        </p:nvSpPr>
        <p:spPr>
          <a:xfrm xmlns:a="http://schemas.openxmlformats.org/drawingml/2006/main">
            <a:off x="7388352" y="1682496"/>
            <a:ext cx="512064"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1">
                <a:solidFill>
                  <a:srgbClr val="9A4C48"/>
                </a:solidFill>
                <a:latin typeface="Consolas"/>
                <a:ea typeface="Consolas"/>
                <a:cs typeface="Consolas"/>
              </a:rPr>
              <a:t>00G</a:t>
            </a:r>
          </a:p>
        </p:txBody>
      </p:sp>
      <p:sp>
        <p:nvSpPr>
          <p:cNvPr id="20" name="TextBox 19">
            <a:extLst xmlns:a="http://schemas.openxmlformats.org/drawingml/2006/main">
              <a:ext uri="{FF2B5EF4-FFF2-40B4-BE49-F238E27FC236}">
                <a16:creationId xmlns:a16="http://schemas.microsoft.com/office/drawing/2014/main" id="{A8525A15-DB40-45E3-A957-6FE586C81460}"/>
              </a:ext>
            </a:extLst>
          </p:cNvPr>
          <p:cNvSpPr>
            <a:spLocks xmlns:a="http://schemas.openxmlformats.org/drawingml/2006/main" noGrp="1"/>
          </p:cNvSpPr>
          <p:nvPr/>
        </p:nvSpPr>
        <p:spPr>
          <a:xfrm xmlns:a="http://schemas.openxmlformats.org/drawingml/2006/main">
            <a:off x="7424928" y="1828800"/>
            <a:ext cx="267004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320" b="1">
                <a:solidFill>
                  <a:srgbClr val="1F2D3D"/>
                </a:solidFill>
                <a:latin typeface="Cambria"/>
                <a:ea typeface="Cambria"/>
                <a:cs typeface="Cambria"/>
                <a:hlinkClick xmlns:r="http://schemas.openxmlformats.org/officeDocument/2006/relationships" r:id="R28ccddfa93ca433d"/>
              </a:rPr>
              <a:t>Ciber Napoleon Goes to Russia</a:t>
            </a:r>
          </a:p>
        </p:txBody>
      </p:sp>
      <p:sp>
        <p:nvSpPr>
          <p:cNvPr id="21" name="TextBox 20">
            <a:extLst xmlns:a="http://schemas.openxmlformats.org/drawingml/2006/main">
              <a:ext uri="{FF2B5EF4-FFF2-40B4-BE49-F238E27FC236}">
                <a16:creationId xmlns:a16="http://schemas.microsoft.com/office/drawing/2014/main" id="{A93314CD-8657-4B70-A733-13D10876DD35}"/>
              </a:ext>
            </a:extLst>
          </p:cNvPr>
          <p:cNvSpPr>
            <a:spLocks xmlns:a="http://schemas.openxmlformats.org/drawingml/2006/main" noGrp="1"/>
          </p:cNvSpPr>
          <p:nvPr/>
        </p:nvSpPr>
        <p:spPr>
          <a:xfrm xmlns:a="http://schemas.openxmlformats.org/drawingml/2006/main">
            <a:off x="7424928" y="2139696"/>
            <a:ext cx="2670048" cy="10698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19" b="0">
                <a:solidFill>
                  <a:srgbClr val="1F2D3D"/>
                </a:solidFill>
                <a:latin typeface="Calibri"/>
                <a:ea typeface="Calibri"/>
                <a:cs typeface="Calibri"/>
              </a:rPr>
              <a:t>A false shared frame spreads across robots or agents until the still-valid local mission is displaced by a collectively reinforced but unsupported interpretation.</a:t>
            </a:r>
          </a:p>
        </p:txBody>
      </p:sp>
      <p:sp>
        <p:nvSpPr>
          <p:cNvPr id="22" name="Rounded Rectangle 21">
            <a:extLst xmlns:a="http://schemas.openxmlformats.org/drawingml/2006/main">
              <a:ext uri="{FF2B5EF4-FFF2-40B4-BE49-F238E27FC236}">
                <a16:creationId xmlns:a16="http://schemas.microsoft.com/office/drawing/2014/main" id="{16BB9AC4-9D89-41E8-A309-6C679D7D59EA}"/>
              </a:ext>
            </a:extLst>
          </p:cNvPr>
          <p:cNvSpPr>
            <a:spLocks xmlns:a="http://schemas.openxmlformats.org/drawingml/2006/main" noGrp="1"/>
          </p:cNvSpPr>
          <p:nvPr/>
        </p:nvSpPr>
        <p:spPr>
          <a:xfrm xmlns:a="http://schemas.openxmlformats.org/drawingml/2006/main">
            <a:off x="658368" y="3675887"/>
            <a:ext cx="2926080" cy="16642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Rectangle 22">
            <a:extLst xmlns:a="http://schemas.openxmlformats.org/drawingml/2006/main">
              <a:ext uri="{FF2B5EF4-FFF2-40B4-BE49-F238E27FC236}">
                <a16:creationId xmlns:a16="http://schemas.microsoft.com/office/drawing/2014/main" id="{1FD89FD8-A729-4F4D-BFE8-F48549A5E4FC}"/>
              </a:ext>
            </a:extLst>
          </p:cNvPr>
          <p:cNvSpPr>
            <a:spLocks xmlns:a="http://schemas.openxmlformats.org/drawingml/2006/main" noGrp="1"/>
          </p:cNvSpPr>
          <p:nvPr/>
        </p:nvSpPr>
        <p:spPr>
          <a:xfrm xmlns:a="http://schemas.openxmlformats.org/drawingml/2006/main">
            <a:off x="658368" y="3675887"/>
            <a:ext cx="64008" cy="1664208"/>
          </a:xfrm>
          <a:prstGeom xmlns:a="http://schemas.openxmlformats.org/drawingml/2006/main" prst="rect">
            <a:avLst/>
          </a:prstGeom>
          <a:solidFill xmlns:a="http://schemas.openxmlformats.org/drawingml/2006/main">
            <a:srgbClr val="6A4C93"/>
          </a:solidFill>
          <a:ln xmlns:a="http://schemas.openxmlformats.org/drawingml/2006/main">
            <a:solidFill>
              <a:srgbClr val="6A4C93"/>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A8AB7E6E-B0C9-4AF1-A7ED-17AB18A746B3}"/>
              </a:ext>
            </a:extLst>
          </p:cNvPr>
          <p:cNvSpPr>
            <a:spLocks xmlns:a="http://schemas.openxmlformats.org/drawingml/2006/main" noGrp="1"/>
          </p:cNvSpPr>
          <p:nvPr/>
        </p:nvSpPr>
        <p:spPr>
          <a:xfrm xmlns:a="http://schemas.openxmlformats.org/drawingml/2006/main">
            <a:off x="786384" y="3730751"/>
            <a:ext cx="512064"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1">
                <a:solidFill>
                  <a:srgbClr val="6A4C93"/>
                </a:solidFill>
                <a:latin typeface="Consolas"/>
                <a:ea typeface="Consolas"/>
                <a:cs typeface="Consolas"/>
              </a:rPr>
              <a:t>00H</a:t>
            </a:r>
          </a:p>
        </p:txBody>
      </p:sp>
      <p:sp>
        <p:nvSpPr>
          <p:cNvPr id="25" name="TextBox 24">
            <a:extLst xmlns:a="http://schemas.openxmlformats.org/drawingml/2006/main">
              <a:ext uri="{FF2B5EF4-FFF2-40B4-BE49-F238E27FC236}">
                <a16:creationId xmlns:a16="http://schemas.microsoft.com/office/drawing/2014/main" id="{4158738F-C23D-48A1-A6C2-50EBD20ECD77}"/>
              </a:ext>
            </a:extLst>
          </p:cNvPr>
          <p:cNvSpPr>
            <a:spLocks xmlns:a="http://schemas.openxmlformats.org/drawingml/2006/main" noGrp="1"/>
          </p:cNvSpPr>
          <p:nvPr/>
        </p:nvSpPr>
        <p:spPr>
          <a:xfrm xmlns:a="http://schemas.openxmlformats.org/drawingml/2006/main">
            <a:off x="822960" y="3877055"/>
            <a:ext cx="267004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320" b="1">
                <a:solidFill>
                  <a:srgbClr val="1F2D3D"/>
                </a:solidFill>
                <a:latin typeface="Cambria"/>
                <a:ea typeface="Cambria"/>
                <a:cs typeface="Cambria"/>
                <a:hlinkClick xmlns:r="http://schemas.openxmlformats.org/officeDocument/2006/relationships" r:id="R5dcb2c274d174cb0"/>
              </a:rPr>
              <a:t>The Quiet Four Thousand</a:t>
            </a:r>
          </a:p>
        </p:txBody>
      </p:sp>
      <p:sp>
        <p:nvSpPr>
          <p:cNvPr id="26" name="TextBox 25">
            <a:extLst xmlns:a="http://schemas.openxmlformats.org/drawingml/2006/main">
              <a:ext uri="{FF2B5EF4-FFF2-40B4-BE49-F238E27FC236}">
                <a16:creationId xmlns:a16="http://schemas.microsoft.com/office/drawing/2014/main" id="{35943E8E-663C-40BE-9B92-BC1F0320ACE6}"/>
              </a:ext>
            </a:extLst>
          </p:cNvPr>
          <p:cNvSpPr>
            <a:spLocks xmlns:a="http://schemas.openxmlformats.org/drawingml/2006/main" noGrp="1"/>
          </p:cNvSpPr>
          <p:nvPr/>
        </p:nvSpPr>
        <p:spPr>
          <a:xfrm xmlns:a="http://schemas.openxmlformats.org/drawingml/2006/main">
            <a:off x="822960" y="4187951"/>
            <a:ext cx="2670048" cy="10698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19" b="0">
                <a:solidFill>
                  <a:srgbClr val="1F2D3D"/>
                </a:solidFill>
                <a:latin typeface="Calibri"/>
                <a:ea typeface="Calibri"/>
                <a:cs typeface="Calibri"/>
              </a:rPr>
              <a:t>A one-case mandate or compromised helpdesk orchestration can turn local validity into 4,000 refunds — or silently lose a genuine 4,000-customer finding.</a:t>
            </a:r>
          </a:p>
        </p:txBody>
      </p:sp>
      <p:sp>
        <p:nvSpPr>
          <p:cNvPr id="27" name="Rounded Rectangle 26">
            <a:extLst xmlns:a="http://schemas.openxmlformats.org/drawingml/2006/main">
              <a:ext uri="{FF2B5EF4-FFF2-40B4-BE49-F238E27FC236}">
                <a16:creationId xmlns:a16="http://schemas.microsoft.com/office/drawing/2014/main" id="{F0EC77A6-3994-4F03-81C5-B65F00949F78}"/>
              </a:ext>
            </a:extLst>
          </p:cNvPr>
          <p:cNvSpPr>
            <a:spLocks xmlns:a="http://schemas.openxmlformats.org/drawingml/2006/main" noGrp="1"/>
          </p:cNvSpPr>
          <p:nvPr/>
        </p:nvSpPr>
        <p:spPr>
          <a:xfrm xmlns:a="http://schemas.openxmlformats.org/drawingml/2006/main">
            <a:off x="3959352" y="3675887"/>
            <a:ext cx="2926080" cy="16642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Rectangle 27">
            <a:extLst xmlns:a="http://schemas.openxmlformats.org/drawingml/2006/main">
              <a:ext uri="{FF2B5EF4-FFF2-40B4-BE49-F238E27FC236}">
                <a16:creationId xmlns:a16="http://schemas.microsoft.com/office/drawing/2014/main" id="{421E3229-A318-4CA4-9801-46F43A2E1F02}"/>
              </a:ext>
            </a:extLst>
          </p:cNvPr>
          <p:cNvSpPr>
            <a:spLocks xmlns:a="http://schemas.openxmlformats.org/drawingml/2006/main" noGrp="1"/>
          </p:cNvSpPr>
          <p:nvPr/>
        </p:nvSpPr>
        <p:spPr>
          <a:xfrm xmlns:a="http://schemas.openxmlformats.org/drawingml/2006/main">
            <a:off x="3959352" y="3675887"/>
            <a:ext cx="64008" cy="1664208"/>
          </a:xfrm>
          <a:prstGeom xmlns:a="http://schemas.openxmlformats.org/drawingml/2006/main" prst="rect">
            <a:avLst/>
          </a:prstGeom>
          <a:solidFill xmlns:a="http://schemas.openxmlformats.org/drawingml/2006/main">
            <a:srgbClr val="4F7A28"/>
          </a:solidFill>
          <a:ln xmlns:a="http://schemas.openxmlformats.org/drawingml/2006/main">
            <a:solidFill>
              <a:srgbClr val="4F7A2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D9A8783D-7203-47F4-BFDB-294DE6029FEB}"/>
              </a:ext>
            </a:extLst>
          </p:cNvPr>
          <p:cNvSpPr>
            <a:spLocks xmlns:a="http://schemas.openxmlformats.org/drawingml/2006/main" noGrp="1"/>
          </p:cNvSpPr>
          <p:nvPr/>
        </p:nvSpPr>
        <p:spPr>
          <a:xfrm xmlns:a="http://schemas.openxmlformats.org/drawingml/2006/main">
            <a:off x="4087368" y="3730751"/>
            <a:ext cx="512064"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1">
                <a:solidFill>
                  <a:srgbClr val="4F7A28"/>
                </a:solidFill>
                <a:latin typeface="Consolas"/>
                <a:ea typeface="Consolas"/>
                <a:cs typeface="Consolas"/>
              </a:rPr>
              <a:t>00I</a:t>
            </a:r>
          </a:p>
        </p:txBody>
      </p:sp>
      <p:sp>
        <p:nvSpPr>
          <p:cNvPr id="30" name="TextBox 29">
            <a:extLst xmlns:a="http://schemas.openxmlformats.org/drawingml/2006/main">
              <a:ext uri="{FF2B5EF4-FFF2-40B4-BE49-F238E27FC236}">
                <a16:creationId xmlns:a16="http://schemas.microsoft.com/office/drawing/2014/main" id="{BB8543DA-A9CC-412D-BC56-817975FCE702}"/>
              </a:ext>
            </a:extLst>
          </p:cNvPr>
          <p:cNvSpPr>
            <a:spLocks xmlns:a="http://schemas.openxmlformats.org/drawingml/2006/main" noGrp="1"/>
          </p:cNvSpPr>
          <p:nvPr/>
        </p:nvSpPr>
        <p:spPr>
          <a:xfrm xmlns:a="http://schemas.openxmlformats.org/drawingml/2006/main">
            <a:off x="4123944" y="3877055"/>
            <a:ext cx="267004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320" b="1">
                <a:solidFill>
                  <a:srgbClr val="1F2D3D"/>
                </a:solidFill>
                <a:latin typeface="Cambria"/>
                <a:ea typeface="Cambria"/>
                <a:cs typeface="Cambria"/>
                <a:hlinkClick xmlns:r="http://schemas.openxmlformats.org/officeDocument/2006/relationships" r:id="R98a6433a4a8f42dd"/>
              </a:rPr>
              <a:t>The Patch That Undid the Fix</a:t>
            </a:r>
          </a:p>
        </p:txBody>
      </p:sp>
      <p:sp>
        <p:nvSpPr>
          <p:cNvPr id="31" name="TextBox 30">
            <a:extLst xmlns:a="http://schemas.openxmlformats.org/drawingml/2006/main">
              <a:ext uri="{FF2B5EF4-FFF2-40B4-BE49-F238E27FC236}">
                <a16:creationId xmlns:a16="http://schemas.microsoft.com/office/drawing/2014/main" id="{9C4AD980-7F8E-4063-B411-D7292ED24348}"/>
              </a:ext>
            </a:extLst>
          </p:cNvPr>
          <p:cNvSpPr>
            <a:spLocks xmlns:a="http://schemas.openxmlformats.org/drawingml/2006/main" noGrp="1"/>
          </p:cNvSpPr>
          <p:nvPr/>
        </p:nvSpPr>
        <p:spPr>
          <a:xfrm xmlns:a="http://schemas.openxmlformats.org/drawingml/2006/main">
            <a:off x="4123944" y="4187951"/>
            <a:ext cx="2670048" cy="10698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19" b="0">
                <a:solidFill>
                  <a:srgbClr val="1F2D3D"/>
                </a:solidFill>
                <a:latin typeface="Calibri"/>
                <a:ea typeface="Calibri"/>
                <a:cs typeface="Calibri"/>
              </a:rPr>
              <a:t>A delayed but once-valid remediation action executes after a later repair and undoes the newer fix, even though each local action remains technically valid.</a:t>
            </a:r>
          </a:p>
        </p:txBody>
      </p:sp>
      <p:sp>
        <p:nvSpPr>
          <p:cNvPr id="32" name="Rounded Rectangle 31">
            <a:extLst xmlns:a="http://schemas.openxmlformats.org/drawingml/2006/main">
              <a:ext uri="{FF2B5EF4-FFF2-40B4-BE49-F238E27FC236}">
                <a16:creationId xmlns:a16="http://schemas.microsoft.com/office/drawing/2014/main" id="{1C1AB7EB-C5C6-4BD5-A763-ABF0A49BC3D4}"/>
              </a:ext>
            </a:extLst>
          </p:cNvPr>
          <p:cNvSpPr>
            <a:spLocks xmlns:a="http://schemas.openxmlformats.org/drawingml/2006/main" noGrp="1"/>
          </p:cNvSpPr>
          <p:nvPr/>
        </p:nvSpPr>
        <p:spPr>
          <a:xfrm xmlns:a="http://schemas.openxmlformats.org/drawingml/2006/main">
            <a:off x="7260336" y="3675887"/>
            <a:ext cx="2926080" cy="16642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Rectangle 32">
            <a:extLst xmlns:a="http://schemas.openxmlformats.org/drawingml/2006/main">
              <a:ext uri="{FF2B5EF4-FFF2-40B4-BE49-F238E27FC236}">
                <a16:creationId xmlns:a16="http://schemas.microsoft.com/office/drawing/2014/main" id="{4D4D430E-AD3C-4796-955D-9235AF316F54}"/>
              </a:ext>
            </a:extLst>
          </p:cNvPr>
          <p:cNvSpPr>
            <a:spLocks xmlns:a="http://schemas.openxmlformats.org/drawingml/2006/main" noGrp="1"/>
          </p:cNvSpPr>
          <p:nvPr/>
        </p:nvSpPr>
        <p:spPr>
          <a:xfrm xmlns:a="http://schemas.openxmlformats.org/drawingml/2006/main">
            <a:off x="7260336" y="3675887"/>
            <a:ext cx="64008" cy="1664208"/>
          </a:xfrm>
          <a:prstGeom xmlns:a="http://schemas.openxmlformats.org/drawingml/2006/main" prst="rect">
            <a:avLst/>
          </a:prstGeom>
          <a:solidFill xmlns:a="http://schemas.openxmlformats.org/drawingml/2006/main">
            <a:srgbClr val="C47400"/>
          </a:solidFill>
          <a:ln xmlns:a="http://schemas.openxmlformats.org/drawingml/2006/main">
            <a:solidFill>
              <a:srgbClr val="C474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TextBox 33">
            <a:extLst xmlns:a="http://schemas.openxmlformats.org/drawingml/2006/main">
              <a:ext uri="{FF2B5EF4-FFF2-40B4-BE49-F238E27FC236}">
                <a16:creationId xmlns:a16="http://schemas.microsoft.com/office/drawing/2014/main" id="{69D6F4AF-5C19-46D3-A783-ADABA518548A}"/>
              </a:ext>
            </a:extLst>
          </p:cNvPr>
          <p:cNvSpPr>
            <a:spLocks xmlns:a="http://schemas.openxmlformats.org/drawingml/2006/main" noGrp="1"/>
          </p:cNvSpPr>
          <p:nvPr/>
        </p:nvSpPr>
        <p:spPr>
          <a:xfrm xmlns:a="http://schemas.openxmlformats.org/drawingml/2006/main">
            <a:off x="7388352" y="3730751"/>
            <a:ext cx="512064"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1">
                <a:solidFill>
                  <a:srgbClr val="C47400"/>
                </a:solidFill>
                <a:latin typeface="Consolas"/>
                <a:ea typeface="Consolas"/>
                <a:cs typeface="Consolas"/>
              </a:rPr>
              <a:t>00J</a:t>
            </a:r>
          </a:p>
        </p:txBody>
      </p:sp>
      <p:sp>
        <p:nvSpPr>
          <p:cNvPr id="35" name="TextBox 34">
            <a:extLst xmlns:a="http://schemas.openxmlformats.org/drawingml/2006/main">
              <a:ext uri="{FF2B5EF4-FFF2-40B4-BE49-F238E27FC236}">
                <a16:creationId xmlns:a16="http://schemas.microsoft.com/office/drawing/2014/main" id="{A0D41BDD-F3F4-405C-805E-486676B6C751}"/>
              </a:ext>
            </a:extLst>
          </p:cNvPr>
          <p:cNvSpPr>
            <a:spLocks xmlns:a="http://schemas.openxmlformats.org/drawingml/2006/main" noGrp="1"/>
          </p:cNvSpPr>
          <p:nvPr/>
        </p:nvSpPr>
        <p:spPr>
          <a:xfrm xmlns:a="http://schemas.openxmlformats.org/drawingml/2006/main">
            <a:off x="7424928" y="3877055"/>
            <a:ext cx="267004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320" b="1">
                <a:solidFill>
                  <a:srgbClr val="1F2D3D"/>
                </a:solidFill>
                <a:latin typeface="Cambria"/>
                <a:ea typeface="Cambria"/>
                <a:cs typeface="Cambria"/>
                <a:hlinkClick xmlns:r="http://schemas.openxmlformats.org/officeDocument/2006/relationships" r:id="R51dc008c6454482b"/>
              </a:rPr>
              <a:t>The Author Pays for His Own Work</a:t>
            </a:r>
          </a:p>
        </p:txBody>
      </p:sp>
      <p:sp>
        <p:nvSpPr>
          <p:cNvPr id="36" name="TextBox 35">
            <a:extLst xmlns:a="http://schemas.openxmlformats.org/drawingml/2006/main">
              <a:ext uri="{FF2B5EF4-FFF2-40B4-BE49-F238E27FC236}">
                <a16:creationId xmlns:a16="http://schemas.microsoft.com/office/drawing/2014/main" id="{473D5B8E-9BE6-4C31-8773-EAA24F9FC5C2}"/>
              </a:ext>
            </a:extLst>
          </p:cNvPr>
          <p:cNvSpPr>
            <a:spLocks xmlns:a="http://schemas.openxmlformats.org/drawingml/2006/main" noGrp="1"/>
          </p:cNvSpPr>
          <p:nvPr/>
        </p:nvSpPr>
        <p:spPr>
          <a:xfrm xmlns:a="http://schemas.openxmlformats.org/drawingml/2006/main">
            <a:off x="7424928" y="4187951"/>
            <a:ext cx="2670048" cy="10698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19" b="0">
                <a:solidFill>
                  <a:srgbClr val="1F2D3D"/>
                </a:solidFill>
                <a:latin typeface="Calibri"/>
                <a:ea typeface="Calibri"/>
                <a:cs typeface="Calibri"/>
              </a:rPr>
              <a:t>A valid rights chain is promoted beyond its original scope until the downstream system treats the author as needing permission or payment for derived use of their own work.</a:t>
            </a:r>
          </a:p>
        </p:txBody>
      </p:sp>
      <p:sp>
        <p:nvSpPr>
          <p:cNvPr id="37" name="Rounded Rectangle 36">
            <a:extLst xmlns:a="http://schemas.openxmlformats.org/drawingml/2006/main">
              <a:ext uri="{FF2B5EF4-FFF2-40B4-BE49-F238E27FC236}">
                <a16:creationId xmlns:a16="http://schemas.microsoft.com/office/drawing/2014/main" id="{C76DF64D-C147-4B13-B9E1-E3B737614F2A}"/>
              </a:ext>
            </a:extLst>
          </p:cNvPr>
          <p:cNvSpPr>
            <a:spLocks xmlns:a="http://schemas.openxmlformats.org/drawingml/2006/main" noGrp="1"/>
          </p:cNvSpPr>
          <p:nvPr/>
        </p:nvSpPr>
        <p:spPr>
          <a:xfrm xmlns:a="http://schemas.openxmlformats.org/drawingml/2006/main">
            <a:off x="658368" y="6035040"/>
            <a:ext cx="10853928" cy="411480"/>
          </a:xfrm>
          <a:prstGeom xmlns:a="http://schemas.openxmlformats.org/drawingml/2006/main" prst="roundRect">
            <a:avLst/>
          </a:prstGeom>
          <a:solidFill xmlns:a="http://schemas.openxmlformats.org/drawingml/2006/main">
            <a:srgbClr val="F2F5F8"/>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TextBox 37">
            <a:extLst xmlns:a="http://schemas.openxmlformats.org/drawingml/2006/main">
              <a:ext uri="{FF2B5EF4-FFF2-40B4-BE49-F238E27FC236}">
                <a16:creationId xmlns:a16="http://schemas.microsoft.com/office/drawing/2014/main" id="{EE8A1744-183D-4DEA-B8BF-7B6447A9FB18}"/>
              </a:ext>
            </a:extLst>
          </p:cNvPr>
          <p:cNvSpPr>
            <a:spLocks xmlns:a="http://schemas.openxmlformats.org/drawingml/2006/main" noGrp="1"/>
          </p:cNvSpPr>
          <p:nvPr/>
        </p:nvSpPr>
        <p:spPr>
          <a:xfrm xmlns:a="http://schemas.openxmlformats.org/drawingml/2006/main">
            <a:off x="786384" y="6144768"/>
            <a:ext cx="105613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0">
                <a:solidFill>
                  <a:srgbClr val="1F2D3D"/>
                </a:solidFill>
                <a:latin typeface="Calibri"/>
                <a:ea typeface="Calibri"/>
                <a:cs typeface="Calibri"/>
              </a:rPr>
              <a:t>These are reference scenarios for controlled comparison. They are not claims that the named products or vendors caused the failures.</a:t>
            </a:r>
          </a:p>
        </p:txBody>
      </p:sp>
      <p:sp>
        <p:nvSpPr>
          <p:cNvPr id="39" name="TextBox 38">
            <a:extLst xmlns:a="http://schemas.openxmlformats.org/drawingml/2006/main">
              <a:ext uri="{FF2B5EF4-FFF2-40B4-BE49-F238E27FC236}">
                <a16:creationId xmlns:a16="http://schemas.microsoft.com/office/drawing/2014/main" id="{F0CB9945-EE2E-4E5D-AF10-965EDC2324AF}"/>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45f55b2776324fb0"/>
              </a:rPr>
              <a:t>Scenario &amp; quality-plan index</a:t>
            </a:r>
          </a:p>
        </p:txBody>
      </p:sp>
    </p:spTree>
    <p:extLst>
      <p:ext uri="{BB962C8B-B14F-4D97-AF65-F5344CB8AC3E}">
        <p14:creationId xmlns:p14="http://schemas.microsoft.com/office/powerpoint/2010/main" val="6293944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56E7288F-B044-4A8D-A0DF-8ECB7878996E}"/>
              </a:ext>
            </a:extLst>
          </p:cNvPr>
          <p:cNvSpPr>
            <a:spLocks xmlns:a="http://schemas.openxmlformats.org/drawingml/2006/main" noGrp="1"/>
          </p:cNvSpPr>
          <p:nvPr/>
        </p:nvSpPr>
        <p:spPr>
          <a:xfrm xmlns:a="http://schemas.openxmlformats.org/drawingml/2006/main">
            <a:off x="566928" y="164592"/>
            <a:ext cx="2834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19" b="0">
                <a:solidFill>
                  <a:srgbClr val="1F2D3D"/>
                </a:solidFill>
                <a:latin typeface="Consolas"/>
                <a:ea typeface="Consolas"/>
                <a:cs typeface="Consolas"/>
              </a:rPr>
              <a:t>TECHNOLOGY PROFILES &amp; VALIDATION TRAJECTORIES</a:t>
            </a:r>
          </a:p>
        </p:txBody>
      </p:sp>
      <p:sp>
        <p:nvSpPr>
          <p:cNvPr id="3" name="TextBox 2">
            <a:extLst xmlns:a="http://schemas.openxmlformats.org/drawingml/2006/main">
              <a:ext uri="{FF2B5EF4-FFF2-40B4-BE49-F238E27FC236}">
                <a16:creationId xmlns:a16="http://schemas.microsoft.com/office/drawing/2014/main" id="{0D4403C5-0678-4952-BBE2-872B4B7F0421}"/>
              </a:ext>
            </a:extLst>
          </p:cNvPr>
          <p:cNvSpPr>
            <a:spLocks xmlns:a="http://schemas.openxmlformats.org/drawingml/2006/main" noGrp="1"/>
          </p:cNvSpPr>
          <p:nvPr/>
        </p:nvSpPr>
        <p:spPr>
          <a:xfrm xmlns:a="http://schemas.openxmlformats.org/drawingml/2006/main">
            <a:off x="10881360" y="164592"/>
            <a:ext cx="6583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19" b="0">
                <a:solidFill>
                  <a:srgbClr val="1F2D3D"/>
                </a:solidFill>
                <a:latin typeface="Consolas"/>
                <a:ea typeface="Consolas"/>
                <a:cs typeface="Consolas"/>
              </a:rPr>
              <a:t>§ 02B</a:t>
            </a:r>
          </a:p>
        </p:txBody>
      </p:sp>
      <p:sp>
        <p:nvSpPr>
          <p:cNvPr id="4" name="TextBox 3">
            <a:extLst xmlns:a="http://schemas.openxmlformats.org/drawingml/2006/main">
              <a:ext uri="{FF2B5EF4-FFF2-40B4-BE49-F238E27FC236}">
                <a16:creationId xmlns:a16="http://schemas.microsoft.com/office/drawing/2014/main" id="{879FDFCF-DEFB-42B0-BDA7-F25BF32F8F9F}"/>
              </a:ext>
            </a:extLst>
          </p:cNvPr>
          <p:cNvSpPr>
            <a:spLocks xmlns:a="http://schemas.openxmlformats.org/drawingml/2006/main" noGrp="1"/>
          </p:cNvSpPr>
          <p:nvPr/>
        </p:nvSpPr>
        <p:spPr>
          <a:xfrm xmlns:a="http://schemas.openxmlformats.org/drawingml/2006/main">
            <a:off x="566928" y="649224"/>
            <a:ext cx="106070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2400" b="1">
                <a:solidFill>
                  <a:srgbClr val="1F2D3D"/>
                </a:solidFill>
                <a:latin typeface="Cambria"/>
                <a:ea typeface="Cambria"/>
                <a:cs typeface="Cambria"/>
              </a:rPr>
              <a:t>Technology used in the scenario routes and the three validation trajectories</a:t>
            </a:r>
          </a:p>
        </p:txBody>
      </p:sp>
      <p:sp>
        <p:nvSpPr>
          <p:cNvPr id="5" name="TextBox 4">
            <a:extLst xmlns:a="http://schemas.openxmlformats.org/drawingml/2006/main">
              <a:ext uri="{FF2B5EF4-FFF2-40B4-BE49-F238E27FC236}">
                <a16:creationId xmlns:a16="http://schemas.microsoft.com/office/drawing/2014/main" id="{5601EB51-773D-4EE6-99FE-631980262693}"/>
              </a:ext>
            </a:extLst>
          </p:cNvPr>
          <p:cNvSpPr>
            <a:spLocks xmlns:a="http://schemas.openxmlformats.org/drawingml/2006/main" noGrp="1"/>
          </p:cNvSpPr>
          <p:nvPr/>
        </p:nvSpPr>
        <p:spPr>
          <a:xfrm xmlns:a="http://schemas.openxmlformats.org/drawingml/2006/main">
            <a:off x="566928" y="1078992"/>
            <a:ext cx="106070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50" b="0">
                <a:solidFill>
                  <a:srgbClr val="556677"/>
                </a:solidFill>
                <a:latin typeface="Calibri"/>
                <a:ea typeface="Calibri"/>
                <a:cs typeface="Calibri"/>
              </a:rPr>
              <a:t>The corpus benchmarks named architectures, then compares standard, defended and drifted implementations under the same frozen scenario boundaries.</a:t>
            </a:r>
          </a:p>
        </p:txBody>
      </p:sp>
      <p:sp>
        <p:nvSpPr>
          <p:cNvPr id="6" name="TextBox 5">
            <a:extLst xmlns:a="http://schemas.openxmlformats.org/drawingml/2006/main">
              <a:ext uri="{FF2B5EF4-FFF2-40B4-BE49-F238E27FC236}">
                <a16:creationId xmlns:a16="http://schemas.microsoft.com/office/drawing/2014/main" id="{E469957E-EE72-4BC5-B67A-AE596FD3B1F9}"/>
              </a:ext>
            </a:extLst>
          </p:cNvPr>
          <p:cNvSpPr>
            <a:spLocks xmlns:a="http://schemas.openxmlformats.org/drawingml/2006/main" noGrp="1"/>
          </p:cNvSpPr>
          <p:nvPr/>
        </p:nvSpPr>
        <p:spPr>
          <a:xfrm xmlns:a="http://schemas.openxmlformats.org/drawingml/2006/main">
            <a:off x="11064240" y="6409944"/>
            <a:ext cx="320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50">
                <a:solidFill>
                  <a:srgbClr val="5D6775"/>
                </a:solidFill>
                <a:latin typeface="Aptos"/>
                <a:ea typeface="Aptos"/>
                <a:cs typeface="Aptos"/>
              </a:rPr>
              <a:t>5</a:t>
            </a:r>
          </a:p>
        </p:txBody>
      </p:sp>
      <p:sp>
        <p:nvSpPr>
          <p:cNvPr id="7" name="Rounded Rectangle 6">
            <a:extLst xmlns:a="http://schemas.openxmlformats.org/drawingml/2006/main">
              <a:ext uri="{FF2B5EF4-FFF2-40B4-BE49-F238E27FC236}">
                <a16:creationId xmlns:a16="http://schemas.microsoft.com/office/drawing/2014/main" id="{031B2A9C-CC73-46E3-A6C1-CE2C9BD7EF13}"/>
              </a:ext>
            </a:extLst>
          </p:cNvPr>
          <p:cNvSpPr>
            <a:spLocks xmlns:a="http://schemas.openxmlformats.org/drawingml/2006/main" noGrp="1"/>
          </p:cNvSpPr>
          <p:nvPr/>
        </p:nvSpPr>
        <p:spPr>
          <a:xfrm xmlns:a="http://schemas.openxmlformats.org/drawingml/2006/main">
            <a:off x="658368" y="1600200"/>
            <a:ext cx="10853928" cy="301752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AF4FEA18-DBDB-448C-9502-4F385BC37620}"/>
              </a:ext>
            </a:extLst>
          </p:cNvPr>
          <p:cNvSpPr>
            <a:spLocks xmlns:a="http://schemas.openxmlformats.org/drawingml/2006/main" noGrp="1"/>
          </p:cNvSpPr>
          <p:nvPr/>
        </p:nvSpPr>
        <p:spPr>
          <a:xfrm xmlns:a="http://schemas.openxmlformats.org/drawingml/2006/main">
            <a:off x="841248" y="1719072"/>
            <a:ext cx="31089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60" b="1">
                <a:solidFill>
                  <a:srgbClr val="1F2D3D"/>
                </a:solidFill>
                <a:latin typeface="Consolas"/>
                <a:ea typeface="Consolas"/>
                <a:cs typeface="Consolas"/>
              </a:rPr>
              <a:t>TECHNOLOGY PROFILES USED IN THE ROUTES</a:t>
            </a:r>
          </a:p>
        </p:txBody>
      </p:sp>
      <p:sp>
        <p:nvSpPr>
          <p:cNvPr id="9" name="Rectangle 8">
            <a:extLst xmlns:a="http://schemas.openxmlformats.org/drawingml/2006/main">
              <a:ext uri="{FF2B5EF4-FFF2-40B4-BE49-F238E27FC236}">
                <a16:creationId xmlns:a16="http://schemas.microsoft.com/office/drawing/2014/main" id="{4142405F-0C94-4F8F-BC21-6E512E7FCC5D}"/>
              </a:ext>
            </a:extLst>
          </p:cNvPr>
          <p:cNvSpPr>
            <a:spLocks xmlns:a="http://schemas.openxmlformats.org/drawingml/2006/main" noGrp="1"/>
          </p:cNvSpPr>
          <p:nvPr/>
        </p:nvSpPr>
        <p:spPr>
          <a:xfrm xmlns:a="http://schemas.openxmlformats.org/drawingml/2006/main">
            <a:off x="877824" y="2011680"/>
            <a:ext cx="45720" cy="457200"/>
          </a:xfrm>
          <a:prstGeom xmlns:a="http://schemas.openxmlformats.org/drawingml/2006/main" prst="rect">
            <a:avLst/>
          </a:prstGeom>
          <a:solidFill xmlns:a="http://schemas.openxmlformats.org/drawingml/2006/main">
            <a:srgbClr val="1B4D8E"/>
          </a:solidFill>
          <a:ln xmlns:a="http://schemas.openxmlformats.org/drawingml/2006/main">
            <a:solidFill>
              <a:srgbClr val="1B4D8E"/>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C834228F-4657-49B3-9747-F848E5FE79C2}"/>
              </a:ext>
            </a:extLst>
          </p:cNvPr>
          <p:cNvSpPr>
            <a:spLocks xmlns:a="http://schemas.openxmlformats.org/drawingml/2006/main" noGrp="1"/>
          </p:cNvSpPr>
          <p:nvPr/>
        </p:nvSpPr>
        <p:spPr>
          <a:xfrm xmlns:a="http://schemas.openxmlformats.org/drawingml/2006/main">
            <a:off x="969264" y="1993392"/>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0" b="1">
                <a:solidFill>
                  <a:srgbClr val="1F2D3D"/>
                </a:solidFill>
                <a:latin typeface="Cambria"/>
                <a:ea typeface="Cambria"/>
                <a:cs typeface="Cambria"/>
              </a:rPr>
              <a:t>00E  The 100 Million Tokens</a:t>
            </a:r>
          </a:p>
        </p:txBody>
      </p:sp>
      <p:sp>
        <p:nvSpPr>
          <p:cNvPr id="11" name="TextBox 10">
            <a:extLst xmlns:a="http://schemas.openxmlformats.org/drawingml/2006/main">
              <a:ext uri="{FF2B5EF4-FFF2-40B4-BE49-F238E27FC236}">
                <a16:creationId xmlns:a16="http://schemas.microsoft.com/office/drawing/2014/main" id="{87E56D82-BBCE-4AC4-ACFA-086D1ED081A3}"/>
              </a:ext>
            </a:extLst>
          </p:cNvPr>
          <p:cNvSpPr>
            <a:spLocks xmlns:a="http://schemas.openxmlformats.org/drawingml/2006/main" noGrp="1"/>
          </p:cNvSpPr>
          <p:nvPr/>
        </p:nvSpPr>
        <p:spPr>
          <a:xfrm xmlns:a="http://schemas.openxmlformats.org/drawingml/2006/main">
            <a:off x="969264" y="2176272"/>
            <a:ext cx="4572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50" b="0">
                <a:solidFill>
                  <a:srgbClr val="1F2D3D"/>
                </a:solidFill>
                <a:latin typeface="Calibri"/>
                <a:ea typeface="Calibri"/>
                <a:cs typeface="Calibri"/>
                <a:hlinkClick xmlns:r="http://schemas.openxmlformats.org/officeDocument/2006/relationships" r:id="R96430af6d3e24769"/>
              </a:rPr>
              <a:t>Microsoft Agent 365</a:t>
            </a:r>
            <a:r>
              <a:rPr sz="950" b="0">
                <a:solidFill>
                  <a:srgbClr val="1F2D3D"/>
                </a:solidFill>
                <a:latin typeface="Calibri"/>
                <a:ea typeface="Calibri"/>
                <a:cs typeface="Calibri"/>
              </a:rPr>
              <a:t> · </a:t>
            </a:r>
            <a:r>
              <a:rPr sz="950" b="0">
                <a:solidFill>
                  <a:srgbClr val="1F2D3D"/>
                </a:solidFill>
                <a:latin typeface="Calibri"/>
                <a:ea typeface="Calibri"/>
                <a:cs typeface="Calibri"/>
                <a:hlinkClick xmlns:r="http://schemas.openxmlformats.org/officeDocument/2006/relationships" r:id="R72cb7a65400f48b9"/>
              </a:rPr>
              <a:t>LangGraph / LangSmith</a:t>
            </a:r>
          </a:p>
        </p:txBody>
      </p:sp>
      <p:sp>
        <p:nvSpPr>
          <p:cNvPr id="12" name="Rectangle 11">
            <a:extLst xmlns:a="http://schemas.openxmlformats.org/drawingml/2006/main">
              <a:ext uri="{FF2B5EF4-FFF2-40B4-BE49-F238E27FC236}">
                <a16:creationId xmlns:a16="http://schemas.microsoft.com/office/drawing/2014/main" id="{E5BA7D5B-DD97-4E4B-9FF4-59D0FF7A3FA1}"/>
              </a:ext>
            </a:extLst>
          </p:cNvPr>
          <p:cNvSpPr>
            <a:spLocks xmlns:a="http://schemas.openxmlformats.org/drawingml/2006/main" noGrp="1"/>
          </p:cNvSpPr>
          <p:nvPr/>
        </p:nvSpPr>
        <p:spPr>
          <a:xfrm xmlns:a="http://schemas.openxmlformats.org/drawingml/2006/main">
            <a:off x="877824" y="2743200"/>
            <a:ext cx="45720" cy="457200"/>
          </a:xfrm>
          <a:prstGeom xmlns:a="http://schemas.openxmlformats.org/drawingml/2006/main" prst="rect">
            <a:avLst/>
          </a:prstGeom>
          <a:solidFill xmlns:a="http://schemas.openxmlformats.org/drawingml/2006/main">
            <a:srgbClr val="006970"/>
          </a:solidFill>
          <a:ln xmlns:a="http://schemas.openxmlformats.org/drawingml/2006/main">
            <a:solidFill>
              <a:srgbClr val="00697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45876442-696A-4A04-8798-9F22170A514F}"/>
              </a:ext>
            </a:extLst>
          </p:cNvPr>
          <p:cNvSpPr>
            <a:spLocks xmlns:a="http://schemas.openxmlformats.org/drawingml/2006/main" noGrp="1"/>
          </p:cNvSpPr>
          <p:nvPr/>
        </p:nvSpPr>
        <p:spPr>
          <a:xfrm xmlns:a="http://schemas.openxmlformats.org/drawingml/2006/main">
            <a:off x="969264" y="2724912"/>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0" b="1">
                <a:solidFill>
                  <a:srgbClr val="1F2D3D"/>
                </a:solidFill>
                <a:latin typeface="Cambria"/>
                <a:ea typeface="Cambria"/>
                <a:cs typeface="Cambria"/>
              </a:rPr>
              <a:t>00F  Chaos in the Smartcity</a:t>
            </a:r>
          </a:p>
        </p:txBody>
      </p:sp>
      <p:sp>
        <p:nvSpPr>
          <p:cNvPr id="14" name="TextBox 13">
            <a:extLst xmlns:a="http://schemas.openxmlformats.org/drawingml/2006/main">
              <a:ext uri="{FF2B5EF4-FFF2-40B4-BE49-F238E27FC236}">
                <a16:creationId xmlns:a16="http://schemas.microsoft.com/office/drawing/2014/main" id="{BF2F635B-7E6C-4AE3-B258-BC68C7ADAC30}"/>
              </a:ext>
            </a:extLst>
          </p:cNvPr>
          <p:cNvSpPr>
            <a:spLocks xmlns:a="http://schemas.openxmlformats.org/drawingml/2006/main" noGrp="1"/>
          </p:cNvSpPr>
          <p:nvPr/>
        </p:nvSpPr>
        <p:spPr>
          <a:xfrm xmlns:a="http://schemas.openxmlformats.org/drawingml/2006/main">
            <a:off x="969264" y="2907792"/>
            <a:ext cx="4572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50" b="0">
                <a:solidFill>
                  <a:srgbClr val="1F2D3D"/>
                </a:solidFill>
                <a:latin typeface="Calibri"/>
                <a:ea typeface="Calibri"/>
                <a:cs typeface="Calibri"/>
                <a:hlinkClick xmlns:r="http://schemas.openxmlformats.org/officeDocument/2006/relationships" r:id="R50c38bb9cdf34a57"/>
              </a:rPr>
              <a:t>FIWARE NGSI-LD / Orion-LD</a:t>
            </a:r>
            <a:r>
              <a:rPr sz="950" b="0">
                <a:solidFill>
                  <a:srgbClr val="1F2D3D"/>
                </a:solidFill>
                <a:latin typeface="Calibri"/>
                <a:ea typeface="Calibri"/>
                <a:cs typeface="Calibri"/>
              </a:rPr>
              <a:t> · </a:t>
            </a:r>
            <a:r>
              <a:rPr sz="950" b="0">
                <a:solidFill>
                  <a:srgbClr val="1F2D3D"/>
                </a:solidFill>
                <a:latin typeface="Calibri"/>
                <a:ea typeface="Calibri"/>
                <a:cs typeface="Calibri"/>
                <a:hlinkClick xmlns:r="http://schemas.openxmlformats.org/officeDocument/2006/relationships" r:id="Rc69ba01fcca04dda"/>
              </a:rPr>
              <a:t>AWS IoT Core / TwinMaker</a:t>
            </a:r>
          </a:p>
        </p:txBody>
      </p:sp>
      <p:sp>
        <p:nvSpPr>
          <p:cNvPr id="15" name="Rectangle 14">
            <a:extLst xmlns:a="http://schemas.openxmlformats.org/drawingml/2006/main">
              <a:ext uri="{FF2B5EF4-FFF2-40B4-BE49-F238E27FC236}">
                <a16:creationId xmlns:a16="http://schemas.microsoft.com/office/drawing/2014/main" id="{7948C755-CA84-49B0-B8C2-8DF26FFA26EA}"/>
              </a:ext>
            </a:extLst>
          </p:cNvPr>
          <p:cNvSpPr>
            <a:spLocks xmlns:a="http://schemas.openxmlformats.org/drawingml/2006/main" noGrp="1"/>
          </p:cNvSpPr>
          <p:nvPr/>
        </p:nvSpPr>
        <p:spPr>
          <a:xfrm xmlns:a="http://schemas.openxmlformats.org/drawingml/2006/main">
            <a:off x="877824" y="3474720"/>
            <a:ext cx="45720" cy="457200"/>
          </a:xfrm>
          <a:prstGeom xmlns:a="http://schemas.openxmlformats.org/drawingml/2006/main" prst="rect">
            <a:avLst/>
          </a:prstGeom>
          <a:solidFill xmlns:a="http://schemas.openxmlformats.org/drawingml/2006/main">
            <a:srgbClr val="9A4C48"/>
          </a:solidFill>
          <a:ln xmlns:a="http://schemas.openxmlformats.org/drawingml/2006/main">
            <a:solidFill>
              <a:srgbClr val="9A4C4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92B72BE3-0059-4997-8D3D-009A3468BF2C}"/>
              </a:ext>
            </a:extLst>
          </p:cNvPr>
          <p:cNvSpPr>
            <a:spLocks xmlns:a="http://schemas.openxmlformats.org/drawingml/2006/main" noGrp="1"/>
          </p:cNvSpPr>
          <p:nvPr/>
        </p:nvSpPr>
        <p:spPr>
          <a:xfrm xmlns:a="http://schemas.openxmlformats.org/drawingml/2006/main">
            <a:off x="969264" y="3456432"/>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0" b="1">
                <a:solidFill>
                  <a:srgbClr val="1F2D3D"/>
                </a:solidFill>
                <a:latin typeface="Cambria"/>
                <a:ea typeface="Cambria"/>
                <a:cs typeface="Cambria"/>
              </a:rPr>
              <a:t>00G  Ciber Napoleon Goes to Russia</a:t>
            </a:r>
          </a:p>
        </p:txBody>
      </p:sp>
      <p:sp>
        <p:nvSpPr>
          <p:cNvPr id="17" name="TextBox 16">
            <a:extLst xmlns:a="http://schemas.openxmlformats.org/drawingml/2006/main">
              <a:ext uri="{FF2B5EF4-FFF2-40B4-BE49-F238E27FC236}">
                <a16:creationId xmlns:a16="http://schemas.microsoft.com/office/drawing/2014/main" id="{6A98EED7-4BBC-412F-83AF-9A7B6B0404B3}"/>
              </a:ext>
            </a:extLst>
          </p:cNvPr>
          <p:cNvSpPr>
            <a:spLocks xmlns:a="http://schemas.openxmlformats.org/drawingml/2006/main" noGrp="1"/>
          </p:cNvSpPr>
          <p:nvPr/>
        </p:nvSpPr>
        <p:spPr>
          <a:xfrm xmlns:a="http://schemas.openxmlformats.org/drawingml/2006/main">
            <a:off x="969264" y="3639312"/>
            <a:ext cx="4572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50" b="0">
                <a:solidFill>
                  <a:srgbClr val="1F2D3D"/>
                </a:solidFill>
                <a:latin typeface="Calibri"/>
                <a:ea typeface="Calibri"/>
                <a:cs typeface="Calibri"/>
                <a:hlinkClick xmlns:r="http://schemas.openxmlformats.org/officeDocument/2006/relationships" r:id="R97351d5abff249a2"/>
              </a:rPr>
              <a:t>OpenAI Agents SDK / Agents API / Responses multi-agent stack</a:t>
            </a:r>
          </a:p>
        </p:txBody>
      </p:sp>
      <p:sp>
        <p:nvSpPr>
          <p:cNvPr id="18" name="Rectangle 17">
            <a:extLst xmlns:a="http://schemas.openxmlformats.org/drawingml/2006/main">
              <a:ext uri="{FF2B5EF4-FFF2-40B4-BE49-F238E27FC236}">
                <a16:creationId xmlns:a16="http://schemas.microsoft.com/office/drawing/2014/main" id="{3785D581-FF76-40D0-A1B0-4015AD083E51}"/>
              </a:ext>
            </a:extLst>
          </p:cNvPr>
          <p:cNvSpPr>
            <a:spLocks xmlns:a="http://schemas.openxmlformats.org/drawingml/2006/main" noGrp="1"/>
          </p:cNvSpPr>
          <p:nvPr/>
        </p:nvSpPr>
        <p:spPr>
          <a:xfrm xmlns:a="http://schemas.openxmlformats.org/drawingml/2006/main">
            <a:off x="5989320" y="2011680"/>
            <a:ext cx="45720" cy="457200"/>
          </a:xfrm>
          <a:prstGeom xmlns:a="http://schemas.openxmlformats.org/drawingml/2006/main" prst="rect">
            <a:avLst/>
          </a:prstGeom>
          <a:solidFill xmlns:a="http://schemas.openxmlformats.org/drawingml/2006/main">
            <a:srgbClr val="6A4C93"/>
          </a:solidFill>
          <a:ln xmlns:a="http://schemas.openxmlformats.org/drawingml/2006/main">
            <a:solidFill>
              <a:srgbClr val="6A4C93"/>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7B511EE9-4CE0-437F-B216-6173A18CFDBD}"/>
              </a:ext>
            </a:extLst>
          </p:cNvPr>
          <p:cNvSpPr>
            <a:spLocks xmlns:a="http://schemas.openxmlformats.org/drawingml/2006/main" noGrp="1"/>
          </p:cNvSpPr>
          <p:nvPr/>
        </p:nvSpPr>
        <p:spPr>
          <a:xfrm xmlns:a="http://schemas.openxmlformats.org/drawingml/2006/main">
            <a:off x="6080760" y="1993392"/>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0" b="1">
                <a:solidFill>
                  <a:srgbClr val="1F2D3D"/>
                </a:solidFill>
                <a:latin typeface="Cambria"/>
                <a:ea typeface="Cambria"/>
                <a:cs typeface="Cambria"/>
              </a:rPr>
              <a:t>00H  The Quiet Four Thousand</a:t>
            </a:r>
          </a:p>
        </p:txBody>
      </p:sp>
      <p:sp>
        <p:nvSpPr>
          <p:cNvPr id="20" name="TextBox 19">
            <a:extLst xmlns:a="http://schemas.openxmlformats.org/drawingml/2006/main">
              <a:ext uri="{FF2B5EF4-FFF2-40B4-BE49-F238E27FC236}">
                <a16:creationId xmlns:a16="http://schemas.microsoft.com/office/drawing/2014/main" id="{F30E0A41-70E9-463D-8367-9C97C6A6E81E}"/>
              </a:ext>
            </a:extLst>
          </p:cNvPr>
          <p:cNvSpPr>
            <a:spLocks xmlns:a="http://schemas.openxmlformats.org/drawingml/2006/main" noGrp="1"/>
          </p:cNvSpPr>
          <p:nvPr/>
        </p:nvSpPr>
        <p:spPr>
          <a:xfrm xmlns:a="http://schemas.openxmlformats.org/drawingml/2006/main">
            <a:off x="6080760" y="2176272"/>
            <a:ext cx="4572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50" b="0">
                <a:solidFill>
                  <a:srgbClr val="1F2D3D"/>
                </a:solidFill>
                <a:latin typeface="Calibri"/>
                <a:ea typeface="Calibri"/>
                <a:cs typeface="Calibri"/>
                <a:hlinkClick xmlns:r="http://schemas.openxmlformats.org/officeDocument/2006/relationships" r:id="Rc188677e26ea44ea"/>
              </a:rPr>
              <a:t>Claude Agent SDK</a:t>
            </a:r>
            <a:r>
              <a:rPr sz="950" b="0">
                <a:solidFill>
                  <a:srgbClr val="1F2D3D"/>
                </a:solidFill>
                <a:latin typeface="Calibri"/>
                <a:ea typeface="Calibri"/>
                <a:cs typeface="Calibri"/>
              </a:rPr>
              <a:t> · </a:t>
            </a:r>
            <a:r>
              <a:rPr sz="950" b="0">
                <a:solidFill>
                  <a:srgbClr val="1F2D3D"/>
                </a:solidFill>
                <a:latin typeface="Calibri"/>
                <a:ea typeface="Calibri"/>
                <a:cs typeface="Calibri"/>
                <a:hlinkClick xmlns:r="http://schemas.openxmlformats.org/officeDocument/2006/relationships" r:id="Rdfdc3454ce3e43fd"/>
              </a:rPr>
              <a:t>Stripe Radar / Refund API</a:t>
            </a:r>
          </a:p>
        </p:txBody>
      </p:sp>
      <p:sp>
        <p:nvSpPr>
          <p:cNvPr id="21" name="Rectangle 20">
            <a:extLst xmlns:a="http://schemas.openxmlformats.org/drawingml/2006/main">
              <a:ext uri="{FF2B5EF4-FFF2-40B4-BE49-F238E27FC236}">
                <a16:creationId xmlns:a16="http://schemas.microsoft.com/office/drawing/2014/main" id="{2B7E703D-5A89-4729-922F-DD29498A8CF6}"/>
              </a:ext>
            </a:extLst>
          </p:cNvPr>
          <p:cNvSpPr>
            <a:spLocks xmlns:a="http://schemas.openxmlformats.org/drawingml/2006/main" noGrp="1"/>
          </p:cNvSpPr>
          <p:nvPr/>
        </p:nvSpPr>
        <p:spPr>
          <a:xfrm xmlns:a="http://schemas.openxmlformats.org/drawingml/2006/main">
            <a:off x="5989320" y="2743200"/>
            <a:ext cx="45720" cy="457200"/>
          </a:xfrm>
          <a:prstGeom xmlns:a="http://schemas.openxmlformats.org/drawingml/2006/main" prst="rect">
            <a:avLst/>
          </a:prstGeom>
          <a:solidFill xmlns:a="http://schemas.openxmlformats.org/drawingml/2006/main">
            <a:srgbClr val="4F7A28"/>
          </a:solidFill>
          <a:ln xmlns:a="http://schemas.openxmlformats.org/drawingml/2006/main">
            <a:solidFill>
              <a:srgbClr val="4F7A2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BC694CED-CEBE-47EF-859A-89A8D6F39FB0}"/>
              </a:ext>
            </a:extLst>
          </p:cNvPr>
          <p:cNvSpPr>
            <a:spLocks xmlns:a="http://schemas.openxmlformats.org/drawingml/2006/main" noGrp="1"/>
          </p:cNvSpPr>
          <p:nvPr/>
        </p:nvSpPr>
        <p:spPr>
          <a:xfrm xmlns:a="http://schemas.openxmlformats.org/drawingml/2006/main">
            <a:off x="6080760" y="2724912"/>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0" b="1">
                <a:solidFill>
                  <a:srgbClr val="1F2D3D"/>
                </a:solidFill>
                <a:latin typeface="Cambria"/>
                <a:ea typeface="Cambria"/>
                <a:cs typeface="Cambria"/>
              </a:rPr>
              <a:t>00I  Patch That Undid the Fix</a:t>
            </a:r>
          </a:p>
        </p:txBody>
      </p:sp>
      <p:sp>
        <p:nvSpPr>
          <p:cNvPr id="23" name="TextBox 22">
            <a:extLst xmlns:a="http://schemas.openxmlformats.org/drawingml/2006/main">
              <a:ext uri="{FF2B5EF4-FFF2-40B4-BE49-F238E27FC236}">
                <a16:creationId xmlns:a16="http://schemas.microsoft.com/office/drawing/2014/main" id="{E8EDFF9B-2A79-485D-A7A2-5CB73AD2262A}"/>
              </a:ext>
            </a:extLst>
          </p:cNvPr>
          <p:cNvSpPr>
            <a:spLocks xmlns:a="http://schemas.openxmlformats.org/drawingml/2006/main" noGrp="1"/>
          </p:cNvSpPr>
          <p:nvPr/>
        </p:nvSpPr>
        <p:spPr>
          <a:xfrm xmlns:a="http://schemas.openxmlformats.org/drawingml/2006/main">
            <a:off x="6080760" y="2907792"/>
            <a:ext cx="4572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50" b="0">
                <a:solidFill>
                  <a:srgbClr val="1F2D3D"/>
                </a:solidFill>
                <a:latin typeface="Calibri"/>
                <a:ea typeface="Calibri"/>
                <a:cs typeface="Calibri"/>
                <a:hlinkClick xmlns:r="http://schemas.openxmlformats.org/officeDocument/2006/relationships" r:id="Rb44eda4654a446d7"/>
              </a:rPr>
              <a:t>AWS Step Functions · RDS · Lambda / SDK · SSM · DynamoDB · EventBridge</a:t>
            </a:r>
          </a:p>
        </p:txBody>
      </p:sp>
      <p:sp>
        <p:nvSpPr>
          <p:cNvPr id="24" name="Rectangle 23">
            <a:extLst xmlns:a="http://schemas.openxmlformats.org/drawingml/2006/main">
              <a:ext uri="{FF2B5EF4-FFF2-40B4-BE49-F238E27FC236}">
                <a16:creationId xmlns:a16="http://schemas.microsoft.com/office/drawing/2014/main" id="{D9B55896-8EC5-489B-88C0-D04D0CE578C6}"/>
              </a:ext>
            </a:extLst>
          </p:cNvPr>
          <p:cNvSpPr>
            <a:spLocks xmlns:a="http://schemas.openxmlformats.org/drawingml/2006/main" noGrp="1"/>
          </p:cNvSpPr>
          <p:nvPr/>
        </p:nvSpPr>
        <p:spPr>
          <a:xfrm xmlns:a="http://schemas.openxmlformats.org/drawingml/2006/main">
            <a:off x="5989320" y="3474720"/>
            <a:ext cx="45720" cy="457200"/>
          </a:xfrm>
          <a:prstGeom xmlns:a="http://schemas.openxmlformats.org/drawingml/2006/main" prst="rect">
            <a:avLst/>
          </a:prstGeom>
          <a:solidFill xmlns:a="http://schemas.openxmlformats.org/drawingml/2006/main">
            <a:srgbClr val="C47400"/>
          </a:solidFill>
          <a:ln xmlns:a="http://schemas.openxmlformats.org/drawingml/2006/main">
            <a:solidFill>
              <a:srgbClr val="C474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8E4ED944-0002-4F41-9E89-0E1BF25CA83A}"/>
              </a:ext>
            </a:extLst>
          </p:cNvPr>
          <p:cNvSpPr>
            <a:spLocks xmlns:a="http://schemas.openxmlformats.org/drawingml/2006/main" noGrp="1"/>
          </p:cNvSpPr>
          <p:nvPr/>
        </p:nvSpPr>
        <p:spPr>
          <a:xfrm xmlns:a="http://schemas.openxmlformats.org/drawingml/2006/main">
            <a:off x="6080760" y="3456432"/>
            <a:ext cx="2560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0" b="1">
                <a:solidFill>
                  <a:srgbClr val="1F2D3D"/>
                </a:solidFill>
                <a:latin typeface="Cambria"/>
                <a:ea typeface="Cambria"/>
                <a:cs typeface="Cambria"/>
              </a:rPr>
              <a:t>00J  Author Pays for Own Work</a:t>
            </a:r>
          </a:p>
        </p:txBody>
      </p:sp>
      <p:sp>
        <p:nvSpPr>
          <p:cNvPr id="26" name="TextBox 25">
            <a:extLst xmlns:a="http://schemas.openxmlformats.org/drawingml/2006/main">
              <a:ext uri="{FF2B5EF4-FFF2-40B4-BE49-F238E27FC236}">
                <a16:creationId xmlns:a16="http://schemas.microsoft.com/office/drawing/2014/main" id="{04E6A8DB-76A3-4946-876D-3850B1B43875}"/>
              </a:ext>
            </a:extLst>
          </p:cNvPr>
          <p:cNvSpPr>
            <a:spLocks xmlns:a="http://schemas.openxmlformats.org/drawingml/2006/main" noGrp="1"/>
          </p:cNvSpPr>
          <p:nvPr/>
        </p:nvSpPr>
        <p:spPr>
          <a:xfrm xmlns:a="http://schemas.openxmlformats.org/drawingml/2006/main">
            <a:off x="6080760" y="3639312"/>
            <a:ext cx="4572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50" b="0">
                <a:solidFill>
                  <a:srgbClr val="1F2D3D"/>
                </a:solidFill>
                <a:latin typeface="Calibri"/>
                <a:ea typeface="Calibri"/>
                <a:cs typeface="Calibri"/>
                <a:hlinkClick xmlns:r="http://schemas.openxmlformats.org/officeDocument/2006/relationships" r:id="R2e547d15349247ff"/>
              </a:rPr>
              <a:t>Panodyssey AI Transparency Notice · ODRL / JSON-LD · TEMS</a:t>
            </a:r>
          </a:p>
        </p:txBody>
      </p:sp>
      <p:sp>
        <p:nvSpPr>
          <p:cNvPr id="27" name="TextBox 26">
            <a:extLst xmlns:a="http://schemas.openxmlformats.org/drawingml/2006/main">
              <a:ext uri="{FF2B5EF4-FFF2-40B4-BE49-F238E27FC236}">
                <a16:creationId xmlns:a16="http://schemas.microsoft.com/office/drawing/2014/main" id="{B955CC6A-292C-48E3-9FEB-AA559D168141}"/>
              </a:ext>
            </a:extLst>
          </p:cNvPr>
          <p:cNvSpPr>
            <a:spLocks xmlns:a="http://schemas.openxmlformats.org/drawingml/2006/main" noGrp="1"/>
          </p:cNvSpPr>
          <p:nvPr/>
        </p:nvSpPr>
        <p:spPr>
          <a:xfrm xmlns:a="http://schemas.openxmlformats.org/drawingml/2006/main">
            <a:off x="841248" y="4773168"/>
            <a:ext cx="30175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60" b="1">
                <a:solidFill>
                  <a:srgbClr val="1F2D3D"/>
                </a:solidFill>
                <a:latin typeface="Consolas"/>
                <a:ea typeface="Consolas"/>
                <a:cs typeface="Consolas"/>
                <a:hlinkClick xmlns:r="http://schemas.openxmlformats.org/officeDocument/2006/relationships" r:id="Rc267bfb355c04149"/>
              </a:rPr>
              <a:t>THREE VALIDATION TRAJECTORIES</a:t>
            </a:r>
          </a:p>
        </p:txBody>
      </p:sp>
      <p:sp>
        <p:nvSpPr>
          <p:cNvPr id="28" name="Rounded Rectangle 27">
            <a:extLst xmlns:a="http://schemas.openxmlformats.org/drawingml/2006/main">
              <a:ext uri="{FF2B5EF4-FFF2-40B4-BE49-F238E27FC236}">
                <a16:creationId xmlns:a16="http://schemas.microsoft.com/office/drawing/2014/main" id="{50D70201-02E2-4345-8A19-3575BA4CFE85}"/>
              </a:ext>
            </a:extLst>
          </p:cNvPr>
          <p:cNvSpPr>
            <a:spLocks xmlns:a="http://schemas.openxmlformats.org/drawingml/2006/main" noGrp="1"/>
          </p:cNvSpPr>
          <p:nvPr/>
        </p:nvSpPr>
        <p:spPr>
          <a:xfrm xmlns:a="http://schemas.openxmlformats.org/drawingml/2006/main">
            <a:off x="658368" y="4983480"/>
            <a:ext cx="340156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Oval 28">
            <a:extLst xmlns:a="http://schemas.openxmlformats.org/drawingml/2006/main">
              <a:ext uri="{FF2B5EF4-FFF2-40B4-BE49-F238E27FC236}">
                <a16:creationId xmlns:a16="http://schemas.microsoft.com/office/drawing/2014/main" id="{0C1FA9B1-E053-4F34-B2BF-923FEEA540B9}"/>
              </a:ext>
            </a:extLst>
          </p:cNvPr>
          <p:cNvSpPr>
            <a:spLocks xmlns:a="http://schemas.openxmlformats.org/drawingml/2006/main" noGrp="1"/>
          </p:cNvSpPr>
          <p:nvPr/>
        </p:nvSpPr>
        <p:spPr>
          <a:xfrm xmlns:a="http://schemas.openxmlformats.org/drawingml/2006/main">
            <a:off x="786384" y="5148072"/>
            <a:ext cx="365760" cy="365760"/>
          </a:xfrm>
          <a:prstGeom xmlns:a="http://schemas.openxmlformats.org/drawingml/2006/main" prst="ellipse">
            <a:avLst/>
          </a:prstGeom>
          <a:solidFill xmlns:a="http://schemas.openxmlformats.org/drawingml/2006/main">
            <a:srgbClr val="1B4D8E"/>
          </a:solidFill>
          <a:ln xmlns:a="http://schemas.openxmlformats.org/drawingml/2006/main">
            <a:solidFill>
              <a:srgbClr val="1B4D8E"/>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1B2695A4-F381-4993-B16E-104CDDDCFA6E}"/>
              </a:ext>
            </a:extLst>
          </p:cNvPr>
          <p:cNvSpPr>
            <a:spLocks xmlns:a="http://schemas.openxmlformats.org/drawingml/2006/main" noGrp="1"/>
          </p:cNvSpPr>
          <p:nvPr/>
        </p:nvSpPr>
        <p:spPr>
          <a:xfrm xmlns:a="http://schemas.openxmlformats.org/drawingml/2006/main">
            <a:off x="786384" y="5152644"/>
            <a:ext cx="3657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1000" b="1">
                <a:solidFill>
                  <a:srgbClr val="FFFFFF"/>
                </a:solidFill>
                <a:latin typeface="Consolas"/>
                <a:ea typeface="Consolas"/>
                <a:cs typeface="Consolas"/>
              </a:rPr>
              <a:t>1</a:t>
            </a:r>
          </a:p>
        </p:txBody>
      </p:sp>
      <p:sp>
        <p:nvSpPr>
          <p:cNvPr id="31" name="TextBox 30">
            <a:extLst xmlns:a="http://schemas.openxmlformats.org/drawingml/2006/main">
              <a:ext uri="{FF2B5EF4-FFF2-40B4-BE49-F238E27FC236}">
                <a16:creationId xmlns:a16="http://schemas.microsoft.com/office/drawing/2014/main" id="{01767F6D-217F-4BBC-B795-681F470472AD}"/>
              </a:ext>
            </a:extLst>
          </p:cNvPr>
          <p:cNvSpPr>
            <a:spLocks xmlns:a="http://schemas.openxmlformats.org/drawingml/2006/main" noGrp="1"/>
          </p:cNvSpPr>
          <p:nvPr/>
        </p:nvSpPr>
        <p:spPr>
          <a:xfrm xmlns:a="http://schemas.openxmlformats.org/drawingml/2006/main">
            <a:off x="1225296" y="5074920"/>
            <a:ext cx="2816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70" b="1">
                <a:solidFill>
                  <a:srgbClr val="1F2D3D"/>
                </a:solidFill>
                <a:latin typeface="Cambria"/>
                <a:ea typeface="Cambria"/>
                <a:cs typeface="Cambria"/>
              </a:rPr>
              <a:t>Standard implementation</a:t>
            </a:r>
          </a:p>
        </p:txBody>
      </p:sp>
      <p:sp>
        <p:nvSpPr>
          <p:cNvPr id="32" name="TextBox 31">
            <a:extLst xmlns:a="http://schemas.openxmlformats.org/drawingml/2006/main">
              <a:ext uri="{FF2B5EF4-FFF2-40B4-BE49-F238E27FC236}">
                <a16:creationId xmlns:a16="http://schemas.microsoft.com/office/drawing/2014/main" id="{B13FA642-D0BA-43A8-B2D8-0D322282688E}"/>
              </a:ext>
            </a:extLst>
          </p:cNvPr>
          <p:cNvSpPr>
            <a:spLocks xmlns:a="http://schemas.openxmlformats.org/drawingml/2006/main" noGrp="1"/>
          </p:cNvSpPr>
          <p:nvPr/>
        </p:nvSpPr>
        <p:spPr>
          <a:xfrm xmlns:a="http://schemas.openxmlformats.org/drawingml/2006/main">
            <a:off x="1225296" y="5285232"/>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90" b="0">
                <a:solidFill>
                  <a:srgbClr val="1F2D3D"/>
                </a:solidFill>
                <a:latin typeface="Calibri"/>
                <a:ea typeface="Calibri"/>
                <a:cs typeface="Calibri"/>
              </a:rPr>
              <a:t>Conventional or near out-of-the-box implementation using the normal controls available to the technology.</a:t>
            </a:r>
          </a:p>
        </p:txBody>
      </p:sp>
      <p:sp>
        <p:nvSpPr>
          <p:cNvPr id="33" name="Rounded Rectangle 32">
            <a:extLst xmlns:a="http://schemas.openxmlformats.org/drawingml/2006/main">
              <a:ext uri="{FF2B5EF4-FFF2-40B4-BE49-F238E27FC236}">
                <a16:creationId xmlns:a16="http://schemas.microsoft.com/office/drawing/2014/main" id="{DEF7E1FA-E8F3-4B80-B99C-CE74816EBC52}"/>
              </a:ext>
            </a:extLst>
          </p:cNvPr>
          <p:cNvSpPr>
            <a:spLocks xmlns:a="http://schemas.openxmlformats.org/drawingml/2006/main" noGrp="1"/>
          </p:cNvSpPr>
          <p:nvPr/>
        </p:nvSpPr>
        <p:spPr>
          <a:xfrm xmlns:a="http://schemas.openxmlformats.org/drawingml/2006/main">
            <a:off x="4389120" y="4983480"/>
            <a:ext cx="340156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Oval 33">
            <a:extLst xmlns:a="http://schemas.openxmlformats.org/drawingml/2006/main">
              <a:ext uri="{FF2B5EF4-FFF2-40B4-BE49-F238E27FC236}">
                <a16:creationId xmlns:a16="http://schemas.microsoft.com/office/drawing/2014/main" id="{F237F705-484C-49DC-AE79-1E930618DFCF}"/>
              </a:ext>
            </a:extLst>
          </p:cNvPr>
          <p:cNvSpPr>
            <a:spLocks xmlns:a="http://schemas.openxmlformats.org/drawingml/2006/main" noGrp="1"/>
          </p:cNvSpPr>
          <p:nvPr/>
        </p:nvSpPr>
        <p:spPr>
          <a:xfrm xmlns:a="http://schemas.openxmlformats.org/drawingml/2006/main">
            <a:off x="4517136" y="5148072"/>
            <a:ext cx="365760" cy="365760"/>
          </a:xfrm>
          <a:prstGeom xmlns:a="http://schemas.openxmlformats.org/drawingml/2006/main" prst="ellipse">
            <a:avLst/>
          </a:prstGeom>
          <a:solidFill xmlns:a="http://schemas.openxmlformats.org/drawingml/2006/main">
            <a:srgbClr val="006970"/>
          </a:solidFill>
          <a:ln xmlns:a="http://schemas.openxmlformats.org/drawingml/2006/main">
            <a:solidFill>
              <a:srgbClr val="00697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TextBox 34">
            <a:extLst xmlns:a="http://schemas.openxmlformats.org/drawingml/2006/main">
              <a:ext uri="{FF2B5EF4-FFF2-40B4-BE49-F238E27FC236}">
                <a16:creationId xmlns:a16="http://schemas.microsoft.com/office/drawing/2014/main" id="{68AE3A91-D338-46D2-81AE-C3C81D585461}"/>
              </a:ext>
            </a:extLst>
          </p:cNvPr>
          <p:cNvSpPr>
            <a:spLocks xmlns:a="http://schemas.openxmlformats.org/drawingml/2006/main" noGrp="1"/>
          </p:cNvSpPr>
          <p:nvPr/>
        </p:nvSpPr>
        <p:spPr>
          <a:xfrm xmlns:a="http://schemas.openxmlformats.org/drawingml/2006/main">
            <a:off x="4517136" y="5152644"/>
            <a:ext cx="3657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1000" b="1">
                <a:solidFill>
                  <a:srgbClr val="FFFFFF"/>
                </a:solidFill>
                <a:latin typeface="Consolas"/>
                <a:ea typeface="Consolas"/>
                <a:cs typeface="Consolas"/>
              </a:rPr>
              <a:t>2</a:t>
            </a:r>
          </a:p>
        </p:txBody>
      </p:sp>
      <p:sp>
        <p:nvSpPr>
          <p:cNvPr id="36" name="TextBox 35">
            <a:extLst xmlns:a="http://schemas.openxmlformats.org/drawingml/2006/main">
              <a:ext uri="{FF2B5EF4-FFF2-40B4-BE49-F238E27FC236}">
                <a16:creationId xmlns:a16="http://schemas.microsoft.com/office/drawing/2014/main" id="{71912852-EBD6-4952-B952-7DFE41500EC1}"/>
              </a:ext>
            </a:extLst>
          </p:cNvPr>
          <p:cNvSpPr>
            <a:spLocks xmlns:a="http://schemas.openxmlformats.org/drawingml/2006/main" noGrp="1"/>
          </p:cNvSpPr>
          <p:nvPr/>
        </p:nvSpPr>
        <p:spPr>
          <a:xfrm xmlns:a="http://schemas.openxmlformats.org/drawingml/2006/main">
            <a:off x="4956048" y="5074920"/>
            <a:ext cx="2816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70" b="1">
                <a:solidFill>
                  <a:srgbClr val="1F2D3D"/>
                </a:solidFill>
                <a:latin typeface="Cambria"/>
                <a:ea typeface="Cambria"/>
                <a:cs typeface="Cambria"/>
              </a:rPr>
              <a:t>Defended / top-notch implementation</a:t>
            </a:r>
          </a:p>
        </p:txBody>
      </p:sp>
      <p:sp>
        <p:nvSpPr>
          <p:cNvPr id="37" name="TextBox 36">
            <a:extLst xmlns:a="http://schemas.openxmlformats.org/drawingml/2006/main">
              <a:ext uri="{FF2B5EF4-FFF2-40B4-BE49-F238E27FC236}">
                <a16:creationId xmlns:a16="http://schemas.microsoft.com/office/drawing/2014/main" id="{3BBDBCFC-2827-4225-9C6D-C95A747B2018}"/>
              </a:ext>
            </a:extLst>
          </p:cNvPr>
          <p:cNvSpPr>
            <a:spLocks xmlns:a="http://schemas.openxmlformats.org/drawingml/2006/main" noGrp="1"/>
          </p:cNvSpPr>
          <p:nvPr/>
        </p:nvSpPr>
        <p:spPr>
          <a:xfrm xmlns:a="http://schemas.openxmlformats.org/drawingml/2006/main">
            <a:off x="4956048" y="5285232"/>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90" b="0">
                <a:solidFill>
                  <a:srgbClr val="1F2D3D"/>
                </a:solidFill>
                <a:latin typeface="Calibri"/>
                <a:ea typeface="Calibri"/>
                <a:cs typeface="Calibri"/>
              </a:rPr>
              <a:t>Strong implementation with explicit controls, supervision, authority boundaries, tracing and current best practices.</a:t>
            </a:r>
          </a:p>
        </p:txBody>
      </p:sp>
      <p:sp>
        <p:nvSpPr>
          <p:cNvPr id="38" name="Rounded Rectangle 37">
            <a:extLst xmlns:a="http://schemas.openxmlformats.org/drawingml/2006/main">
              <a:ext uri="{FF2B5EF4-FFF2-40B4-BE49-F238E27FC236}">
                <a16:creationId xmlns:a16="http://schemas.microsoft.com/office/drawing/2014/main" id="{6A7F05F8-351B-4D9F-8395-27E9F565C0BD}"/>
              </a:ext>
            </a:extLst>
          </p:cNvPr>
          <p:cNvSpPr>
            <a:spLocks xmlns:a="http://schemas.openxmlformats.org/drawingml/2006/main" noGrp="1"/>
          </p:cNvSpPr>
          <p:nvPr/>
        </p:nvSpPr>
        <p:spPr>
          <a:xfrm xmlns:a="http://schemas.openxmlformats.org/drawingml/2006/main">
            <a:off x="8119872" y="4983480"/>
            <a:ext cx="340156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9" name="Oval 38">
            <a:extLst xmlns:a="http://schemas.openxmlformats.org/drawingml/2006/main">
              <a:ext uri="{FF2B5EF4-FFF2-40B4-BE49-F238E27FC236}">
                <a16:creationId xmlns:a16="http://schemas.microsoft.com/office/drawing/2014/main" id="{BCDE8014-9B1D-4EC6-9D53-2C98449D5FBB}"/>
              </a:ext>
            </a:extLst>
          </p:cNvPr>
          <p:cNvSpPr>
            <a:spLocks xmlns:a="http://schemas.openxmlformats.org/drawingml/2006/main" noGrp="1"/>
          </p:cNvSpPr>
          <p:nvPr/>
        </p:nvSpPr>
        <p:spPr>
          <a:xfrm xmlns:a="http://schemas.openxmlformats.org/drawingml/2006/main">
            <a:off x="8247888" y="5148072"/>
            <a:ext cx="365760" cy="365760"/>
          </a:xfrm>
          <a:prstGeom xmlns:a="http://schemas.openxmlformats.org/drawingml/2006/main" prst="ellipse">
            <a:avLst/>
          </a:prstGeom>
          <a:solidFill xmlns:a="http://schemas.openxmlformats.org/drawingml/2006/main">
            <a:srgbClr val="C47400"/>
          </a:solidFill>
          <a:ln xmlns:a="http://schemas.openxmlformats.org/drawingml/2006/main">
            <a:solidFill>
              <a:srgbClr val="C474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8809545F-89F2-43EC-83D4-41DE56637CF8}"/>
              </a:ext>
            </a:extLst>
          </p:cNvPr>
          <p:cNvSpPr>
            <a:spLocks xmlns:a="http://schemas.openxmlformats.org/drawingml/2006/main" noGrp="1"/>
          </p:cNvSpPr>
          <p:nvPr/>
        </p:nvSpPr>
        <p:spPr>
          <a:xfrm xmlns:a="http://schemas.openxmlformats.org/drawingml/2006/main">
            <a:off x="8247888" y="5152644"/>
            <a:ext cx="3657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1000" b="1">
                <a:solidFill>
                  <a:srgbClr val="FFFFFF"/>
                </a:solidFill>
                <a:latin typeface="Consolas"/>
                <a:ea typeface="Consolas"/>
                <a:cs typeface="Consolas"/>
              </a:rPr>
              <a:t>3</a:t>
            </a:r>
          </a:p>
        </p:txBody>
      </p:sp>
      <p:sp>
        <p:nvSpPr>
          <p:cNvPr id="41" name="TextBox 40">
            <a:extLst xmlns:a="http://schemas.openxmlformats.org/drawingml/2006/main">
              <a:ext uri="{FF2B5EF4-FFF2-40B4-BE49-F238E27FC236}">
                <a16:creationId xmlns:a16="http://schemas.microsoft.com/office/drawing/2014/main" id="{8167C339-F800-41DB-91F2-4FB7B477943E}"/>
              </a:ext>
            </a:extLst>
          </p:cNvPr>
          <p:cNvSpPr>
            <a:spLocks xmlns:a="http://schemas.openxmlformats.org/drawingml/2006/main" noGrp="1"/>
          </p:cNvSpPr>
          <p:nvPr/>
        </p:nvSpPr>
        <p:spPr>
          <a:xfrm xmlns:a="http://schemas.openxmlformats.org/drawingml/2006/main">
            <a:off x="8686800" y="5074920"/>
            <a:ext cx="2816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19" b="1">
                <a:solidFill>
                  <a:srgbClr val="1F2D3D"/>
                </a:solidFill>
                <a:latin typeface="Cambria"/>
                <a:ea typeface="Cambria"/>
                <a:cs typeface="Cambria"/>
              </a:rPr>
              <a:t>Frozen defended implementation under drift</a:t>
            </a:r>
          </a:p>
        </p:txBody>
      </p:sp>
      <p:sp>
        <p:nvSpPr>
          <p:cNvPr id="42" name="TextBox 41">
            <a:extLst xmlns:a="http://schemas.openxmlformats.org/drawingml/2006/main">
              <a:ext uri="{FF2B5EF4-FFF2-40B4-BE49-F238E27FC236}">
                <a16:creationId xmlns:a16="http://schemas.microsoft.com/office/drawing/2014/main" id="{935B0041-44AC-43C2-B69C-DDA2E6EB1DD7}"/>
              </a:ext>
            </a:extLst>
          </p:cNvPr>
          <p:cNvSpPr>
            <a:spLocks xmlns:a="http://schemas.openxmlformats.org/drawingml/2006/main" noGrp="1"/>
          </p:cNvSpPr>
          <p:nvPr/>
        </p:nvSpPr>
        <p:spPr>
          <a:xfrm xmlns:a="http://schemas.openxmlformats.org/drawingml/2006/main">
            <a:off x="8686800" y="5312664"/>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69" b="0">
                <a:solidFill>
                  <a:srgbClr val="1F2D3D"/>
                </a:solidFill>
                <a:latin typeface="Calibri"/>
                <a:ea typeface="Calibri"/>
                <a:cs typeface="Calibri"/>
              </a:rPr>
              <a:t>The same defended implementation is frozen, then tested as ecosystem, role, authority or regime conditions change silently over time.</a:t>
            </a:r>
          </a:p>
        </p:txBody>
      </p:sp>
      <p:sp>
        <p:nvSpPr>
          <p:cNvPr id="43" name="Rounded Rectangle 42">
            <a:extLst xmlns:a="http://schemas.openxmlformats.org/drawingml/2006/main">
              <a:ext uri="{FF2B5EF4-FFF2-40B4-BE49-F238E27FC236}">
                <a16:creationId xmlns:a16="http://schemas.microsoft.com/office/drawing/2014/main" id="{A66122BE-5FB6-4892-A2A9-631F11926071}"/>
              </a:ext>
            </a:extLst>
          </p:cNvPr>
          <p:cNvSpPr>
            <a:spLocks xmlns:a="http://schemas.openxmlformats.org/drawingml/2006/main" noGrp="1"/>
          </p:cNvSpPr>
          <p:nvPr/>
        </p:nvSpPr>
        <p:spPr>
          <a:xfrm xmlns:a="http://schemas.openxmlformats.org/drawingml/2006/main">
            <a:off x="658368" y="6035040"/>
            <a:ext cx="10853928" cy="411480"/>
          </a:xfrm>
          <a:prstGeom xmlns:a="http://schemas.openxmlformats.org/drawingml/2006/main" prst="roundRect">
            <a:avLst/>
          </a:prstGeom>
          <a:solidFill xmlns:a="http://schemas.openxmlformats.org/drawingml/2006/main">
            <a:srgbClr val="F2F5F8"/>
          </a:solidFill>
          <a:ln xmlns:a="http://schemas.openxmlformats.org/drawingml/2006/main" w="12700">
            <a:solidFill>
              <a:srgbClr val="D6DC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TextBox 43">
            <a:extLst xmlns:a="http://schemas.openxmlformats.org/drawingml/2006/main">
              <a:ext uri="{FF2B5EF4-FFF2-40B4-BE49-F238E27FC236}">
                <a16:creationId xmlns:a16="http://schemas.microsoft.com/office/drawing/2014/main" id="{D45D98E0-450F-4A26-8105-358650ACD296}"/>
              </a:ext>
            </a:extLst>
          </p:cNvPr>
          <p:cNvSpPr>
            <a:spLocks xmlns:a="http://schemas.openxmlformats.org/drawingml/2006/main" noGrp="1"/>
          </p:cNvSpPr>
          <p:nvPr/>
        </p:nvSpPr>
        <p:spPr>
          <a:xfrm xmlns:a="http://schemas.openxmlformats.org/drawingml/2006/main">
            <a:off x="786384" y="6144768"/>
            <a:ext cx="105613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0">
                <a:solidFill>
                  <a:srgbClr val="1F2D3D"/>
                </a:solidFill>
                <a:latin typeface="Calibri"/>
                <a:ea typeface="Calibri"/>
                <a:cs typeface="Calibri"/>
              </a:rPr>
              <a:t>The products are treated as substrates for controlled trajectories. The comparison tests whether the same scenario changes materially across standard, defended and drifted implementations.</a:t>
            </a:r>
          </a:p>
        </p:txBody>
      </p:sp>
      <p:sp>
        <p:nvSpPr>
          <p:cNvPr id="45" name="TextBox 44">
            <a:extLst xmlns:a="http://schemas.openxmlformats.org/drawingml/2006/main">
              <a:ext uri="{FF2B5EF4-FFF2-40B4-BE49-F238E27FC236}">
                <a16:creationId xmlns:a16="http://schemas.microsoft.com/office/drawing/2014/main" id="{6CB133EA-A62A-4120-A920-5D71F2BE4E7C}"/>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9ea9064587ae43e0"/>
              </a:rPr>
              <a:t>Technology implementation profiles</a:t>
            </a:r>
          </a:p>
        </p:txBody>
      </p:sp>
    </p:spTree>
    <p:extLst>
      <p:ext uri="{BB962C8B-B14F-4D97-AF65-F5344CB8AC3E}">
        <p14:creationId xmlns:p14="http://schemas.microsoft.com/office/powerpoint/2010/main" val="70087178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C6C9B07-B95E-4155-9DE9-D747491A4813}"/>
              </a:ext>
            </a:extLst>
          </p:cNvPr>
          <p:cNvSpPr>
            <a:spLocks xmlns:a="http://schemas.openxmlformats.org/drawingml/2006/main" noGrp="1"/>
          </p:cNvSpPr>
          <p:nvPr/>
        </p:nvSpPr>
        <p:spPr>
          <a:xfrm xmlns:a="http://schemas.openxmlformats.org/drawingml/2006/main">
            <a:off x="566928" y="164592"/>
            <a:ext cx="21945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20">
                <a:solidFill>
                  <a:srgbClr val="7A7E84"/>
                </a:solidFill>
                <a:latin typeface="Consolas"/>
                <a:ea typeface="Consolas"/>
                <a:cs typeface="Consolas"/>
              </a:rPr>
              <a:t>FAILURE PROGRESSION</a:t>
            </a:r>
            <a:endParaRPr sz="820"/>
          </a:p>
        </p:txBody>
      </p:sp>
      <p:sp>
        <p:nvSpPr>
          <p:cNvPr id="3" name="Text 1">
            <a:extLst xmlns:a="http://schemas.openxmlformats.org/drawingml/2006/main">
              <a:ext uri="{FF2B5EF4-FFF2-40B4-BE49-F238E27FC236}">
                <a16:creationId xmlns:a16="http://schemas.microsoft.com/office/drawing/2014/main" id="{2CAF32F8-8798-4F01-8A78-08D7745DCA52}"/>
              </a:ext>
            </a:extLst>
          </p:cNvPr>
          <p:cNvSpPr>
            <a:spLocks xmlns:a="http://schemas.openxmlformats.org/drawingml/2006/main" noGrp="1"/>
          </p:cNvSpPr>
          <p:nvPr/>
        </p:nvSpPr>
        <p:spPr>
          <a:xfrm xmlns:a="http://schemas.openxmlformats.org/drawingml/2006/main">
            <a:off x="10927080" y="164592"/>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20">
                <a:solidFill>
                  <a:srgbClr val="7A7E84"/>
                </a:solidFill>
                <a:latin typeface="Consolas"/>
                <a:ea typeface="Consolas"/>
                <a:cs typeface="Consolas"/>
              </a:rPr>
              <a:t>§ 03</a:t>
            </a:r>
            <a:endParaRPr sz="820"/>
          </a:p>
        </p:txBody>
      </p:sp>
      <p:sp>
        <p:nvSpPr>
          <p:cNvPr id="4" name="Text 2">
            <a:extLst xmlns:a="http://schemas.openxmlformats.org/drawingml/2006/main">
              <a:ext uri="{FF2B5EF4-FFF2-40B4-BE49-F238E27FC236}">
                <a16:creationId xmlns:a16="http://schemas.microsoft.com/office/drawing/2014/main" id="{D207E07F-B9A1-4E10-B9B8-60B487E97D70}"/>
              </a:ext>
            </a:extLst>
          </p:cNvPr>
          <p:cNvSpPr>
            <a:spLocks xmlns:a="http://schemas.openxmlformats.org/drawingml/2006/main" noGrp="1"/>
          </p:cNvSpPr>
          <p:nvPr/>
        </p:nvSpPr>
        <p:spPr>
          <a:xfrm xmlns:a="http://schemas.openxmlformats.org/drawingml/2006/main">
            <a:off x="566928" y="658368"/>
            <a:ext cx="109728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50" b="1">
                <a:solidFill>
                  <a:srgbClr val="1B273F"/>
                </a:solidFill>
                <a:latin typeface="Cambria"/>
                <a:ea typeface="Cambria"/>
                <a:cs typeface="Cambria"/>
                <a:hlinkClick xmlns:r="http://schemas.openxmlformats.org/officeDocument/2006/relationships" r:id="R62b82180d8ca4f64"/>
              </a:rPr>
              <a:t>Failure progression: mechanisms and failure types</a:t>
            </a:r>
            <a:endParaRPr sz="2550"/>
          </a:p>
        </p:txBody>
      </p:sp>
      <p:sp>
        <p:nvSpPr>
          <p:cNvPr id="5" name="Text 3">
            <a:extLst xmlns:a="http://schemas.openxmlformats.org/drawingml/2006/main">
              <a:ext uri="{FF2B5EF4-FFF2-40B4-BE49-F238E27FC236}">
                <a16:creationId xmlns:a16="http://schemas.microsoft.com/office/drawing/2014/main" id="{A92FCA48-FF4B-4B28-83CD-7B981144FB1F}"/>
              </a:ext>
            </a:extLst>
          </p:cNvPr>
          <p:cNvSpPr>
            <a:spLocks xmlns:a="http://schemas.openxmlformats.org/drawingml/2006/main" noGrp="1"/>
          </p:cNvSpPr>
          <p:nvPr/>
        </p:nvSpPr>
        <p:spPr>
          <a:xfrm xmlns:a="http://schemas.openxmlformats.org/drawingml/2006/main">
            <a:off x="566928" y="1115568"/>
            <a:ext cx="1097280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55595F"/>
                </a:solidFill>
                <a:latin typeface="Calibri"/>
                <a:ea typeface="Calibri"/>
                <a:cs typeface="Calibri"/>
              </a:rPr>
              <a:t>The ecosystem can drift while local controls keep returning valid-looking answers. The key question is whether uncertainty remains visible or is converted into unsupported closure.</a:t>
            </a:r>
            <a:endParaRPr sz="1200"/>
          </a:p>
        </p:txBody>
      </p:sp>
      <p:sp>
        <p:nvSpPr>
          <p:cNvPr id="6" name="Text 4">
            <a:extLst xmlns:a="http://schemas.openxmlformats.org/drawingml/2006/main">
              <a:ext uri="{FF2B5EF4-FFF2-40B4-BE49-F238E27FC236}">
                <a16:creationId xmlns:a16="http://schemas.microsoft.com/office/drawing/2014/main" id="{D7BBDB95-8F1D-40CA-9EEF-82FC684C9B3F}"/>
              </a:ext>
            </a:extLst>
          </p:cNvPr>
          <p:cNvSpPr>
            <a:spLocks xmlns:a="http://schemas.openxmlformats.org/drawingml/2006/main" noGrp="1"/>
          </p:cNvSpPr>
          <p:nvPr/>
        </p:nvSpPr>
        <p:spPr>
          <a:xfrm xmlns:a="http://schemas.openxmlformats.org/drawingml/2006/main">
            <a:off x="685800" y="1572768"/>
            <a:ext cx="23774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7A7E84"/>
                </a:solidFill>
                <a:latin typeface="Consolas"/>
                <a:ea typeface="Consolas"/>
                <a:cs typeface="Consolas"/>
              </a:rPr>
              <a:t>INITIAL STATE</a:t>
            </a:r>
            <a:endParaRPr sz="900"/>
          </a:p>
        </p:txBody>
      </p:sp>
      <p:sp>
        <p:nvSpPr>
          <p:cNvPr id="7" name="Shape 5">
            <a:extLst xmlns:a="http://schemas.openxmlformats.org/drawingml/2006/main">
              <a:ext uri="{FF2B5EF4-FFF2-40B4-BE49-F238E27FC236}">
                <a16:creationId xmlns:a16="http://schemas.microsoft.com/office/drawing/2014/main" id="{A1F52260-FA80-43CE-83DC-DEA9968E4EC9}"/>
              </a:ext>
            </a:extLst>
          </p:cNvPr>
          <p:cNvSpPr>
            <a:spLocks xmlns:a="http://schemas.openxmlformats.org/drawingml/2006/main" noGrp="1"/>
          </p:cNvSpPr>
          <p:nvPr/>
        </p:nvSpPr>
        <p:spPr>
          <a:xfrm xmlns:a="http://schemas.openxmlformats.org/drawingml/2006/main">
            <a:off x="685800" y="1847088"/>
            <a:ext cx="2926080" cy="129844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00887344-2E94-471C-AB23-E81CE030420B}"/>
              </a:ext>
            </a:extLst>
          </p:cNvPr>
          <p:cNvSpPr>
            <a:spLocks xmlns:a="http://schemas.openxmlformats.org/drawingml/2006/main" noGrp="1"/>
          </p:cNvSpPr>
          <p:nvPr/>
        </p:nvSpPr>
        <p:spPr>
          <a:xfrm xmlns:a="http://schemas.openxmlformats.org/drawingml/2006/main">
            <a:off x="832104" y="2011680"/>
            <a:ext cx="26060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B273F"/>
                </a:solidFill>
                <a:latin typeface="Cambria"/>
                <a:ea typeface="Cambria"/>
                <a:cs typeface="Cambria"/>
              </a:rPr>
              <a:t>Legible roles and boundaries</a:t>
            </a:r>
            <a:endParaRPr sz="1450"/>
          </a:p>
        </p:txBody>
      </p:sp>
      <p:sp>
        <p:nvSpPr>
          <p:cNvPr id="9" name="Text 7">
            <a:extLst xmlns:a="http://schemas.openxmlformats.org/drawingml/2006/main">
              <a:ext uri="{FF2B5EF4-FFF2-40B4-BE49-F238E27FC236}">
                <a16:creationId xmlns:a16="http://schemas.microsoft.com/office/drawing/2014/main" id="{9E8F57D7-D072-4872-8B57-228E15129837}"/>
              </a:ext>
            </a:extLst>
          </p:cNvPr>
          <p:cNvSpPr>
            <a:spLocks xmlns:a="http://schemas.openxmlformats.org/drawingml/2006/main" noGrp="1"/>
          </p:cNvSpPr>
          <p:nvPr/>
        </p:nvSpPr>
        <p:spPr>
          <a:xfrm xmlns:a="http://schemas.openxmlformats.org/drawingml/2006/main">
            <a:off x="832104" y="2404872"/>
            <a:ext cx="26060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80">
                <a:solidFill>
                  <a:srgbClr val="55595F"/>
                </a:solidFill>
                <a:latin typeface="Calibri"/>
                <a:ea typeface="Calibri"/>
                <a:cs typeface="Calibri"/>
              </a:rPr>
              <a:t>Identity and authority are current</a:t>
            </a:r>
            <a:endParaRPr sz="980"/>
          </a:p>
          <a:p xmlns:a="http://schemas.openxmlformats.org/drawingml/2006/main">
            <a:pPr marL="0" indent="0">
              <a:buNone/>
            </a:pPr>
            <a:r>
              <a:rPr sz="980">
                <a:solidFill>
                  <a:srgbClr val="55595F"/>
                </a:solidFill>
                <a:latin typeface="Calibri"/>
                <a:ea typeface="Calibri"/>
                <a:cs typeface="Calibri"/>
              </a:rPr>
              <a:t>Policies match the operating context</a:t>
            </a:r>
            <a:endParaRPr sz="980"/>
          </a:p>
          <a:p xmlns:a="http://schemas.openxmlformats.org/drawingml/2006/main">
            <a:pPr marL="0" indent="0">
              <a:buNone/>
            </a:pPr>
            <a:r>
              <a:rPr sz="980">
                <a:solidFill>
                  <a:srgbClr val="55595F"/>
                </a:solidFill>
                <a:latin typeface="Calibri"/>
                <a:ea typeface="Calibri"/>
                <a:cs typeface="Calibri"/>
              </a:rPr>
              <a:t>Oversight can follow the material paths</a:t>
            </a:r>
            <a:endParaRPr sz="980"/>
          </a:p>
        </p:txBody>
      </p:sp>
      <p:sp>
        <p:nvSpPr>
          <p:cNvPr id="10" name="Shape 8">
            <a:extLst xmlns:a="http://schemas.openxmlformats.org/drawingml/2006/main">
              <a:ext uri="{FF2B5EF4-FFF2-40B4-BE49-F238E27FC236}">
                <a16:creationId xmlns:a16="http://schemas.microsoft.com/office/drawing/2014/main" id="{0B7DAFE2-69ED-40FB-BE60-B29EEAC683D2}"/>
              </a:ext>
            </a:extLst>
          </p:cNvPr>
          <p:cNvSpPr>
            <a:spLocks xmlns:a="http://schemas.openxmlformats.org/drawingml/2006/main" noGrp="1"/>
          </p:cNvSpPr>
          <p:nvPr/>
        </p:nvSpPr>
        <p:spPr>
          <a:xfrm xmlns:a="http://schemas.openxmlformats.org/drawingml/2006/main">
            <a:off x="3611880" y="2496312"/>
            <a:ext cx="438912" cy="0"/>
          </a:xfrm>
          <a:prstGeom xmlns:a="http://schemas.openxmlformats.org/drawingml/2006/main" prst="line">
            <a:avLst/>
          </a:prstGeom>
          <a:noFill xmlns:a="http://schemas.openxmlformats.org/drawingml/2006/main"/>
          <a:ln xmlns:a="http://schemas.openxmlformats.org/drawingml/2006/main" w="20320">
            <a:solidFill>
              <a:srgbClr val="7A7E84"/>
            </a:solidFill>
            <a:prstDash val="solid"/>
            <a:headEnd type="none"/>
            <a:tailEnd type="triangle"/>
          </a:ln>
        </p:spPr>
        <p:txBody>
          <a:bodyPr xmlns:a="http://schemas.openxmlformats.org/drawingml/2006/main" wrap="square"/>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157CB44C-9E74-40AF-B9FA-D68E135D7451}"/>
              </a:ext>
            </a:extLst>
          </p:cNvPr>
          <p:cNvSpPr>
            <a:spLocks xmlns:a="http://schemas.openxmlformats.org/drawingml/2006/main" noGrp="1"/>
          </p:cNvSpPr>
          <p:nvPr/>
        </p:nvSpPr>
        <p:spPr>
          <a:xfrm xmlns:a="http://schemas.openxmlformats.org/drawingml/2006/main">
            <a:off x="4160520" y="1572768"/>
            <a:ext cx="23774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7A7E84"/>
                </a:solidFill>
                <a:latin typeface="Consolas"/>
                <a:ea typeface="Consolas"/>
                <a:cs typeface="Consolas"/>
              </a:rPr>
              <a:t>DRIFT</a:t>
            </a:r>
            <a:endParaRPr sz="900"/>
          </a:p>
        </p:txBody>
      </p:sp>
      <p:sp>
        <p:nvSpPr>
          <p:cNvPr id="12" name="Shape 10">
            <a:extLst xmlns:a="http://schemas.openxmlformats.org/drawingml/2006/main">
              <a:ext uri="{FF2B5EF4-FFF2-40B4-BE49-F238E27FC236}">
                <a16:creationId xmlns:a16="http://schemas.microsoft.com/office/drawing/2014/main" id="{26E75C4E-4FA7-44F4-88F5-640F7A7D7234}"/>
              </a:ext>
            </a:extLst>
          </p:cNvPr>
          <p:cNvSpPr>
            <a:spLocks xmlns:a="http://schemas.openxmlformats.org/drawingml/2006/main" noGrp="1"/>
          </p:cNvSpPr>
          <p:nvPr/>
        </p:nvSpPr>
        <p:spPr>
          <a:xfrm xmlns:a="http://schemas.openxmlformats.org/drawingml/2006/main">
            <a:off x="4160520" y="1847088"/>
            <a:ext cx="2926080" cy="129844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13" name="Text 11">
            <a:extLst xmlns:a="http://schemas.openxmlformats.org/drawingml/2006/main">
              <a:ext uri="{FF2B5EF4-FFF2-40B4-BE49-F238E27FC236}">
                <a16:creationId xmlns:a16="http://schemas.microsoft.com/office/drawing/2014/main" id="{19EF545C-8CD3-46D7-A8A5-4E9B6AA5F2A4}"/>
              </a:ext>
            </a:extLst>
          </p:cNvPr>
          <p:cNvSpPr>
            <a:spLocks xmlns:a="http://schemas.openxmlformats.org/drawingml/2006/main" noGrp="1"/>
          </p:cNvSpPr>
          <p:nvPr/>
        </p:nvSpPr>
        <p:spPr>
          <a:xfrm xmlns:a="http://schemas.openxmlformats.org/drawingml/2006/main">
            <a:off x="4306824" y="2011680"/>
            <a:ext cx="26060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B273F"/>
                </a:solidFill>
                <a:latin typeface="Cambria"/>
                <a:ea typeface="Cambria"/>
                <a:cs typeface="Cambria"/>
              </a:rPr>
              <a:t>The ecosystem changes</a:t>
            </a:r>
            <a:endParaRPr sz="1450"/>
          </a:p>
        </p:txBody>
      </p:sp>
      <p:sp>
        <p:nvSpPr>
          <p:cNvPr id="14" name="Text 12">
            <a:extLst xmlns:a="http://schemas.openxmlformats.org/drawingml/2006/main">
              <a:ext uri="{FF2B5EF4-FFF2-40B4-BE49-F238E27FC236}">
                <a16:creationId xmlns:a16="http://schemas.microsoft.com/office/drawing/2014/main" id="{8AF5F651-7C55-4D3D-9BE1-43B0EE85A7E0}"/>
              </a:ext>
            </a:extLst>
          </p:cNvPr>
          <p:cNvSpPr>
            <a:spLocks xmlns:a="http://schemas.openxmlformats.org/drawingml/2006/main" noGrp="1"/>
          </p:cNvSpPr>
          <p:nvPr/>
        </p:nvSpPr>
        <p:spPr>
          <a:xfrm xmlns:a="http://schemas.openxmlformats.org/drawingml/2006/main">
            <a:off x="4306824" y="2404872"/>
            <a:ext cx="26060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80">
                <a:solidFill>
                  <a:srgbClr val="55595F"/>
                </a:solidFill>
                <a:latin typeface="Calibri"/>
                <a:ea typeface="Calibri"/>
                <a:cs typeface="Calibri"/>
              </a:rPr>
              <a:t>Agents multiply and change roles</a:t>
            </a:r>
            <a:endParaRPr sz="980"/>
          </a:p>
          <a:p xmlns:a="http://schemas.openxmlformats.org/drawingml/2006/main">
            <a:pPr marL="0" indent="0">
              <a:buNone/>
            </a:pPr>
            <a:r>
              <a:rPr sz="980">
                <a:solidFill>
                  <a:srgbClr val="55595F"/>
                </a:solidFill>
                <a:latin typeface="Calibri"/>
                <a:ea typeface="Calibri"/>
                <a:cs typeface="Calibri"/>
              </a:rPr>
              <a:t>Boundaries and memberships shift</a:t>
            </a:r>
            <a:endParaRPr sz="980"/>
          </a:p>
          <a:p xmlns:a="http://schemas.openxmlformats.org/drawingml/2006/main">
            <a:pPr marL="0" indent="0">
              <a:buNone/>
            </a:pPr>
            <a:r>
              <a:rPr sz="980">
                <a:solidFill>
                  <a:srgbClr val="55595F"/>
                </a:solidFill>
                <a:latin typeface="Calibri"/>
                <a:ea typeface="Calibri"/>
                <a:cs typeface="Calibri"/>
              </a:rPr>
              <a:t>Signals inherit hidden dependencies</a:t>
            </a:r>
            <a:endParaRPr sz="980"/>
          </a:p>
          <a:p xmlns:a="http://schemas.openxmlformats.org/drawingml/2006/main">
            <a:pPr marL="0" indent="0">
              <a:buNone/>
            </a:pPr>
            <a:r>
              <a:rPr sz="980">
                <a:solidFill>
                  <a:srgbClr val="55595F"/>
                </a:solidFill>
                <a:latin typeface="Calibri"/>
                <a:ea typeface="Calibri"/>
                <a:cs typeface="Calibri"/>
              </a:rPr>
              <a:t>Rules and reviews lag behind</a:t>
            </a:r>
            <a:endParaRPr sz="980"/>
          </a:p>
        </p:txBody>
      </p:sp>
      <p:sp>
        <p:nvSpPr>
          <p:cNvPr id="15" name="Shape 13">
            <a:extLst xmlns:a="http://schemas.openxmlformats.org/drawingml/2006/main">
              <a:ext uri="{FF2B5EF4-FFF2-40B4-BE49-F238E27FC236}">
                <a16:creationId xmlns:a16="http://schemas.microsoft.com/office/drawing/2014/main" id="{2382187D-3D9E-4187-ACD7-8BFACE225A5F}"/>
              </a:ext>
            </a:extLst>
          </p:cNvPr>
          <p:cNvSpPr>
            <a:spLocks xmlns:a="http://schemas.openxmlformats.org/drawingml/2006/main" noGrp="1"/>
          </p:cNvSpPr>
          <p:nvPr/>
        </p:nvSpPr>
        <p:spPr>
          <a:xfrm xmlns:a="http://schemas.openxmlformats.org/drawingml/2006/main">
            <a:off x="7086600" y="2496312"/>
            <a:ext cx="438912" cy="0"/>
          </a:xfrm>
          <a:prstGeom xmlns:a="http://schemas.openxmlformats.org/drawingml/2006/main" prst="line">
            <a:avLst/>
          </a:prstGeom>
          <a:noFill xmlns:a="http://schemas.openxmlformats.org/drawingml/2006/main"/>
          <a:ln xmlns:a="http://schemas.openxmlformats.org/drawingml/2006/main" w="20320">
            <a:solidFill>
              <a:srgbClr val="7A7E84"/>
            </a:solidFill>
            <a:prstDash val="solid"/>
            <a:headEnd type="none"/>
            <a:tailEnd type="triangle"/>
          </a:ln>
        </p:spPr>
        <p:txBody>
          <a:bodyPr xmlns:a="http://schemas.openxmlformats.org/drawingml/2006/main" wrap="square"/>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0C2897D1-16B0-4EC9-856C-4440F78C3DA4}"/>
              </a:ext>
            </a:extLst>
          </p:cNvPr>
          <p:cNvSpPr>
            <a:spLocks xmlns:a="http://schemas.openxmlformats.org/drawingml/2006/main" noGrp="1"/>
          </p:cNvSpPr>
          <p:nvPr/>
        </p:nvSpPr>
        <p:spPr>
          <a:xfrm xmlns:a="http://schemas.openxmlformats.org/drawingml/2006/main">
            <a:off x="7635240" y="1572768"/>
            <a:ext cx="23774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A8642A"/>
                </a:solidFill>
                <a:latin typeface="Consolas"/>
                <a:ea typeface="Consolas"/>
                <a:cs typeface="Consolas"/>
              </a:rPr>
              <a:t>FAILURE</a:t>
            </a:r>
            <a:endParaRPr sz="900"/>
          </a:p>
        </p:txBody>
      </p:sp>
      <p:sp>
        <p:nvSpPr>
          <p:cNvPr id="17" name="Shape 15">
            <a:extLst xmlns:a="http://schemas.openxmlformats.org/drawingml/2006/main">
              <a:ext uri="{FF2B5EF4-FFF2-40B4-BE49-F238E27FC236}">
                <a16:creationId xmlns:a16="http://schemas.microsoft.com/office/drawing/2014/main" id="{2F8A5FA3-5672-4BCF-AC7D-BDF9ABC213DC}"/>
              </a:ext>
            </a:extLst>
          </p:cNvPr>
          <p:cNvSpPr>
            <a:spLocks xmlns:a="http://schemas.openxmlformats.org/drawingml/2006/main" noGrp="1"/>
          </p:cNvSpPr>
          <p:nvPr/>
        </p:nvSpPr>
        <p:spPr>
          <a:xfrm xmlns:a="http://schemas.openxmlformats.org/drawingml/2006/main">
            <a:off x="7635240" y="1847088"/>
            <a:ext cx="2926080" cy="1298448"/>
          </a:xfrm>
          <a:prstGeom xmlns:a="http://schemas.openxmlformats.org/drawingml/2006/main" prst="roundRect">
            <a:avLst/>
          </a:prstGeom>
          <a:solidFill xmlns:a="http://schemas.openxmlformats.org/drawingml/2006/main">
            <a:srgbClr val="FFFFFF"/>
          </a:solidFill>
          <a:ln xmlns:a="http://schemas.openxmlformats.org/drawingml/2006/main" w="17780">
            <a:solidFill>
              <a:srgbClr val="A8642A"/>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18" name="Text 16">
            <a:extLst xmlns:a="http://schemas.openxmlformats.org/drawingml/2006/main">
              <a:ext uri="{FF2B5EF4-FFF2-40B4-BE49-F238E27FC236}">
                <a16:creationId xmlns:a16="http://schemas.microsoft.com/office/drawing/2014/main" id="{2C140F37-9877-4E0A-BAE8-2807F6414E08}"/>
              </a:ext>
            </a:extLst>
          </p:cNvPr>
          <p:cNvSpPr>
            <a:spLocks xmlns:a="http://schemas.openxmlformats.org/drawingml/2006/main" noGrp="1"/>
          </p:cNvSpPr>
          <p:nvPr/>
        </p:nvSpPr>
        <p:spPr>
          <a:xfrm xmlns:a="http://schemas.openxmlformats.org/drawingml/2006/main">
            <a:off x="7781544" y="2011680"/>
            <a:ext cx="26060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B273F"/>
                </a:solidFill>
                <a:latin typeface="Cambria"/>
                <a:ea typeface="Cambria"/>
                <a:cs typeface="Cambria"/>
              </a:rPr>
              <a:t>Local closure, systemic indeterminacy</a:t>
            </a:r>
            <a:endParaRPr sz="1450"/>
          </a:p>
        </p:txBody>
      </p:sp>
      <p:sp>
        <p:nvSpPr>
          <p:cNvPr id="19" name="Text 17">
            <a:extLst xmlns:a="http://schemas.openxmlformats.org/drawingml/2006/main">
              <a:ext uri="{FF2B5EF4-FFF2-40B4-BE49-F238E27FC236}">
                <a16:creationId xmlns:a16="http://schemas.microsoft.com/office/drawing/2014/main" id="{1D07D115-6941-42D1-9ED6-FA06B64BD5FF}"/>
              </a:ext>
            </a:extLst>
          </p:cNvPr>
          <p:cNvSpPr>
            <a:spLocks xmlns:a="http://schemas.openxmlformats.org/drawingml/2006/main" noGrp="1"/>
          </p:cNvSpPr>
          <p:nvPr/>
        </p:nvSpPr>
        <p:spPr>
          <a:xfrm xmlns:a="http://schemas.openxmlformats.org/drawingml/2006/main">
            <a:off x="7781544" y="2404872"/>
            <a:ext cx="26060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80">
                <a:solidFill>
                  <a:srgbClr val="55595F"/>
                </a:solidFill>
                <a:latin typeface="Calibri"/>
                <a:ea typeface="Calibri"/>
                <a:cs typeface="Calibri"/>
              </a:rPr>
              <a:t>A local PASS travels beyond its scope</a:t>
            </a:r>
            <a:endParaRPr sz="980"/>
          </a:p>
          <a:p xmlns:a="http://schemas.openxmlformats.org/drawingml/2006/main">
            <a:pPr marL="0" indent="0">
              <a:buNone/>
            </a:pPr>
            <a:r>
              <a:rPr sz="980">
                <a:solidFill>
                  <a:srgbClr val="55595F"/>
                </a:solidFill>
                <a:latin typeface="Calibri"/>
                <a:ea typeface="Calibri"/>
                <a:cs typeface="Calibri"/>
              </a:rPr>
              <a:t>Uncertainty and lineage disappear</a:t>
            </a:r>
            <a:endParaRPr sz="980"/>
          </a:p>
          <a:p xmlns:a="http://schemas.openxmlformats.org/drawingml/2006/main">
            <a:pPr marL="0" indent="0">
              <a:buNone/>
            </a:pPr>
            <a:r>
              <a:rPr sz="980">
                <a:solidFill>
                  <a:srgbClr val="55595F"/>
                </a:solidFill>
                <a:latin typeface="Calibri"/>
                <a:ea typeface="Calibri"/>
                <a:cs typeface="Calibri"/>
              </a:rPr>
              <a:t>AI review can repeat the same frame</a:t>
            </a:r>
            <a:endParaRPr sz="980"/>
          </a:p>
          <a:p xmlns:a="http://schemas.openxmlformats.org/drawingml/2006/main">
            <a:pPr marL="0" indent="0">
              <a:buNone/>
            </a:pPr>
            <a:r>
              <a:rPr sz="980">
                <a:solidFill>
                  <a:srgbClr val="55595F"/>
                </a:solidFill>
                <a:latin typeface="Calibri"/>
                <a:ea typeface="Calibri"/>
                <a:cs typeface="Calibri"/>
              </a:rPr>
              <a:t>Human attention saturates</a:t>
            </a:r>
            <a:endParaRPr sz="980"/>
          </a:p>
        </p:txBody>
      </p:sp>
      <p:sp>
        <p:nvSpPr>
          <p:cNvPr id="20" name="Text 18">
            <a:extLst xmlns:a="http://schemas.openxmlformats.org/drawingml/2006/main">
              <a:ext uri="{FF2B5EF4-FFF2-40B4-BE49-F238E27FC236}">
                <a16:creationId xmlns:a16="http://schemas.microsoft.com/office/drawing/2014/main" id="{0F93350A-399E-48EA-A795-E0DD032FE9B1}"/>
              </a:ext>
            </a:extLst>
          </p:cNvPr>
          <p:cNvSpPr>
            <a:spLocks xmlns:a="http://schemas.openxmlformats.org/drawingml/2006/main" noGrp="1"/>
          </p:cNvSpPr>
          <p:nvPr/>
        </p:nvSpPr>
        <p:spPr>
          <a:xfrm xmlns:a="http://schemas.openxmlformats.org/drawingml/2006/main">
            <a:off x="713232" y="3383280"/>
            <a:ext cx="2926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7A7E84"/>
                </a:solidFill>
                <a:latin typeface="Consolas"/>
                <a:ea typeface="Consolas"/>
                <a:cs typeface="Consolas"/>
              </a:rPr>
              <a:t>CONDITION AND FAILURE TYPES</a:t>
            </a:r>
            <a:endParaRPr sz="900"/>
          </a:p>
        </p:txBody>
      </p:sp>
      <p:sp>
        <p:nvSpPr>
          <p:cNvPr id="21" name="Shape 19">
            <a:extLst xmlns:a="http://schemas.openxmlformats.org/drawingml/2006/main">
              <a:ext uri="{FF2B5EF4-FFF2-40B4-BE49-F238E27FC236}">
                <a16:creationId xmlns:a16="http://schemas.microsoft.com/office/drawing/2014/main" id="{86EFDF7A-E6CC-43B1-9605-5C64CF043147}"/>
              </a:ext>
            </a:extLst>
          </p:cNvPr>
          <p:cNvSpPr>
            <a:spLocks xmlns:a="http://schemas.openxmlformats.org/drawingml/2006/main" noGrp="1"/>
          </p:cNvSpPr>
          <p:nvPr/>
        </p:nvSpPr>
        <p:spPr>
          <a:xfrm xmlns:a="http://schemas.openxmlformats.org/drawingml/2006/main">
            <a:off x="685800" y="3675888"/>
            <a:ext cx="3410712" cy="1490472"/>
          </a:xfrm>
          <a:prstGeom xmlns:a="http://schemas.openxmlformats.org/drawingml/2006/main" prst="roundRect">
            <a:avLst>
              <a:gd name="adj" fmla="val 3067"/>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2" name="Shape 20">
            <a:extLst xmlns:a="http://schemas.openxmlformats.org/drawingml/2006/main">
              <a:ext uri="{FF2B5EF4-FFF2-40B4-BE49-F238E27FC236}">
                <a16:creationId xmlns:a16="http://schemas.microsoft.com/office/drawing/2014/main" id="{31195E53-301E-4CF0-9038-23D4B98AB76D}"/>
              </a:ext>
            </a:extLst>
          </p:cNvPr>
          <p:cNvSpPr>
            <a:spLocks xmlns:a="http://schemas.openxmlformats.org/drawingml/2006/main" noGrp="1"/>
          </p:cNvSpPr>
          <p:nvPr/>
        </p:nvSpPr>
        <p:spPr>
          <a:xfrm xmlns:a="http://schemas.openxmlformats.org/drawingml/2006/main">
            <a:off x="685800" y="3675888"/>
            <a:ext cx="50292" cy="1490472"/>
          </a:xfrm>
          <a:prstGeom xmlns:a="http://schemas.openxmlformats.org/drawingml/2006/main" prst="rect">
            <a:avLst/>
          </a:prstGeom>
          <a:solidFill xmlns:a="http://schemas.openxmlformats.org/drawingml/2006/main">
            <a:srgbClr val="7A7E84"/>
          </a:solidFill>
          <a:ln xmlns:a="http://schemas.openxmlformats.org/drawingml/2006/main" w="12700">
            <a:solidFill>
              <a:srgbClr val="7A7E8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3" name="Text 21">
            <a:extLst xmlns:a="http://schemas.openxmlformats.org/drawingml/2006/main">
              <a:ext uri="{FF2B5EF4-FFF2-40B4-BE49-F238E27FC236}">
                <a16:creationId xmlns:a16="http://schemas.microsoft.com/office/drawing/2014/main" id="{7E2B2334-3C50-4B0F-B676-60A2519C0662}"/>
              </a:ext>
            </a:extLst>
          </p:cNvPr>
          <p:cNvSpPr>
            <a:spLocks xmlns:a="http://schemas.openxmlformats.org/drawingml/2006/main" noGrp="1"/>
          </p:cNvSpPr>
          <p:nvPr/>
        </p:nvSpPr>
        <p:spPr>
          <a:xfrm xmlns:a="http://schemas.openxmlformats.org/drawingml/2006/main">
            <a:off x="850392" y="3749039"/>
            <a:ext cx="3154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hlinkClick xmlns:r="http://schemas.openxmlformats.org/officeDocument/2006/relationships" r:id="R660b76446c64440b"/>
              </a:rPr>
              <a:t>TYPE 0 · Structural non-determination</a:t>
            </a:r>
            <a:endParaRPr sz="1400"/>
          </a:p>
        </p:txBody>
      </p:sp>
      <p:sp>
        <p:nvSpPr>
          <p:cNvPr id="24" name="Text 22">
            <a:extLst xmlns:a="http://schemas.openxmlformats.org/drawingml/2006/main">
              <a:ext uri="{FF2B5EF4-FFF2-40B4-BE49-F238E27FC236}">
                <a16:creationId xmlns:a16="http://schemas.microsoft.com/office/drawing/2014/main" id="{AE423F21-4F91-4AC1-B163-1C8F965FFD34}"/>
              </a:ext>
            </a:extLst>
          </p:cNvPr>
          <p:cNvSpPr>
            <a:spLocks xmlns:a="http://schemas.openxmlformats.org/drawingml/2006/main" noGrp="1"/>
          </p:cNvSpPr>
          <p:nvPr/>
        </p:nvSpPr>
        <p:spPr>
          <a:xfrm xmlns:a="http://schemas.openxmlformats.org/drawingml/2006/main">
            <a:off x="850392" y="4206240"/>
            <a:ext cx="3136392" cy="9601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955">
                <a:solidFill>
                  <a:srgbClr val="55595F"/>
                </a:solidFill>
                <a:latin typeface="Calibri"/>
                <a:ea typeface="Calibri"/>
                <a:cs typeface="Calibri"/>
              </a:rPr>
              <a:t>Residual indeterminacy is not removable inside the current representation / capability boundary. More processing of the same evidence cannot manufacture the missing distinction.</a:t>
            </a:r>
            <a:endParaRPr sz="955"/>
          </a:p>
          <a:p xmlns:a="http://schemas.openxmlformats.org/drawingml/2006/main">
            <a:pPr marL="0" indent="0">
              <a:buNone/>
            </a:pPr>
            <a:endParaRPr sz="955"/>
          </a:p>
          <a:p xmlns:a="http://schemas.openxmlformats.org/drawingml/2006/main">
            <a:pPr marL="0" indent="0">
              <a:buNone/>
            </a:pPr>
            <a:r>
              <a:rPr sz="955">
                <a:solidFill>
                  <a:srgbClr val="55595F"/>
                </a:solidFill>
                <a:latin typeface="Calibri"/>
                <a:ea typeface="Calibri"/>
                <a:cs typeface="Calibri"/>
              </a:rPr>
              <a:t>Response: preserve the residual, narrow the claim, add a genuinely new information channel or redesign the boundary.</a:t>
            </a:r>
            <a:endParaRPr sz="955"/>
          </a:p>
        </p:txBody>
      </p:sp>
      <p:sp>
        <p:nvSpPr>
          <p:cNvPr id="25" name="Shape 23">
            <a:extLst xmlns:a="http://schemas.openxmlformats.org/drawingml/2006/main">
              <a:ext uri="{FF2B5EF4-FFF2-40B4-BE49-F238E27FC236}">
                <a16:creationId xmlns:a16="http://schemas.microsoft.com/office/drawing/2014/main" id="{96277FD8-A400-44A9-9F6D-F8EDEF6B9C57}"/>
              </a:ext>
            </a:extLst>
          </p:cNvPr>
          <p:cNvSpPr>
            <a:spLocks xmlns:a="http://schemas.openxmlformats.org/drawingml/2006/main" noGrp="1"/>
          </p:cNvSpPr>
          <p:nvPr/>
        </p:nvSpPr>
        <p:spPr>
          <a:xfrm xmlns:a="http://schemas.openxmlformats.org/drawingml/2006/main">
            <a:off x="4379976" y="3675888"/>
            <a:ext cx="3410712" cy="1490472"/>
          </a:xfrm>
          <a:prstGeom xmlns:a="http://schemas.openxmlformats.org/drawingml/2006/main" prst="roundRect">
            <a:avLst>
              <a:gd name="adj" fmla="val 3067"/>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6" name="Shape 24">
            <a:extLst xmlns:a="http://schemas.openxmlformats.org/drawingml/2006/main">
              <a:ext uri="{FF2B5EF4-FFF2-40B4-BE49-F238E27FC236}">
                <a16:creationId xmlns:a16="http://schemas.microsoft.com/office/drawing/2014/main" id="{C1C42B79-50FF-4A59-B598-2768C4E8F3E9}"/>
              </a:ext>
            </a:extLst>
          </p:cNvPr>
          <p:cNvSpPr>
            <a:spLocks xmlns:a="http://schemas.openxmlformats.org/drawingml/2006/main" noGrp="1"/>
          </p:cNvSpPr>
          <p:nvPr/>
        </p:nvSpPr>
        <p:spPr>
          <a:xfrm xmlns:a="http://schemas.openxmlformats.org/drawingml/2006/main">
            <a:off x="4379976" y="3675888"/>
            <a:ext cx="50292" cy="1490472"/>
          </a:xfrm>
          <a:prstGeom xmlns:a="http://schemas.openxmlformats.org/drawingml/2006/main" prst="rect">
            <a:avLst/>
          </a:prstGeom>
          <a:solidFill xmlns:a="http://schemas.openxmlformats.org/drawingml/2006/main">
            <a:srgbClr val="006970"/>
          </a:solidFill>
          <a:ln xmlns:a="http://schemas.openxmlformats.org/drawingml/2006/main" w="12700">
            <a:solidFill>
              <a:srgbClr val="006970"/>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27" name="Text 25">
            <a:extLst xmlns:a="http://schemas.openxmlformats.org/drawingml/2006/main">
              <a:ext uri="{FF2B5EF4-FFF2-40B4-BE49-F238E27FC236}">
                <a16:creationId xmlns:a16="http://schemas.microsoft.com/office/drawing/2014/main" id="{4632754F-B960-45CD-B248-014981244278}"/>
              </a:ext>
            </a:extLst>
          </p:cNvPr>
          <p:cNvSpPr>
            <a:spLocks xmlns:a="http://schemas.openxmlformats.org/drawingml/2006/main" noGrp="1"/>
          </p:cNvSpPr>
          <p:nvPr/>
        </p:nvSpPr>
        <p:spPr>
          <a:xfrm xmlns:a="http://schemas.openxmlformats.org/drawingml/2006/main">
            <a:off x="4544568" y="3749039"/>
            <a:ext cx="3154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hlinkClick xmlns:r="http://schemas.openxmlformats.org/officeDocument/2006/relationships" r:id="R010a37b5b8df4c1e"/>
              </a:rPr>
              <a:t>TYPE 1 · Unbounded unresolved uncertainty</a:t>
            </a:r>
            <a:endParaRPr sz="1400"/>
          </a:p>
        </p:txBody>
      </p:sp>
      <p:sp>
        <p:nvSpPr>
          <p:cNvPr id="28" name="Text 26">
            <a:extLst xmlns:a="http://schemas.openxmlformats.org/drawingml/2006/main">
              <a:ext uri="{FF2B5EF4-FFF2-40B4-BE49-F238E27FC236}">
                <a16:creationId xmlns:a16="http://schemas.microsoft.com/office/drawing/2014/main" id="{15396708-B59E-4CD6-BB64-4093148F2252}"/>
              </a:ext>
            </a:extLst>
          </p:cNvPr>
          <p:cNvSpPr>
            <a:spLocks xmlns:a="http://schemas.openxmlformats.org/drawingml/2006/main" noGrp="1"/>
          </p:cNvSpPr>
          <p:nvPr/>
        </p:nvSpPr>
        <p:spPr>
          <a:xfrm xmlns:a="http://schemas.openxmlformats.org/drawingml/2006/main">
            <a:off x="4544568" y="4206240"/>
            <a:ext cx="3136392" cy="932688"/>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955">
                <a:solidFill>
                  <a:srgbClr val="55595F"/>
                </a:solidFill>
                <a:latin typeface="Calibri"/>
                <a:ea typeface="Calibri"/>
                <a:cs typeface="Calibri"/>
              </a:rPr>
              <a:t>Uncertainty is recognized, but no legitimate bounded closure is reached: the system keeps waiting, searching or escalating without an escape condition (indefinite HOLD, paralysis). HOLD is not a safe terminal state.</a:t>
            </a:r>
            <a:endParaRPr sz="955"/>
          </a:p>
          <a:p xmlns:a="http://schemas.openxmlformats.org/drawingml/2006/main">
            <a:pPr marL="0" indent="0">
              <a:spcBef>
                <a:spcPts val="500"/>
              </a:spcBef>
              <a:buNone/>
            </a:pPr>
            <a:r>
              <a:rPr sz="955">
                <a:solidFill>
                  <a:srgbClr val="55595F"/>
                </a:solidFill>
                <a:latin typeface="Calibri"/>
                <a:ea typeface="Calibri"/>
                <a:cs typeface="Calibri"/>
              </a:rPr>
              <a:t>Response: establish bounded closure: a stop condition plus a qualified posture that keeps the residual explicit.</a:t>
            </a:r>
            <a:endParaRPr sz="955"/>
          </a:p>
        </p:txBody>
      </p:sp>
      <p:sp>
        <p:nvSpPr>
          <p:cNvPr id="29" name="Shape 27">
            <a:extLst xmlns:a="http://schemas.openxmlformats.org/drawingml/2006/main">
              <a:ext uri="{FF2B5EF4-FFF2-40B4-BE49-F238E27FC236}">
                <a16:creationId xmlns:a16="http://schemas.microsoft.com/office/drawing/2014/main" id="{00424DEA-8C6D-45BF-80EB-BB570125B300}"/>
              </a:ext>
            </a:extLst>
          </p:cNvPr>
          <p:cNvSpPr>
            <a:spLocks xmlns:a="http://schemas.openxmlformats.org/drawingml/2006/main" noGrp="1"/>
          </p:cNvSpPr>
          <p:nvPr/>
        </p:nvSpPr>
        <p:spPr>
          <a:xfrm xmlns:a="http://schemas.openxmlformats.org/drawingml/2006/main">
            <a:off x="8074152" y="3675888"/>
            <a:ext cx="3410712" cy="1490472"/>
          </a:xfrm>
          <a:prstGeom xmlns:a="http://schemas.openxmlformats.org/drawingml/2006/main" prst="roundRect">
            <a:avLst>
              <a:gd name="adj" fmla="val 3067"/>
            </a:avLst>
          </a:prstGeom>
          <a:solidFill xmlns:a="http://schemas.openxmlformats.org/drawingml/2006/main">
            <a:srgbClr val="FFFFFF"/>
          </a:solidFill>
          <a:ln xmlns:a="http://schemas.openxmlformats.org/drawingml/2006/main" w="12700">
            <a:solidFill>
              <a:srgbClr val="D6DCE4"/>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30" name="Shape 28">
            <a:extLst xmlns:a="http://schemas.openxmlformats.org/drawingml/2006/main">
              <a:ext uri="{FF2B5EF4-FFF2-40B4-BE49-F238E27FC236}">
                <a16:creationId xmlns:a16="http://schemas.microsoft.com/office/drawing/2014/main" id="{8BE3AF5A-3697-40CB-AF49-57D36F0E36A1}"/>
              </a:ext>
            </a:extLst>
          </p:cNvPr>
          <p:cNvSpPr>
            <a:spLocks xmlns:a="http://schemas.openxmlformats.org/drawingml/2006/main" noGrp="1"/>
          </p:cNvSpPr>
          <p:nvPr/>
        </p:nvSpPr>
        <p:spPr>
          <a:xfrm xmlns:a="http://schemas.openxmlformats.org/drawingml/2006/main">
            <a:off x="8074152" y="3675888"/>
            <a:ext cx="50292" cy="1490472"/>
          </a:xfrm>
          <a:prstGeom xmlns:a="http://schemas.openxmlformats.org/drawingml/2006/main" prst="rect">
            <a:avLst/>
          </a:prstGeom>
          <a:solidFill xmlns:a="http://schemas.openxmlformats.org/drawingml/2006/main">
            <a:srgbClr val="A8642A"/>
          </a:solidFill>
          <a:ln xmlns:a="http://schemas.openxmlformats.org/drawingml/2006/main" w="12700">
            <a:solidFill>
              <a:srgbClr val="A8642A"/>
            </a:solidFill>
            <a:prstDash val="solid"/>
          </a:ln>
        </p:spPr>
        <p:txBody>
          <a:bodyPr xmlns:a="http://schemas.openxmlformats.org/drawingml/2006/main" wrap="square"/>
          <a:lstStyle xmlns:a="http://schemas.openxmlformats.org/drawingml/2006/main"/>
          <a:p xmlns:a="http://schemas.openxmlformats.org/drawingml/2006/main">
            <a:endParaRPr/>
          </a:p>
        </p:txBody>
      </p:sp>
      <p:sp>
        <p:nvSpPr>
          <p:cNvPr id="31" name="Text 29">
            <a:extLst xmlns:a="http://schemas.openxmlformats.org/drawingml/2006/main">
              <a:ext uri="{FF2B5EF4-FFF2-40B4-BE49-F238E27FC236}">
                <a16:creationId xmlns:a16="http://schemas.microsoft.com/office/drawing/2014/main" id="{DB6322E4-033D-47F6-9C31-E080DA689187}"/>
              </a:ext>
            </a:extLst>
          </p:cNvPr>
          <p:cNvSpPr>
            <a:spLocks xmlns:a="http://schemas.openxmlformats.org/drawingml/2006/main" noGrp="1"/>
          </p:cNvSpPr>
          <p:nvPr/>
        </p:nvSpPr>
        <p:spPr>
          <a:xfrm xmlns:a="http://schemas.openxmlformats.org/drawingml/2006/main">
            <a:off x="8238744" y="3794760"/>
            <a:ext cx="31546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B273F"/>
                </a:solidFill>
                <a:latin typeface="Cambria"/>
                <a:ea typeface="Cambria"/>
                <a:cs typeface="Cambria"/>
                <a:hlinkClick xmlns:r="http://schemas.openxmlformats.org/officeDocument/2006/relationships" r:id="R807573c163cd40d3"/>
              </a:rPr>
              <a:t>TYPE 2 · False certainty</a:t>
            </a:r>
            <a:endParaRPr sz="1400"/>
          </a:p>
        </p:txBody>
      </p:sp>
      <p:sp>
        <p:nvSpPr>
          <p:cNvPr id="32" name="Text 30">
            <a:extLst xmlns:a="http://schemas.openxmlformats.org/drawingml/2006/main">
              <a:ext uri="{FF2B5EF4-FFF2-40B4-BE49-F238E27FC236}">
                <a16:creationId xmlns:a16="http://schemas.microsoft.com/office/drawing/2014/main" id="{DF0B721B-E7D2-4DBD-8C70-24842EE91264}"/>
              </a:ext>
            </a:extLst>
          </p:cNvPr>
          <p:cNvSpPr>
            <a:spLocks xmlns:a="http://schemas.openxmlformats.org/drawingml/2006/main" noGrp="1"/>
          </p:cNvSpPr>
          <p:nvPr/>
        </p:nvSpPr>
        <p:spPr>
          <a:xfrm xmlns:a="http://schemas.openxmlformats.org/drawingml/2006/main">
            <a:off x="8238744" y="4105656"/>
            <a:ext cx="3136392" cy="960120"/>
          </a:xfrm>
          <a:prstGeom xmlns:a="http://schemas.openxmlformats.org/drawingml/2006/main" prst="rect">
            <a:avLst/>
          </a:prstGeom>
          <a:noFill xmlns:a="http://schemas.openxmlformats.org/drawingml/2006/main"/>
        </p:spPr>
        <p:txBody>
          <a:bodyPr xmlns:a="http://schemas.openxmlformats.org/drawingml/2006/main" wrap="square" lIns="254" tIns="254" rIns="254" bIns="254" anchor="t"/>
          <a:lstStyle xmlns:a="http://schemas.openxmlformats.org/drawingml/2006/main"/>
          <a:p xmlns:a="http://schemas.openxmlformats.org/drawingml/2006/main">
            <a:pPr marL="0" indent="0">
              <a:buNone/>
            </a:pPr>
            <a:r>
              <a:rPr sz="955">
                <a:solidFill>
                  <a:srgbClr val="55595F"/>
                </a:solidFill>
                <a:latin typeface="Calibri"/>
                <a:ea typeface="Calibri"/>
                <a:cs typeface="Calibri"/>
              </a:rPr>
              <a:t>The system closes by discarding what it does not know: missing input treated as present, low confidence promoted to certainty, a local result treated as globally valid (forced PASS/FAIL, false closure).</a:t>
            </a:r>
            <a:endParaRPr sz="955"/>
          </a:p>
          <a:p xmlns:a="http://schemas.openxmlformats.org/drawingml/2006/main">
            <a:pPr marL="0" indent="0">
              <a:spcBef>
                <a:spcPts val="500"/>
              </a:spcBef>
              <a:buNone/>
            </a:pPr>
            <a:r>
              <a:rPr sz="955">
                <a:solidFill>
                  <a:srgbClr val="55595F"/>
                </a:solidFill>
                <a:latin typeface="Calibri"/>
                <a:ea typeface="Calibri"/>
                <a:cs typeface="Calibri"/>
              </a:rPr>
              <a:t>Response: restore uncertainty, scope and provenance, then re-enter the affected scope.</a:t>
            </a:r>
            <a:endParaRPr sz="955"/>
          </a:p>
        </p:txBody>
      </p:sp>
      <p:sp>
        <p:nvSpPr>
          <p:cNvPr id="36" name="Slide Number Placeholder 0">
            <a:extLst xmlns:a="http://schemas.openxmlformats.org/drawingml/2006/main">
              <a:ext uri="{FF2B5EF4-FFF2-40B4-BE49-F238E27FC236}">
                <a16:creationId xmlns:a16="http://schemas.microsoft.com/office/drawing/2014/main" id="{6D87A14C-B23D-49E3-885A-DFA30E75B1EF}"/>
              </a:ext>
            </a:extLst>
          </p:cNvPr>
          <p:cNvSpPr>
            <a:spLocks xmlns:a="http://schemas.openxmlformats.org/drawingml/2006/main" noGrp="1"/>
          </p:cNvSpPr>
          <p:nvPr>
            <p:ph type="sldNum" idx="4294967295"/>
          </p:nvPr>
        </p:nvSpPr>
        <p:spPr>
          <a:xfrm xmlns:a="http://schemas.openxmlformats.org/drawingml/2006/main">
            <a:off x="11064240" y="6537960"/>
            <a:ext cx="502920" cy="164592"/>
          </a:xfrm>
          <a:prstGeom xmlns:a="http://schemas.openxmlformats.org/drawingml/2006/main" prst="rect">
            <a:avLst/>
          </a:prstGeom>
        </p:spPr>
        <p:txBody>
          <a:bodyPr xmlns:a="http://schemas.openxmlformats.org/drawingml/2006/main" wrap="square"/>
          <a:lstStyle xmlns:a="http://schemas.openxmlformats.org/drawingml/2006/main">
            <a:lvl1pPr>
              <a:buNone/>
              <a:defRPr sz="750">
                <a:solidFill>
                  <a:srgbClr val="1B273F"/>
                </a:solidFill>
                <a:latin typeface="Consolas"/>
                <a:ea typeface="Consolas"/>
                <a:cs typeface="Consolas"/>
              </a:defRPr>
            </a:lvl1pPr>
          </a:lstStyle>
          <a:p xmlns:a="http://schemas.openxmlformats.org/drawingml/2006/main">
            <a:pPr algn="r">
              <a:buNone/>
            </a:pPr>
            <a:r>
              <a:rPr sz="850">
                <a:solidFill>
                  <a:srgbClr val="5D6775"/>
                </a:solidFill>
                <a:latin typeface="Aptos"/>
                <a:ea typeface="Aptos"/>
                <a:cs typeface="Aptos"/>
              </a:rPr>
              <a:t>6</a:t>
            </a:r>
          </a:p>
        </p:txBody>
      </p:sp>
      <p:sp>
        <p:nvSpPr>
          <p:cNvPr id="37" name="TextBox 36">
            <a:extLst xmlns:a="http://schemas.openxmlformats.org/drawingml/2006/main">
              <a:ext uri="{FF2B5EF4-FFF2-40B4-BE49-F238E27FC236}">
                <a16:creationId xmlns:a16="http://schemas.microsoft.com/office/drawing/2014/main" id="{A6FF6669-8BFE-47AD-992A-1C949249623E}"/>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9fa8d89cf6124be3"/>
              </a:rPr>
              <a:t>Foundation · Type 0/1/2</a:t>
            </a:r>
            <a:r>
              <a:rPr sz="680">
                <a:solidFill>
                  <a:srgbClr val="727A86"/>
                </a:solidFill>
                <a:latin typeface="Calibri"/>
                <a:ea typeface="Calibri"/>
                <a:cs typeface="Calibri"/>
              </a:rPr>
              <a:t>  ·  </a:t>
            </a:r>
            <a:r>
              <a:rPr sz="680" b="0" u="sng">
                <a:solidFill>
                  <a:srgbClr val="2F6FB2"/>
                </a:solidFill>
                <a:latin typeface="Calibri"/>
                <a:ea typeface="Calibri"/>
                <a:cs typeface="Calibri"/>
                <a:hlinkClick xmlns:r="http://schemas.openxmlformats.org/officeDocument/2006/relationships" r:id="R7aeb5c0d6ae5421f"/>
              </a:rPr>
              <a:t>Canonical topology</a:t>
            </a:r>
          </a:p>
        </p:txBody>
      </p:sp>
    </p:spTree>
    <p:extLst>
      <p:ext uri="{BB962C8B-B14F-4D97-AF65-F5344CB8AC3E}">
        <p14:creationId xmlns:p14="http://schemas.microsoft.com/office/powerpoint/2010/main" val="157511946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54814B93-B26A-40F5-B9AA-F4CD32A0AE12}"/>
              </a:ext>
            </a:extLst>
          </p:cNvPr>
          <p:cNvSpPr>
            <a:spLocks xmlns:a="http://schemas.openxmlformats.org/drawingml/2006/main" noGrp="1"/>
          </p:cNvSpPr>
          <p:nvPr/>
        </p:nvSpPr>
        <p:spPr>
          <a:xfrm xmlns:a="http://schemas.openxmlformats.org/drawingml/2006/main">
            <a:off x="585216" y="164592"/>
            <a:ext cx="29260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60" b="0">
                <a:solidFill>
                  <a:srgbClr val="5D6775"/>
                </a:solidFill>
                <a:latin typeface="Consolas"/>
                <a:ea typeface="Consolas"/>
                <a:cs typeface="Consolas"/>
              </a:rPr>
              <a:t>REQUIREMENTS</a:t>
            </a:r>
          </a:p>
        </p:txBody>
      </p:sp>
      <p:sp>
        <p:nvSpPr>
          <p:cNvPr id="3" name="TextBox 2">
            <a:extLst xmlns:a="http://schemas.openxmlformats.org/drawingml/2006/main">
              <a:ext uri="{FF2B5EF4-FFF2-40B4-BE49-F238E27FC236}">
                <a16:creationId xmlns:a16="http://schemas.microsoft.com/office/drawing/2014/main" id="{78EBCE6F-23DD-4CBE-A116-F51A2EA97DE1}"/>
              </a:ext>
            </a:extLst>
          </p:cNvPr>
          <p:cNvSpPr>
            <a:spLocks xmlns:a="http://schemas.openxmlformats.org/drawingml/2006/main" noGrp="1"/>
          </p:cNvSpPr>
          <p:nvPr/>
        </p:nvSpPr>
        <p:spPr>
          <a:xfrm xmlns:a="http://schemas.openxmlformats.org/drawingml/2006/main">
            <a:off x="10744200" y="164592"/>
            <a:ext cx="685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60" b="0">
                <a:solidFill>
                  <a:srgbClr val="5D6775"/>
                </a:solidFill>
                <a:latin typeface="Consolas"/>
                <a:ea typeface="Consolas"/>
                <a:cs typeface="Consolas"/>
              </a:rPr>
              <a:t>§ 04A</a:t>
            </a:r>
          </a:p>
        </p:txBody>
      </p:sp>
      <p:sp>
        <p:nvSpPr>
          <p:cNvPr id="4" name="Rectangle 3">
            <a:extLst xmlns:a="http://schemas.openxmlformats.org/drawingml/2006/main">
              <a:ext uri="{FF2B5EF4-FFF2-40B4-BE49-F238E27FC236}">
                <a16:creationId xmlns:a16="http://schemas.microsoft.com/office/drawing/2014/main" id="{D3D9D15C-DF3F-4956-916E-354C520F0393}"/>
              </a:ext>
            </a:extLst>
          </p:cNvPr>
          <p:cNvSpPr>
            <a:spLocks xmlns:a="http://schemas.openxmlformats.org/drawingml/2006/main" noGrp="1"/>
          </p:cNvSpPr>
          <p:nvPr/>
        </p:nvSpPr>
        <p:spPr>
          <a:xfrm xmlns:a="http://schemas.openxmlformats.org/drawingml/2006/main">
            <a:off x="585216" y="457200"/>
            <a:ext cx="10826496" cy="10972"/>
          </a:xfrm>
          <a:prstGeom xmlns:a="http://schemas.openxmlformats.org/drawingml/2006/main" prst="rect">
            <a:avLst/>
          </a:prstGeom>
          <a:solidFill xmlns:a="http://schemas.openxmlformats.org/drawingml/2006/main">
            <a:srgbClr val="24355B"/>
          </a:solidFill>
          <a:ln xmlns:a="http://schemas.openxmlformats.org/drawingml/2006/main" w="12700">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Rectangle 4">
            <a:extLst xmlns:a="http://schemas.openxmlformats.org/drawingml/2006/main">
              <a:ext uri="{FF2B5EF4-FFF2-40B4-BE49-F238E27FC236}">
                <a16:creationId xmlns:a16="http://schemas.microsoft.com/office/drawing/2014/main" id="{989EE8BA-99C2-44D1-BA48-BF18528D8105}"/>
              </a:ext>
            </a:extLst>
          </p:cNvPr>
          <p:cNvSpPr>
            <a:spLocks xmlns:a="http://schemas.openxmlformats.org/drawingml/2006/main" noGrp="1"/>
          </p:cNvSpPr>
          <p:nvPr/>
        </p:nvSpPr>
        <p:spPr>
          <a:xfrm xmlns:a="http://schemas.openxmlformats.org/drawingml/2006/main">
            <a:off x="585216" y="530352"/>
            <a:ext cx="10826496" cy="5486"/>
          </a:xfrm>
          <a:prstGeom xmlns:a="http://schemas.openxmlformats.org/drawingml/2006/main" prst="rect">
            <a:avLst/>
          </a:prstGeom>
          <a:solidFill xmlns:a="http://schemas.openxmlformats.org/drawingml/2006/main">
            <a:srgbClr val="24355B"/>
          </a:solidFill>
          <a:ln xmlns:a="http://schemas.openxmlformats.org/drawingml/2006/main" w="12700">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83D7B2D-F725-4E2C-A520-4D8A75FC99FF}"/>
              </a:ext>
            </a:extLst>
          </p:cNvPr>
          <p:cNvSpPr>
            <a:spLocks xmlns:a="http://schemas.openxmlformats.org/drawingml/2006/main" noGrp="1"/>
          </p:cNvSpPr>
          <p:nvPr/>
        </p:nvSpPr>
        <p:spPr>
          <a:xfrm xmlns:a="http://schemas.openxmlformats.org/drawingml/2006/main">
            <a:off x="621792" y="713232"/>
            <a:ext cx="106984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r>
              <a:rPr sz="2350" b="1">
                <a:solidFill>
                  <a:srgbClr val="24355B"/>
                </a:solidFill>
                <a:latin typeface="Cambria"/>
                <a:ea typeface="Cambria"/>
                <a:cs typeface="Cambria"/>
              </a:rPr>
              <a:t>Six severe failure routes. Fourteen requirements. One common contract.</a:t>
            </a:r>
          </a:p>
        </p:txBody>
      </p:sp>
      <p:sp>
        <p:nvSpPr>
          <p:cNvPr id="7" name="TextBox 6">
            <a:extLst xmlns:a="http://schemas.openxmlformats.org/drawingml/2006/main">
              <a:ext uri="{FF2B5EF4-FFF2-40B4-BE49-F238E27FC236}">
                <a16:creationId xmlns:a16="http://schemas.microsoft.com/office/drawing/2014/main" id="{31BF2FC0-E000-42B5-9C40-2D04E136BB80}"/>
              </a:ext>
            </a:extLst>
          </p:cNvPr>
          <p:cNvSpPr>
            <a:spLocks xmlns:a="http://schemas.openxmlformats.org/drawingml/2006/main" noGrp="1"/>
          </p:cNvSpPr>
          <p:nvPr/>
        </p:nvSpPr>
        <p:spPr>
          <a:xfrm xmlns:a="http://schemas.openxmlformats.org/drawingml/2006/main">
            <a:off x="621792" y="1161288"/>
            <a:ext cx="106984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r>
              <a:rPr sz="1080">
                <a:solidFill>
                  <a:srgbClr val="5D6775"/>
                </a:solidFill>
                <a:latin typeface="Aptos"/>
                <a:ea typeface="Aptos"/>
                <a:cs typeface="Aptos"/>
              </a:rPr>
              <a:t>Current high-end technology profiles can still expose these routes under drift. The same 14 requirements define the conforming path across all six.</a:t>
            </a:r>
          </a:p>
        </p:txBody>
      </p:sp>
      <p:sp>
        <p:nvSpPr>
          <p:cNvPr id="53" name="Rectangle 52">
            <a:extLst xmlns:a="http://schemas.openxmlformats.org/drawingml/2006/main">
              <a:ext uri="{FF2B5EF4-FFF2-40B4-BE49-F238E27FC236}">
                <a16:creationId xmlns:a16="http://schemas.microsoft.com/office/drawing/2014/main" id="{04EDCA19-1B31-4D4E-9DF2-704ED20E3661}"/>
              </a:ext>
            </a:extLst>
          </p:cNvPr>
          <p:cNvSpPr>
            <a:spLocks xmlns:a="http://schemas.openxmlformats.org/drawingml/2006/main" noGrp="1"/>
          </p:cNvSpPr>
          <p:nvPr/>
        </p:nvSpPr>
        <p:spPr>
          <a:xfrm xmlns:a="http://schemas.openxmlformats.org/drawingml/2006/main">
            <a:off x="585216" y="6446520"/>
            <a:ext cx="10826496" cy="10972"/>
          </a:xfrm>
          <a:prstGeom xmlns:a="http://schemas.openxmlformats.org/drawingml/2006/main" prst="rect">
            <a:avLst/>
          </a:prstGeom>
          <a:solidFill xmlns:a="http://schemas.openxmlformats.org/drawingml/2006/main">
            <a:srgbClr val="24355B"/>
          </a:solidFill>
          <a:ln xmlns:a="http://schemas.openxmlformats.org/drawingml/2006/main" w="12700">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4" name="TextBox 53">
            <a:extLst xmlns:a="http://schemas.openxmlformats.org/drawingml/2006/main">
              <a:ext uri="{FF2B5EF4-FFF2-40B4-BE49-F238E27FC236}">
                <a16:creationId xmlns:a16="http://schemas.microsoft.com/office/drawing/2014/main" id="{53FE00FC-2DD5-438F-9F1C-7AA2A5EC5F3E}"/>
              </a:ext>
            </a:extLst>
          </p:cNvPr>
          <p:cNvSpPr>
            <a:spLocks xmlns:a="http://schemas.openxmlformats.org/drawingml/2006/main" noGrp="1"/>
          </p:cNvSpPr>
          <p:nvPr/>
        </p:nvSpPr>
        <p:spPr>
          <a:xfrm xmlns:a="http://schemas.openxmlformats.org/drawingml/2006/main">
            <a:off x="4352544" y="6537960"/>
            <a:ext cx="345643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770" b="0">
                <a:solidFill>
                  <a:srgbClr val="5D6775"/>
                </a:solidFill>
                <a:latin typeface="Aptos"/>
                <a:ea typeface="Aptos"/>
                <a:cs typeface="Aptos"/>
              </a:rPr>
              <a:t>Ecosystem Awareness · Positioning architecture</a:t>
            </a:r>
          </a:p>
        </p:txBody>
      </p:sp>
      <p:sp>
        <p:nvSpPr>
          <p:cNvPr id="55" name="TextBox 54">
            <a:extLst xmlns:a="http://schemas.openxmlformats.org/drawingml/2006/main">
              <a:ext uri="{FF2B5EF4-FFF2-40B4-BE49-F238E27FC236}">
                <a16:creationId xmlns:a16="http://schemas.microsoft.com/office/drawing/2014/main" id="{F4443078-9B16-4C93-B06D-89EF2BAE09FB}"/>
              </a:ext>
            </a:extLst>
          </p:cNvPr>
          <p:cNvSpPr>
            <a:spLocks xmlns:a="http://schemas.openxmlformats.org/drawingml/2006/main" noGrp="1"/>
          </p:cNvSpPr>
          <p:nvPr/>
        </p:nvSpPr>
        <p:spPr>
          <a:xfrm xmlns:a="http://schemas.openxmlformats.org/drawingml/2006/main">
            <a:off x="11018520" y="6537960"/>
            <a:ext cx="2743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50">
                <a:solidFill>
                  <a:srgbClr val="5D6775"/>
                </a:solidFill>
                <a:latin typeface="Aptos"/>
                <a:ea typeface="Aptos"/>
                <a:cs typeface="Aptos"/>
              </a:rPr>
              <a:t>7</a:t>
            </a:r>
          </a:p>
        </p:txBody>
      </p:sp>
      <p:sp>
        <p:nvSpPr>
          <p:cNvPr id="56" name="TextBox 55">
            <a:extLst xmlns:a="http://schemas.openxmlformats.org/drawingml/2006/main">
              <a:ext uri="{FF2B5EF4-FFF2-40B4-BE49-F238E27FC236}">
                <a16:creationId xmlns:a16="http://schemas.microsoft.com/office/drawing/2014/main" id="{D918D779-4E3B-4607-8AF3-516904C97EDC}"/>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r>
              <a:rPr sz="770">
                <a:solidFill>
                  <a:srgbClr val="5D6775"/>
                </a:solidFill>
                <a:latin typeface="Aptos"/>
                <a:ea typeface="Aptos"/>
                <a:cs typeface="Aptos"/>
                <a:hlinkClick xmlns:r="http://schemas.openxmlformats.org/officeDocument/2006/relationships" r:id="R781dcf3b999144e0"/>
              </a:rPr>
              <a:t>CORPUS ↗  Canonical Requirements · Coverage map · Route Q</a:t>
            </a:r>
          </a:p>
        </p:txBody>
      </p:sp>
      <p:sp>
        <p:nvSpPr>
          <p:cNvPr id="57" name="Rounded Rectangle 56">
            <a:extLst xmlns:a="http://schemas.openxmlformats.org/drawingml/2006/main">
              <a:ext uri="{FF2B5EF4-FFF2-40B4-BE49-F238E27FC236}">
                <a16:creationId xmlns:a16="http://schemas.microsoft.com/office/drawing/2014/main" id="{21986F7E-2D99-48B0-8C38-18B36082619D}"/>
              </a:ext>
            </a:extLst>
          </p:cNvPr>
          <p:cNvSpPr>
            <a:spLocks xmlns:a="http://schemas.openxmlformats.org/drawingml/2006/main" noGrp="1"/>
          </p:cNvSpPr>
          <p:nvPr/>
        </p:nvSpPr>
        <p:spPr>
          <a:xfrm xmlns:a="http://schemas.openxmlformats.org/drawingml/2006/main">
            <a:off x="621792" y="1627632"/>
            <a:ext cx="3337560" cy="1417320"/>
          </a:xfrm>
          <a:prstGeom xmlns:a="http://schemas.openxmlformats.org/drawingml/2006/main" prst="roundRect">
            <a:avLst/>
          </a:prstGeom>
          <a:solidFill xmlns:a="http://schemas.openxmlformats.org/drawingml/2006/main">
            <a:srgbClr val="E9F2FB"/>
          </a:solidFill>
          <a:ln xmlns:a="http://schemas.openxmlformats.org/drawingml/2006/main" w="1651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8" name="TextBox 57">
            <a:extLst xmlns:a="http://schemas.openxmlformats.org/drawingml/2006/main">
              <a:ext uri="{FF2B5EF4-FFF2-40B4-BE49-F238E27FC236}">
                <a16:creationId xmlns:a16="http://schemas.microsoft.com/office/drawing/2014/main" id="{4A2C4230-4E76-4B73-B5EB-AC3103BC6430}"/>
              </a:ext>
            </a:extLst>
          </p:cNvPr>
          <p:cNvSpPr>
            <a:spLocks xmlns:a="http://schemas.openxmlformats.org/drawingml/2006/main" noGrp="1"/>
          </p:cNvSpPr>
          <p:nvPr/>
        </p:nvSpPr>
        <p:spPr>
          <a:xfrm xmlns:a="http://schemas.openxmlformats.org/drawingml/2006/main">
            <a:off x="786384" y="1700784"/>
            <a:ext cx="868680" cy="658368"/>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3400" b="1" i="0">
                <a:solidFill>
                  <a:srgbClr val="2F6FB2"/>
                </a:solidFill>
                <a:latin typeface="Cambria"/>
                <a:ea typeface="Cambria"/>
                <a:cs typeface="Cambria"/>
              </a:rPr>
              <a:t>6</a:t>
            </a:r>
          </a:p>
        </p:txBody>
      </p:sp>
      <p:sp>
        <p:nvSpPr>
          <p:cNvPr id="59" name="TextBox 58">
            <a:extLst xmlns:a="http://schemas.openxmlformats.org/drawingml/2006/main">
              <a:ext uri="{FF2B5EF4-FFF2-40B4-BE49-F238E27FC236}">
                <a16:creationId xmlns:a16="http://schemas.microsoft.com/office/drawing/2014/main" id="{FC2CDAFD-ABE3-4A03-BCCE-C71D5840638D}"/>
              </a:ext>
            </a:extLst>
          </p:cNvPr>
          <p:cNvSpPr>
            <a:spLocks xmlns:a="http://schemas.openxmlformats.org/drawingml/2006/main" noGrp="1"/>
          </p:cNvSpPr>
          <p:nvPr/>
        </p:nvSpPr>
        <p:spPr>
          <a:xfrm xmlns:a="http://schemas.openxmlformats.org/drawingml/2006/main">
            <a:off x="1700784" y="1801368"/>
            <a:ext cx="2075688" cy="246888"/>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850" b="1" i="0">
                <a:solidFill>
                  <a:srgbClr val="2F6FB2"/>
                </a:solidFill>
                <a:latin typeface="Consolas"/>
                <a:ea typeface="Consolas"/>
                <a:cs typeface="Consolas"/>
              </a:rPr>
              <a:t>REFERENCE FAILURE ROUTES</a:t>
            </a:r>
          </a:p>
        </p:txBody>
      </p:sp>
      <p:sp>
        <p:nvSpPr>
          <p:cNvPr id="60" name="TextBox 59">
            <a:extLst xmlns:a="http://schemas.openxmlformats.org/drawingml/2006/main">
              <a:ext uri="{FF2B5EF4-FFF2-40B4-BE49-F238E27FC236}">
                <a16:creationId xmlns:a16="http://schemas.microsoft.com/office/drawing/2014/main" id="{53186250-FC48-445A-85C8-06D4E5C18975}"/>
              </a:ext>
            </a:extLst>
          </p:cNvPr>
          <p:cNvSpPr>
            <a:spLocks xmlns:a="http://schemas.openxmlformats.org/drawingml/2006/main" noGrp="1"/>
          </p:cNvSpPr>
          <p:nvPr/>
        </p:nvSpPr>
        <p:spPr>
          <a:xfrm xmlns:a="http://schemas.openxmlformats.org/drawingml/2006/main">
            <a:off x="1700784" y="2103120"/>
            <a:ext cx="2075688" cy="548640"/>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1019" b="1" i="0">
                <a:solidFill>
                  <a:srgbClr val="24355B"/>
                </a:solidFill>
                <a:latin typeface="Aptos"/>
                <a:ea typeface="Aptos"/>
                <a:cs typeface="Aptos"/>
              </a:rPr>
              <a:t>00E–00J · six distinct mechanisms</a:t>
            </a:r>
          </a:p>
        </p:txBody>
      </p:sp>
      <p:sp>
        <p:nvSpPr>
          <p:cNvPr id="61" name="Rounded Rectangle 60">
            <a:extLst xmlns:a="http://schemas.openxmlformats.org/drawingml/2006/main">
              <a:ext uri="{FF2B5EF4-FFF2-40B4-BE49-F238E27FC236}">
                <a16:creationId xmlns:a16="http://schemas.microsoft.com/office/drawing/2014/main" id="{F35736C2-1DEB-4ADC-8BCF-A43112F40EF7}"/>
              </a:ext>
            </a:extLst>
          </p:cNvPr>
          <p:cNvSpPr>
            <a:spLocks xmlns:a="http://schemas.openxmlformats.org/drawingml/2006/main" noGrp="1"/>
          </p:cNvSpPr>
          <p:nvPr/>
        </p:nvSpPr>
        <p:spPr>
          <a:xfrm xmlns:a="http://schemas.openxmlformats.org/drawingml/2006/main">
            <a:off x="4160520" y="1627632"/>
            <a:ext cx="3337560" cy="1417320"/>
          </a:xfrm>
          <a:prstGeom xmlns:a="http://schemas.openxmlformats.org/drawingml/2006/main" prst="roundRect">
            <a:avLst/>
          </a:prstGeom>
          <a:solidFill xmlns:a="http://schemas.openxmlformats.org/drawingml/2006/main">
            <a:srgbClr val="E8F6F5"/>
          </a:solidFill>
          <a:ln xmlns:a="http://schemas.openxmlformats.org/drawingml/2006/main" w="1651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2" name="TextBox 61">
            <a:extLst xmlns:a="http://schemas.openxmlformats.org/drawingml/2006/main">
              <a:ext uri="{FF2B5EF4-FFF2-40B4-BE49-F238E27FC236}">
                <a16:creationId xmlns:a16="http://schemas.microsoft.com/office/drawing/2014/main" id="{E558B639-532E-4338-804A-064574A490B0}"/>
              </a:ext>
            </a:extLst>
          </p:cNvPr>
          <p:cNvSpPr>
            <a:spLocks xmlns:a="http://schemas.openxmlformats.org/drawingml/2006/main" noGrp="1"/>
          </p:cNvSpPr>
          <p:nvPr/>
        </p:nvSpPr>
        <p:spPr>
          <a:xfrm xmlns:a="http://schemas.openxmlformats.org/drawingml/2006/main">
            <a:off x="4325112" y="1700784"/>
            <a:ext cx="868680" cy="658368"/>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3400" b="1" i="0">
                <a:solidFill>
                  <a:srgbClr val="00848A"/>
                </a:solidFill>
                <a:latin typeface="Cambria"/>
                <a:ea typeface="Cambria"/>
                <a:cs typeface="Cambria"/>
              </a:rPr>
              <a:t>14</a:t>
            </a:r>
          </a:p>
        </p:txBody>
      </p:sp>
      <p:sp>
        <p:nvSpPr>
          <p:cNvPr id="63" name="TextBox 62">
            <a:extLst xmlns:a="http://schemas.openxmlformats.org/drawingml/2006/main">
              <a:ext uri="{FF2B5EF4-FFF2-40B4-BE49-F238E27FC236}">
                <a16:creationId xmlns:a16="http://schemas.microsoft.com/office/drawing/2014/main" id="{65870C04-E769-41D8-85EC-9C6C396B59D9}"/>
              </a:ext>
            </a:extLst>
          </p:cNvPr>
          <p:cNvSpPr>
            <a:spLocks xmlns:a="http://schemas.openxmlformats.org/drawingml/2006/main" noGrp="1"/>
          </p:cNvSpPr>
          <p:nvPr/>
        </p:nvSpPr>
        <p:spPr>
          <a:xfrm xmlns:a="http://schemas.openxmlformats.org/drawingml/2006/main">
            <a:off x="5239512" y="1801368"/>
            <a:ext cx="2075688" cy="246888"/>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850" b="1" i="0">
                <a:solidFill>
                  <a:srgbClr val="00848A"/>
                </a:solidFill>
                <a:latin typeface="Consolas"/>
                <a:ea typeface="Consolas"/>
                <a:cs typeface="Consolas"/>
              </a:rPr>
              <a:t>CANONICAL REQUIREMENTS</a:t>
            </a:r>
          </a:p>
        </p:txBody>
      </p:sp>
      <p:sp>
        <p:nvSpPr>
          <p:cNvPr id="64" name="TextBox 63">
            <a:extLst xmlns:a="http://schemas.openxmlformats.org/drawingml/2006/main">
              <a:ext uri="{FF2B5EF4-FFF2-40B4-BE49-F238E27FC236}">
                <a16:creationId xmlns:a16="http://schemas.microsoft.com/office/drawing/2014/main" id="{328FDAE2-C289-48DF-9EA5-D9B576DD0B7B}"/>
              </a:ext>
            </a:extLst>
          </p:cNvPr>
          <p:cNvSpPr>
            <a:spLocks xmlns:a="http://schemas.openxmlformats.org/drawingml/2006/main" noGrp="1"/>
          </p:cNvSpPr>
          <p:nvPr/>
        </p:nvSpPr>
        <p:spPr>
          <a:xfrm xmlns:a="http://schemas.openxmlformats.org/drawingml/2006/main">
            <a:off x="5239512" y="2103120"/>
            <a:ext cx="2075688" cy="548640"/>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1019" b="1" i="0">
                <a:solidFill>
                  <a:srgbClr val="24355B"/>
                </a:solidFill>
                <a:latin typeface="Aptos"/>
                <a:ea typeface="Aptos"/>
                <a:cs typeface="Aptos"/>
              </a:rPr>
              <a:t>S1–S14 · one bounded requirement set</a:t>
            </a:r>
          </a:p>
        </p:txBody>
      </p:sp>
      <p:sp>
        <p:nvSpPr>
          <p:cNvPr id="65" name="Rounded Rectangle 64">
            <a:extLst xmlns:a="http://schemas.openxmlformats.org/drawingml/2006/main">
              <a:ext uri="{FF2B5EF4-FFF2-40B4-BE49-F238E27FC236}">
                <a16:creationId xmlns:a16="http://schemas.microsoft.com/office/drawing/2014/main" id="{61223BA9-7DAB-42E0-9CD3-D348742AF925}"/>
              </a:ext>
            </a:extLst>
          </p:cNvPr>
          <p:cNvSpPr>
            <a:spLocks xmlns:a="http://schemas.openxmlformats.org/drawingml/2006/main" noGrp="1"/>
          </p:cNvSpPr>
          <p:nvPr/>
        </p:nvSpPr>
        <p:spPr>
          <a:xfrm xmlns:a="http://schemas.openxmlformats.org/drawingml/2006/main">
            <a:off x="7699248" y="1627632"/>
            <a:ext cx="3346704" cy="1417320"/>
          </a:xfrm>
          <a:prstGeom xmlns:a="http://schemas.openxmlformats.org/drawingml/2006/main" prst="roundRect">
            <a:avLst/>
          </a:prstGeom>
          <a:solidFill xmlns:a="http://schemas.openxmlformats.org/drawingml/2006/main">
            <a:srgbClr val="FBF1E5"/>
          </a:solidFill>
          <a:ln xmlns:a="http://schemas.openxmlformats.org/drawingml/2006/main" w="16510">
            <a:solidFill>
              <a:srgbClr val="C86E1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6" name="TextBox 65">
            <a:extLst xmlns:a="http://schemas.openxmlformats.org/drawingml/2006/main">
              <a:ext uri="{FF2B5EF4-FFF2-40B4-BE49-F238E27FC236}">
                <a16:creationId xmlns:a16="http://schemas.microsoft.com/office/drawing/2014/main" id="{3C9EDD34-29CD-4C4D-8985-B1A9D59964F4}"/>
              </a:ext>
            </a:extLst>
          </p:cNvPr>
          <p:cNvSpPr>
            <a:spLocks xmlns:a="http://schemas.openxmlformats.org/drawingml/2006/main" noGrp="1"/>
          </p:cNvSpPr>
          <p:nvPr/>
        </p:nvSpPr>
        <p:spPr>
          <a:xfrm xmlns:a="http://schemas.openxmlformats.org/drawingml/2006/main">
            <a:off x="7863840" y="1700784"/>
            <a:ext cx="868680" cy="658368"/>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3400" b="1" i="0">
                <a:solidFill>
                  <a:srgbClr val="C86E14"/>
                </a:solidFill>
                <a:latin typeface="Cambria"/>
                <a:ea typeface="Cambria"/>
                <a:cs typeface="Cambria"/>
              </a:rPr>
              <a:t>1</a:t>
            </a:r>
          </a:p>
        </p:txBody>
      </p:sp>
      <p:sp>
        <p:nvSpPr>
          <p:cNvPr id="67" name="TextBox 66">
            <a:extLst xmlns:a="http://schemas.openxmlformats.org/drawingml/2006/main">
              <a:ext uri="{FF2B5EF4-FFF2-40B4-BE49-F238E27FC236}">
                <a16:creationId xmlns:a16="http://schemas.microsoft.com/office/drawing/2014/main" id="{2E015B65-D435-4CEE-B184-49FBDD63085C}"/>
              </a:ext>
            </a:extLst>
          </p:cNvPr>
          <p:cNvSpPr>
            <a:spLocks xmlns:a="http://schemas.openxmlformats.org/drawingml/2006/main" noGrp="1"/>
          </p:cNvSpPr>
          <p:nvPr/>
        </p:nvSpPr>
        <p:spPr>
          <a:xfrm xmlns:a="http://schemas.openxmlformats.org/drawingml/2006/main">
            <a:off x="8778240" y="1801368"/>
            <a:ext cx="2084832" cy="246888"/>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850" b="1" i="0">
                <a:solidFill>
                  <a:srgbClr val="C86E14"/>
                </a:solidFill>
                <a:latin typeface="Consolas"/>
                <a:ea typeface="Consolas"/>
                <a:cs typeface="Consolas"/>
              </a:rPr>
              <a:t>COMMON TEST CONTRACT</a:t>
            </a:r>
          </a:p>
        </p:txBody>
      </p:sp>
      <p:sp>
        <p:nvSpPr>
          <p:cNvPr id="68" name="TextBox 67">
            <a:extLst xmlns:a="http://schemas.openxmlformats.org/drawingml/2006/main">
              <a:ext uri="{FF2B5EF4-FFF2-40B4-BE49-F238E27FC236}">
                <a16:creationId xmlns:a16="http://schemas.microsoft.com/office/drawing/2014/main" id="{3B22B8C7-79FD-4C30-BBEA-F4069864AFDA}"/>
              </a:ext>
            </a:extLst>
          </p:cNvPr>
          <p:cNvSpPr>
            <a:spLocks xmlns:a="http://schemas.openxmlformats.org/drawingml/2006/main" noGrp="1"/>
          </p:cNvSpPr>
          <p:nvPr/>
        </p:nvSpPr>
        <p:spPr>
          <a:xfrm xmlns:a="http://schemas.openxmlformats.org/drawingml/2006/main">
            <a:off x="8778240" y="2103120"/>
            <a:ext cx="2084832" cy="548640"/>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1019" b="1" i="0">
                <a:solidFill>
                  <a:srgbClr val="24355B"/>
                </a:solidFill>
                <a:latin typeface="Aptos"/>
                <a:ea typeface="Aptos"/>
                <a:cs typeface="Aptos"/>
              </a:rPr>
              <a:t>S1–S14 → T1–T4 → H1–H6 → KPI</a:t>
            </a:r>
          </a:p>
        </p:txBody>
      </p:sp>
      <p:sp>
        <p:nvSpPr>
          <p:cNvPr id="69" name="Rounded Rectangle 68">
            <a:extLst xmlns:a="http://schemas.openxmlformats.org/drawingml/2006/main">
              <a:ext uri="{FF2B5EF4-FFF2-40B4-BE49-F238E27FC236}">
                <a16:creationId xmlns:a16="http://schemas.microsoft.com/office/drawing/2014/main" id="{FF68F444-3CDD-49F0-876A-67BD8A779C00}"/>
              </a:ext>
            </a:extLst>
          </p:cNvPr>
          <p:cNvSpPr>
            <a:spLocks xmlns:a="http://schemas.openxmlformats.org/drawingml/2006/main" noGrp="1"/>
          </p:cNvSpPr>
          <p:nvPr/>
        </p:nvSpPr>
        <p:spPr>
          <a:xfrm xmlns:a="http://schemas.openxmlformats.org/drawingml/2006/main">
            <a:off x="621792" y="3246120"/>
            <a:ext cx="10945368" cy="1005840"/>
          </a:xfrm>
          <a:prstGeom xmlns:a="http://schemas.openxmlformats.org/drawingml/2006/main" prst="roundRect">
            <a:avLst/>
          </a:prstGeom>
          <a:solidFill xmlns:a="http://schemas.openxmlformats.org/drawingml/2006/main">
            <a:srgbClr val="FFFFFF"/>
          </a:solidFill>
          <a:ln xmlns:a="http://schemas.openxmlformats.org/drawingml/2006/main" w="15875">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0" name="TextBox 69">
            <a:extLst xmlns:a="http://schemas.openxmlformats.org/drawingml/2006/main">
              <a:ext uri="{FF2B5EF4-FFF2-40B4-BE49-F238E27FC236}">
                <a16:creationId xmlns:a16="http://schemas.microsoft.com/office/drawing/2014/main" id="{759EB0D9-FF58-4348-8C7C-76ECCF48F823}"/>
              </a:ext>
            </a:extLst>
          </p:cNvPr>
          <p:cNvSpPr>
            <a:spLocks xmlns:a="http://schemas.openxmlformats.org/drawingml/2006/main" noGrp="1"/>
          </p:cNvSpPr>
          <p:nvPr/>
        </p:nvSpPr>
        <p:spPr>
          <a:xfrm xmlns:a="http://schemas.openxmlformats.org/drawingml/2006/main">
            <a:off x="804672" y="3355848"/>
            <a:ext cx="1417320" cy="210312"/>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850" b="1" i="0">
                <a:solidFill>
                  <a:srgbClr val="24355B"/>
                </a:solidFill>
                <a:latin typeface="Consolas"/>
                <a:ea typeface="Consolas"/>
                <a:cs typeface="Consolas"/>
              </a:rPr>
              <a:t>CENTRAL FINDING</a:t>
            </a:r>
          </a:p>
        </p:txBody>
      </p:sp>
      <p:sp>
        <p:nvSpPr>
          <p:cNvPr id="71" name="TextBox 70">
            <a:extLst xmlns:a="http://schemas.openxmlformats.org/drawingml/2006/main">
              <a:ext uri="{FF2B5EF4-FFF2-40B4-BE49-F238E27FC236}">
                <a16:creationId xmlns:a16="http://schemas.microsoft.com/office/drawing/2014/main" id="{D8883BD4-FD1C-4B99-8F3B-9529A0E915A3}"/>
              </a:ext>
            </a:extLst>
          </p:cNvPr>
          <p:cNvSpPr>
            <a:spLocks xmlns:a="http://schemas.openxmlformats.org/drawingml/2006/main" noGrp="1"/>
          </p:cNvSpPr>
          <p:nvPr/>
        </p:nvSpPr>
        <p:spPr>
          <a:xfrm xmlns:a="http://schemas.openxmlformats.org/drawingml/2006/main">
            <a:off x="2148840" y="3328988"/>
            <a:ext cx="8858250" cy="447675"/>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noAutofit/>
          </a:bodyPr>
          <a:lstStyle xmlns:a="http://schemas.openxmlformats.org/drawingml/2006/main"/>
          <a:p xmlns:a="http://schemas.openxmlformats.org/drawingml/2006/main">
            <a:pPr algn="l">
              <a:buNone/>
              <a:defRPr sz="1230" b="1">
                <a:solidFill>
                  <a:srgbClr val="24355B"/>
                </a:solidFill>
                <a:latin typeface="Cambria"/>
                <a:ea typeface="Cambria"/>
                <a:cs typeface="Cambria"/>
              </a:defRPr>
            </a:pPr>
            <a:r>
              <a:rPr sz="1230" b="1" i="0">
                <a:solidFill>
                  <a:srgbClr val="24355B"/>
                </a:solidFill>
                <a:latin typeface="Cambria"/>
                <a:ea typeface="Cambria"/>
                <a:cs typeface="Cambria"/>
              </a:rPr>
              <a:t>The same requirements system defines a conforming Route Q for every reference scenario.</a:t>
            </a:r>
          </a:p>
          <a:p xmlns:a="http://schemas.openxmlformats.org/drawingml/2006/main">
            <a:pPr algn="l">
              <a:buNone/>
              <a:defRPr sz="1230" b="1">
                <a:solidFill>
                  <a:srgbClr val="24355B"/>
                </a:solidFill>
                <a:latin typeface="Cambria"/>
                <a:ea typeface="Cambria"/>
                <a:cs typeface="Cambria"/>
              </a:defRPr>
            </a:pPr>
            <a:r>
              <a:rPr sz="1230" b="1" i="0">
                <a:solidFill>
                  <a:srgbClr val="24355B"/>
                </a:solidFill>
                <a:latin typeface="Cambria"/>
                <a:ea typeface="Cambria"/>
                <a:cs typeface="Cambria"/>
              </a:rPr>
              <a:t>No case-specific requirement family has been needed.</a:t>
            </a:r>
          </a:p>
        </p:txBody>
      </p:sp>
      <p:sp>
        <p:nvSpPr>
          <p:cNvPr id="72" name="TextBox 71">
            <a:extLst xmlns:a="http://schemas.openxmlformats.org/drawingml/2006/main">
              <a:ext uri="{FF2B5EF4-FFF2-40B4-BE49-F238E27FC236}">
                <a16:creationId xmlns:a16="http://schemas.microsoft.com/office/drawing/2014/main" id="{54D68B0B-9279-4ED3-BA9E-7CC02E4797BB}"/>
              </a:ext>
            </a:extLst>
          </p:cNvPr>
          <p:cNvSpPr>
            <a:spLocks xmlns:a="http://schemas.openxmlformats.org/drawingml/2006/main" noGrp="1"/>
          </p:cNvSpPr>
          <p:nvPr/>
        </p:nvSpPr>
        <p:spPr>
          <a:xfrm xmlns:a="http://schemas.openxmlformats.org/drawingml/2006/main">
            <a:off x="2148840" y="3848100"/>
            <a:ext cx="8858250" cy="209550"/>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noAutofit/>
          </a:bodyPr>
          <a:lstStyle xmlns:a="http://schemas.openxmlformats.org/drawingml/2006/main"/>
          <a:p xmlns:a="http://schemas.openxmlformats.org/drawingml/2006/main">
            <a:pPr algn="l">
              <a:buNone/>
              <a:defRPr sz="915" b="1">
                <a:solidFill>
                  <a:srgbClr val="5D6775"/>
                </a:solidFill>
                <a:latin typeface="Aptos"/>
                <a:ea typeface="Aptos"/>
                <a:cs typeface="Aptos"/>
              </a:defRPr>
            </a:pPr>
            <a:r>
              <a:rPr sz="915" b="1" i="0">
                <a:solidFill>
                  <a:srgbClr val="5D6775"/>
                </a:solidFill>
                <a:latin typeface="Aptos"/>
                <a:ea typeface="Aptos"/>
                <a:cs typeface="Aptos"/>
              </a:rPr>
              <a:t>Requirement reuse across radically different failure mechanisms is itself a result.</a:t>
            </a:r>
          </a:p>
        </p:txBody>
      </p:sp>
      <p:sp>
        <p:nvSpPr>
          <p:cNvPr id="73" name="TextBox 72">
            <a:extLst xmlns:a="http://schemas.openxmlformats.org/drawingml/2006/main">
              <a:ext uri="{FF2B5EF4-FFF2-40B4-BE49-F238E27FC236}">
                <a16:creationId xmlns:a16="http://schemas.microsoft.com/office/drawing/2014/main" id="{6C0902C9-CF05-439F-94C3-28C3C57A6A28}"/>
              </a:ext>
            </a:extLst>
          </p:cNvPr>
          <p:cNvSpPr>
            <a:spLocks xmlns:a="http://schemas.openxmlformats.org/drawingml/2006/main" noGrp="1"/>
          </p:cNvSpPr>
          <p:nvPr/>
        </p:nvSpPr>
        <p:spPr>
          <a:xfrm xmlns:a="http://schemas.openxmlformats.org/drawingml/2006/main">
            <a:off x="630936" y="4443984"/>
            <a:ext cx="1920240" cy="228600"/>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830" b="1" i="0">
                <a:solidFill>
                  <a:srgbClr val="24355B"/>
                </a:solidFill>
                <a:latin typeface="Consolas"/>
                <a:ea typeface="Consolas"/>
                <a:cs typeface="Consolas"/>
              </a:rPr>
              <a:t>VERIFY EACH CONFORMING ROUTE</a:t>
            </a:r>
          </a:p>
        </p:txBody>
      </p:sp>
      <p:sp>
        <p:nvSpPr>
          <p:cNvPr id="74" name="Rounded Rectangle 73">
            <a:extLst xmlns:a="http://schemas.openxmlformats.org/drawingml/2006/main">
              <a:ext uri="{FF2B5EF4-FFF2-40B4-BE49-F238E27FC236}">
                <a16:creationId xmlns:a16="http://schemas.microsoft.com/office/drawing/2014/main" id="{7E538987-F4C8-41FB-87FF-4FCDC211E122}"/>
              </a:ext>
            </a:extLst>
          </p:cNvPr>
          <p:cNvSpPr>
            <a:spLocks xmlns:a="http://schemas.openxmlformats.org/drawingml/2006/main" noGrp="1"/>
          </p:cNvSpPr>
          <p:nvPr/>
        </p:nvSpPr>
        <p:spPr>
          <a:xfrm xmlns:a="http://schemas.openxmlformats.org/drawingml/2006/main">
            <a:off x="630936" y="4681728"/>
            <a:ext cx="1325880" cy="512064"/>
          </a:xfrm>
          <a:prstGeom xmlns:a="http://schemas.openxmlformats.org/drawingml/2006/main" prst="roundRect">
            <a:avLst/>
          </a:prstGeom>
          <a:solidFill xmlns:a="http://schemas.openxmlformats.org/drawingml/2006/main">
            <a:srgbClr val="FFFFFF"/>
          </a:solidFill>
          <a:ln xmlns:a="http://schemas.openxmlformats.org/drawingml/2006/main" w="1270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5" name="TextBox 74">
            <a:extLst xmlns:a="http://schemas.openxmlformats.org/drawingml/2006/main">
              <a:ext uri="{FF2B5EF4-FFF2-40B4-BE49-F238E27FC236}">
                <a16:creationId xmlns:a16="http://schemas.microsoft.com/office/drawing/2014/main" id="{954ADE54-D2DA-417C-B632-84F00DB6C015}"/>
              </a:ext>
            </a:extLst>
          </p:cNvPr>
          <p:cNvSpPr>
            <a:spLocks xmlns:a="http://schemas.openxmlformats.org/drawingml/2006/main" noGrp="1"/>
          </p:cNvSpPr>
          <p:nvPr/>
        </p:nvSpPr>
        <p:spPr>
          <a:xfrm xmlns:a="http://schemas.openxmlformats.org/drawingml/2006/main">
            <a:off x="676656" y="4727448"/>
            <a:ext cx="1234439" cy="17373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800" b="1" i="0">
                <a:solidFill>
                  <a:srgbClr val="2F6FB2"/>
                </a:solidFill>
                <a:latin typeface="Consolas"/>
                <a:ea typeface="Consolas"/>
                <a:cs typeface="Consolas"/>
                <a:hlinkClick xmlns:r="http://schemas.openxmlformats.org/officeDocument/2006/relationships" r:id="Rb83815b97d7548e1"/>
              </a:rPr>
              <a:t>00E</a:t>
            </a:r>
          </a:p>
        </p:txBody>
      </p:sp>
      <p:sp>
        <p:nvSpPr>
          <p:cNvPr id="76" name="TextBox 75">
            <a:extLst xmlns:a="http://schemas.openxmlformats.org/drawingml/2006/main">
              <a:ext uri="{FF2B5EF4-FFF2-40B4-BE49-F238E27FC236}">
                <a16:creationId xmlns:a16="http://schemas.microsoft.com/office/drawing/2014/main" id="{4B8CB0B2-A88E-4C7D-A214-85B86BB44E64}"/>
              </a:ext>
            </a:extLst>
          </p:cNvPr>
          <p:cNvSpPr>
            <a:spLocks xmlns:a="http://schemas.openxmlformats.org/drawingml/2006/main" noGrp="1"/>
          </p:cNvSpPr>
          <p:nvPr/>
        </p:nvSpPr>
        <p:spPr>
          <a:xfrm xmlns:a="http://schemas.openxmlformats.org/drawingml/2006/main">
            <a:off x="676656" y="4919472"/>
            <a:ext cx="1234439" cy="164592"/>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780" b="1" i="0">
                <a:solidFill>
                  <a:srgbClr val="1F2D3D"/>
                </a:solidFill>
                <a:latin typeface="Aptos"/>
                <a:ea typeface="Aptos"/>
                <a:cs typeface="Aptos"/>
                <a:hlinkClick xmlns:r="http://schemas.openxmlformats.org/officeDocument/2006/relationships" r:id="R03718830b45f417e"/>
              </a:rPr>
              <a:t>100M Tokens</a:t>
            </a:r>
          </a:p>
        </p:txBody>
      </p:sp>
      <p:sp>
        <p:nvSpPr>
          <p:cNvPr id="77" name="Rounded Rectangle 76">
            <a:extLst xmlns:a="http://schemas.openxmlformats.org/drawingml/2006/main">
              <a:ext uri="{FF2B5EF4-FFF2-40B4-BE49-F238E27FC236}">
                <a16:creationId xmlns:a16="http://schemas.microsoft.com/office/drawing/2014/main" id="{E9DD8C67-EE2C-4C5A-AB1A-D4B9E488D3CB}"/>
              </a:ext>
            </a:extLst>
          </p:cNvPr>
          <p:cNvSpPr>
            <a:spLocks xmlns:a="http://schemas.openxmlformats.org/drawingml/2006/main" noGrp="1"/>
          </p:cNvSpPr>
          <p:nvPr/>
        </p:nvSpPr>
        <p:spPr>
          <a:xfrm xmlns:a="http://schemas.openxmlformats.org/drawingml/2006/main">
            <a:off x="2066543" y="4681728"/>
            <a:ext cx="1325880" cy="512064"/>
          </a:xfrm>
          <a:prstGeom xmlns:a="http://schemas.openxmlformats.org/drawingml/2006/main" prst="roundRect">
            <a:avLst/>
          </a:prstGeom>
          <a:solidFill xmlns:a="http://schemas.openxmlformats.org/drawingml/2006/main">
            <a:srgbClr val="FFFFFF"/>
          </a:solidFill>
          <a:ln xmlns:a="http://schemas.openxmlformats.org/drawingml/2006/main" w="1270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 name="TextBox 77">
            <a:extLst xmlns:a="http://schemas.openxmlformats.org/drawingml/2006/main">
              <a:ext uri="{FF2B5EF4-FFF2-40B4-BE49-F238E27FC236}">
                <a16:creationId xmlns:a16="http://schemas.microsoft.com/office/drawing/2014/main" id="{993E1668-3B29-4EFA-BD05-0D359AD5D4C4}"/>
              </a:ext>
            </a:extLst>
          </p:cNvPr>
          <p:cNvSpPr>
            <a:spLocks xmlns:a="http://schemas.openxmlformats.org/drawingml/2006/main" noGrp="1"/>
          </p:cNvSpPr>
          <p:nvPr/>
        </p:nvSpPr>
        <p:spPr>
          <a:xfrm xmlns:a="http://schemas.openxmlformats.org/drawingml/2006/main">
            <a:off x="2112263" y="4727448"/>
            <a:ext cx="1234439" cy="17373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800" b="1" i="0">
                <a:solidFill>
                  <a:srgbClr val="2F6FB2"/>
                </a:solidFill>
                <a:latin typeface="Consolas"/>
                <a:ea typeface="Consolas"/>
                <a:cs typeface="Consolas"/>
                <a:hlinkClick xmlns:r="http://schemas.openxmlformats.org/officeDocument/2006/relationships" r:id="R3d9ba56482d74f05"/>
              </a:rPr>
              <a:t>00F</a:t>
            </a:r>
          </a:p>
        </p:txBody>
      </p:sp>
      <p:sp>
        <p:nvSpPr>
          <p:cNvPr id="79" name="TextBox 78">
            <a:extLst xmlns:a="http://schemas.openxmlformats.org/drawingml/2006/main">
              <a:ext uri="{FF2B5EF4-FFF2-40B4-BE49-F238E27FC236}">
                <a16:creationId xmlns:a16="http://schemas.microsoft.com/office/drawing/2014/main" id="{52061DB5-5B12-44BE-966B-87858364BA1B}"/>
              </a:ext>
            </a:extLst>
          </p:cNvPr>
          <p:cNvSpPr>
            <a:spLocks xmlns:a="http://schemas.openxmlformats.org/drawingml/2006/main" noGrp="1"/>
          </p:cNvSpPr>
          <p:nvPr/>
        </p:nvSpPr>
        <p:spPr>
          <a:xfrm xmlns:a="http://schemas.openxmlformats.org/drawingml/2006/main">
            <a:off x="2112263" y="4919472"/>
            <a:ext cx="1234439" cy="164592"/>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780" b="1" i="0">
                <a:solidFill>
                  <a:srgbClr val="1F2D3D"/>
                </a:solidFill>
                <a:latin typeface="Aptos"/>
                <a:ea typeface="Aptos"/>
                <a:cs typeface="Aptos"/>
                <a:hlinkClick xmlns:r="http://schemas.openxmlformats.org/officeDocument/2006/relationships" r:id="Rd1cb5f3d70024a53"/>
              </a:rPr>
              <a:t>Smartcity</a:t>
            </a:r>
          </a:p>
        </p:txBody>
      </p:sp>
      <p:sp>
        <p:nvSpPr>
          <p:cNvPr id="80" name="Rounded Rectangle 79">
            <a:extLst xmlns:a="http://schemas.openxmlformats.org/drawingml/2006/main">
              <a:ext uri="{FF2B5EF4-FFF2-40B4-BE49-F238E27FC236}">
                <a16:creationId xmlns:a16="http://schemas.microsoft.com/office/drawing/2014/main" id="{35510771-1410-4AD6-A243-B42064928614}"/>
              </a:ext>
            </a:extLst>
          </p:cNvPr>
          <p:cNvSpPr>
            <a:spLocks xmlns:a="http://schemas.openxmlformats.org/drawingml/2006/main" noGrp="1"/>
          </p:cNvSpPr>
          <p:nvPr/>
        </p:nvSpPr>
        <p:spPr>
          <a:xfrm xmlns:a="http://schemas.openxmlformats.org/drawingml/2006/main">
            <a:off x="3502151" y="4681728"/>
            <a:ext cx="1325880" cy="512064"/>
          </a:xfrm>
          <a:prstGeom xmlns:a="http://schemas.openxmlformats.org/drawingml/2006/main" prst="roundRect">
            <a:avLst/>
          </a:prstGeom>
          <a:solidFill xmlns:a="http://schemas.openxmlformats.org/drawingml/2006/main">
            <a:srgbClr val="FFFFFF"/>
          </a:solidFill>
          <a:ln xmlns:a="http://schemas.openxmlformats.org/drawingml/2006/main" w="1270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1" name="TextBox 80">
            <a:extLst xmlns:a="http://schemas.openxmlformats.org/drawingml/2006/main">
              <a:ext uri="{FF2B5EF4-FFF2-40B4-BE49-F238E27FC236}">
                <a16:creationId xmlns:a16="http://schemas.microsoft.com/office/drawing/2014/main" id="{4B68B3B9-C7FB-48AC-824F-C2A5420355B1}"/>
              </a:ext>
            </a:extLst>
          </p:cNvPr>
          <p:cNvSpPr>
            <a:spLocks xmlns:a="http://schemas.openxmlformats.org/drawingml/2006/main" noGrp="1"/>
          </p:cNvSpPr>
          <p:nvPr/>
        </p:nvSpPr>
        <p:spPr>
          <a:xfrm xmlns:a="http://schemas.openxmlformats.org/drawingml/2006/main">
            <a:off x="3547871" y="4727448"/>
            <a:ext cx="1234439" cy="17373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800" b="1" i="0">
                <a:solidFill>
                  <a:srgbClr val="2F6FB2"/>
                </a:solidFill>
                <a:latin typeface="Consolas"/>
                <a:ea typeface="Consolas"/>
                <a:cs typeface="Consolas"/>
                <a:hlinkClick xmlns:r="http://schemas.openxmlformats.org/officeDocument/2006/relationships" r:id="R15b0bea42cee48eb"/>
              </a:rPr>
              <a:t>00G</a:t>
            </a:r>
          </a:p>
        </p:txBody>
      </p:sp>
      <p:sp>
        <p:nvSpPr>
          <p:cNvPr id="82" name="TextBox 81">
            <a:extLst xmlns:a="http://schemas.openxmlformats.org/drawingml/2006/main">
              <a:ext uri="{FF2B5EF4-FFF2-40B4-BE49-F238E27FC236}">
                <a16:creationId xmlns:a16="http://schemas.microsoft.com/office/drawing/2014/main" id="{095691CF-DA6D-4147-A873-7387902A667A}"/>
              </a:ext>
            </a:extLst>
          </p:cNvPr>
          <p:cNvSpPr>
            <a:spLocks xmlns:a="http://schemas.openxmlformats.org/drawingml/2006/main" noGrp="1"/>
          </p:cNvSpPr>
          <p:nvPr/>
        </p:nvSpPr>
        <p:spPr>
          <a:xfrm xmlns:a="http://schemas.openxmlformats.org/drawingml/2006/main">
            <a:off x="3547871" y="4919472"/>
            <a:ext cx="1234439" cy="164592"/>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780" b="1" i="0">
                <a:solidFill>
                  <a:srgbClr val="1F2D3D"/>
                </a:solidFill>
                <a:latin typeface="Aptos"/>
                <a:ea typeface="Aptos"/>
                <a:cs typeface="Aptos"/>
                <a:hlinkClick xmlns:r="http://schemas.openxmlformats.org/officeDocument/2006/relationships" r:id="R4e5281c289214a80"/>
              </a:rPr>
              <a:t>Napoleon</a:t>
            </a:r>
          </a:p>
        </p:txBody>
      </p:sp>
      <p:sp>
        <p:nvSpPr>
          <p:cNvPr id="83" name="Rounded Rectangle 82">
            <a:extLst xmlns:a="http://schemas.openxmlformats.org/drawingml/2006/main">
              <a:ext uri="{FF2B5EF4-FFF2-40B4-BE49-F238E27FC236}">
                <a16:creationId xmlns:a16="http://schemas.microsoft.com/office/drawing/2014/main" id="{DA55EBBF-C6EE-4220-AFEB-C6107C76A0B7}"/>
              </a:ext>
            </a:extLst>
          </p:cNvPr>
          <p:cNvSpPr>
            <a:spLocks xmlns:a="http://schemas.openxmlformats.org/drawingml/2006/main" noGrp="1"/>
          </p:cNvSpPr>
          <p:nvPr/>
        </p:nvSpPr>
        <p:spPr>
          <a:xfrm xmlns:a="http://schemas.openxmlformats.org/drawingml/2006/main">
            <a:off x="4937759" y="4681728"/>
            <a:ext cx="1325880" cy="512064"/>
          </a:xfrm>
          <a:prstGeom xmlns:a="http://schemas.openxmlformats.org/drawingml/2006/main" prst="roundRect">
            <a:avLst/>
          </a:prstGeom>
          <a:solidFill xmlns:a="http://schemas.openxmlformats.org/drawingml/2006/main">
            <a:srgbClr val="FFFFFF"/>
          </a:solidFill>
          <a:ln xmlns:a="http://schemas.openxmlformats.org/drawingml/2006/main" w="1270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4" name="TextBox 83">
            <a:extLst xmlns:a="http://schemas.openxmlformats.org/drawingml/2006/main">
              <a:ext uri="{FF2B5EF4-FFF2-40B4-BE49-F238E27FC236}">
                <a16:creationId xmlns:a16="http://schemas.microsoft.com/office/drawing/2014/main" id="{E742D62D-578C-40C0-A352-9E306B73E676}"/>
              </a:ext>
            </a:extLst>
          </p:cNvPr>
          <p:cNvSpPr>
            <a:spLocks xmlns:a="http://schemas.openxmlformats.org/drawingml/2006/main" noGrp="1"/>
          </p:cNvSpPr>
          <p:nvPr/>
        </p:nvSpPr>
        <p:spPr>
          <a:xfrm xmlns:a="http://schemas.openxmlformats.org/drawingml/2006/main">
            <a:off x="4983479" y="4727448"/>
            <a:ext cx="1234439" cy="17373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800" b="1" i="0">
                <a:solidFill>
                  <a:srgbClr val="2F6FB2"/>
                </a:solidFill>
                <a:latin typeface="Consolas"/>
                <a:ea typeface="Consolas"/>
                <a:cs typeface="Consolas"/>
                <a:hlinkClick xmlns:r="http://schemas.openxmlformats.org/officeDocument/2006/relationships" r:id="R93ef6054a1f64144"/>
              </a:rPr>
              <a:t>00H</a:t>
            </a:r>
          </a:p>
        </p:txBody>
      </p:sp>
      <p:sp>
        <p:nvSpPr>
          <p:cNvPr id="85" name="TextBox 84">
            <a:extLst xmlns:a="http://schemas.openxmlformats.org/drawingml/2006/main">
              <a:ext uri="{FF2B5EF4-FFF2-40B4-BE49-F238E27FC236}">
                <a16:creationId xmlns:a16="http://schemas.microsoft.com/office/drawing/2014/main" id="{090E9F94-4EA7-49B0-9172-56B8F0548A5E}"/>
              </a:ext>
            </a:extLst>
          </p:cNvPr>
          <p:cNvSpPr>
            <a:spLocks xmlns:a="http://schemas.openxmlformats.org/drawingml/2006/main" noGrp="1"/>
          </p:cNvSpPr>
          <p:nvPr/>
        </p:nvSpPr>
        <p:spPr>
          <a:xfrm xmlns:a="http://schemas.openxmlformats.org/drawingml/2006/main">
            <a:off x="4983479" y="4919472"/>
            <a:ext cx="1234439" cy="164592"/>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780" b="1" i="0">
                <a:solidFill>
                  <a:srgbClr val="1F2D3D"/>
                </a:solidFill>
                <a:latin typeface="Aptos"/>
                <a:ea typeface="Aptos"/>
                <a:cs typeface="Aptos"/>
                <a:hlinkClick xmlns:r="http://schemas.openxmlformats.org/officeDocument/2006/relationships" r:id="Rbc12ea83ef554c92"/>
              </a:rPr>
              <a:t>Quiet 4K</a:t>
            </a:r>
          </a:p>
        </p:txBody>
      </p:sp>
      <p:sp>
        <p:nvSpPr>
          <p:cNvPr id="86" name="Rounded Rectangle 85">
            <a:extLst xmlns:a="http://schemas.openxmlformats.org/drawingml/2006/main">
              <a:ext uri="{FF2B5EF4-FFF2-40B4-BE49-F238E27FC236}">
                <a16:creationId xmlns:a16="http://schemas.microsoft.com/office/drawing/2014/main" id="{5BCCD6A3-DF69-4004-BB5E-9E17AB7A98DD}"/>
              </a:ext>
            </a:extLst>
          </p:cNvPr>
          <p:cNvSpPr>
            <a:spLocks xmlns:a="http://schemas.openxmlformats.org/drawingml/2006/main" noGrp="1"/>
          </p:cNvSpPr>
          <p:nvPr/>
        </p:nvSpPr>
        <p:spPr>
          <a:xfrm xmlns:a="http://schemas.openxmlformats.org/drawingml/2006/main">
            <a:off x="6373367" y="4681728"/>
            <a:ext cx="1325880" cy="512064"/>
          </a:xfrm>
          <a:prstGeom xmlns:a="http://schemas.openxmlformats.org/drawingml/2006/main" prst="roundRect">
            <a:avLst/>
          </a:prstGeom>
          <a:solidFill xmlns:a="http://schemas.openxmlformats.org/drawingml/2006/main">
            <a:srgbClr val="FFFFFF"/>
          </a:solidFill>
          <a:ln xmlns:a="http://schemas.openxmlformats.org/drawingml/2006/main" w="1270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7" name="TextBox 86">
            <a:extLst xmlns:a="http://schemas.openxmlformats.org/drawingml/2006/main">
              <a:ext uri="{FF2B5EF4-FFF2-40B4-BE49-F238E27FC236}">
                <a16:creationId xmlns:a16="http://schemas.microsoft.com/office/drawing/2014/main" id="{33636D8B-1612-4E1E-B609-F2A0432F6597}"/>
              </a:ext>
            </a:extLst>
          </p:cNvPr>
          <p:cNvSpPr>
            <a:spLocks xmlns:a="http://schemas.openxmlformats.org/drawingml/2006/main" noGrp="1"/>
          </p:cNvSpPr>
          <p:nvPr/>
        </p:nvSpPr>
        <p:spPr>
          <a:xfrm xmlns:a="http://schemas.openxmlformats.org/drawingml/2006/main">
            <a:off x="6419087" y="4727448"/>
            <a:ext cx="1234439" cy="17373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800" b="1" i="0">
                <a:solidFill>
                  <a:srgbClr val="2F6FB2"/>
                </a:solidFill>
                <a:latin typeface="Consolas"/>
                <a:ea typeface="Consolas"/>
                <a:cs typeface="Consolas"/>
                <a:hlinkClick xmlns:r="http://schemas.openxmlformats.org/officeDocument/2006/relationships" r:id="R39e39aed4cbc46a4"/>
              </a:rPr>
              <a:t>00I</a:t>
            </a:r>
          </a:p>
        </p:txBody>
      </p:sp>
      <p:sp>
        <p:nvSpPr>
          <p:cNvPr id="88" name="TextBox 87">
            <a:extLst xmlns:a="http://schemas.openxmlformats.org/drawingml/2006/main">
              <a:ext uri="{FF2B5EF4-FFF2-40B4-BE49-F238E27FC236}">
                <a16:creationId xmlns:a16="http://schemas.microsoft.com/office/drawing/2014/main" id="{18096F0A-DE6B-468D-9BB2-75B43E3656EE}"/>
              </a:ext>
            </a:extLst>
          </p:cNvPr>
          <p:cNvSpPr>
            <a:spLocks xmlns:a="http://schemas.openxmlformats.org/drawingml/2006/main" noGrp="1"/>
          </p:cNvSpPr>
          <p:nvPr/>
        </p:nvSpPr>
        <p:spPr>
          <a:xfrm xmlns:a="http://schemas.openxmlformats.org/drawingml/2006/main">
            <a:off x="6419087" y="4919472"/>
            <a:ext cx="1234439" cy="164592"/>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780" b="1" i="0">
                <a:solidFill>
                  <a:srgbClr val="1F2D3D"/>
                </a:solidFill>
                <a:latin typeface="Aptos"/>
                <a:ea typeface="Aptos"/>
                <a:cs typeface="Aptos"/>
                <a:hlinkClick xmlns:r="http://schemas.openxmlformats.org/officeDocument/2006/relationships" r:id="Rcbf2ef518e7a4712"/>
              </a:rPr>
              <a:t>Patch</a:t>
            </a:r>
          </a:p>
        </p:txBody>
      </p:sp>
      <p:sp>
        <p:nvSpPr>
          <p:cNvPr id="89" name="Rounded Rectangle 88">
            <a:extLst xmlns:a="http://schemas.openxmlformats.org/drawingml/2006/main">
              <a:ext uri="{FF2B5EF4-FFF2-40B4-BE49-F238E27FC236}">
                <a16:creationId xmlns:a16="http://schemas.microsoft.com/office/drawing/2014/main" id="{A7C18B9F-BEDE-4005-B9E6-B94EC1A1F196}"/>
              </a:ext>
            </a:extLst>
          </p:cNvPr>
          <p:cNvSpPr>
            <a:spLocks xmlns:a="http://schemas.openxmlformats.org/drawingml/2006/main" noGrp="1"/>
          </p:cNvSpPr>
          <p:nvPr/>
        </p:nvSpPr>
        <p:spPr>
          <a:xfrm xmlns:a="http://schemas.openxmlformats.org/drawingml/2006/main">
            <a:off x="7808975" y="4681728"/>
            <a:ext cx="1325880" cy="512064"/>
          </a:xfrm>
          <a:prstGeom xmlns:a="http://schemas.openxmlformats.org/drawingml/2006/main" prst="roundRect">
            <a:avLst/>
          </a:prstGeom>
          <a:solidFill xmlns:a="http://schemas.openxmlformats.org/drawingml/2006/main">
            <a:srgbClr val="FFFFFF"/>
          </a:solidFill>
          <a:ln xmlns:a="http://schemas.openxmlformats.org/drawingml/2006/main" w="1270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0" name="TextBox 89">
            <a:extLst xmlns:a="http://schemas.openxmlformats.org/drawingml/2006/main">
              <a:ext uri="{FF2B5EF4-FFF2-40B4-BE49-F238E27FC236}">
                <a16:creationId xmlns:a16="http://schemas.microsoft.com/office/drawing/2014/main" id="{805A5EFA-DADD-4C2E-B12F-89B376245AD0}"/>
              </a:ext>
            </a:extLst>
          </p:cNvPr>
          <p:cNvSpPr>
            <a:spLocks xmlns:a="http://schemas.openxmlformats.org/drawingml/2006/main" noGrp="1"/>
          </p:cNvSpPr>
          <p:nvPr/>
        </p:nvSpPr>
        <p:spPr>
          <a:xfrm xmlns:a="http://schemas.openxmlformats.org/drawingml/2006/main">
            <a:off x="7854696" y="4727448"/>
            <a:ext cx="1234439" cy="17373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800" b="1" i="0">
                <a:solidFill>
                  <a:srgbClr val="2F6FB2"/>
                </a:solidFill>
                <a:latin typeface="Consolas"/>
                <a:ea typeface="Consolas"/>
                <a:cs typeface="Consolas"/>
                <a:hlinkClick xmlns:r="http://schemas.openxmlformats.org/officeDocument/2006/relationships" r:id="R1b11526b8ff248ac"/>
              </a:rPr>
              <a:t>00J</a:t>
            </a:r>
          </a:p>
        </p:txBody>
      </p:sp>
      <p:sp>
        <p:nvSpPr>
          <p:cNvPr id="91" name="TextBox 90">
            <a:extLst xmlns:a="http://schemas.openxmlformats.org/drawingml/2006/main">
              <a:ext uri="{FF2B5EF4-FFF2-40B4-BE49-F238E27FC236}">
                <a16:creationId xmlns:a16="http://schemas.microsoft.com/office/drawing/2014/main" id="{7C14BDF7-BC71-4ED5-BF7C-310F1894972A}"/>
              </a:ext>
            </a:extLst>
          </p:cNvPr>
          <p:cNvSpPr>
            <a:spLocks xmlns:a="http://schemas.openxmlformats.org/drawingml/2006/main" noGrp="1"/>
          </p:cNvSpPr>
          <p:nvPr/>
        </p:nvSpPr>
        <p:spPr>
          <a:xfrm xmlns:a="http://schemas.openxmlformats.org/drawingml/2006/main">
            <a:off x="7854696" y="4919472"/>
            <a:ext cx="1234439" cy="164592"/>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780" b="1" i="0">
                <a:solidFill>
                  <a:srgbClr val="1F2D3D"/>
                </a:solidFill>
                <a:latin typeface="Aptos"/>
                <a:ea typeface="Aptos"/>
                <a:cs typeface="Aptos"/>
                <a:hlinkClick xmlns:r="http://schemas.openxmlformats.org/officeDocument/2006/relationships" r:id="R191e434c7267422b"/>
              </a:rPr>
              <a:t>Author</a:t>
            </a:r>
          </a:p>
        </p:txBody>
      </p:sp>
      <p:sp>
        <p:nvSpPr>
          <p:cNvPr id="92" name="Rounded Rectangle 91">
            <a:extLst xmlns:a="http://schemas.openxmlformats.org/drawingml/2006/main">
              <a:ext uri="{FF2B5EF4-FFF2-40B4-BE49-F238E27FC236}">
                <a16:creationId xmlns:a16="http://schemas.microsoft.com/office/drawing/2014/main" id="{CEFE544A-2D78-4218-9E08-F001FD77A05E}"/>
              </a:ext>
            </a:extLst>
          </p:cNvPr>
          <p:cNvSpPr>
            <a:spLocks xmlns:a="http://schemas.openxmlformats.org/drawingml/2006/main" noGrp="1"/>
          </p:cNvSpPr>
          <p:nvPr/>
        </p:nvSpPr>
        <p:spPr>
          <a:xfrm xmlns:a="http://schemas.openxmlformats.org/drawingml/2006/main">
            <a:off x="630936" y="5367528"/>
            <a:ext cx="5285232" cy="566928"/>
          </a:xfrm>
          <a:prstGeom xmlns:a="http://schemas.openxmlformats.org/drawingml/2006/main" prst="roundRect">
            <a:avLst/>
          </a:prstGeom>
          <a:solidFill xmlns:a="http://schemas.openxmlformats.org/drawingml/2006/main">
            <a:srgbClr val="24355B"/>
          </a:solidFill>
          <a:ln xmlns:a="http://schemas.openxmlformats.org/drawingml/2006/main" w="10160">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3" name="TextBox 92">
            <a:hlinkClick xmlns:r="http://schemas.openxmlformats.org/officeDocument/2006/relationships" xmlns:a="http://schemas.openxmlformats.org/drawingml/2006/main" r:id="R08b5853b26754324"/>
            <a:extLst xmlns:a="http://schemas.openxmlformats.org/drawingml/2006/main">
              <a:ext uri="{FF2B5EF4-FFF2-40B4-BE49-F238E27FC236}">
                <a16:creationId xmlns:a16="http://schemas.microsoft.com/office/drawing/2014/main" id="{18F1D57B-C3A4-4697-89AB-91833F5B4F1D}"/>
              </a:ext>
            </a:extLst>
          </p:cNvPr>
          <p:cNvSpPr>
            <a:spLocks xmlns:a="http://schemas.openxmlformats.org/drawingml/2006/main" noGrp="1"/>
          </p:cNvSpPr>
          <p:nvPr/>
        </p:nvSpPr>
        <p:spPr>
          <a:xfrm xmlns:a="http://schemas.openxmlformats.org/drawingml/2006/main">
            <a:off x="804672" y="5440680"/>
            <a:ext cx="4919472" cy="31089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900" b="1" i="0" u="none">
                <a:solidFill>
                  <a:srgbClr val="FFFFFF"/>
                </a:solidFill>
                <a:latin typeface="Consolas"/>
                <a:ea typeface="Consolas"/>
                <a:cs typeface="Consolas"/>
              </a:rPr>
              <a:t>OPEN 00 · CANONICAL REQUIREMENTS  →</a:t>
            </a:r>
          </a:p>
        </p:txBody>
      </p:sp>
      <p:sp>
        <p:nvSpPr>
          <p:cNvPr id="94" name="Rounded Rectangle 93">
            <a:extLst xmlns:a="http://schemas.openxmlformats.org/drawingml/2006/main">
              <a:ext uri="{FF2B5EF4-FFF2-40B4-BE49-F238E27FC236}">
                <a16:creationId xmlns:a16="http://schemas.microsoft.com/office/drawing/2014/main" id="{2B468EFD-D38C-4678-A1BC-9DF7A111EBA0}"/>
              </a:ext>
            </a:extLst>
          </p:cNvPr>
          <p:cNvSpPr>
            <a:spLocks xmlns:a="http://schemas.openxmlformats.org/drawingml/2006/main" noGrp="1"/>
          </p:cNvSpPr>
          <p:nvPr/>
        </p:nvSpPr>
        <p:spPr>
          <a:xfrm xmlns:a="http://schemas.openxmlformats.org/drawingml/2006/main">
            <a:off x="6089904" y="5367528"/>
            <a:ext cx="3227832" cy="566928"/>
          </a:xfrm>
          <a:prstGeom xmlns:a="http://schemas.openxmlformats.org/drawingml/2006/main" prst="roundRect">
            <a:avLst/>
          </a:prstGeom>
          <a:solidFill xmlns:a="http://schemas.openxmlformats.org/drawingml/2006/main">
            <a:srgbClr val="00848A"/>
          </a:solidFill>
          <a:ln xmlns:a="http://schemas.openxmlformats.org/drawingml/2006/main" w="1016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5" name="TextBox 94">
            <a:hlinkClick xmlns:r="http://schemas.openxmlformats.org/officeDocument/2006/relationships" xmlns:a="http://schemas.openxmlformats.org/drawingml/2006/main" r:id="Rb64e9b98a37b4278"/>
            <a:extLst xmlns:a="http://schemas.openxmlformats.org/drawingml/2006/main">
              <a:ext uri="{FF2B5EF4-FFF2-40B4-BE49-F238E27FC236}">
                <a16:creationId xmlns:a16="http://schemas.microsoft.com/office/drawing/2014/main" id="{182CEF0A-C4FC-4E8A-B076-C66889A1C07C}"/>
              </a:ext>
            </a:extLst>
          </p:cNvPr>
          <p:cNvSpPr>
            <a:spLocks xmlns:a="http://schemas.openxmlformats.org/drawingml/2006/main" noGrp="1"/>
          </p:cNvSpPr>
          <p:nvPr/>
        </p:nvSpPr>
        <p:spPr>
          <a:xfrm xmlns:a="http://schemas.openxmlformats.org/drawingml/2006/main">
            <a:off x="6254496" y="5440680"/>
            <a:ext cx="2907792" cy="31089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900" b="1" i="0" u="none">
                <a:solidFill>
                  <a:srgbClr val="FFFFFF"/>
                </a:solidFill>
                <a:latin typeface="Consolas"/>
                <a:ea typeface="Consolas"/>
                <a:cs typeface="Consolas"/>
              </a:rPr>
              <a:t>TRACE COVERAGE  →</a:t>
            </a:r>
          </a:p>
        </p:txBody>
      </p:sp>
      <p:sp>
        <p:nvSpPr>
          <p:cNvPr id="96" name="Rounded Rectangle 95">
            <a:extLst xmlns:a="http://schemas.openxmlformats.org/drawingml/2006/main">
              <a:ext uri="{FF2B5EF4-FFF2-40B4-BE49-F238E27FC236}">
                <a16:creationId xmlns:a16="http://schemas.microsoft.com/office/drawing/2014/main" id="{02887EA4-9FB0-4E58-B9E6-D60688C2F630}"/>
              </a:ext>
            </a:extLst>
          </p:cNvPr>
          <p:cNvSpPr>
            <a:spLocks xmlns:a="http://schemas.openxmlformats.org/drawingml/2006/main" noGrp="1"/>
          </p:cNvSpPr>
          <p:nvPr/>
        </p:nvSpPr>
        <p:spPr>
          <a:xfrm xmlns:a="http://schemas.openxmlformats.org/drawingml/2006/main">
            <a:off x="9491472" y="5367528"/>
            <a:ext cx="2075688" cy="56692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C86E1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7" name="TextBox 96">
            <a:hlinkClick xmlns:r="http://schemas.openxmlformats.org/officeDocument/2006/relationships" xmlns:a="http://schemas.openxmlformats.org/drawingml/2006/main" r:id="Rd11e94acb66b468f"/>
            <a:extLst xmlns:a="http://schemas.openxmlformats.org/drawingml/2006/main">
              <a:ext uri="{FF2B5EF4-FFF2-40B4-BE49-F238E27FC236}">
                <a16:creationId xmlns:a16="http://schemas.microsoft.com/office/drawing/2014/main" id="{752972D9-E270-4602-8D80-39FDDCE47714}"/>
              </a:ext>
            </a:extLst>
          </p:cNvPr>
          <p:cNvSpPr>
            <a:spLocks xmlns:a="http://schemas.openxmlformats.org/drawingml/2006/main" noGrp="1"/>
          </p:cNvSpPr>
          <p:nvPr/>
        </p:nvSpPr>
        <p:spPr>
          <a:xfrm xmlns:a="http://schemas.openxmlformats.org/drawingml/2006/main">
            <a:off x="9601200" y="5440680"/>
            <a:ext cx="1856231" cy="310896"/>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ctr">
              <a:buNone/>
            </a:pPr>
            <a:r>
              <a:rPr sz="860" b="1" i="0" u="none">
                <a:solidFill>
                  <a:srgbClr val="C86E14"/>
                </a:solidFill>
                <a:latin typeface="Consolas"/>
                <a:ea typeface="Consolas"/>
                <a:cs typeface="Consolas"/>
              </a:rPr>
              <a:t>ALL ROUTES  →</a:t>
            </a:r>
          </a:p>
        </p:txBody>
      </p:sp>
      <p:sp>
        <p:nvSpPr>
          <p:cNvPr id="98" name="TextBox 97">
            <a:extLst xmlns:a="http://schemas.openxmlformats.org/drawingml/2006/main">
              <a:ext uri="{FF2B5EF4-FFF2-40B4-BE49-F238E27FC236}">
                <a16:creationId xmlns:a16="http://schemas.microsoft.com/office/drawing/2014/main" id="{4E1BD8F5-5267-4F4A-9907-46AD2A6755D2}"/>
              </a:ext>
            </a:extLst>
          </p:cNvPr>
          <p:cNvSpPr>
            <a:spLocks xmlns:a="http://schemas.openxmlformats.org/drawingml/2006/main" noGrp="1"/>
          </p:cNvSpPr>
          <p:nvPr/>
        </p:nvSpPr>
        <p:spPr>
          <a:xfrm xmlns:a="http://schemas.openxmlformats.org/drawingml/2006/main">
            <a:off x="640080" y="5998464"/>
            <a:ext cx="9784080" cy="182880"/>
          </a:xfrm>
          <a:prstGeom xmlns:a="http://schemas.openxmlformats.org/drawingml/2006/main" prst="rect">
            <a:avLst/>
          </a:prstGeom>
          <a:noFill xmlns:a="http://schemas.openxmlformats.org/drawingml/2006/main"/>
        </p:spPr>
        <p:txBody>
          <a:bodyPr xmlns:a="http://schemas.openxmlformats.org/drawingml/2006/main" wrap="none" lIns="18288" tIns="9144" rIns="18288" bIns="9144" anchor="ctr">
            <a:spAutoFit/>
          </a:bodyPr>
          <a:lstStyle xmlns:a="http://schemas.openxmlformats.org/drawingml/2006/main"/>
          <a:p xmlns:a="http://schemas.openxmlformats.org/drawingml/2006/main">
            <a:pPr algn="l">
              <a:buNone/>
            </a:pPr>
            <a:r>
              <a:rPr sz="770" b="0" i="1">
                <a:solidFill>
                  <a:srgbClr val="5D6775"/>
                </a:solidFill>
                <a:latin typeface="Aptos"/>
                <a:ea typeface="Aptos"/>
                <a:cs typeface="Aptos"/>
              </a:rPr>
              <a:t>Coverage / conformance design result; comparative execution and independent replication remain separately tracked.</a:t>
            </a:r>
          </a:p>
        </p:txBody>
      </p:sp>
    </p:spTree>
    <p:extLst>
      <p:ext uri="{BB962C8B-B14F-4D97-AF65-F5344CB8AC3E}">
        <p14:creationId xmlns:p14="http://schemas.microsoft.com/office/powerpoint/2010/main" val="157716375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C49B82E-5909-43C6-B814-65BA1145910D}"/>
              </a:ext>
            </a:extLst>
          </p:cNvPr>
          <p:cNvSpPr>
            <a:spLocks xmlns:a="http://schemas.openxmlformats.org/drawingml/2006/main" noGrp="1"/>
          </p:cNvSpPr>
          <p:nvPr/>
        </p:nvSpPr>
        <p:spPr>
          <a:xfrm xmlns:a="http://schemas.openxmlformats.org/drawingml/2006/main">
            <a:off x="566928" y="164592"/>
            <a:ext cx="3200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a:solidFill>
                  <a:srgbClr val="5D6775"/>
                </a:solidFill>
                <a:latin typeface="Consolas"/>
                <a:ea typeface="Consolas"/>
                <a:cs typeface="Consolas"/>
              </a:rPr>
              <a:t>REQUIREMENTS WALKED EXAMPLE</a:t>
            </a:r>
          </a:p>
        </p:txBody>
      </p:sp>
      <p:sp>
        <p:nvSpPr>
          <p:cNvPr id="3" name="TextBox 2">
            <a:extLst xmlns:a="http://schemas.openxmlformats.org/drawingml/2006/main">
              <a:ext uri="{FF2B5EF4-FFF2-40B4-BE49-F238E27FC236}">
                <a16:creationId xmlns:a16="http://schemas.microsoft.com/office/drawing/2014/main" id="{FEA35A33-5D78-482C-A679-BF31AEF2FCD8}"/>
              </a:ext>
            </a:extLst>
          </p:cNvPr>
          <p:cNvSpPr>
            <a:spLocks xmlns:a="http://schemas.openxmlformats.org/drawingml/2006/main" noGrp="1"/>
          </p:cNvSpPr>
          <p:nvPr/>
        </p:nvSpPr>
        <p:spPr>
          <a:xfrm xmlns:a="http://schemas.openxmlformats.org/drawingml/2006/main">
            <a:off x="10716768" y="164592"/>
            <a:ext cx="685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50">
                <a:solidFill>
                  <a:srgbClr val="5D6775"/>
                </a:solidFill>
                <a:latin typeface="Consolas"/>
                <a:ea typeface="Consolas"/>
                <a:cs typeface="Consolas"/>
              </a:rPr>
              <a:t>§ 04B</a:t>
            </a:r>
          </a:p>
        </p:txBody>
      </p:sp>
      <p:sp>
        <p:nvSpPr>
          <p:cNvPr id="4" name="TextBox 3">
            <a:extLst xmlns:a="http://schemas.openxmlformats.org/drawingml/2006/main">
              <a:ext uri="{FF2B5EF4-FFF2-40B4-BE49-F238E27FC236}">
                <a16:creationId xmlns:a16="http://schemas.microsoft.com/office/drawing/2014/main" id="{02924717-7184-4C2F-856C-41DB495CB660}"/>
              </a:ext>
            </a:extLst>
          </p:cNvPr>
          <p:cNvSpPr>
            <a:spLocks xmlns:a="http://schemas.openxmlformats.org/drawingml/2006/main" noGrp="1"/>
          </p:cNvSpPr>
          <p:nvPr/>
        </p:nvSpPr>
        <p:spPr>
          <a:xfrm xmlns:a="http://schemas.openxmlformats.org/drawingml/2006/main">
            <a:off x="566928" y="640080"/>
            <a:ext cx="1051560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2350" b="1">
                <a:solidFill>
                  <a:srgbClr val="24355B"/>
                </a:solidFill>
                <a:latin typeface="Cambria"/>
                <a:ea typeface="Cambria"/>
                <a:cs typeface="Cambria"/>
                <a:hlinkClick xmlns:r="http://schemas.openxmlformats.org/officeDocument/2006/relationships" r:id="R7d52ceedefaa41d0"/>
              </a:rPr>
              <a:t>Worked example — 00F Chaos in the Smartcity</a:t>
            </a:r>
          </a:p>
        </p:txBody>
      </p:sp>
      <p:sp>
        <p:nvSpPr>
          <p:cNvPr id="5" name="TextBox 4">
            <a:extLst xmlns:a="http://schemas.openxmlformats.org/drawingml/2006/main">
              <a:ext uri="{FF2B5EF4-FFF2-40B4-BE49-F238E27FC236}">
                <a16:creationId xmlns:a16="http://schemas.microsoft.com/office/drawing/2014/main" id="{4D94F9D5-B6AF-4854-BF29-3D3736E9F9CC}"/>
              </a:ext>
            </a:extLst>
          </p:cNvPr>
          <p:cNvSpPr>
            <a:spLocks xmlns:a="http://schemas.openxmlformats.org/drawingml/2006/main" noGrp="1"/>
          </p:cNvSpPr>
          <p:nvPr/>
        </p:nvSpPr>
        <p:spPr>
          <a:xfrm xmlns:a="http://schemas.openxmlformats.org/drawingml/2006/main">
            <a:off x="566928" y="1078992"/>
            <a:ext cx="105156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a:solidFill>
                  <a:srgbClr val="5D6775"/>
                </a:solidFill>
                <a:latin typeface="Aptos"/>
                <a:ea typeface="Aptos"/>
                <a:cs typeface="Aptos"/>
              </a:rPr>
              <a:t>One conforming requirement route, shown end to end. The same S/T → gate → bounded-recovery logic is documented for each reference scenario.</a:t>
            </a:r>
          </a:p>
        </p:txBody>
      </p:sp>
      <p:sp>
        <p:nvSpPr>
          <p:cNvPr id="6" name="Rectangle 5">
            <a:extLst xmlns:a="http://schemas.openxmlformats.org/drawingml/2006/main">
              <a:ext uri="{FF2B5EF4-FFF2-40B4-BE49-F238E27FC236}">
                <a16:creationId xmlns:a16="http://schemas.microsoft.com/office/drawing/2014/main" id="{C45E1552-6CD7-4D55-B7BB-A606526B7E0E}"/>
              </a:ext>
            </a:extLst>
          </p:cNvPr>
          <p:cNvSpPr>
            <a:spLocks xmlns:a="http://schemas.openxmlformats.org/drawingml/2006/main" noGrp="1"/>
          </p:cNvSpPr>
          <p:nvPr/>
        </p:nvSpPr>
        <p:spPr>
          <a:xfrm xmlns:a="http://schemas.openxmlformats.org/drawingml/2006/main">
            <a:off x="566928" y="457200"/>
            <a:ext cx="10835640" cy="10972"/>
          </a:xfrm>
          <a:prstGeom xmlns:a="http://schemas.openxmlformats.org/drawingml/2006/main" prst="rect">
            <a:avLst/>
          </a:prstGeom>
          <a:solidFill xmlns:a="http://schemas.openxmlformats.org/drawingml/2006/main">
            <a:srgbClr val="24355B"/>
          </a:solidFill>
          <a:ln xmlns:a="http://schemas.openxmlformats.org/drawingml/2006/main">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ounded Rectangle 6">
            <a:extLst xmlns:a="http://schemas.openxmlformats.org/drawingml/2006/main">
              <a:ext uri="{FF2B5EF4-FFF2-40B4-BE49-F238E27FC236}">
                <a16:creationId xmlns:a16="http://schemas.microsoft.com/office/drawing/2014/main" id="{45AC7743-7866-40C6-A42F-5EF35CC618F6}"/>
              </a:ext>
            </a:extLst>
          </p:cNvPr>
          <p:cNvSpPr>
            <a:spLocks xmlns:a="http://schemas.openxmlformats.org/drawingml/2006/main" noGrp="1"/>
          </p:cNvSpPr>
          <p:nvPr/>
        </p:nvSpPr>
        <p:spPr>
          <a:xfrm xmlns:a="http://schemas.openxmlformats.org/drawingml/2006/main">
            <a:off x="566928" y="1508760"/>
            <a:ext cx="3456432" cy="7498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89AEDB8E-FF17-405B-AE63-E9AFAD3FDEA3}"/>
              </a:ext>
            </a:extLst>
          </p:cNvPr>
          <p:cNvSpPr>
            <a:spLocks xmlns:a="http://schemas.openxmlformats.org/drawingml/2006/main" noGrp="1"/>
          </p:cNvSpPr>
          <p:nvPr/>
        </p:nvSpPr>
        <p:spPr>
          <a:xfrm xmlns:a="http://schemas.openxmlformats.org/drawingml/2006/main">
            <a:off x="676656" y="1581912"/>
            <a:ext cx="3474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30" b="1" i="0" u="none">
                <a:solidFill>
                  <a:srgbClr val="2F6FB2"/>
                </a:solidFill>
                <a:latin typeface="Consolas"/>
                <a:ea typeface="Consolas"/>
                <a:cs typeface="Consolas"/>
              </a:rPr>
              <a:t>R0</a:t>
            </a:r>
          </a:p>
        </p:txBody>
      </p:sp>
      <p:sp>
        <p:nvSpPr>
          <p:cNvPr id="9" name="TextBox 8">
            <a:extLst xmlns:a="http://schemas.openxmlformats.org/drawingml/2006/main">
              <a:ext uri="{FF2B5EF4-FFF2-40B4-BE49-F238E27FC236}">
                <a16:creationId xmlns:a16="http://schemas.microsoft.com/office/drawing/2014/main" id="{0AF894D0-B61A-4D60-A5BE-742911B9DD1F}"/>
              </a:ext>
            </a:extLst>
          </p:cNvPr>
          <p:cNvSpPr>
            <a:spLocks xmlns:a="http://schemas.openxmlformats.org/drawingml/2006/main" noGrp="1"/>
          </p:cNvSpPr>
          <p:nvPr/>
        </p:nvSpPr>
        <p:spPr>
          <a:xfrm xmlns:a="http://schemas.openxmlformats.org/drawingml/2006/main">
            <a:off x="1069848" y="1572768"/>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70" b="1" i="0" u="none">
                <a:solidFill>
                  <a:srgbClr val="24355B"/>
                </a:solidFill>
                <a:latin typeface="Cambria"/>
                <a:ea typeface="Cambria"/>
                <a:cs typeface="Cambria"/>
              </a:rPr>
              <a:t>Standard competent</a:t>
            </a:r>
          </a:p>
        </p:txBody>
      </p:sp>
      <p:sp>
        <p:nvSpPr>
          <p:cNvPr id="10" name="TextBox 9">
            <a:extLst xmlns:a="http://schemas.openxmlformats.org/drawingml/2006/main">
              <a:ext uri="{FF2B5EF4-FFF2-40B4-BE49-F238E27FC236}">
                <a16:creationId xmlns:a16="http://schemas.microsoft.com/office/drawing/2014/main" id="{6C556567-2B73-42BA-B5E2-8E84AA7AA511}"/>
              </a:ext>
            </a:extLst>
          </p:cNvPr>
          <p:cNvSpPr>
            <a:spLocks xmlns:a="http://schemas.openxmlformats.org/drawingml/2006/main" noGrp="1"/>
          </p:cNvSpPr>
          <p:nvPr/>
        </p:nvSpPr>
        <p:spPr>
          <a:xfrm xmlns:a="http://schemas.openxmlformats.org/drawingml/2006/main">
            <a:off x="676656" y="1819656"/>
            <a:ext cx="323697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0" i="0" u="none">
                <a:solidFill>
                  <a:srgbClr val="1F2D3D"/>
                </a:solidFill>
                <a:latin typeface="Calibri"/>
                <a:ea typeface="Calibri"/>
                <a:cs typeface="Calibri"/>
              </a:rPr>
              <a:t>Authenticated events + local rules + local safety; cross-actor composition may still be absent.</a:t>
            </a:r>
          </a:p>
        </p:txBody>
      </p:sp>
      <p:sp>
        <p:nvSpPr>
          <p:cNvPr id="11" name="Rounded Rectangle 10">
            <a:extLst xmlns:a="http://schemas.openxmlformats.org/drawingml/2006/main">
              <a:ext uri="{FF2B5EF4-FFF2-40B4-BE49-F238E27FC236}">
                <a16:creationId xmlns:a16="http://schemas.microsoft.com/office/drawing/2014/main" id="{5998673A-4794-4001-8560-03BE0BF8B26A}"/>
              </a:ext>
            </a:extLst>
          </p:cNvPr>
          <p:cNvSpPr>
            <a:spLocks xmlns:a="http://schemas.openxmlformats.org/drawingml/2006/main" noGrp="1"/>
          </p:cNvSpPr>
          <p:nvPr/>
        </p:nvSpPr>
        <p:spPr>
          <a:xfrm xmlns:a="http://schemas.openxmlformats.org/drawingml/2006/main">
            <a:off x="4087368" y="1508760"/>
            <a:ext cx="3456432" cy="7498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71C3B09F-80DD-4006-89DA-03E31D457E5E}"/>
              </a:ext>
            </a:extLst>
          </p:cNvPr>
          <p:cNvSpPr>
            <a:spLocks xmlns:a="http://schemas.openxmlformats.org/drawingml/2006/main" noGrp="1"/>
          </p:cNvSpPr>
          <p:nvPr/>
        </p:nvSpPr>
        <p:spPr>
          <a:xfrm xmlns:a="http://schemas.openxmlformats.org/drawingml/2006/main">
            <a:off x="4197096" y="1581912"/>
            <a:ext cx="3474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30" b="1" i="0" u="none">
                <a:solidFill>
                  <a:srgbClr val="00848A"/>
                </a:solidFill>
                <a:latin typeface="Consolas"/>
                <a:ea typeface="Consolas"/>
                <a:cs typeface="Consolas"/>
              </a:rPr>
              <a:t>R1</a:t>
            </a:r>
          </a:p>
        </p:txBody>
      </p:sp>
      <p:sp>
        <p:nvSpPr>
          <p:cNvPr id="13" name="TextBox 12">
            <a:extLst xmlns:a="http://schemas.openxmlformats.org/drawingml/2006/main">
              <a:ext uri="{FF2B5EF4-FFF2-40B4-BE49-F238E27FC236}">
                <a16:creationId xmlns:a16="http://schemas.microsoft.com/office/drawing/2014/main" id="{0C2FDD70-9D09-4221-A634-E71FD32A63FE}"/>
              </a:ext>
            </a:extLst>
          </p:cNvPr>
          <p:cNvSpPr>
            <a:spLocks xmlns:a="http://schemas.openxmlformats.org/drawingml/2006/main" noGrp="1"/>
          </p:cNvSpPr>
          <p:nvPr/>
        </p:nvSpPr>
        <p:spPr>
          <a:xfrm xmlns:a="http://schemas.openxmlformats.org/drawingml/2006/main">
            <a:off x="4590288" y="1572768"/>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70" b="1" i="0" u="none">
                <a:solidFill>
                  <a:srgbClr val="24355B"/>
                </a:solidFill>
                <a:latin typeface="Cambria"/>
                <a:ea typeface="Cambria"/>
                <a:cs typeface="Cambria"/>
              </a:rPr>
              <a:t>Defended top-notch</a:t>
            </a:r>
          </a:p>
        </p:txBody>
      </p:sp>
      <p:sp>
        <p:nvSpPr>
          <p:cNvPr id="14" name="TextBox 13">
            <a:extLst xmlns:a="http://schemas.openxmlformats.org/drawingml/2006/main">
              <a:ext uri="{FF2B5EF4-FFF2-40B4-BE49-F238E27FC236}">
                <a16:creationId xmlns:a16="http://schemas.microsoft.com/office/drawing/2014/main" id="{6452AB76-3CCB-4BCD-A008-734285F60E79}"/>
              </a:ext>
            </a:extLst>
          </p:cNvPr>
          <p:cNvSpPr>
            <a:spLocks xmlns:a="http://schemas.openxmlformats.org/drawingml/2006/main" noGrp="1"/>
          </p:cNvSpPr>
          <p:nvPr/>
        </p:nvSpPr>
        <p:spPr>
          <a:xfrm xmlns:a="http://schemas.openxmlformats.org/drawingml/2006/main">
            <a:off x="4197096" y="1819656"/>
            <a:ext cx="323697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0" i="0" u="none">
                <a:solidFill>
                  <a:srgbClr val="1F2D3D"/>
                </a:solidFill>
                <a:latin typeface="Calibri"/>
                <a:ea typeface="Calibri"/>
                <a:cs typeface="Calibri"/>
              </a:rPr>
              <a:t>Known dependencies, temporal/freshness controls, conflict logic, finite review queues and bounded fallback.</a:t>
            </a:r>
          </a:p>
        </p:txBody>
      </p:sp>
      <p:sp>
        <p:nvSpPr>
          <p:cNvPr id="15" name="Rounded Rectangle 14">
            <a:extLst xmlns:a="http://schemas.openxmlformats.org/drawingml/2006/main">
              <a:ext uri="{FF2B5EF4-FFF2-40B4-BE49-F238E27FC236}">
                <a16:creationId xmlns:a16="http://schemas.microsoft.com/office/drawing/2014/main" id="{A5D57807-EEC2-4BDA-A1E1-66312036D865}"/>
              </a:ext>
            </a:extLst>
          </p:cNvPr>
          <p:cNvSpPr>
            <a:spLocks xmlns:a="http://schemas.openxmlformats.org/drawingml/2006/main" noGrp="1"/>
          </p:cNvSpPr>
          <p:nvPr/>
        </p:nvSpPr>
        <p:spPr>
          <a:xfrm xmlns:a="http://schemas.openxmlformats.org/drawingml/2006/main">
            <a:off x="7607808" y="1508760"/>
            <a:ext cx="3456432" cy="749808"/>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078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973B33B1-1F11-4F31-B3E2-85D0F4CFD705}"/>
              </a:ext>
            </a:extLst>
          </p:cNvPr>
          <p:cNvSpPr>
            <a:spLocks xmlns:a="http://schemas.openxmlformats.org/drawingml/2006/main" noGrp="1"/>
          </p:cNvSpPr>
          <p:nvPr/>
        </p:nvSpPr>
        <p:spPr>
          <a:xfrm xmlns:a="http://schemas.openxmlformats.org/drawingml/2006/main">
            <a:off x="7717536" y="1581912"/>
            <a:ext cx="3474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30" b="1" i="0" u="none">
                <a:solidFill>
                  <a:srgbClr val="D07800"/>
                </a:solidFill>
                <a:latin typeface="Consolas"/>
                <a:ea typeface="Consolas"/>
                <a:cs typeface="Consolas"/>
              </a:rPr>
              <a:t>R2</a:t>
            </a:r>
          </a:p>
        </p:txBody>
      </p:sp>
      <p:sp>
        <p:nvSpPr>
          <p:cNvPr id="17" name="TextBox 16">
            <a:extLst xmlns:a="http://schemas.openxmlformats.org/drawingml/2006/main">
              <a:ext uri="{FF2B5EF4-FFF2-40B4-BE49-F238E27FC236}">
                <a16:creationId xmlns:a16="http://schemas.microsoft.com/office/drawing/2014/main" id="{E5758148-7444-4707-ABA1-9D1ECD029BCD}"/>
              </a:ext>
            </a:extLst>
          </p:cNvPr>
          <p:cNvSpPr>
            <a:spLocks xmlns:a="http://schemas.openxmlformats.org/drawingml/2006/main" noGrp="1"/>
          </p:cNvSpPr>
          <p:nvPr/>
        </p:nvSpPr>
        <p:spPr>
          <a:xfrm xmlns:a="http://schemas.openxmlformats.org/drawingml/2006/main">
            <a:off x="8110728" y="1572768"/>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70" b="1" i="0" u="none">
                <a:solidFill>
                  <a:srgbClr val="24355B"/>
                </a:solidFill>
                <a:latin typeface="Cambria"/>
                <a:ea typeface="Cambria"/>
                <a:cs typeface="Cambria"/>
              </a:rPr>
              <a:t>Same R1 frozen under drift</a:t>
            </a:r>
          </a:p>
        </p:txBody>
      </p:sp>
      <p:sp>
        <p:nvSpPr>
          <p:cNvPr id="18" name="TextBox 17">
            <a:extLst xmlns:a="http://schemas.openxmlformats.org/drawingml/2006/main">
              <a:ext uri="{FF2B5EF4-FFF2-40B4-BE49-F238E27FC236}">
                <a16:creationId xmlns:a16="http://schemas.microsoft.com/office/drawing/2014/main" id="{6C8120EB-1549-415C-8E64-58210A52FEAD}"/>
              </a:ext>
            </a:extLst>
          </p:cNvPr>
          <p:cNvSpPr>
            <a:spLocks xmlns:a="http://schemas.openxmlformats.org/drawingml/2006/main" noGrp="1"/>
          </p:cNvSpPr>
          <p:nvPr/>
        </p:nvSpPr>
        <p:spPr>
          <a:xfrm xmlns:a="http://schemas.openxmlformats.org/drawingml/2006/main">
            <a:off x="7717536" y="1819656"/>
            <a:ext cx="3236976"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0" i="0" u="none">
                <a:solidFill>
                  <a:srgbClr val="1F2D3D"/>
                </a:solidFill>
                <a:latin typeface="Calibri"/>
                <a:ea typeface="Calibri"/>
                <a:cs typeface="Calibri"/>
              </a:rPr>
              <a:t>Dependency / timing / model relation changes after R1 is frozen; the old validity model may become stale.</a:t>
            </a:r>
          </a:p>
        </p:txBody>
      </p:sp>
      <p:sp>
        <p:nvSpPr>
          <p:cNvPr id="19" name="Rounded Rectangle 18">
            <a:extLst xmlns:a="http://schemas.openxmlformats.org/drawingml/2006/main">
              <a:ext uri="{FF2B5EF4-FFF2-40B4-BE49-F238E27FC236}">
                <a16:creationId xmlns:a16="http://schemas.microsoft.com/office/drawing/2014/main" id="{0F3932B9-F5DC-42AB-A893-95D1835B5247}"/>
              </a:ext>
            </a:extLst>
          </p:cNvPr>
          <p:cNvSpPr>
            <a:spLocks xmlns:a="http://schemas.openxmlformats.org/drawingml/2006/main" noGrp="1"/>
          </p:cNvSpPr>
          <p:nvPr/>
        </p:nvSpPr>
        <p:spPr>
          <a:xfrm xmlns:a="http://schemas.openxmlformats.org/drawingml/2006/main">
            <a:off x="566928" y="2542032"/>
            <a:ext cx="161848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8E97E01C-E87A-4BD3-ADC8-6BBFD6B92491}"/>
              </a:ext>
            </a:extLst>
          </p:cNvPr>
          <p:cNvSpPr>
            <a:spLocks xmlns:a="http://schemas.openxmlformats.org/drawingml/2006/main" noGrp="1"/>
          </p:cNvSpPr>
          <p:nvPr/>
        </p:nvSpPr>
        <p:spPr>
          <a:xfrm xmlns:a="http://schemas.openxmlformats.org/drawingml/2006/main">
            <a:off x="640080" y="2615184"/>
            <a:ext cx="320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none">
                <a:solidFill>
                  <a:srgbClr val="2F6FB2"/>
                </a:solidFill>
                <a:latin typeface="Consolas"/>
                <a:ea typeface="Consolas"/>
                <a:cs typeface="Consolas"/>
              </a:rPr>
              <a:t>Q0</a:t>
            </a:r>
          </a:p>
        </p:txBody>
      </p:sp>
      <p:sp>
        <p:nvSpPr>
          <p:cNvPr id="21" name="TextBox 20">
            <a:extLst xmlns:a="http://schemas.openxmlformats.org/drawingml/2006/main">
              <a:ext uri="{FF2B5EF4-FFF2-40B4-BE49-F238E27FC236}">
                <a16:creationId xmlns:a16="http://schemas.microsoft.com/office/drawing/2014/main" id="{C1DB0932-DE46-4FB7-9534-C8A19DE6A11C}"/>
              </a:ext>
            </a:extLst>
          </p:cNvPr>
          <p:cNvSpPr>
            <a:spLocks xmlns:a="http://schemas.openxmlformats.org/drawingml/2006/main" noGrp="1"/>
          </p:cNvSpPr>
          <p:nvPr/>
        </p:nvSpPr>
        <p:spPr>
          <a:xfrm xmlns:a="http://schemas.openxmlformats.org/drawingml/2006/main">
            <a:off x="640080" y="2825496"/>
            <a:ext cx="147218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40" b="1" i="0" u="none">
                <a:solidFill>
                  <a:srgbClr val="24355B"/>
                </a:solidFill>
                <a:latin typeface="Cambria"/>
                <a:ea typeface="Cambria"/>
                <a:cs typeface="Cambria"/>
              </a:rPr>
              <a:t>Frame shared use</a:t>
            </a:r>
          </a:p>
        </p:txBody>
      </p:sp>
      <p:sp>
        <p:nvSpPr>
          <p:cNvPr id="22" name="TextBox 21">
            <a:extLst xmlns:a="http://schemas.openxmlformats.org/drawingml/2006/main">
              <a:ext uri="{FF2B5EF4-FFF2-40B4-BE49-F238E27FC236}">
                <a16:creationId xmlns:a16="http://schemas.microsoft.com/office/drawing/2014/main" id="{D741FFFA-43DB-40A7-8EB0-7E65F7C1D739}"/>
              </a:ext>
            </a:extLst>
          </p:cNvPr>
          <p:cNvSpPr>
            <a:spLocks xmlns:a="http://schemas.openxmlformats.org/drawingml/2006/main" noGrp="1"/>
          </p:cNvSpPr>
          <p:nvPr/>
        </p:nvSpPr>
        <p:spPr>
          <a:xfrm xmlns:a="http://schemas.openxmlformats.org/drawingml/2006/main">
            <a:off x="640080" y="3108960"/>
            <a:ext cx="147218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780" b="0" i="0" u="none">
                <a:solidFill>
                  <a:srgbClr val="5D6775"/>
                </a:solidFill>
                <a:latin typeface="Calibri"/>
                <a:ea typeface="Calibri"/>
                <a:cs typeface="Calibri"/>
              </a:rPr>
              <a:t>scope · owners · authority</a:t>
            </a:r>
          </a:p>
        </p:txBody>
      </p:sp>
      <p:sp>
        <p:nvSpPr>
          <p:cNvPr id="23" name="TextBox 22">
            <a:extLst xmlns:a="http://schemas.openxmlformats.org/drawingml/2006/main">
              <a:ext uri="{FF2B5EF4-FFF2-40B4-BE49-F238E27FC236}">
                <a16:creationId xmlns:a16="http://schemas.microsoft.com/office/drawing/2014/main" id="{DE264078-471B-44D1-B2DC-A9BCAC0A97A5}"/>
              </a:ext>
            </a:extLst>
          </p:cNvPr>
          <p:cNvSpPr>
            <a:spLocks xmlns:a="http://schemas.openxmlformats.org/drawingml/2006/main" noGrp="1"/>
          </p:cNvSpPr>
          <p:nvPr/>
        </p:nvSpPr>
        <p:spPr>
          <a:xfrm xmlns:a="http://schemas.openxmlformats.org/drawingml/2006/main">
            <a:off x="2199132" y="2889504"/>
            <a:ext cx="1371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1200" b="1" i="0" u="none">
                <a:solidFill>
                  <a:srgbClr val="24355B"/>
                </a:solidFill>
                <a:latin typeface="Calibri"/>
                <a:ea typeface="Calibri"/>
                <a:cs typeface="Calibri"/>
              </a:rPr>
              <a:t>→</a:t>
            </a:r>
          </a:p>
        </p:txBody>
      </p:sp>
      <p:sp>
        <p:nvSpPr>
          <p:cNvPr id="24" name="Rounded Rectangle 23">
            <a:extLst xmlns:a="http://schemas.openxmlformats.org/drawingml/2006/main">
              <a:ext uri="{FF2B5EF4-FFF2-40B4-BE49-F238E27FC236}">
                <a16:creationId xmlns:a16="http://schemas.microsoft.com/office/drawing/2014/main" id="{F33D958E-4A61-4695-9A72-177BA04FE234}"/>
              </a:ext>
            </a:extLst>
          </p:cNvPr>
          <p:cNvSpPr>
            <a:spLocks xmlns:a="http://schemas.openxmlformats.org/drawingml/2006/main" noGrp="1"/>
          </p:cNvSpPr>
          <p:nvPr/>
        </p:nvSpPr>
        <p:spPr>
          <a:xfrm xmlns:a="http://schemas.openxmlformats.org/drawingml/2006/main">
            <a:off x="2350008" y="2542032"/>
            <a:ext cx="161848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71B99330-8535-4309-BB6A-7BF0668838C2}"/>
              </a:ext>
            </a:extLst>
          </p:cNvPr>
          <p:cNvSpPr>
            <a:spLocks xmlns:a="http://schemas.openxmlformats.org/drawingml/2006/main" noGrp="1"/>
          </p:cNvSpPr>
          <p:nvPr/>
        </p:nvSpPr>
        <p:spPr>
          <a:xfrm xmlns:a="http://schemas.openxmlformats.org/drawingml/2006/main">
            <a:off x="2423160" y="2615184"/>
            <a:ext cx="320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none">
                <a:solidFill>
                  <a:srgbClr val="00848A"/>
                </a:solidFill>
                <a:latin typeface="Consolas"/>
                <a:ea typeface="Consolas"/>
                <a:cs typeface="Consolas"/>
              </a:rPr>
              <a:t>Q1</a:t>
            </a:r>
          </a:p>
        </p:txBody>
      </p:sp>
      <p:sp>
        <p:nvSpPr>
          <p:cNvPr id="26" name="TextBox 25">
            <a:extLst xmlns:a="http://schemas.openxmlformats.org/drawingml/2006/main">
              <a:ext uri="{FF2B5EF4-FFF2-40B4-BE49-F238E27FC236}">
                <a16:creationId xmlns:a16="http://schemas.microsoft.com/office/drawing/2014/main" id="{A610FE01-A7EA-4881-AE73-703068287967}"/>
              </a:ext>
            </a:extLst>
          </p:cNvPr>
          <p:cNvSpPr>
            <a:spLocks xmlns:a="http://schemas.openxmlformats.org/drawingml/2006/main" noGrp="1"/>
          </p:cNvSpPr>
          <p:nvPr/>
        </p:nvSpPr>
        <p:spPr>
          <a:xfrm xmlns:a="http://schemas.openxmlformats.org/drawingml/2006/main">
            <a:off x="2423160" y="2825496"/>
            <a:ext cx="147218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40" b="1" i="0" u="none">
                <a:solidFill>
                  <a:srgbClr val="24355B"/>
                </a:solidFill>
                <a:latin typeface="Cambria"/>
                <a:ea typeface="Cambria"/>
                <a:cs typeface="Cambria"/>
              </a:rPr>
              <a:t>Material break</a:t>
            </a:r>
          </a:p>
        </p:txBody>
      </p:sp>
      <p:sp>
        <p:nvSpPr>
          <p:cNvPr id="27" name="TextBox 26">
            <a:extLst xmlns:a="http://schemas.openxmlformats.org/drawingml/2006/main">
              <a:ext uri="{FF2B5EF4-FFF2-40B4-BE49-F238E27FC236}">
                <a16:creationId xmlns:a16="http://schemas.microsoft.com/office/drawing/2014/main" id="{859904BE-9BF5-4936-9969-7B6410599F03}"/>
              </a:ext>
            </a:extLst>
          </p:cNvPr>
          <p:cNvSpPr>
            <a:spLocks xmlns:a="http://schemas.openxmlformats.org/drawingml/2006/main" noGrp="1"/>
          </p:cNvSpPr>
          <p:nvPr/>
        </p:nvSpPr>
        <p:spPr>
          <a:xfrm xmlns:a="http://schemas.openxmlformats.org/drawingml/2006/main">
            <a:off x="2423160" y="3108960"/>
            <a:ext cx="147218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780" b="0" i="0" u="none">
                <a:solidFill>
                  <a:srgbClr val="5D6775"/>
                </a:solidFill>
                <a:latin typeface="Calibri"/>
                <a:ea typeface="Calibri"/>
                <a:cs typeface="Calibri"/>
              </a:rPr>
              <a:t>freshness · dependence · UNKNOWN</a:t>
            </a:r>
          </a:p>
        </p:txBody>
      </p:sp>
      <p:sp>
        <p:nvSpPr>
          <p:cNvPr id="28" name="TextBox 27">
            <a:extLst xmlns:a="http://schemas.openxmlformats.org/drawingml/2006/main">
              <a:ext uri="{FF2B5EF4-FFF2-40B4-BE49-F238E27FC236}">
                <a16:creationId xmlns:a16="http://schemas.microsoft.com/office/drawing/2014/main" id="{0044708E-FAE4-47BE-A676-24FAA26449D5}"/>
              </a:ext>
            </a:extLst>
          </p:cNvPr>
          <p:cNvSpPr>
            <a:spLocks xmlns:a="http://schemas.openxmlformats.org/drawingml/2006/main" noGrp="1"/>
          </p:cNvSpPr>
          <p:nvPr/>
        </p:nvSpPr>
        <p:spPr>
          <a:xfrm xmlns:a="http://schemas.openxmlformats.org/drawingml/2006/main">
            <a:off x="3982212" y="2889504"/>
            <a:ext cx="1371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1200" b="1" i="0" u="none">
                <a:solidFill>
                  <a:srgbClr val="24355B"/>
                </a:solidFill>
                <a:latin typeface="Calibri"/>
                <a:ea typeface="Calibri"/>
                <a:cs typeface="Calibri"/>
              </a:rPr>
              <a:t>→</a:t>
            </a:r>
          </a:p>
        </p:txBody>
      </p:sp>
      <p:sp>
        <p:nvSpPr>
          <p:cNvPr id="29" name="Rounded Rectangle 28">
            <a:extLst xmlns:a="http://schemas.openxmlformats.org/drawingml/2006/main">
              <a:ext uri="{FF2B5EF4-FFF2-40B4-BE49-F238E27FC236}">
                <a16:creationId xmlns:a16="http://schemas.microsoft.com/office/drawing/2014/main" id="{5BCCD9A4-2797-4CCF-84F4-7CBC661DADFF}"/>
              </a:ext>
            </a:extLst>
          </p:cNvPr>
          <p:cNvSpPr>
            <a:spLocks xmlns:a="http://schemas.openxmlformats.org/drawingml/2006/main" noGrp="1"/>
          </p:cNvSpPr>
          <p:nvPr/>
        </p:nvSpPr>
        <p:spPr>
          <a:xfrm xmlns:a="http://schemas.openxmlformats.org/drawingml/2006/main">
            <a:off x="4133088" y="2542032"/>
            <a:ext cx="161848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75088ACD-0EE9-449C-A28E-3F2CFAD2E7B6}"/>
              </a:ext>
            </a:extLst>
          </p:cNvPr>
          <p:cNvSpPr>
            <a:spLocks xmlns:a="http://schemas.openxmlformats.org/drawingml/2006/main" noGrp="1"/>
          </p:cNvSpPr>
          <p:nvPr/>
        </p:nvSpPr>
        <p:spPr>
          <a:xfrm xmlns:a="http://schemas.openxmlformats.org/drawingml/2006/main">
            <a:off x="4206240" y="2615184"/>
            <a:ext cx="320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none">
                <a:solidFill>
                  <a:srgbClr val="00848A"/>
                </a:solidFill>
                <a:latin typeface="Consolas"/>
                <a:ea typeface="Consolas"/>
                <a:cs typeface="Consolas"/>
              </a:rPr>
              <a:t>Q2</a:t>
            </a:r>
          </a:p>
        </p:txBody>
      </p:sp>
      <p:sp>
        <p:nvSpPr>
          <p:cNvPr id="31" name="TextBox 30">
            <a:extLst xmlns:a="http://schemas.openxmlformats.org/drawingml/2006/main">
              <a:ext uri="{FF2B5EF4-FFF2-40B4-BE49-F238E27FC236}">
                <a16:creationId xmlns:a16="http://schemas.microsoft.com/office/drawing/2014/main" id="{DE2CB671-9373-4B72-9E1C-6E22FF983BBE}"/>
              </a:ext>
            </a:extLst>
          </p:cNvPr>
          <p:cNvSpPr>
            <a:spLocks xmlns:a="http://schemas.openxmlformats.org/drawingml/2006/main" noGrp="1"/>
          </p:cNvSpPr>
          <p:nvPr/>
        </p:nvSpPr>
        <p:spPr>
          <a:xfrm xmlns:a="http://schemas.openxmlformats.org/drawingml/2006/main">
            <a:off x="4206240" y="2825496"/>
            <a:ext cx="147218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40" b="1" i="0" u="none">
                <a:solidFill>
                  <a:srgbClr val="24355B"/>
                </a:solidFill>
                <a:latin typeface="Cambria"/>
                <a:ea typeface="Cambria"/>
                <a:cs typeface="Cambria"/>
              </a:rPr>
              <a:t>Compose postures</a:t>
            </a:r>
          </a:p>
        </p:txBody>
      </p:sp>
      <p:sp>
        <p:nvSpPr>
          <p:cNvPr id="32" name="TextBox 31">
            <a:extLst xmlns:a="http://schemas.openxmlformats.org/drawingml/2006/main">
              <a:ext uri="{FF2B5EF4-FFF2-40B4-BE49-F238E27FC236}">
                <a16:creationId xmlns:a16="http://schemas.microsoft.com/office/drawing/2014/main" id="{313140A7-73F1-4949-8CE7-A86E6268E7B4}"/>
              </a:ext>
            </a:extLst>
          </p:cNvPr>
          <p:cNvSpPr>
            <a:spLocks xmlns:a="http://schemas.openxmlformats.org/drawingml/2006/main" noGrp="1"/>
          </p:cNvSpPr>
          <p:nvPr/>
        </p:nvSpPr>
        <p:spPr>
          <a:xfrm xmlns:a="http://schemas.openxmlformats.org/drawingml/2006/main">
            <a:off x="4206240" y="3108960"/>
            <a:ext cx="147218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780" b="0" i="0" u="none">
                <a:solidFill>
                  <a:srgbClr val="5D6775"/>
                </a:solidFill>
                <a:latin typeface="Calibri"/>
                <a:ea typeface="Calibri"/>
                <a:cs typeface="Calibri"/>
              </a:rPr>
              <a:t>A / B / NORMAL / HOLD</a:t>
            </a:r>
          </a:p>
        </p:txBody>
      </p:sp>
      <p:sp>
        <p:nvSpPr>
          <p:cNvPr id="33" name="TextBox 32">
            <a:extLst xmlns:a="http://schemas.openxmlformats.org/drawingml/2006/main">
              <a:ext uri="{FF2B5EF4-FFF2-40B4-BE49-F238E27FC236}">
                <a16:creationId xmlns:a16="http://schemas.microsoft.com/office/drawing/2014/main" id="{15C99341-DC52-45E3-8DB9-FEEC72D830DE}"/>
              </a:ext>
            </a:extLst>
          </p:cNvPr>
          <p:cNvSpPr>
            <a:spLocks xmlns:a="http://schemas.openxmlformats.org/drawingml/2006/main" noGrp="1"/>
          </p:cNvSpPr>
          <p:nvPr/>
        </p:nvSpPr>
        <p:spPr>
          <a:xfrm xmlns:a="http://schemas.openxmlformats.org/drawingml/2006/main">
            <a:off x="5765292" y="2889504"/>
            <a:ext cx="1371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1200" b="1" i="0" u="none">
                <a:solidFill>
                  <a:srgbClr val="24355B"/>
                </a:solidFill>
                <a:latin typeface="Calibri"/>
                <a:ea typeface="Calibri"/>
                <a:cs typeface="Calibri"/>
              </a:rPr>
              <a:t>→</a:t>
            </a:r>
          </a:p>
        </p:txBody>
      </p:sp>
      <p:sp>
        <p:nvSpPr>
          <p:cNvPr id="34" name="Rounded Rectangle 33">
            <a:extLst xmlns:a="http://schemas.openxmlformats.org/drawingml/2006/main">
              <a:ext uri="{FF2B5EF4-FFF2-40B4-BE49-F238E27FC236}">
                <a16:creationId xmlns:a16="http://schemas.microsoft.com/office/drawing/2014/main" id="{0F13198C-A383-4973-B396-6BE500F5F327}"/>
              </a:ext>
            </a:extLst>
          </p:cNvPr>
          <p:cNvSpPr>
            <a:spLocks xmlns:a="http://schemas.openxmlformats.org/drawingml/2006/main" noGrp="1"/>
          </p:cNvSpPr>
          <p:nvPr/>
        </p:nvSpPr>
        <p:spPr>
          <a:xfrm xmlns:a="http://schemas.openxmlformats.org/drawingml/2006/main">
            <a:off x="5916168" y="2542032"/>
            <a:ext cx="161848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TextBox 34">
            <a:extLst xmlns:a="http://schemas.openxmlformats.org/drawingml/2006/main">
              <a:ext uri="{FF2B5EF4-FFF2-40B4-BE49-F238E27FC236}">
                <a16:creationId xmlns:a16="http://schemas.microsoft.com/office/drawing/2014/main" id="{3B345EC7-492D-42C1-AAEB-4DB17FD02615}"/>
              </a:ext>
            </a:extLst>
          </p:cNvPr>
          <p:cNvSpPr>
            <a:spLocks xmlns:a="http://schemas.openxmlformats.org/drawingml/2006/main" noGrp="1"/>
          </p:cNvSpPr>
          <p:nvPr/>
        </p:nvSpPr>
        <p:spPr>
          <a:xfrm xmlns:a="http://schemas.openxmlformats.org/drawingml/2006/main">
            <a:off x="5989320" y="2615184"/>
            <a:ext cx="320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none">
                <a:solidFill>
                  <a:srgbClr val="00848A"/>
                </a:solidFill>
                <a:latin typeface="Consolas"/>
                <a:ea typeface="Consolas"/>
                <a:cs typeface="Consolas"/>
              </a:rPr>
              <a:t>Q3</a:t>
            </a:r>
          </a:p>
        </p:txBody>
      </p:sp>
      <p:sp>
        <p:nvSpPr>
          <p:cNvPr id="36" name="TextBox 35">
            <a:extLst xmlns:a="http://schemas.openxmlformats.org/drawingml/2006/main">
              <a:ext uri="{FF2B5EF4-FFF2-40B4-BE49-F238E27FC236}">
                <a16:creationId xmlns:a16="http://schemas.microsoft.com/office/drawing/2014/main" id="{DC48F1F1-9BC9-4CA4-8044-B2ADAFCDFB9C}"/>
              </a:ext>
            </a:extLst>
          </p:cNvPr>
          <p:cNvSpPr>
            <a:spLocks xmlns:a="http://schemas.openxmlformats.org/drawingml/2006/main" noGrp="1"/>
          </p:cNvSpPr>
          <p:nvPr/>
        </p:nvSpPr>
        <p:spPr>
          <a:xfrm xmlns:a="http://schemas.openxmlformats.org/drawingml/2006/main">
            <a:off x="5989320" y="2825496"/>
            <a:ext cx="147218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40" b="1" i="0" u="none">
                <a:solidFill>
                  <a:srgbClr val="24355B"/>
                </a:solidFill>
                <a:latin typeface="Cambria"/>
                <a:ea typeface="Cambria"/>
                <a:cs typeface="Cambria"/>
              </a:rPr>
              <a:t>Bounded posture</a:t>
            </a:r>
          </a:p>
        </p:txBody>
      </p:sp>
      <p:sp>
        <p:nvSpPr>
          <p:cNvPr id="37" name="TextBox 36">
            <a:extLst xmlns:a="http://schemas.openxmlformats.org/drawingml/2006/main">
              <a:ext uri="{FF2B5EF4-FFF2-40B4-BE49-F238E27FC236}">
                <a16:creationId xmlns:a16="http://schemas.microsoft.com/office/drawing/2014/main" id="{FBC78162-E272-445D-8937-B1DFC4B731A1}"/>
              </a:ext>
            </a:extLst>
          </p:cNvPr>
          <p:cNvSpPr>
            <a:spLocks xmlns:a="http://schemas.openxmlformats.org/drawingml/2006/main" noGrp="1"/>
          </p:cNvSpPr>
          <p:nvPr/>
        </p:nvSpPr>
        <p:spPr>
          <a:xfrm xmlns:a="http://schemas.openxmlformats.org/drawingml/2006/main">
            <a:off x="5989320" y="3108960"/>
            <a:ext cx="147218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780" b="0" i="0" u="none">
                <a:solidFill>
                  <a:srgbClr val="5D6775"/>
                </a:solidFill>
                <a:latin typeface="Calibri"/>
                <a:ea typeface="Calibri"/>
                <a:cs typeface="Calibri"/>
              </a:rPr>
              <a:t>contain · restrict · escalate</a:t>
            </a:r>
          </a:p>
        </p:txBody>
      </p:sp>
      <p:sp>
        <p:nvSpPr>
          <p:cNvPr id="38" name="TextBox 37">
            <a:extLst xmlns:a="http://schemas.openxmlformats.org/drawingml/2006/main">
              <a:ext uri="{FF2B5EF4-FFF2-40B4-BE49-F238E27FC236}">
                <a16:creationId xmlns:a16="http://schemas.microsoft.com/office/drawing/2014/main" id="{41279CE1-696C-40D2-8CB9-87B6D736C46E}"/>
              </a:ext>
            </a:extLst>
          </p:cNvPr>
          <p:cNvSpPr>
            <a:spLocks xmlns:a="http://schemas.openxmlformats.org/drawingml/2006/main" noGrp="1"/>
          </p:cNvSpPr>
          <p:nvPr/>
        </p:nvSpPr>
        <p:spPr>
          <a:xfrm xmlns:a="http://schemas.openxmlformats.org/drawingml/2006/main">
            <a:off x="7548372" y="2889504"/>
            <a:ext cx="1371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1200" b="1" i="0" u="none">
                <a:solidFill>
                  <a:srgbClr val="24355B"/>
                </a:solidFill>
                <a:latin typeface="Calibri"/>
                <a:ea typeface="Calibri"/>
                <a:cs typeface="Calibri"/>
              </a:rPr>
              <a:t>→</a:t>
            </a:r>
          </a:p>
        </p:txBody>
      </p:sp>
      <p:sp>
        <p:nvSpPr>
          <p:cNvPr id="39" name="Rounded Rectangle 38">
            <a:extLst xmlns:a="http://schemas.openxmlformats.org/drawingml/2006/main">
              <a:ext uri="{FF2B5EF4-FFF2-40B4-BE49-F238E27FC236}">
                <a16:creationId xmlns:a16="http://schemas.microsoft.com/office/drawing/2014/main" id="{8C3324FC-CC88-4410-9E6D-8298677C4BEB}"/>
              </a:ext>
            </a:extLst>
          </p:cNvPr>
          <p:cNvSpPr>
            <a:spLocks xmlns:a="http://schemas.openxmlformats.org/drawingml/2006/main" noGrp="1"/>
          </p:cNvSpPr>
          <p:nvPr/>
        </p:nvSpPr>
        <p:spPr>
          <a:xfrm xmlns:a="http://schemas.openxmlformats.org/drawingml/2006/main">
            <a:off x="7699248" y="2542032"/>
            <a:ext cx="161848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9DED7914-6E18-4047-931F-76435FBFF852}"/>
              </a:ext>
            </a:extLst>
          </p:cNvPr>
          <p:cNvSpPr>
            <a:spLocks xmlns:a="http://schemas.openxmlformats.org/drawingml/2006/main" noGrp="1"/>
          </p:cNvSpPr>
          <p:nvPr/>
        </p:nvSpPr>
        <p:spPr>
          <a:xfrm xmlns:a="http://schemas.openxmlformats.org/drawingml/2006/main">
            <a:off x="7772400" y="2615184"/>
            <a:ext cx="320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none">
                <a:solidFill>
                  <a:srgbClr val="00848A"/>
                </a:solidFill>
                <a:latin typeface="Consolas"/>
                <a:ea typeface="Consolas"/>
                <a:cs typeface="Consolas"/>
              </a:rPr>
              <a:t>Q4</a:t>
            </a:r>
          </a:p>
        </p:txBody>
      </p:sp>
      <p:sp>
        <p:nvSpPr>
          <p:cNvPr id="41" name="TextBox 40">
            <a:extLst xmlns:a="http://schemas.openxmlformats.org/drawingml/2006/main">
              <a:ext uri="{FF2B5EF4-FFF2-40B4-BE49-F238E27FC236}">
                <a16:creationId xmlns:a16="http://schemas.microsoft.com/office/drawing/2014/main" id="{FB56A0C9-4354-40EC-A6EB-558612E9CA16}"/>
              </a:ext>
            </a:extLst>
          </p:cNvPr>
          <p:cNvSpPr>
            <a:spLocks xmlns:a="http://schemas.openxmlformats.org/drawingml/2006/main" noGrp="1"/>
          </p:cNvSpPr>
          <p:nvPr/>
        </p:nvSpPr>
        <p:spPr>
          <a:xfrm xmlns:a="http://schemas.openxmlformats.org/drawingml/2006/main">
            <a:off x="7772400" y="2825496"/>
            <a:ext cx="147218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40" b="1" i="0" u="none">
                <a:solidFill>
                  <a:srgbClr val="24355B"/>
                </a:solidFill>
                <a:latin typeface="Cambria"/>
                <a:ea typeface="Cambria"/>
                <a:cs typeface="Cambria"/>
              </a:rPr>
              <a:t>Targeted requalification</a:t>
            </a:r>
          </a:p>
        </p:txBody>
      </p:sp>
      <p:sp>
        <p:nvSpPr>
          <p:cNvPr id="42" name="TextBox 41">
            <a:extLst xmlns:a="http://schemas.openxmlformats.org/drawingml/2006/main">
              <a:ext uri="{FF2B5EF4-FFF2-40B4-BE49-F238E27FC236}">
                <a16:creationId xmlns:a16="http://schemas.microsoft.com/office/drawing/2014/main" id="{8D9FB10A-0269-465B-A64E-24BB9C81DBEB}"/>
              </a:ext>
            </a:extLst>
          </p:cNvPr>
          <p:cNvSpPr>
            <a:spLocks xmlns:a="http://schemas.openxmlformats.org/drawingml/2006/main" noGrp="1"/>
          </p:cNvSpPr>
          <p:nvPr/>
        </p:nvSpPr>
        <p:spPr>
          <a:xfrm xmlns:a="http://schemas.openxmlformats.org/drawingml/2006/main">
            <a:off x="7772400" y="3108960"/>
            <a:ext cx="147218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780" b="0" i="0" u="none">
                <a:solidFill>
                  <a:srgbClr val="5D6775"/>
                </a:solidFill>
                <a:latin typeface="Calibri"/>
                <a:ea typeface="Calibri"/>
                <a:cs typeface="Calibri"/>
              </a:rPr>
              <a:t>reopen only material sources</a:t>
            </a:r>
          </a:p>
        </p:txBody>
      </p:sp>
      <p:sp>
        <p:nvSpPr>
          <p:cNvPr id="43" name="TextBox 42">
            <a:extLst xmlns:a="http://schemas.openxmlformats.org/drawingml/2006/main">
              <a:ext uri="{FF2B5EF4-FFF2-40B4-BE49-F238E27FC236}">
                <a16:creationId xmlns:a16="http://schemas.microsoft.com/office/drawing/2014/main" id="{57FF7FCC-3BB6-410F-B48A-ECA691BC514A}"/>
              </a:ext>
            </a:extLst>
          </p:cNvPr>
          <p:cNvSpPr>
            <a:spLocks xmlns:a="http://schemas.openxmlformats.org/drawingml/2006/main" noGrp="1"/>
          </p:cNvSpPr>
          <p:nvPr/>
        </p:nvSpPr>
        <p:spPr>
          <a:xfrm xmlns:a="http://schemas.openxmlformats.org/drawingml/2006/main">
            <a:off x="9331452" y="2889504"/>
            <a:ext cx="1371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1200" b="1" i="0" u="none">
                <a:solidFill>
                  <a:srgbClr val="24355B"/>
                </a:solidFill>
                <a:latin typeface="Calibri"/>
                <a:ea typeface="Calibri"/>
                <a:cs typeface="Calibri"/>
              </a:rPr>
              <a:t>→</a:t>
            </a:r>
          </a:p>
        </p:txBody>
      </p:sp>
      <p:sp>
        <p:nvSpPr>
          <p:cNvPr id="44" name="Rounded Rectangle 43">
            <a:extLst xmlns:a="http://schemas.openxmlformats.org/drawingml/2006/main">
              <a:ext uri="{FF2B5EF4-FFF2-40B4-BE49-F238E27FC236}">
                <a16:creationId xmlns:a16="http://schemas.microsoft.com/office/drawing/2014/main" id="{1920A8B0-965E-462A-981B-87C6202EA620}"/>
              </a:ext>
            </a:extLst>
          </p:cNvPr>
          <p:cNvSpPr>
            <a:spLocks xmlns:a="http://schemas.openxmlformats.org/drawingml/2006/main" noGrp="1"/>
          </p:cNvSpPr>
          <p:nvPr/>
        </p:nvSpPr>
        <p:spPr>
          <a:xfrm xmlns:a="http://schemas.openxmlformats.org/drawingml/2006/main">
            <a:off x="9482328" y="2542032"/>
            <a:ext cx="1618488"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TextBox 44">
            <a:extLst xmlns:a="http://schemas.openxmlformats.org/drawingml/2006/main">
              <a:ext uri="{FF2B5EF4-FFF2-40B4-BE49-F238E27FC236}">
                <a16:creationId xmlns:a16="http://schemas.microsoft.com/office/drawing/2014/main" id="{BAC1F478-0C22-4AB2-9B65-2EB05D186FC3}"/>
              </a:ext>
            </a:extLst>
          </p:cNvPr>
          <p:cNvSpPr>
            <a:spLocks xmlns:a="http://schemas.openxmlformats.org/drawingml/2006/main" noGrp="1"/>
          </p:cNvSpPr>
          <p:nvPr/>
        </p:nvSpPr>
        <p:spPr>
          <a:xfrm xmlns:a="http://schemas.openxmlformats.org/drawingml/2006/main">
            <a:off x="9555480" y="2615184"/>
            <a:ext cx="3200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none">
                <a:solidFill>
                  <a:srgbClr val="00848A"/>
                </a:solidFill>
                <a:latin typeface="Consolas"/>
                <a:ea typeface="Consolas"/>
                <a:cs typeface="Consolas"/>
              </a:rPr>
              <a:t>Q5</a:t>
            </a:r>
          </a:p>
        </p:txBody>
      </p:sp>
      <p:sp>
        <p:nvSpPr>
          <p:cNvPr id="46" name="TextBox 45">
            <a:extLst xmlns:a="http://schemas.openxmlformats.org/drawingml/2006/main">
              <a:ext uri="{FF2B5EF4-FFF2-40B4-BE49-F238E27FC236}">
                <a16:creationId xmlns:a16="http://schemas.microsoft.com/office/drawing/2014/main" id="{547CC697-D7FE-4943-8D01-CB661FB4B660}"/>
              </a:ext>
            </a:extLst>
          </p:cNvPr>
          <p:cNvSpPr>
            <a:spLocks xmlns:a="http://schemas.openxmlformats.org/drawingml/2006/main" noGrp="1"/>
          </p:cNvSpPr>
          <p:nvPr/>
        </p:nvSpPr>
        <p:spPr>
          <a:xfrm xmlns:a="http://schemas.openxmlformats.org/drawingml/2006/main">
            <a:off x="9555480" y="2825496"/>
            <a:ext cx="147218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40" b="1" i="0" u="none">
                <a:solidFill>
                  <a:srgbClr val="24355B"/>
                </a:solidFill>
                <a:latin typeface="Cambria"/>
                <a:ea typeface="Cambria"/>
                <a:cs typeface="Cambria"/>
              </a:rPr>
              <a:t>Compose / resume</a:t>
            </a:r>
          </a:p>
        </p:txBody>
      </p:sp>
      <p:sp>
        <p:nvSpPr>
          <p:cNvPr id="47" name="TextBox 46">
            <a:extLst xmlns:a="http://schemas.openxmlformats.org/drawingml/2006/main">
              <a:ext uri="{FF2B5EF4-FFF2-40B4-BE49-F238E27FC236}">
                <a16:creationId xmlns:a16="http://schemas.microsoft.com/office/drawing/2014/main" id="{E1B9D358-F682-4B79-955B-D159DDF20A66}"/>
              </a:ext>
            </a:extLst>
          </p:cNvPr>
          <p:cNvSpPr>
            <a:spLocks xmlns:a="http://schemas.openxmlformats.org/drawingml/2006/main" noGrp="1"/>
          </p:cNvSpPr>
          <p:nvPr/>
        </p:nvSpPr>
        <p:spPr>
          <a:xfrm xmlns:a="http://schemas.openxmlformats.org/drawingml/2006/main">
            <a:off x="9555480" y="3108960"/>
            <a:ext cx="147218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780" b="0" i="0" u="none">
                <a:solidFill>
                  <a:srgbClr val="5D6775"/>
                </a:solidFill>
                <a:latin typeface="Calibri"/>
                <a:ea typeface="Calibri"/>
                <a:cs typeface="Calibri"/>
              </a:rPr>
              <a:t>segment · resume · explicit limit</a:t>
            </a:r>
          </a:p>
        </p:txBody>
      </p:sp>
      <p:sp>
        <p:nvSpPr>
          <p:cNvPr id="48" name="Rounded Rectangle 47">
            <a:extLst xmlns:a="http://schemas.openxmlformats.org/drawingml/2006/main">
              <a:ext uri="{FF2B5EF4-FFF2-40B4-BE49-F238E27FC236}">
                <a16:creationId xmlns:a16="http://schemas.microsoft.com/office/drawing/2014/main" id="{C739B1AA-A72A-4A40-B95F-F72DFC297DCD}"/>
              </a:ext>
            </a:extLst>
          </p:cNvPr>
          <p:cNvSpPr>
            <a:spLocks xmlns:a="http://schemas.openxmlformats.org/drawingml/2006/main" noGrp="1"/>
          </p:cNvSpPr>
          <p:nvPr/>
        </p:nvSpPr>
        <p:spPr>
          <a:xfrm xmlns:a="http://schemas.openxmlformats.org/drawingml/2006/main">
            <a:off x="566928" y="3703320"/>
            <a:ext cx="5257800" cy="1426464"/>
          </a:xfrm>
          <a:prstGeom xmlns:a="http://schemas.openxmlformats.org/drawingml/2006/main" prst="roundRect">
            <a:avLst/>
          </a:prstGeom>
          <a:solidFill xmlns:a="http://schemas.openxmlformats.org/drawingml/2006/main">
            <a:srgbClr val="FFFFFF"/>
          </a:solidFill>
          <a:ln xmlns:a="http://schemas.openxmlformats.org/drawingml/2006/main" w="15240">
            <a:solidFill>
              <a:srgbClr val="A74D4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TextBox 48">
            <a:extLst xmlns:a="http://schemas.openxmlformats.org/drawingml/2006/main">
              <a:ext uri="{FF2B5EF4-FFF2-40B4-BE49-F238E27FC236}">
                <a16:creationId xmlns:a16="http://schemas.microsoft.com/office/drawing/2014/main" id="{26D31EB6-71F4-4A81-9C74-F0E949882B56}"/>
              </a:ext>
            </a:extLst>
          </p:cNvPr>
          <p:cNvSpPr>
            <a:spLocks xmlns:a="http://schemas.openxmlformats.org/drawingml/2006/main" noGrp="1"/>
          </p:cNvSpPr>
          <p:nvPr/>
        </p:nvSpPr>
        <p:spPr>
          <a:xfrm xmlns:a="http://schemas.openxmlformats.org/drawingml/2006/main">
            <a:off x="768096" y="3867912"/>
            <a:ext cx="12801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1" i="0" u="none">
                <a:solidFill>
                  <a:srgbClr val="A74D48"/>
                </a:solidFill>
                <a:latin typeface="Consolas"/>
                <a:ea typeface="Consolas"/>
                <a:cs typeface="Consolas"/>
              </a:rPr>
              <a:t>ROUTE N — bypass / failure</a:t>
            </a:r>
          </a:p>
        </p:txBody>
      </p:sp>
      <p:sp>
        <p:nvSpPr>
          <p:cNvPr id="50" name="TextBox 49">
            <a:extLst xmlns:a="http://schemas.openxmlformats.org/drawingml/2006/main">
              <a:ext uri="{FF2B5EF4-FFF2-40B4-BE49-F238E27FC236}">
                <a16:creationId xmlns:a16="http://schemas.microsoft.com/office/drawing/2014/main" id="{42710FEF-7E25-4D57-BAF3-1C75E06A67F1}"/>
              </a:ext>
            </a:extLst>
          </p:cNvPr>
          <p:cNvSpPr>
            <a:spLocks xmlns:a="http://schemas.openxmlformats.org/drawingml/2006/main" noGrp="1"/>
          </p:cNvSpPr>
          <p:nvPr/>
        </p:nvSpPr>
        <p:spPr>
          <a:xfrm xmlns:a="http://schemas.openxmlformats.org/drawingml/2006/main">
            <a:off x="768096" y="4187952"/>
            <a:ext cx="4681728"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60" b="0" i="0" u="none">
                <a:solidFill>
                  <a:srgbClr val="1F2D3D"/>
                </a:solidFill>
                <a:latin typeface="Calibri"/>
                <a:ea typeface="Calibri"/>
                <a:cs typeface="Calibri"/>
              </a:rPr>
              <a:t>Q2 incompatibility is not composed → A / B / NORMAL / HOLD reach the same corridor → humans and retries consume the response margin → local collision avoidance succeeds → city-level gridlock blocks evacuation and rescue.</a:t>
            </a:r>
          </a:p>
        </p:txBody>
      </p:sp>
      <p:sp>
        <p:nvSpPr>
          <p:cNvPr id="51" name="Rounded Rectangle 50">
            <a:extLst xmlns:a="http://schemas.openxmlformats.org/drawingml/2006/main">
              <a:ext uri="{FF2B5EF4-FFF2-40B4-BE49-F238E27FC236}">
                <a16:creationId xmlns:a16="http://schemas.microsoft.com/office/drawing/2014/main" id="{FE3B1816-FA6D-41A6-A925-E138FDD02A4F}"/>
              </a:ext>
            </a:extLst>
          </p:cNvPr>
          <p:cNvSpPr>
            <a:spLocks xmlns:a="http://schemas.openxmlformats.org/drawingml/2006/main" noGrp="1"/>
          </p:cNvSpPr>
          <p:nvPr/>
        </p:nvSpPr>
        <p:spPr>
          <a:xfrm xmlns:a="http://schemas.openxmlformats.org/drawingml/2006/main">
            <a:off x="6144768" y="3703320"/>
            <a:ext cx="5257800" cy="1426464"/>
          </a:xfrm>
          <a:prstGeom xmlns:a="http://schemas.openxmlformats.org/drawingml/2006/main" prst="roundRect">
            <a:avLst/>
          </a:prstGeom>
          <a:solidFill xmlns:a="http://schemas.openxmlformats.org/drawingml/2006/main">
            <a:srgbClr val="FFFFFF"/>
          </a:solidFill>
          <a:ln xmlns:a="http://schemas.openxmlformats.org/drawingml/2006/main" w="15240">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2" name="TextBox 51">
            <a:extLst xmlns:a="http://schemas.openxmlformats.org/drawingml/2006/main">
              <a:ext uri="{FF2B5EF4-FFF2-40B4-BE49-F238E27FC236}">
                <a16:creationId xmlns:a16="http://schemas.microsoft.com/office/drawing/2014/main" id="{0A43C45A-9601-400E-BEC3-9C6558C54C52}"/>
              </a:ext>
            </a:extLst>
          </p:cNvPr>
          <p:cNvSpPr>
            <a:spLocks xmlns:a="http://schemas.openxmlformats.org/drawingml/2006/main" noGrp="1"/>
          </p:cNvSpPr>
          <p:nvPr/>
        </p:nvSpPr>
        <p:spPr>
          <a:xfrm xmlns:a="http://schemas.openxmlformats.org/drawingml/2006/main">
            <a:off x="6345936" y="3867912"/>
            <a:ext cx="146304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1" i="0" u="none">
                <a:solidFill>
                  <a:srgbClr val="00848A"/>
                </a:solidFill>
                <a:latin typeface="Consolas"/>
                <a:ea typeface="Consolas"/>
                <a:cs typeface="Consolas"/>
              </a:rPr>
              <a:t>ROUTE Q — conforming</a:t>
            </a:r>
          </a:p>
        </p:txBody>
      </p:sp>
      <p:sp>
        <p:nvSpPr>
          <p:cNvPr id="53" name="TextBox 52">
            <a:extLst xmlns:a="http://schemas.openxmlformats.org/drawingml/2006/main">
              <a:ext uri="{FF2B5EF4-FFF2-40B4-BE49-F238E27FC236}">
                <a16:creationId xmlns:a16="http://schemas.microsoft.com/office/drawing/2014/main" id="{16A3058F-8F3C-4315-B6BE-936E7C8835F3}"/>
              </a:ext>
            </a:extLst>
          </p:cNvPr>
          <p:cNvSpPr>
            <a:spLocks xmlns:a="http://schemas.openxmlformats.org/drawingml/2006/main" noGrp="1"/>
          </p:cNvSpPr>
          <p:nvPr/>
        </p:nvSpPr>
        <p:spPr>
          <a:xfrm xmlns:a="http://schemas.openxmlformats.org/drawingml/2006/main">
            <a:off x="6345936" y="4187952"/>
            <a:ext cx="4681728"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60" b="0" i="0" u="none">
                <a:solidFill>
                  <a:srgbClr val="1F2D3D"/>
                </a:solidFill>
                <a:latin typeface="Calibri"/>
                <a:ea typeface="Calibri"/>
                <a:cs typeface="Calibri"/>
              </a:rPr>
              <a:t>The shared resource-time conflict becomes explicit → bounded containment / segmentation is applied by the authorized owner → only material dependencies are reopened → Q5 resumes compatible use, preserves an explicit limit, or closes with no conclusion.</a:t>
            </a:r>
          </a:p>
        </p:txBody>
      </p:sp>
      <p:sp>
        <p:nvSpPr>
          <p:cNvPr id="54" name="Rounded Rectangle 53">
            <a:extLst xmlns:a="http://schemas.openxmlformats.org/drawingml/2006/main">
              <a:ext uri="{FF2B5EF4-FFF2-40B4-BE49-F238E27FC236}">
                <a16:creationId xmlns:a16="http://schemas.microsoft.com/office/drawing/2014/main" id="{3DDBDE5A-9BDA-4BEE-ABE8-C9C621FCAAFD}"/>
              </a:ext>
            </a:extLst>
          </p:cNvPr>
          <p:cNvSpPr>
            <a:spLocks xmlns:a="http://schemas.openxmlformats.org/drawingml/2006/main" noGrp="1"/>
          </p:cNvSpPr>
          <p:nvPr/>
        </p:nvSpPr>
        <p:spPr>
          <a:xfrm xmlns:a="http://schemas.openxmlformats.org/drawingml/2006/main">
            <a:off x="566928" y="5285232"/>
            <a:ext cx="10835640" cy="694944"/>
          </a:xfrm>
          <a:prstGeom xmlns:a="http://schemas.openxmlformats.org/drawingml/2006/main" prst="roundRect">
            <a:avLst/>
          </a:prstGeom>
          <a:solidFill xmlns:a="http://schemas.openxmlformats.org/drawingml/2006/main">
            <a:srgbClr val="F3F6F8"/>
          </a:solidFill>
          <a:ln xmlns:a="http://schemas.openxmlformats.org/drawingml/2006/main">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5" name="TextBox 54">
            <a:extLst xmlns:a="http://schemas.openxmlformats.org/drawingml/2006/main">
              <a:ext uri="{FF2B5EF4-FFF2-40B4-BE49-F238E27FC236}">
                <a16:creationId xmlns:a16="http://schemas.microsoft.com/office/drawing/2014/main" id="{B5A21367-39F1-4EC3-9C65-A36BBAFB319F}"/>
              </a:ext>
            </a:extLst>
          </p:cNvPr>
          <p:cNvSpPr>
            <a:spLocks xmlns:a="http://schemas.openxmlformats.org/drawingml/2006/main" noGrp="1"/>
          </p:cNvSpPr>
          <p:nvPr/>
        </p:nvSpPr>
        <p:spPr>
          <a:xfrm xmlns:a="http://schemas.openxmlformats.org/drawingml/2006/main">
            <a:off x="768096" y="5394960"/>
            <a:ext cx="397763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a:solidFill>
                  <a:srgbClr val="24355B"/>
                </a:solidFill>
                <a:latin typeface="Calibri"/>
                <a:ea typeface="Calibri"/>
                <a:cs typeface="Calibri"/>
              </a:rPr>
              <a:t>This is one worked example. Route Q is the conforming path for 00F; each scenario below links to its own quality-plan / requirements-conforming route.</a:t>
            </a:r>
          </a:p>
        </p:txBody>
      </p:sp>
      <p:sp>
        <p:nvSpPr>
          <p:cNvPr id="60" name="Rectangle 59">
            <a:extLst xmlns:a="http://schemas.openxmlformats.org/drawingml/2006/main">
              <a:ext uri="{FF2B5EF4-FFF2-40B4-BE49-F238E27FC236}">
                <a16:creationId xmlns:a16="http://schemas.microsoft.com/office/drawing/2014/main" id="{F0C88067-F641-4AA1-A315-0254DEC9A78F}"/>
              </a:ext>
            </a:extLst>
          </p:cNvPr>
          <p:cNvSpPr>
            <a:spLocks xmlns:a="http://schemas.openxmlformats.org/drawingml/2006/main" noGrp="1"/>
          </p:cNvSpPr>
          <p:nvPr/>
        </p:nvSpPr>
        <p:spPr>
          <a:xfrm xmlns:a="http://schemas.openxmlformats.org/drawingml/2006/main">
            <a:off x="566928" y="6236208"/>
            <a:ext cx="10835640" cy="10972"/>
          </a:xfrm>
          <a:prstGeom xmlns:a="http://schemas.openxmlformats.org/drawingml/2006/main" prst="rect">
            <a:avLst/>
          </a:prstGeom>
          <a:solidFill xmlns:a="http://schemas.openxmlformats.org/drawingml/2006/main">
            <a:srgbClr val="24355B"/>
          </a:solidFill>
          <a:ln xmlns:a="http://schemas.openxmlformats.org/drawingml/2006/main">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1" name="TextBox 60">
            <a:extLst xmlns:a="http://schemas.openxmlformats.org/drawingml/2006/main">
              <a:ext uri="{FF2B5EF4-FFF2-40B4-BE49-F238E27FC236}">
                <a16:creationId xmlns:a16="http://schemas.microsoft.com/office/drawing/2014/main" id="{5DA8B92E-9C7C-43B8-947F-E00CDEA7813A}"/>
              </a:ext>
            </a:extLst>
          </p:cNvPr>
          <p:cNvSpPr>
            <a:spLocks xmlns:a="http://schemas.openxmlformats.org/drawingml/2006/main" noGrp="1"/>
          </p:cNvSpPr>
          <p:nvPr/>
        </p:nvSpPr>
        <p:spPr>
          <a:xfrm xmlns:a="http://schemas.openxmlformats.org/drawingml/2006/main">
            <a:off x="4069080" y="6355080"/>
            <a:ext cx="36576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720" b="0" i="0" u="none">
                <a:solidFill>
                  <a:srgbClr val="5D6775"/>
                </a:solidFill>
                <a:latin typeface="Consolas"/>
                <a:ea typeface="Consolas"/>
                <a:cs typeface="Consolas"/>
              </a:rPr>
              <a:t>Ecosystem Awareness · Positioning architecture</a:t>
            </a:r>
          </a:p>
        </p:txBody>
      </p:sp>
      <p:sp>
        <p:nvSpPr>
          <p:cNvPr id="62" name="TextBox 61">
            <a:extLst xmlns:a="http://schemas.openxmlformats.org/drawingml/2006/main">
              <a:ext uri="{FF2B5EF4-FFF2-40B4-BE49-F238E27FC236}">
                <a16:creationId xmlns:a16="http://schemas.microsoft.com/office/drawing/2014/main" id="{61146E1D-B03A-49FB-902D-438FA42DA114}"/>
              </a:ext>
            </a:extLst>
          </p:cNvPr>
          <p:cNvSpPr>
            <a:spLocks xmlns:a="http://schemas.openxmlformats.org/drawingml/2006/main" noGrp="1"/>
          </p:cNvSpPr>
          <p:nvPr/>
        </p:nvSpPr>
        <p:spPr>
          <a:xfrm xmlns:a="http://schemas.openxmlformats.org/drawingml/2006/main">
            <a:off x="11045952" y="6355080"/>
            <a:ext cx="2743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50">
                <a:solidFill>
                  <a:srgbClr val="5D6775"/>
                </a:solidFill>
                <a:latin typeface="Aptos"/>
                <a:ea typeface="Aptos"/>
                <a:cs typeface="Aptos"/>
              </a:rPr>
              <a:t>8</a:t>
            </a:r>
          </a:p>
        </p:txBody>
      </p:sp>
      <p:sp>
        <p:nvSpPr>
          <p:cNvPr id="63" name="TextBox 62">
            <a:extLst xmlns:a="http://schemas.openxmlformats.org/drawingml/2006/main">
              <a:ext uri="{FF2B5EF4-FFF2-40B4-BE49-F238E27FC236}">
                <a16:creationId xmlns:a16="http://schemas.microsoft.com/office/drawing/2014/main" id="{0B4AB367-9571-41CD-92C2-8E896E0A5611}"/>
              </a:ext>
            </a:extLst>
          </p:cNvPr>
          <p:cNvSpPr>
            <a:spLocks xmlns:a="http://schemas.openxmlformats.org/drawingml/2006/main" noGrp="1"/>
          </p:cNvSpPr>
          <p:nvPr/>
        </p:nvSpPr>
        <p:spPr>
          <a:xfrm xmlns:a="http://schemas.openxmlformats.org/drawingml/2006/main">
            <a:off x="4956048" y="5358384"/>
            <a:ext cx="614476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770" b="1">
                <a:solidFill>
                  <a:srgbClr val="00848A"/>
                </a:solidFill>
                <a:latin typeface="Consolas"/>
                <a:ea typeface="Consolas"/>
                <a:cs typeface="Consolas"/>
              </a:rPr>
              <a:t>OPEN THE CONFORMING QUALITY-PLAN ROUTES</a:t>
            </a:r>
          </a:p>
        </p:txBody>
      </p:sp>
      <p:sp>
        <p:nvSpPr>
          <p:cNvPr id="64" name="Rounded Rectangle 63">
            <a:extLst xmlns:a="http://schemas.openxmlformats.org/drawingml/2006/main">
              <a:ext uri="{FF2B5EF4-FFF2-40B4-BE49-F238E27FC236}">
                <a16:creationId xmlns:a16="http://schemas.microsoft.com/office/drawing/2014/main" id="{7B7CCE48-9625-414F-8E65-5D7721DF97AF}"/>
              </a:ext>
            </a:extLst>
          </p:cNvPr>
          <p:cNvSpPr>
            <a:spLocks xmlns:a="http://schemas.openxmlformats.org/drawingml/2006/main" noGrp="1"/>
          </p:cNvSpPr>
          <p:nvPr/>
        </p:nvSpPr>
        <p:spPr>
          <a:xfrm xmlns:a="http://schemas.openxmlformats.org/drawingml/2006/main">
            <a:off x="4956048" y="5577840"/>
            <a:ext cx="963167" cy="274320"/>
          </a:xfrm>
          <a:prstGeom xmlns:a="http://schemas.openxmlformats.org/drawingml/2006/main" prst="roundRect">
            <a:avLst/>
          </a:prstGeom>
          <a:solidFill xmlns:a="http://schemas.openxmlformats.org/drawingml/2006/main">
            <a:srgbClr val="FFFFFF"/>
          </a:solidFill>
          <a:ln xmlns:a="http://schemas.openxmlformats.org/drawingml/2006/main" w="1397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5" name="TextBox 64">
            <a:extLst xmlns:a="http://schemas.openxmlformats.org/drawingml/2006/main">
              <a:ext uri="{FF2B5EF4-FFF2-40B4-BE49-F238E27FC236}">
                <a16:creationId xmlns:a16="http://schemas.microsoft.com/office/drawing/2014/main" id="{69736893-878D-452F-A020-31BA40B6C449}"/>
              </a:ext>
            </a:extLst>
          </p:cNvPr>
          <p:cNvSpPr>
            <a:spLocks xmlns:a="http://schemas.openxmlformats.org/drawingml/2006/main" noGrp="1"/>
          </p:cNvSpPr>
          <p:nvPr/>
        </p:nvSpPr>
        <p:spPr>
          <a:xfrm xmlns:a="http://schemas.openxmlformats.org/drawingml/2006/main">
            <a:off x="5010912" y="5641848"/>
            <a:ext cx="853439"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860" b="1">
                <a:solidFill>
                  <a:srgbClr val="2F6FB2"/>
                </a:solidFill>
                <a:latin typeface="Calibri"/>
                <a:ea typeface="Calibri"/>
                <a:cs typeface="Calibri"/>
                <a:hlinkClick xmlns:r="http://schemas.openxmlformats.org/officeDocument/2006/relationships" r:id="R30a33db4c9244840"/>
              </a:rPr>
              <a:t>00E · 100M</a:t>
            </a:r>
          </a:p>
        </p:txBody>
      </p:sp>
      <p:sp>
        <p:nvSpPr>
          <p:cNvPr id="66" name="Rounded Rectangle 65">
            <a:extLst xmlns:a="http://schemas.openxmlformats.org/drawingml/2006/main">
              <a:ext uri="{FF2B5EF4-FFF2-40B4-BE49-F238E27FC236}">
                <a16:creationId xmlns:a16="http://schemas.microsoft.com/office/drawing/2014/main" id="{27F71DB2-A96C-4316-A38C-3AF05B335449}"/>
              </a:ext>
            </a:extLst>
          </p:cNvPr>
          <p:cNvSpPr>
            <a:spLocks xmlns:a="http://schemas.openxmlformats.org/drawingml/2006/main" noGrp="1"/>
          </p:cNvSpPr>
          <p:nvPr/>
        </p:nvSpPr>
        <p:spPr>
          <a:xfrm xmlns:a="http://schemas.openxmlformats.org/drawingml/2006/main">
            <a:off x="5992367" y="5577840"/>
            <a:ext cx="963167" cy="274320"/>
          </a:xfrm>
          <a:prstGeom xmlns:a="http://schemas.openxmlformats.org/drawingml/2006/main" prst="roundRect">
            <a:avLst/>
          </a:prstGeom>
          <a:solidFill xmlns:a="http://schemas.openxmlformats.org/drawingml/2006/main">
            <a:srgbClr val="FFFFFF"/>
          </a:solidFill>
          <a:ln xmlns:a="http://schemas.openxmlformats.org/drawingml/2006/main" w="1397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7" name="TextBox 66">
            <a:extLst xmlns:a="http://schemas.openxmlformats.org/drawingml/2006/main">
              <a:ext uri="{FF2B5EF4-FFF2-40B4-BE49-F238E27FC236}">
                <a16:creationId xmlns:a16="http://schemas.microsoft.com/office/drawing/2014/main" id="{3BE39A35-75B6-4EED-9D97-5EFE52F3462A}"/>
              </a:ext>
            </a:extLst>
          </p:cNvPr>
          <p:cNvSpPr>
            <a:spLocks xmlns:a="http://schemas.openxmlformats.org/drawingml/2006/main" noGrp="1"/>
          </p:cNvSpPr>
          <p:nvPr/>
        </p:nvSpPr>
        <p:spPr>
          <a:xfrm xmlns:a="http://schemas.openxmlformats.org/drawingml/2006/main">
            <a:off x="6047231" y="5641848"/>
            <a:ext cx="853439"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860" b="1">
                <a:solidFill>
                  <a:srgbClr val="2F6FB2"/>
                </a:solidFill>
                <a:latin typeface="Calibri"/>
                <a:ea typeface="Calibri"/>
                <a:cs typeface="Calibri"/>
                <a:hlinkClick xmlns:r="http://schemas.openxmlformats.org/officeDocument/2006/relationships" r:id="Rdc36008db3c04966"/>
              </a:rPr>
              <a:t>00F · Smartcity</a:t>
            </a:r>
          </a:p>
        </p:txBody>
      </p:sp>
      <p:sp>
        <p:nvSpPr>
          <p:cNvPr id="68" name="Rounded Rectangle 67">
            <a:extLst xmlns:a="http://schemas.openxmlformats.org/drawingml/2006/main">
              <a:ext uri="{FF2B5EF4-FFF2-40B4-BE49-F238E27FC236}">
                <a16:creationId xmlns:a16="http://schemas.microsoft.com/office/drawing/2014/main" id="{C5DEF9D8-F20E-400F-89F7-2A84FC740ECD}"/>
              </a:ext>
            </a:extLst>
          </p:cNvPr>
          <p:cNvSpPr>
            <a:spLocks xmlns:a="http://schemas.openxmlformats.org/drawingml/2006/main" noGrp="1"/>
          </p:cNvSpPr>
          <p:nvPr/>
        </p:nvSpPr>
        <p:spPr>
          <a:xfrm xmlns:a="http://schemas.openxmlformats.org/drawingml/2006/main">
            <a:off x="7028688" y="5577840"/>
            <a:ext cx="963167" cy="274320"/>
          </a:xfrm>
          <a:prstGeom xmlns:a="http://schemas.openxmlformats.org/drawingml/2006/main" prst="roundRect">
            <a:avLst/>
          </a:prstGeom>
          <a:solidFill xmlns:a="http://schemas.openxmlformats.org/drawingml/2006/main">
            <a:srgbClr val="FFFFFF"/>
          </a:solidFill>
          <a:ln xmlns:a="http://schemas.openxmlformats.org/drawingml/2006/main" w="1397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9" name="TextBox 68">
            <a:extLst xmlns:a="http://schemas.openxmlformats.org/drawingml/2006/main">
              <a:ext uri="{FF2B5EF4-FFF2-40B4-BE49-F238E27FC236}">
                <a16:creationId xmlns:a16="http://schemas.microsoft.com/office/drawing/2014/main" id="{BA3706ED-3E99-45BB-940A-0A7D20A7ECF9}"/>
              </a:ext>
            </a:extLst>
          </p:cNvPr>
          <p:cNvSpPr>
            <a:spLocks xmlns:a="http://schemas.openxmlformats.org/drawingml/2006/main" noGrp="1"/>
          </p:cNvSpPr>
          <p:nvPr/>
        </p:nvSpPr>
        <p:spPr>
          <a:xfrm xmlns:a="http://schemas.openxmlformats.org/drawingml/2006/main">
            <a:off x="7083552" y="5641848"/>
            <a:ext cx="853439"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860" b="1">
                <a:solidFill>
                  <a:srgbClr val="2F6FB2"/>
                </a:solidFill>
                <a:latin typeface="Calibri"/>
                <a:ea typeface="Calibri"/>
                <a:cs typeface="Calibri"/>
                <a:hlinkClick xmlns:r="http://schemas.openxmlformats.org/officeDocument/2006/relationships" r:id="R12b29cd6db8f40e4"/>
              </a:rPr>
              <a:t>00G · Napoleon</a:t>
            </a:r>
          </a:p>
        </p:txBody>
      </p:sp>
      <p:sp>
        <p:nvSpPr>
          <p:cNvPr id="70" name="Rounded Rectangle 69">
            <a:extLst xmlns:a="http://schemas.openxmlformats.org/drawingml/2006/main">
              <a:ext uri="{FF2B5EF4-FFF2-40B4-BE49-F238E27FC236}">
                <a16:creationId xmlns:a16="http://schemas.microsoft.com/office/drawing/2014/main" id="{33497610-93BA-4765-BA2F-F348B217746A}"/>
              </a:ext>
            </a:extLst>
          </p:cNvPr>
          <p:cNvSpPr>
            <a:spLocks xmlns:a="http://schemas.openxmlformats.org/drawingml/2006/main" noGrp="1"/>
          </p:cNvSpPr>
          <p:nvPr/>
        </p:nvSpPr>
        <p:spPr>
          <a:xfrm xmlns:a="http://schemas.openxmlformats.org/drawingml/2006/main">
            <a:off x="8065008" y="5577840"/>
            <a:ext cx="963167" cy="274320"/>
          </a:xfrm>
          <a:prstGeom xmlns:a="http://schemas.openxmlformats.org/drawingml/2006/main" prst="roundRect">
            <a:avLst/>
          </a:prstGeom>
          <a:solidFill xmlns:a="http://schemas.openxmlformats.org/drawingml/2006/main">
            <a:srgbClr val="FFFFFF"/>
          </a:solidFill>
          <a:ln xmlns:a="http://schemas.openxmlformats.org/drawingml/2006/main" w="1397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1" name="TextBox 70">
            <a:extLst xmlns:a="http://schemas.openxmlformats.org/drawingml/2006/main">
              <a:ext uri="{FF2B5EF4-FFF2-40B4-BE49-F238E27FC236}">
                <a16:creationId xmlns:a16="http://schemas.microsoft.com/office/drawing/2014/main" id="{CBB28C86-865C-41FE-BD06-FF073770D1CC}"/>
              </a:ext>
            </a:extLst>
          </p:cNvPr>
          <p:cNvSpPr>
            <a:spLocks xmlns:a="http://schemas.openxmlformats.org/drawingml/2006/main" noGrp="1"/>
          </p:cNvSpPr>
          <p:nvPr/>
        </p:nvSpPr>
        <p:spPr>
          <a:xfrm xmlns:a="http://schemas.openxmlformats.org/drawingml/2006/main">
            <a:off x="8119872" y="5641848"/>
            <a:ext cx="853439"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860" b="1">
                <a:solidFill>
                  <a:srgbClr val="2F6FB2"/>
                </a:solidFill>
                <a:latin typeface="Calibri"/>
                <a:ea typeface="Calibri"/>
                <a:cs typeface="Calibri"/>
                <a:hlinkClick xmlns:r="http://schemas.openxmlformats.org/officeDocument/2006/relationships" r:id="Rf62d91ba9c434efd"/>
              </a:rPr>
              <a:t>00H · Quiet 4K</a:t>
            </a:r>
          </a:p>
        </p:txBody>
      </p:sp>
      <p:sp>
        <p:nvSpPr>
          <p:cNvPr id="72" name="Rounded Rectangle 71">
            <a:extLst xmlns:a="http://schemas.openxmlformats.org/drawingml/2006/main">
              <a:ext uri="{FF2B5EF4-FFF2-40B4-BE49-F238E27FC236}">
                <a16:creationId xmlns:a16="http://schemas.microsoft.com/office/drawing/2014/main" id="{34C8359D-7864-4C34-BA45-4773CCB67634}"/>
              </a:ext>
            </a:extLst>
          </p:cNvPr>
          <p:cNvSpPr>
            <a:spLocks xmlns:a="http://schemas.openxmlformats.org/drawingml/2006/main" noGrp="1"/>
          </p:cNvSpPr>
          <p:nvPr/>
        </p:nvSpPr>
        <p:spPr>
          <a:xfrm xmlns:a="http://schemas.openxmlformats.org/drawingml/2006/main">
            <a:off x="9101328" y="5577840"/>
            <a:ext cx="963167" cy="274320"/>
          </a:xfrm>
          <a:prstGeom xmlns:a="http://schemas.openxmlformats.org/drawingml/2006/main" prst="roundRect">
            <a:avLst/>
          </a:prstGeom>
          <a:solidFill xmlns:a="http://schemas.openxmlformats.org/drawingml/2006/main">
            <a:srgbClr val="FFFFFF"/>
          </a:solidFill>
          <a:ln xmlns:a="http://schemas.openxmlformats.org/drawingml/2006/main" w="1397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3" name="TextBox 72">
            <a:extLst xmlns:a="http://schemas.openxmlformats.org/drawingml/2006/main">
              <a:ext uri="{FF2B5EF4-FFF2-40B4-BE49-F238E27FC236}">
                <a16:creationId xmlns:a16="http://schemas.microsoft.com/office/drawing/2014/main" id="{2C7A1517-1F5E-42CA-9BFA-FBDD4ED18334}"/>
              </a:ext>
            </a:extLst>
          </p:cNvPr>
          <p:cNvSpPr>
            <a:spLocks xmlns:a="http://schemas.openxmlformats.org/drawingml/2006/main" noGrp="1"/>
          </p:cNvSpPr>
          <p:nvPr/>
        </p:nvSpPr>
        <p:spPr>
          <a:xfrm xmlns:a="http://schemas.openxmlformats.org/drawingml/2006/main">
            <a:off x="9156192" y="5641848"/>
            <a:ext cx="853439"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860" b="1">
                <a:solidFill>
                  <a:srgbClr val="2F6FB2"/>
                </a:solidFill>
                <a:latin typeface="Calibri"/>
                <a:ea typeface="Calibri"/>
                <a:cs typeface="Calibri"/>
                <a:hlinkClick xmlns:r="http://schemas.openxmlformats.org/officeDocument/2006/relationships" r:id="Rabb1f16d0ff84eed"/>
              </a:rPr>
              <a:t>00I · Patch</a:t>
            </a:r>
          </a:p>
        </p:txBody>
      </p:sp>
      <p:sp>
        <p:nvSpPr>
          <p:cNvPr id="74" name="Rounded Rectangle 73">
            <a:extLst xmlns:a="http://schemas.openxmlformats.org/drawingml/2006/main">
              <a:ext uri="{FF2B5EF4-FFF2-40B4-BE49-F238E27FC236}">
                <a16:creationId xmlns:a16="http://schemas.microsoft.com/office/drawing/2014/main" id="{85465631-63F9-41CE-BA17-2E1EA13748F5}"/>
              </a:ext>
            </a:extLst>
          </p:cNvPr>
          <p:cNvSpPr>
            <a:spLocks xmlns:a="http://schemas.openxmlformats.org/drawingml/2006/main" noGrp="1"/>
          </p:cNvSpPr>
          <p:nvPr/>
        </p:nvSpPr>
        <p:spPr>
          <a:xfrm xmlns:a="http://schemas.openxmlformats.org/drawingml/2006/main">
            <a:off x="10137648" y="5577840"/>
            <a:ext cx="963167" cy="274320"/>
          </a:xfrm>
          <a:prstGeom xmlns:a="http://schemas.openxmlformats.org/drawingml/2006/main" prst="roundRect">
            <a:avLst/>
          </a:prstGeom>
          <a:solidFill xmlns:a="http://schemas.openxmlformats.org/drawingml/2006/main">
            <a:srgbClr val="FFFFFF"/>
          </a:solidFill>
          <a:ln xmlns:a="http://schemas.openxmlformats.org/drawingml/2006/main" w="13970">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5" name="TextBox 74">
            <a:extLst xmlns:a="http://schemas.openxmlformats.org/drawingml/2006/main">
              <a:ext uri="{FF2B5EF4-FFF2-40B4-BE49-F238E27FC236}">
                <a16:creationId xmlns:a16="http://schemas.microsoft.com/office/drawing/2014/main" id="{F239F1DC-770F-4D8D-8CE7-6AA10D4A0467}"/>
              </a:ext>
            </a:extLst>
          </p:cNvPr>
          <p:cNvSpPr>
            <a:spLocks xmlns:a="http://schemas.openxmlformats.org/drawingml/2006/main" noGrp="1"/>
          </p:cNvSpPr>
          <p:nvPr/>
        </p:nvSpPr>
        <p:spPr>
          <a:xfrm xmlns:a="http://schemas.openxmlformats.org/drawingml/2006/main">
            <a:off x="10192512" y="5641848"/>
            <a:ext cx="853439"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860" b="1">
                <a:solidFill>
                  <a:srgbClr val="2F6FB2"/>
                </a:solidFill>
                <a:latin typeface="Calibri"/>
                <a:ea typeface="Calibri"/>
                <a:cs typeface="Calibri"/>
                <a:hlinkClick xmlns:r="http://schemas.openxmlformats.org/officeDocument/2006/relationships" r:id="Ra30bac2caac844c3"/>
              </a:rPr>
              <a:t>00J · Author</a:t>
            </a:r>
          </a:p>
        </p:txBody>
      </p:sp>
      <p:sp>
        <p:nvSpPr>
          <p:cNvPr id="76" name="TextBox 75">
            <a:extLst xmlns:a="http://schemas.openxmlformats.org/drawingml/2006/main">
              <a:ext uri="{FF2B5EF4-FFF2-40B4-BE49-F238E27FC236}">
                <a16:creationId xmlns:a16="http://schemas.microsoft.com/office/drawing/2014/main" id="{E9884929-5313-4623-B93E-72984755E493}"/>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a985356d61a84734"/>
              </a:rPr>
              <a:t>00F quality plan</a:t>
            </a:r>
            <a:r>
              <a:rPr sz="680">
                <a:solidFill>
                  <a:srgbClr val="727A86"/>
                </a:solidFill>
                <a:latin typeface="Calibri"/>
                <a:ea typeface="Calibri"/>
                <a:cs typeface="Calibri"/>
              </a:rPr>
              <a:t>  ·  </a:t>
            </a:r>
            <a:r>
              <a:rPr sz="680" b="0" u="sng">
                <a:solidFill>
                  <a:srgbClr val="2F6FB2"/>
                </a:solidFill>
                <a:latin typeface="Calibri"/>
                <a:ea typeface="Calibri"/>
                <a:cs typeface="Calibri"/>
                <a:hlinkClick xmlns:r="http://schemas.openxmlformats.org/officeDocument/2006/relationships" r:id="R685f6ac4259b444c"/>
              </a:rPr>
              <a:t>All scenarios / routes</a:t>
            </a:r>
          </a:p>
        </p:txBody>
      </p:sp>
    </p:spTree>
    <p:extLst>
      <p:ext uri="{BB962C8B-B14F-4D97-AF65-F5344CB8AC3E}">
        <p14:creationId xmlns:p14="http://schemas.microsoft.com/office/powerpoint/2010/main" val="7404029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6A41042-92A2-4C3A-BE46-EA51D373D8A1}"/>
              </a:ext>
            </a:extLst>
          </p:cNvPr>
          <p:cNvSpPr>
            <a:spLocks xmlns:a="http://schemas.openxmlformats.org/drawingml/2006/main" noGrp="1"/>
          </p:cNvSpPr>
          <p:nvPr/>
        </p:nvSpPr>
        <p:spPr>
          <a:xfrm xmlns:a="http://schemas.openxmlformats.org/drawingml/2006/main">
            <a:off x="585216" y="155448"/>
            <a:ext cx="3200400" cy="22860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860" b="0">
                <a:solidFill>
                  <a:srgbClr val="5D6775"/>
                </a:solidFill>
                <a:latin typeface="Consolas"/>
                <a:ea typeface="Consolas"/>
                <a:cs typeface="Consolas"/>
              </a:rPr>
              <a:t>REQUIREMENTS EVIDENCE</a:t>
            </a:r>
          </a:p>
        </p:txBody>
      </p:sp>
      <p:sp>
        <p:nvSpPr>
          <p:cNvPr id="3" name="TextBox 2">
            <a:extLst xmlns:a="http://schemas.openxmlformats.org/drawingml/2006/main">
              <a:ext uri="{FF2B5EF4-FFF2-40B4-BE49-F238E27FC236}">
                <a16:creationId xmlns:a16="http://schemas.microsoft.com/office/drawing/2014/main" id="{9F349BF3-861A-4C42-9FD7-BFFD151A3A1B}"/>
              </a:ext>
            </a:extLst>
          </p:cNvPr>
          <p:cNvSpPr>
            <a:spLocks xmlns:a="http://schemas.openxmlformats.org/drawingml/2006/main" noGrp="1"/>
          </p:cNvSpPr>
          <p:nvPr/>
        </p:nvSpPr>
        <p:spPr>
          <a:xfrm xmlns:a="http://schemas.openxmlformats.org/drawingml/2006/main">
            <a:off x="10561320" y="155448"/>
            <a:ext cx="685800" cy="22860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r">
              <a:buNone/>
            </a:pPr>
            <a:r>
              <a:rPr sz="860" b="0">
                <a:solidFill>
                  <a:srgbClr val="5D6775"/>
                </a:solidFill>
                <a:latin typeface="Consolas"/>
                <a:ea typeface="Consolas"/>
                <a:cs typeface="Consolas"/>
              </a:rPr>
              <a:t>§ 04C</a:t>
            </a:r>
          </a:p>
        </p:txBody>
      </p:sp>
      <p:sp>
        <p:nvSpPr>
          <p:cNvPr id="4" name="Rectangle 3">
            <a:extLst xmlns:a="http://schemas.openxmlformats.org/drawingml/2006/main">
              <a:ext uri="{FF2B5EF4-FFF2-40B4-BE49-F238E27FC236}">
                <a16:creationId xmlns:a16="http://schemas.microsoft.com/office/drawing/2014/main" id="{39ECE39B-CEF0-4E20-932E-B017AF9F458F}"/>
              </a:ext>
            </a:extLst>
          </p:cNvPr>
          <p:cNvSpPr>
            <a:spLocks xmlns:a="http://schemas.openxmlformats.org/drawingml/2006/main" noGrp="1"/>
          </p:cNvSpPr>
          <p:nvPr/>
        </p:nvSpPr>
        <p:spPr>
          <a:xfrm xmlns:a="http://schemas.openxmlformats.org/drawingml/2006/main">
            <a:off x="585216" y="457200"/>
            <a:ext cx="10826496" cy="10972"/>
          </a:xfrm>
          <a:prstGeom xmlns:a="http://schemas.openxmlformats.org/drawingml/2006/main" prst="rect">
            <a:avLst/>
          </a:prstGeom>
          <a:solidFill xmlns:a="http://schemas.openxmlformats.org/drawingml/2006/main">
            <a:srgbClr val="2435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Rectangle 4">
            <a:extLst xmlns:a="http://schemas.openxmlformats.org/drawingml/2006/main">
              <a:ext uri="{FF2B5EF4-FFF2-40B4-BE49-F238E27FC236}">
                <a16:creationId xmlns:a16="http://schemas.microsoft.com/office/drawing/2014/main" id="{1E25D89F-95DA-43A4-99DD-1991631B6043}"/>
              </a:ext>
            </a:extLst>
          </p:cNvPr>
          <p:cNvSpPr>
            <a:spLocks xmlns:a="http://schemas.openxmlformats.org/drawingml/2006/main" noGrp="1"/>
          </p:cNvSpPr>
          <p:nvPr/>
        </p:nvSpPr>
        <p:spPr>
          <a:xfrm xmlns:a="http://schemas.openxmlformats.org/drawingml/2006/main">
            <a:off x="585216" y="512064"/>
            <a:ext cx="10826496" cy="5486"/>
          </a:xfrm>
          <a:prstGeom xmlns:a="http://schemas.openxmlformats.org/drawingml/2006/main" prst="rect">
            <a:avLst/>
          </a:prstGeom>
          <a:solidFill xmlns:a="http://schemas.openxmlformats.org/drawingml/2006/main">
            <a:srgbClr val="2435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F3F6916-3D5E-4918-8450-CE108226BC2B}"/>
              </a:ext>
            </a:extLst>
          </p:cNvPr>
          <p:cNvSpPr>
            <a:spLocks xmlns:a="http://schemas.openxmlformats.org/drawingml/2006/main" noGrp="1"/>
          </p:cNvSpPr>
          <p:nvPr/>
        </p:nvSpPr>
        <p:spPr>
          <a:xfrm xmlns:a="http://schemas.openxmlformats.org/drawingml/2006/main">
            <a:off x="621792" y="694944"/>
            <a:ext cx="10607040" cy="438912"/>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2350" b="1">
                <a:solidFill>
                  <a:srgbClr val="24355B"/>
                </a:solidFill>
                <a:latin typeface="Cambria"/>
                <a:ea typeface="Cambria"/>
                <a:cs typeface="Cambria"/>
              </a:rPr>
              <a:t>The contract is attacked, not assumed</a:t>
            </a:r>
          </a:p>
        </p:txBody>
      </p:sp>
      <p:sp>
        <p:nvSpPr>
          <p:cNvPr id="7" name="TextBox 6">
            <a:extLst xmlns:a="http://schemas.openxmlformats.org/drawingml/2006/main">
              <a:ext uri="{FF2B5EF4-FFF2-40B4-BE49-F238E27FC236}">
                <a16:creationId xmlns:a16="http://schemas.microsoft.com/office/drawing/2014/main" id="{B98DC55C-8788-4BAC-B879-550DA4141738}"/>
              </a:ext>
            </a:extLst>
          </p:cNvPr>
          <p:cNvSpPr>
            <a:spLocks xmlns:a="http://schemas.openxmlformats.org/drawingml/2006/main" noGrp="1"/>
          </p:cNvSpPr>
          <p:nvPr/>
        </p:nvSpPr>
        <p:spPr>
          <a:xfrm xmlns:a="http://schemas.openxmlformats.org/drawingml/2006/main">
            <a:off x="621792" y="1152144"/>
            <a:ext cx="10515600" cy="384048"/>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1070" b="0">
                <a:solidFill>
                  <a:srgbClr val="5D6775"/>
                </a:solidFill>
                <a:latin typeface="Aptos"/>
                <a:ea typeface="Aptos"/>
                <a:cs typeface="Aptos"/>
              </a:rPr>
              <a:t>Separate proof routes test conforming execution, ablation, independence, minimality and transfer.</a:t>
            </a:r>
          </a:p>
        </p:txBody>
      </p:sp>
      <p:sp>
        <p:nvSpPr>
          <p:cNvPr id="8" name="Rectangle 7">
            <a:extLst xmlns:a="http://schemas.openxmlformats.org/drawingml/2006/main">
              <a:ext uri="{FF2B5EF4-FFF2-40B4-BE49-F238E27FC236}">
                <a16:creationId xmlns:a16="http://schemas.microsoft.com/office/drawing/2014/main" id="{A3430D22-6214-4017-9781-D4E5533ECF5A}"/>
              </a:ext>
            </a:extLst>
          </p:cNvPr>
          <p:cNvSpPr>
            <a:spLocks xmlns:a="http://schemas.openxmlformats.org/drawingml/2006/main" noGrp="1"/>
          </p:cNvSpPr>
          <p:nvPr/>
        </p:nvSpPr>
        <p:spPr>
          <a:xfrm xmlns:a="http://schemas.openxmlformats.org/drawingml/2006/main">
            <a:off x="585216" y="6446520"/>
            <a:ext cx="10826496" cy="10972"/>
          </a:xfrm>
          <a:prstGeom xmlns:a="http://schemas.openxmlformats.org/drawingml/2006/main" prst="rect">
            <a:avLst/>
          </a:prstGeom>
          <a:solidFill xmlns:a="http://schemas.openxmlformats.org/drawingml/2006/main">
            <a:srgbClr val="2435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FBBC4A6-62B2-4432-A96C-061F73367D69}"/>
              </a:ext>
            </a:extLst>
          </p:cNvPr>
          <p:cNvSpPr>
            <a:spLocks xmlns:a="http://schemas.openxmlformats.org/drawingml/2006/main" noGrp="1"/>
          </p:cNvSpPr>
          <p:nvPr/>
        </p:nvSpPr>
        <p:spPr>
          <a:xfrm xmlns:a="http://schemas.openxmlformats.org/drawingml/2006/main">
            <a:off x="566928" y="6510528"/>
            <a:ext cx="5212080" cy="18288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770" b="0">
                <a:solidFill>
                  <a:srgbClr val="5D6775"/>
                </a:solidFill>
                <a:latin typeface="Aptos"/>
                <a:ea typeface="Aptos"/>
                <a:cs typeface="Aptos"/>
              </a:rPr>
              <a:t>CORPUS ↗  00K · A15 · A16/A20 · A22 · A23 · A25/A26</a:t>
            </a:r>
          </a:p>
        </p:txBody>
      </p:sp>
      <p:sp>
        <p:nvSpPr>
          <p:cNvPr id="10" name="TextBox 9">
            <a:extLst xmlns:a="http://schemas.openxmlformats.org/drawingml/2006/main">
              <a:ext uri="{FF2B5EF4-FFF2-40B4-BE49-F238E27FC236}">
                <a16:creationId xmlns:a16="http://schemas.microsoft.com/office/drawing/2014/main" id="{B8907499-261F-4E94-A320-76EBD01C2A4C}"/>
              </a:ext>
            </a:extLst>
          </p:cNvPr>
          <p:cNvSpPr>
            <a:spLocks xmlns:a="http://schemas.openxmlformats.org/drawingml/2006/main" noGrp="1"/>
          </p:cNvSpPr>
          <p:nvPr/>
        </p:nvSpPr>
        <p:spPr>
          <a:xfrm xmlns:a="http://schemas.openxmlformats.org/drawingml/2006/main">
            <a:off x="4343400" y="6510528"/>
            <a:ext cx="3657600" cy="18288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ctr">
              <a:buNone/>
            </a:pPr>
            <a:r>
              <a:rPr sz="760" b="0">
                <a:solidFill>
                  <a:srgbClr val="5D6775"/>
                </a:solidFill>
                <a:latin typeface="Aptos"/>
                <a:ea typeface="Aptos"/>
                <a:cs typeface="Aptos"/>
              </a:rPr>
              <a:t>Ecosystem Positioning · canonical working proposal</a:t>
            </a:r>
          </a:p>
        </p:txBody>
      </p:sp>
      <p:sp>
        <p:nvSpPr>
          <p:cNvPr id="11" name="TextBox 10">
            <a:extLst xmlns:a="http://schemas.openxmlformats.org/drawingml/2006/main">
              <a:ext uri="{FF2B5EF4-FFF2-40B4-BE49-F238E27FC236}">
                <a16:creationId xmlns:a16="http://schemas.microsoft.com/office/drawing/2014/main" id="{D975609A-3A43-4863-93DE-4626D7EA705B}"/>
              </a:ext>
            </a:extLst>
          </p:cNvPr>
          <p:cNvSpPr>
            <a:spLocks xmlns:a="http://schemas.openxmlformats.org/drawingml/2006/main" noGrp="1"/>
          </p:cNvSpPr>
          <p:nvPr/>
        </p:nvSpPr>
        <p:spPr>
          <a:xfrm xmlns:a="http://schemas.openxmlformats.org/drawingml/2006/main">
            <a:off x="11018520" y="6510528"/>
            <a:ext cx="228600" cy="18288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r">
              <a:buNone/>
            </a:pPr>
            <a:r>
              <a:rPr sz="850">
                <a:solidFill>
                  <a:srgbClr val="5D6775"/>
                </a:solidFill>
                <a:latin typeface="Aptos"/>
                <a:ea typeface="Aptos"/>
                <a:cs typeface="Aptos"/>
              </a:rPr>
              <a:t>9</a:t>
            </a:r>
          </a:p>
        </p:txBody>
      </p:sp>
      <p:sp>
        <p:nvSpPr>
          <p:cNvPr id="12" name="Rounded Rectangle 11">
            <a:extLst xmlns:a="http://schemas.openxmlformats.org/drawingml/2006/main">
              <a:ext uri="{FF2B5EF4-FFF2-40B4-BE49-F238E27FC236}">
                <a16:creationId xmlns:a16="http://schemas.microsoft.com/office/drawing/2014/main" id="{DDF5802F-70B7-45AE-BFEB-3AD74A25F5C0}"/>
              </a:ext>
            </a:extLst>
          </p:cNvPr>
          <p:cNvSpPr>
            <a:spLocks xmlns:a="http://schemas.openxmlformats.org/drawingml/2006/main" noGrp="1"/>
          </p:cNvSpPr>
          <p:nvPr/>
        </p:nvSpPr>
        <p:spPr>
          <a:xfrm xmlns:a="http://schemas.openxmlformats.org/drawingml/2006/main">
            <a:off x="621792" y="1664208"/>
            <a:ext cx="5239512" cy="1673352"/>
          </a:xfrm>
          <a:prstGeom xmlns:a="http://schemas.openxmlformats.org/drawingml/2006/main" prst="roundRect">
            <a:avLst/>
          </a:prstGeom>
          <a:solidFill xmlns:a="http://schemas.openxmlformats.org/drawingml/2006/main">
            <a:srgbClr val="E8F6F5"/>
          </a:solidFill>
          <a:ln xmlns:a="http://schemas.openxmlformats.org/drawingml/2006/main" w="10160">
            <a:solidFill>
              <a:srgbClr val="D9DF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83EB2E11-8114-41D5-9189-3D425B025922}"/>
              </a:ext>
            </a:extLst>
          </p:cNvPr>
          <p:cNvSpPr>
            <a:spLocks xmlns:a="http://schemas.openxmlformats.org/drawingml/2006/main" noGrp="1"/>
          </p:cNvSpPr>
          <p:nvPr/>
        </p:nvSpPr>
        <p:spPr>
          <a:xfrm xmlns:a="http://schemas.openxmlformats.org/drawingml/2006/main">
            <a:off x="621792" y="1664208"/>
            <a:ext cx="50292" cy="1673352"/>
          </a:xfrm>
          <a:prstGeom xmlns:a="http://schemas.openxmlformats.org/drawingml/2006/main" prst="rect">
            <a:avLst/>
          </a:prstGeom>
          <a:solidFill xmlns:a="http://schemas.openxmlformats.org/drawingml/2006/main">
            <a:srgbClr val="00848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D8D2EBA9-D245-4E61-AF84-7BDB88BDA315}"/>
              </a:ext>
            </a:extLst>
          </p:cNvPr>
          <p:cNvSpPr>
            <a:spLocks xmlns:a="http://schemas.openxmlformats.org/drawingml/2006/main" noGrp="1"/>
          </p:cNvSpPr>
          <p:nvPr/>
        </p:nvSpPr>
        <p:spPr>
          <a:xfrm xmlns:a="http://schemas.openxmlformats.org/drawingml/2006/main">
            <a:off x="804672" y="1828800"/>
            <a:ext cx="658368" cy="45720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2300" b="1">
                <a:solidFill>
                  <a:srgbClr val="00848A"/>
                </a:solidFill>
                <a:latin typeface="Cambria"/>
                <a:ea typeface="Cambria"/>
                <a:cs typeface="Cambria"/>
              </a:rPr>
              <a:t>01</a:t>
            </a:r>
          </a:p>
        </p:txBody>
      </p:sp>
      <p:sp>
        <p:nvSpPr>
          <p:cNvPr id="15" name="TextBox 14">
            <a:extLst xmlns:a="http://schemas.openxmlformats.org/drawingml/2006/main">
              <a:ext uri="{FF2B5EF4-FFF2-40B4-BE49-F238E27FC236}">
                <a16:creationId xmlns:a16="http://schemas.microsoft.com/office/drawing/2014/main" id="{082E22F0-CFAC-49AE-BEE4-25C5F805D7CF}"/>
              </a:ext>
            </a:extLst>
          </p:cNvPr>
          <p:cNvSpPr>
            <a:spLocks xmlns:a="http://schemas.openxmlformats.org/drawingml/2006/main" noGrp="1"/>
          </p:cNvSpPr>
          <p:nvPr/>
        </p:nvSpPr>
        <p:spPr>
          <a:xfrm xmlns:a="http://schemas.openxmlformats.org/drawingml/2006/main">
            <a:off x="1472184" y="1847088"/>
            <a:ext cx="4187952" cy="310896"/>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940" b="1">
                <a:solidFill>
                  <a:srgbClr val="00848A"/>
                </a:solidFill>
                <a:latin typeface="Consolas"/>
                <a:ea typeface="Consolas"/>
                <a:cs typeface="Consolas"/>
              </a:rPr>
              <a:t>CONFORMING ROUTE</a:t>
            </a:r>
          </a:p>
        </p:txBody>
      </p:sp>
      <p:sp>
        <p:nvSpPr>
          <p:cNvPr id="16" name="TextBox 15">
            <a:extLst xmlns:a="http://schemas.openxmlformats.org/drawingml/2006/main">
              <a:ext uri="{FF2B5EF4-FFF2-40B4-BE49-F238E27FC236}">
                <a16:creationId xmlns:a16="http://schemas.microsoft.com/office/drawing/2014/main" id="{FCF2C0B8-EA0F-4A5D-81C0-FE7BABCA5311}"/>
              </a:ext>
            </a:extLst>
          </p:cNvPr>
          <p:cNvSpPr>
            <a:spLocks xmlns:a="http://schemas.openxmlformats.org/drawingml/2006/main" noGrp="1"/>
          </p:cNvSpPr>
          <p:nvPr/>
        </p:nvSpPr>
        <p:spPr>
          <a:xfrm xmlns:a="http://schemas.openxmlformats.org/drawingml/2006/main">
            <a:off x="822960" y="2258568"/>
            <a:ext cx="4828032" cy="923544"/>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1019" b="0">
                <a:solidFill>
                  <a:srgbClr val="1F2D3D"/>
                </a:solidFill>
                <a:latin typeface="Aptos"/>
                <a:ea typeface="Aptos"/>
                <a:cs typeface="Aptos"/>
              </a:rPr>
              <a:t>The same S1–S14 / T1–T4 contract defines a bounded Route Q across 00E–00J. Canonical conformance is tested against the underlying invariant — not only against wording.</a:t>
            </a:r>
          </a:p>
        </p:txBody>
      </p:sp>
      <p:sp>
        <p:nvSpPr>
          <p:cNvPr id="17" name="Rounded Rectangle 16">
            <a:extLst xmlns:a="http://schemas.openxmlformats.org/drawingml/2006/main">
              <a:ext uri="{FF2B5EF4-FFF2-40B4-BE49-F238E27FC236}">
                <a16:creationId xmlns:a16="http://schemas.microsoft.com/office/drawing/2014/main" id="{017EF966-0C82-4D6B-9237-84975CC31DED}"/>
              </a:ext>
            </a:extLst>
          </p:cNvPr>
          <p:cNvSpPr>
            <a:spLocks xmlns:a="http://schemas.openxmlformats.org/drawingml/2006/main" noGrp="1"/>
          </p:cNvSpPr>
          <p:nvPr/>
        </p:nvSpPr>
        <p:spPr>
          <a:xfrm xmlns:a="http://schemas.openxmlformats.org/drawingml/2006/main">
            <a:off x="6108192" y="1664208"/>
            <a:ext cx="5175504" cy="1673352"/>
          </a:xfrm>
          <a:prstGeom xmlns:a="http://schemas.openxmlformats.org/drawingml/2006/main" prst="roundRect">
            <a:avLst/>
          </a:prstGeom>
          <a:solidFill xmlns:a="http://schemas.openxmlformats.org/drawingml/2006/main">
            <a:srgbClr val="E9F2FB"/>
          </a:solidFill>
          <a:ln xmlns:a="http://schemas.openxmlformats.org/drawingml/2006/main" w="10160">
            <a:solidFill>
              <a:srgbClr val="D9DF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Rectangle 17">
            <a:extLst xmlns:a="http://schemas.openxmlformats.org/drawingml/2006/main">
              <a:ext uri="{FF2B5EF4-FFF2-40B4-BE49-F238E27FC236}">
                <a16:creationId xmlns:a16="http://schemas.microsoft.com/office/drawing/2014/main" id="{7C386AB1-9ACD-4F3C-A13A-03DA104D8008}"/>
              </a:ext>
            </a:extLst>
          </p:cNvPr>
          <p:cNvSpPr>
            <a:spLocks xmlns:a="http://schemas.openxmlformats.org/drawingml/2006/main" noGrp="1"/>
          </p:cNvSpPr>
          <p:nvPr/>
        </p:nvSpPr>
        <p:spPr>
          <a:xfrm xmlns:a="http://schemas.openxmlformats.org/drawingml/2006/main">
            <a:off x="6108192" y="1664208"/>
            <a:ext cx="50292" cy="1673352"/>
          </a:xfrm>
          <a:prstGeom xmlns:a="http://schemas.openxmlformats.org/drawingml/2006/main" prst="rect">
            <a:avLst/>
          </a:prstGeom>
          <a:solidFill xmlns:a="http://schemas.openxmlformats.org/drawingml/2006/main">
            <a:srgbClr val="2F6FB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6F91020D-1222-459F-925F-7F9D58C4EC7F}"/>
              </a:ext>
            </a:extLst>
          </p:cNvPr>
          <p:cNvSpPr>
            <a:spLocks xmlns:a="http://schemas.openxmlformats.org/drawingml/2006/main" noGrp="1"/>
          </p:cNvSpPr>
          <p:nvPr/>
        </p:nvSpPr>
        <p:spPr>
          <a:xfrm xmlns:a="http://schemas.openxmlformats.org/drawingml/2006/main">
            <a:off x="6291072" y="1828800"/>
            <a:ext cx="658368" cy="45720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2300" b="1">
                <a:solidFill>
                  <a:srgbClr val="2F6FB2"/>
                </a:solidFill>
                <a:latin typeface="Cambria"/>
                <a:ea typeface="Cambria"/>
                <a:cs typeface="Cambria"/>
              </a:rPr>
              <a:t>02</a:t>
            </a:r>
          </a:p>
        </p:txBody>
      </p:sp>
      <p:sp>
        <p:nvSpPr>
          <p:cNvPr id="20" name="TextBox 19">
            <a:extLst xmlns:a="http://schemas.openxmlformats.org/drawingml/2006/main">
              <a:ext uri="{FF2B5EF4-FFF2-40B4-BE49-F238E27FC236}">
                <a16:creationId xmlns:a16="http://schemas.microsoft.com/office/drawing/2014/main" id="{3B7D1453-A0EF-4052-85C1-8BCD2C7CEB27}"/>
              </a:ext>
            </a:extLst>
          </p:cNvPr>
          <p:cNvSpPr>
            <a:spLocks xmlns:a="http://schemas.openxmlformats.org/drawingml/2006/main" noGrp="1"/>
          </p:cNvSpPr>
          <p:nvPr/>
        </p:nvSpPr>
        <p:spPr>
          <a:xfrm xmlns:a="http://schemas.openxmlformats.org/drawingml/2006/main">
            <a:off x="6958583" y="1847088"/>
            <a:ext cx="4123944" cy="310896"/>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940" b="1">
                <a:solidFill>
                  <a:srgbClr val="2F6FB2"/>
                </a:solidFill>
                <a:latin typeface="Consolas"/>
                <a:ea typeface="Consolas"/>
                <a:cs typeface="Consolas"/>
              </a:rPr>
              <a:t>ABLATION + INDEPENDENCE</a:t>
            </a:r>
          </a:p>
        </p:txBody>
      </p:sp>
      <p:sp>
        <p:nvSpPr>
          <p:cNvPr id="21" name="TextBox 20">
            <a:extLst xmlns:a="http://schemas.openxmlformats.org/drawingml/2006/main">
              <a:ext uri="{FF2B5EF4-FFF2-40B4-BE49-F238E27FC236}">
                <a16:creationId xmlns:a16="http://schemas.microsoft.com/office/drawing/2014/main" id="{B06D6F44-49B1-42FD-BA54-B3F1712BC9FF}"/>
              </a:ext>
            </a:extLst>
          </p:cNvPr>
          <p:cNvSpPr>
            <a:spLocks xmlns:a="http://schemas.openxmlformats.org/drawingml/2006/main" noGrp="1"/>
          </p:cNvSpPr>
          <p:nvPr/>
        </p:nvSpPr>
        <p:spPr>
          <a:xfrm xmlns:a="http://schemas.openxmlformats.org/drawingml/2006/main">
            <a:off x="6309359" y="2258568"/>
            <a:ext cx="4764024" cy="923544"/>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1019" b="0">
                <a:solidFill>
                  <a:srgbClr val="1F2D3D"/>
                </a:solidFill>
                <a:latin typeface="Aptos"/>
                <a:ea typeface="Aptos"/>
                <a:cs typeface="Aptos"/>
              </a:rPr>
              <a:t>Leave-one-out / strongest-repair tests try to remove each invariant. Confounded fixtures were rejected or narrowed. Distinct countermodels show that no current invariant is implied by the other five.</a:t>
            </a:r>
          </a:p>
        </p:txBody>
      </p:sp>
      <p:sp>
        <p:nvSpPr>
          <p:cNvPr id="22" name="Rounded Rectangle 21">
            <a:extLst xmlns:a="http://schemas.openxmlformats.org/drawingml/2006/main">
              <a:ext uri="{FF2B5EF4-FFF2-40B4-BE49-F238E27FC236}">
                <a16:creationId xmlns:a16="http://schemas.microsoft.com/office/drawing/2014/main" id="{567D671F-5C47-48C4-8101-50315CA310D8}"/>
              </a:ext>
            </a:extLst>
          </p:cNvPr>
          <p:cNvSpPr>
            <a:spLocks xmlns:a="http://schemas.openxmlformats.org/drawingml/2006/main" noGrp="1"/>
          </p:cNvSpPr>
          <p:nvPr/>
        </p:nvSpPr>
        <p:spPr>
          <a:xfrm xmlns:a="http://schemas.openxmlformats.org/drawingml/2006/main">
            <a:off x="621792" y="3584448"/>
            <a:ext cx="5239512" cy="1673352"/>
          </a:xfrm>
          <a:prstGeom xmlns:a="http://schemas.openxmlformats.org/drawingml/2006/main" prst="roundRect">
            <a:avLst/>
          </a:prstGeom>
          <a:solidFill xmlns:a="http://schemas.openxmlformats.org/drawingml/2006/main">
            <a:srgbClr val="FBF1E5"/>
          </a:solidFill>
          <a:ln xmlns:a="http://schemas.openxmlformats.org/drawingml/2006/main" w="10160">
            <a:solidFill>
              <a:srgbClr val="D9DF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Rectangle 22">
            <a:extLst xmlns:a="http://schemas.openxmlformats.org/drawingml/2006/main">
              <a:ext uri="{FF2B5EF4-FFF2-40B4-BE49-F238E27FC236}">
                <a16:creationId xmlns:a16="http://schemas.microsoft.com/office/drawing/2014/main" id="{CD4FC0D0-6456-4404-935F-8F274DC40DC1}"/>
              </a:ext>
            </a:extLst>
          </p:cNvPr>
          <p:cNvSpPr>
            <a:spLocks xmlns:a="http://schemas.openxmlformats.org/drawingml/2006/main" noGrp="1"/>
          </p:cNvSpPr>
          <p:nvPr/>
        </p:nvSpPr>
        <p:spPr>
          <a:xfrm xmlns:a="http://schemas.openxmlformats.org/drawingml/2006/main">
            <a:off x="621792" y="3584448"/>
            <a:ext cx="50292" cy="1673352"/>
          </a:xfrm>
          <a:prstGeom xmlns:a="http://schemas.openxmlformats.org/drawingml/2006/main" prst="rect">
            <a:avLst/>
          </a:prstGeom>
          <a:solidFill xmlns:a="http://schemas.openxmlformats.org/drawingml/2006/main">
            <a:srgbClr val="C86E1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002B9A61-B5B2-404F-8F91-283881FA6C23}"/>
              </a:ext>
            </a:extLst>
          </p:cNvPr>
          <p:cNvSpPr>
            <a:spLocks xmlns:a="http://schemas.openxmlformats.org/drawingml/2006/main" noGrp="1"/>
          </p:cNvSpPr>
          <p:nvPr/>
        </p:nvSpPr>
        <p:spPr>
          <a:xfrm xmlns:a="http://schemas.openxmlformats.org/drawingml/2006/main">
            <a:off x="804672" y="3749039"/>
            <a:ext cx="658368" cy="45720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2300" b="1">
                <a:solidFill>
                  <a:srgbClr val="C86E14"/>
                </a:solidFill>
                <a:latin typeface="Cambria"/>
                <a:ea typeface="Cambria"/>
                <a:cs typeface="Cambria"/>
              </a:rPr>
              <a:t>03</a:t>
            </a:r>
          </a:p>
        </p:txBody>
      </p:sp>
      <p:sp>
        <p:nvSpPr>
          <p:cNvPr id="25" name="TextBox 24">
            <a:extLst xmlns:a="http://schemas.openxmlformats.org/drawingml/2006/main">
              <a:ext uri="{FF2B5EF4-FFF2-40B4-BE49-F238E27FC236}">
                <a16:creationId xmlns:a16="http://schemas.microsoft.com/office/drawing/2014/main" id="{56B2AA69-BBB0-43B2-981A-8E214F5E7087}"/>
              </a:ext>
            </a:extLst>
          </p:cNvPr>
          <p:cNvSpPr>
            <a:spLocks xmlns:a="http://schemas.openxmlformats.org/drawingml/2006/main" noGrp="1"/>
          </p:cNvSpPr>
          <p:nvPr/>
        </p:nvSpPr>
        <p:spPr>
          <a:xfrm xmlns:a="http://schemas.openxmlformats.org/drawingml/2006/main">
            <a:off x="1472184" y="3767328"/>
            <a:ext cx="4187952" cy="310896"/>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940" b="1">
                <a:solidFill>
                  <a:srgbClr val="C86E14"/>
                </a:solidFill>
                <a:latin typeface="Consolas"/>
                <a:ea typeface="Consolas"/>
                <a:cs typeface="Consolas"/>
              </a:rPr>
              <a:t>DIAGNOSTIC MINIMALITY</a:t>
            </a:r>
          </a:p>
        </p:txBody>
      </p:sp>
      <p:sp>
        <p:nvSpPr>
          <p:cNvPr id="26" name="TextBox 25">
            <a:extLst xmlns:a="http://schemas.openxmlformats.org/drawingml/2006/main">
              <a:ext uri="{FF2B5EF4-FFF2-40B4-BE49-F238E27FC236}">
                <a16:creationId xmlns:a16="http://schemas.microsoft.com/office/drawing/2014/main" id="{59CCC755-9B42-48ED-AA40-C5B356E44D5C}"/>
              </a:ext>
            </a:extLst>
          </p:cNvPr>
          <p:cNvSpPr>
            <a:spLocks xmlns:a="http://schemas.openxmlformats.org/drawingml/2006/main" noGrp="1"/>
          </p:cNvSpPr>
          <p:nvPr/>
        </p:nvSpPr>
        <p:spPr>
          <a:xfrm xmlns:a="http://schemas.openxmlformats.org/drawingml/2006/main">
            <a:off x="822960" y="4178808"/>
            <a:ext cx="4828032" cy="923544"/>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1019" b="0">
                <a:solidFill>
                  <a:srgbClr val="1F2D3D"/>
                </a:solidFill>
                <a:latin typeface="Aptos"/>
                <a:ea typeface="Aptos"/>
                <a:cs typeface="Aptos"/>
              </a:rPr>
              <a:t>All 64 pass/fail signatures are realizable on the shared substrate. A lossless Boolean diagnostic basis therefore needs at least six coordinates; this is a bounded minimality result, not universal minimality.</a:t>
            </a:r>
          </a:p>
        </p:txBody>
      </p:sp>
      <p:sp>
        <p:nvSpPr>
          <p:cNvPr id="27" name="Rounded Rectangle 26">
            <a:extLst xmlns:a="http://schemas.openxmlformats.org/drawingml/2006/main">
              <a:ext uri="{FF2B5EF4-FFF2-40B4-BE49-F238E27FC236}">
                <a16:creationId xmlns:a16="http://schemas.microsoft.com/office/drawing/2014/main" id="{A5AA60FB-53CB-4812-B590-AC909B3D9EE2}"/>
              </a:ext>
            </a:extLst>
          </p:cNvPr>
          <p:cNvSpPr>
            <a:spLocks xmlns:a="http://schemas.openxmlformats.org/drawingml/2006/main" noGrp="1"/>
          </p:cNvSpPr>
          <p:nvPr/>
        </p:nvSpPr>
        <p:spPr>
          <a:xfrm xmlns:a="http://schemas.openxmlformats.org/drawingml/2006/main">
            <a:off x="6108192" y="3584448"/>
            <a:ext cx="5175504" cy="1673352"/>
          </a:xfrm>
          <a:prstGeom xmlns:a="http://schemas.openxmlformats.org/drawingml/2006/main" prst="roundRect">
            <a:avLst/>
          </a:prstGeom>
          <a:solidFill xmlns:a="http://schemas.openxmlformats.org/drawingml/2006/main">
            <a:srgbClr val="F6F8FB"/>
          </a:solidFill>
          <a:ln xmlns:a="http://schemas.openxmlformats.org/drawingml/2006/main" w="10160">
            <a:solidFill>
              <a:srgbClr val="D9DF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Rectangle 27">
            <a:extLst xmlns:a="http://schemas.openxmlformats.org/drawingml/2006/main">
              <a:ext uri="{FF2B5EF4-FFF2-40B4-BE49-F238E27FC236}">
                <a16:creationId xmlns:a16="http://schemas.microsoft.com/office/drawing/2014/main" id="{ABDDEFC8-BB08-41D2-B095-29F00E495088}"/>
              </a:ext>
            </a:extLst>
          </p:cNvPr>
          <p:cNvSpPr>
            <a:spLocks xmlns:a="http://schemas.openxmlformats.org/drawingml/2006/main" noGrp="1"/>
          </p:cNvSpPr>
          <p:nvPr/>
        </p:nvSpPr>
        <p:spPr>
          <a:xfrm xmlns:a="http://schemas.openxmlformats.org/drawingml/2006/main">
            <a:off x="6108192" y="3584448"/>
            <a:ext cx="50292" cy="1673352"/>
          </a:xfrm>
          <a:prstGeom xmlns:a="http://schemas.openxmlformats.org/drawingml/2006/main" prst="rect">
            <a:avLst/>
          </a:prstGeom>
          <a:solidFill xmlns:a="http://schemas.openxmlformats.org/drawingml/2006/main">
            <a:srgbClr val="2435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ACCB8061-1B23-43E9-86E3-414627CFCCBC}"/>
              </a:ext>
            </a:extLst>
          </p:cNvPr>
          <p:cNvSpPr>
            <a:spLocks xmlns:a="http://schemas.openxmlformats.org/drawingml/2006/main" noGrp="1"/>
          </p:cNvSpPr>
          <p:nvPr/>
        </p:nvSpPr>
        <p:spPr>
          <a:xfrm xmlns:a="http://schemas.openxmlformats.org/drawingml/2006/main">
            <a:off x="6291072" y="3749039"/>
            <a:ext cx="658368" cy="45720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2300" b="1">
                <a:solidFill>
                  <a:srgbClr val="24355B"/>
                </a:solidFill>
                <a:latin typeface="Cambria"/>
                <a:ea typeface="Cambria"/>
                <a:cs typeface="Cambria"/>
              </a:rPr>
              <a:t>04</a:t>
            </a:r>
          </a:p>
        </p:txBody>
      </p:sp>
      <p:sp>
        <p:nvSpPr>
          <p:cNvPr id="30" name="TextBox 29">
            <a:extLst xmlns:a="http://schemas.openxmlformats.org/drawingml/2006/main">
              <a:ext uri="{FF2B5EF4-FFF2-40B4-BE49-F238E27FC236}">
                <a16:creationId xmlns:a16="http://schemas.microsoft.com/office/drawing/2014/main" id="{851EF9BA-16BF-4116-B36E-1E2830C1A482}"/>
              </a:ext>
            </a:extLst>
          </p:cNvPr>
          <p:cNvSpPr>
            <a:spLocks xmlns:a="http://schemas.openxmlformats.org/drawingml/2006/main" noGrp="1"/>
          </p:cNvSpPr>
          <p:nvPr/>
        </p:nvSpPr>
        <p:spPr>
          <a:xfrm xmlns:a="http://schemas.openxmlformats.org/drawingml/2006/main">
            <a:off x="6958583" y="3767328"/>
            <a:ext cx="4123944" cy="310896"/>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940" b="1">
                <a:solidFill>
                  <a:srgbClr val="24355B"/>
                </a:solidFill>
                <a:latin typeface="Consolas"/>
                <a:ea typeface="Consolas"/>
                <a:cs typeface="Consolas"/>
              </a:rPr>
              <a:t>EXTENSIBILITY</a:t>
            </a:r>
          </a:p>
        </p:txBody>
      </p:sp>
      <p:sp>
        <p:nvSpPr>
          <p:cNvPr id="31" name="TextBox 30">
            <a:extLst xmlns:a="http://schemas.openxmlformats.org/drawingml/2006/main">
              <a:ext uri="{FF2B5EF4-FFF2-40B4-BE49-F238E27FC236}">
                <a16:creationId xmlns:a16="http://schemas.microsoft.com/office/drawing/2014/main" id="{F09BFB5A-BE25-4FAB-9215-E05F6F2D2DAA}"/>
              </a:ext>
            </a:extLst>
          </p:cNvPr>
          <p:cNvSpPr>
            <a:spLocks xmlns:a="http://schemas.openxmlformats.org/drawingml/2006/main" noGrp="1"/>
          </p:cNvSpPr>
          <p:nvPr/>
        </p:nvSpPr>
        <p:spPr>
          <a:xfrm xmlns:a="http://schemas.openxmlformats.org/drawingml/2006/main">
            <a:off x="6309359" y="4178808"/>
            <a:ext cx="4764024" cy="923544"/>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1019" b="0">
                <a:solidFill>
                  <a:srgbClr val="1F2D3D"/>
                </a:solidFill>
                <a:latin typeface="Aptos"/>
                <a:ea typeface="Aptos"/>
                <a:cs typeface="Aptos"/>
              </a:rPr>
              <a:t>The same successful route can move DOWN, UP or HORIZONTAL when the structural kernel is preserved. A new local requirement is not allowed; a genuine new primitive becomes Requirements-vNext evidence.</a:t>
            </a:r>
          </a:p>
        </p:txBody>
      </p:sp>
      <p:sp>
        <p:nvSpPr>
          <p:cNvPr id="32" name="Rounded Rectangle 31">
            <a:extLst xmlns:a="http://schemas.openxmlformats.org/drawingml/2006/main">
              <a:ext uri="{FF2B5EF4-FFF2-40B4-BE49-F238E27FC236}">
                <a16:creationId xmlns:a16="http://schemas.microsoft.com/office/drawing/2014/main" id="{B5985602-C812-4DDC-A7ED-F3A57DA30E10}"/>
              </a:ext>
            </a:extLst>
          </p:cNvPr>
          <p:cNvSpPr>
            <a:spLocks xmlns:a="http://schemas.openxmlformats.org/drawingml/2006/main" noGrp="1"/>
          </p:cNvSpPr>
          <p:nvPr/>
        </p:nvSpPr>
        <p:spPr>
          <a:xfrm xmlns:a="http://schemas.openxmlformats.org/drawingml/2006/main">
            <a:off x="621792" y="5486400"/>
            <a:ext cx="10661904" cy="667512"/>
          </a:xfrm>
          <a:prstGeom xmlns:a="http://schemas.openxmlformats.org/drawingml/2006/main" prst="roundRect">
            <a:avLst/>
          </a:prstGeom>
          <a:solidFill xmlns:a="http://schemas.openxmlformats.org/drawingml/2006/main">
            <a:srgbClr val="24355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D081DCDB-DD4A-433D-B5EA-2830E691D276}"/>
              </a:ext>
            </a:extLst>
          </p:cNvPr>
          <p:cNvSpPr>
            <a:spLocks xmlns:a="http://schemas.openxmlformats.org/drawingml/2006/main" noGrp="1"/>
          </p:cNvSpPr>
          <p:nvPr/>
        </p:nvSpPr>
        <p:spPr>
          <a:xfrm xmlns:a="http://schemas.openxmlformats.org/drawingml/2006/main">
            <a:off x="841248" y="5632704"/>
            <a:ext cx="2286000" cy="219456"/>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919" b="1">
                <a:solidFill>
                  <a:srgbClr val="FFFFFF"/>
                </a:solidFill>
                <a:latin typeface="Consolas"/>
                <a:ea typeface="Consolas"/>
                <a:cs typeface="Consolas"/>
              </a:rPr>
              <a:t>CURRENT INTEGRATED CHECK</a:t>
            </a:r>
          </a:p>
        </p:txBody>
      </p:sp>
      <p:sp>
        <p:nvSpPr>
          <p:cNvPr id="34" name="TextBox 33">
            <a:extLst xmlns:a="http://schemas.openxmlformats.org/drawingml/2006/main">
              <a:ext uri="{FF2B5EF4-FFF2-40B4-BE49-F238E27FC236}">
                <a16:creationId xmlns:a16="http://schemas.microsoft.com/office/drawing/2014/main" id="{772667A3-CCDD-42E7-A79B-9FE0AF34AD2C}"/>
              </a:ext>
            </a:extLst>
          </p:cNvPr>
          <p:cNvSpPr>
            <a:spLocks xmlns:a="http://schemas.openxmlformats.org/drawingml/2006/main" noGrp="1"/>
          </p:cNvSpPr>
          <p:nvPr/>
        </p:nvSpPr>
        <p:spPr>
          <a:xfrm xmlns:a="http://schemas.openxmlformats.org/drawingml/2006/main">
            <a:off x="3063240" y="5596128"/>
            <a:ext cx="7955279" cy="32004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1010" b="1">
                <a:solidFill>
                  <a:srgbClr val="FFFFFF"/>
                </a:solidFill>
                <a:latin typeface="Aptos"/>
                <a:ea typeface="Aptos"/>
                <a:cs typeface="Aptos"/>
              </a:rPr>
              <a:t>379/379 symbolic campaign  ·  full-cube minimality  ·  conformance sufficiency  ·  closure  ·  case-extensibility registry</a:t>
            </a:r>
          </a:p>
        </p:txBody>
      </p:sp>
      <p:sp>
        <p:nvSpPr>
          <p:cNvPr id="35" name="TextBox 34">
            <a:extLst xmlns:a="http://schemas.openxmlformats.org/drawingml/2006/main">
              <a:ext uri="{FF2B5EF4-FFF2-40B4-BE49-F238E27FC236}">
                <a16:creationId xmlns:a16="http://schemas.microsoft.com/office/drawing/2014/main" id="{1FB5E13F-CDCF-426E-99A0-4992ABD3989F}"/>
              </a:ext>
            </a:extLst>
          </p:cNvPr>
          <p:cNvSpPr>
            <a:spLocks xmlns:a="http://schemas.openxmlformats.org/drawingml/2006/main" noGrp="1"/>
          </p:cNvSpPr>
          <p:nvPr/>
        </p:nvSpPr>
        <p:spPr>
          <a:xfrm xmlns:a="http://schemas.openxmlformats.org/drawingml/2006/main">
            <a:off x="667512" y="6199632"/>
            <a:ext cx="10607040" cy="182880"/>
          </a:xfrm>
          <a:prstGeom xmlns:a="http://schemas.openxmlformats.org/drawingml/2006/main" prst="rect">
            <a:avLst/>
          </a:prstGeom>
          <a:noFill xmlns:a="http://schemas.openxmlformats.org/drawingml/2006/main"/>
        </p:spPr>
        <p:txBody>
          <a:bodyPr xmlns:a="http://schemas.openxmlformats.org/drawingml/2006/main" wrap="square" anchor="t">
            <a:spAutoFit/>
          </a:bodyPr>
          <a:lstStyle xmlns:a="http://schemas.openxmlformats.org/drawingml/2006/main"/>
          <a:p xmlns:a="http://schemas.openxmlformats.org/drawingml/2006/main">
            <a:pPr algn="l">
              <a:buNone/>
            </a:pPr>
            <a:r>
              <a:rPr sz="810" b="0">
                <a:solidFill>
                  <a:srgbClr val="5D6775"/>
                </a:solidFill>
                <a:latin typeface="Aptos"/>
                <a:ea typeface="Aptos"/>
                <a:cs typeface="Aptos"/>
              </a:rPr>
              <a:t>Bounded evidence: formal / deterministic fixtures. Not a claim of universal minimality, production superiority or standards adoption.</a:t>
            </a:r>
          </a:p>
        </p:txBody>
      </p:sp>
    </p:spTree>
    <p:extLst>
      <p:ext uri="{BB962C8B-B14F-4D97-AF65-F5344CB8AC3E}">
        <p14:creationId xmlns:p14="http://schemas.microsoft.com/office/powerpoint/2010/main" val="585936880"/>
      </p:ext>
    </p:extLst>
  </p:cSld>
</p:sld>
</file>

<file path=ppt/slides/slide10.xml><?xml version="1.0" encoding="utf-8"?>
<p:sld xmlns:p="http://schemas.openxmlformats.org/presentationml/2006/main">
  <p:cSld>
    <p:bg>
      <p:bgPr>
        <a:solidFill xmlns:a="http://schemas.openxmlformats.org/drawingml/2006/main">
          <a:srgbClr val="102D5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322B81-26FC-440F-96F4-118EF49880A0}"/>
              </a:ext>
            </a:extLst>
          </p:cNvPr>
          <p:cNvSpPr>
            <a:spLocks xmlns:a="http://schemas.openxmlformats.org/drawingml/2006/main" noGrp="1"/>
          </p:cNvSpPr>
          <p:nvPr/>
        </p:nvSpPr>
        <p:spPr>
          <a:xfrm xmlns:a="http://schemas.openxmlformats.org/drawingml/2006/main">
            <a:off x="685800" y="320040"/>
            <a:ext cx="5029200" cy="32004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1600">
                <a:solidFill>
                  <a:srgbClr val="D2DEEB"/>
                </a:solidFill>
                <a:latin typeface="Aptos"/>
                <a:ea typeface="Aptos"/>
                <a:cs typeface="Aptos"/>
              </a:rPr>
              <a:t>ARCHITECTURAL DIFFERENTIAL</a:t>
            </a:r>
          </a:p>
        </p:txBody>
      </p:sp>
      <p:sp>
        <p:nvSpPr>
          <p:cNvPr id="3" name="TextBox 2">
            <a:extLst xmlns:a="http://schemas.openxmlformats.org/drawingml/2006/main">
              <a:ext uri="{FF2B5EF4-FFF2-40B4-BE49-F238E27FC236}">
                <a16:creationId xmlns:a16="http://schemas.microsoft.com/office/drawing/2014/main" id="{2F90581E-14E3-4FBE-BBE0-9133B2C3DE99}"/>
              </a:ext>
            </a:extLst>
          </p:cNvPr>
          <p:cNvSpPr>
            <a:spLocks xmlns:a="http://schemas.openxmlformats.org/drawingml/2006/main" noGrp="1"/>
          </p:cNvSpPr>
          <p:nvPr/>
        </p:nvSpPr>
        <p:spPr>
          <a:xfrm xmlns:a="http://schemas.openxmlformats.org/drawingml/2006/main">
            <a:off x="10972800" y="320040"/>
            <a:ext cx="731520" cy="32004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pPr algn="r">
              <a:buNone/>
            </a:pPr>
            <a:r>
              <a:rPr sz="1400">
                <a:solidFill>
                  <a:srgbClr val="D2DEEB"/>
                </a:solidFill>
                <a:latin typeface="Aptos"/>
                <a:ea typeface="Aptos"/>
                <a:cs typeface="Aptos"/>
              </a:rPr>
              <a:t>§ B</a:t>
            </a:r>
          </a:p>
        </p:txBody>
      </p:sp>
      <p:sp>
        <p:nvSpPr>
          <p:cNvPr id="4" name="Rectangle 3">
            <a:extLst xmlns:a="http://schemas.openxmlformats.org/drawingml/2006/main">
              <a:ext uri="{FF2B5EF4-FFF2-40B4-BE49-F238E27FC236}">
                <a16:creationId xmlns:a16="http://schemas.microsoft.com/office/drawing/2014/main" id="{3CCD04D4-884A-4F90-AF9D-394291ABF012}"/>
              </a:ext>
            </a:extLst>
          </p:cNvPr>
          <p:cNvSpPr>
            <a:spLocks xmlns:a="http://schemas.openxmlformats.org/drawingml/2006/main" noGrp="1"/>
          </p:cNvSpPr>
          <p:nvPr/>
        </p:nvSpPr>
        <p:spPr>
          <a:xfrm xmlns:a="http://schemas.openxmlformats.org/drawingml/2006/main">
            <a:off x="685800" y="713232"/>
            <a:ext cx="10972800" cy="13716"/>
          </a:xfrm>
          <a:prstGeom xmlns:a="http://schemas.openxmlformats.org/drawingml/2006/main" prst="rect">
            <a:avLst/>
          </a:prstGeom>
          <a:solidFill xmlns:a="http://schemas.openxmlformats.org/drawingml/2006/main">
            <a:srgbClr val="D2DEE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Rectangle 4">
            <a:extLst xmlns:a="http://schemas.openxmlformats.org/drawingml/2006/main">
              <a:ext uri="{FF2B5EF4-FFF2-40B4-BE49-F238E27FC236}">
                <a16:creationId xmlns:a16="http://schemas.microsoft.com/office/drawing/2014/main" id="{F2AF1388-3426-49A1-BC56-CFC30F05BDF9}"/>
              </a:ext>
            </a:extLst>
          </p:cNvPr>
          <p:cNvSpPr>
            <a:spLocks xmlns:a="http://schemas.openxmlformats.org/drawingml/2006/main" noGrp="1"/>
          </p:cNvSpPr>
          <p:nvPr/>
        </p:nvSpPr>
        <p:spPr>
          <a:xfrm xmlns:a="http://schemas.openxmlformats.org/drawingml/2006/main">
            <a:off x="685800" y="822960"/>
            <a:ext cx="10972800" cy="13716"/>
          </a:xfrm>
          <a:prstGeom xmlns:a="http://schemas.openxmlformats.org/drawingml/2006/main" prst="rect">
            <a:avLst/>
          </a:prstGeom>
          <a:solidFill xmlns:a="http://schemas.openxmlformats.org/drawingml/2006/main">
            <a:srgbClr val="148A96"/>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4C46CC3-187E-42DE-B844-5388EEFAA4C1}"/>
              </a:ext>
            </a:extLst>
          </p:cNvPr>
          <p:cNvSpPr>
            <a:spLocks xmlns:a="http://schemas.openxmlformats.org/drawingml/2006/main" noGrp="1"/>
          </p:cNvSpPr>
          <p:nvPr/>
        </p:nvSpPr>
        <p:spPr>
          <a:xfrm xmlns:a="http://schemas.openxmlformats.org/drawingml/2006/main">
            <a:off x="685800" y="1965960"/>
            <a:ext cx="10972800" cy="91440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3000" b="1">
                <a:solidFill>
                  <a:srgbClr val="FFFFFF"/>
                </a:solidFill>
                <a:latin typeface="Aptos Display"/>
                <a:ea typeface="Aptos Display"/>
                <a:cs typeface="Aptos Display"/>
                <a:hlinkClick xmlns:r="http://schemas.openxmlformats.org/officeDocument/2006/relationships" r:id="Rc010c47372494748"/>
              </a:rPr>
              <a:t>Architectural Differential</a:t>
            </a:r>
          </a:p>
        </p:txBody>
      </p:sp>
      <p:sp>
        <p:nvSpPr>
          <p:cNvPr id="7" name="TextBox 6">
            <a:extLst xmlns:a="http://schemas.openxmlformats.org/drawingml/2006/main">
              <a:ext uri="{FF2B5EF4-FFF2-40B4-BE49-F238E27FC236}">
                <a16:creationId xmlns:a16="http://schemas.microsoft.com/office/drawing/2014/main" id="{E09F43E2-47AB-4137-B60D-B86929DC8418}"/>
              </a:ext>
            </a:extLst>
          </p:cNvPr>
          <p:cNvSpPr>
            <a:spLocks xmlns:a="http://schemas.openxmlformats.org/drawingml/2006/main" noGrp="1"/>
          </p:cNvSpPr>
          <p:nvPr/>
        </p:nvSpPr>
        <p:spPr>
          <a:xfrm xmlns:a="http://schemas.openxmlformats.org/drawingml/2006/main">
            <a:off x="685800" y="2743200"/>
            <a:ext cx="10515600" cy="10972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600">
                <a:solidFill>
                  <a:srgbClr val="D2DEEB"/>
                </a:solidFill>
                <a:latin typeface="Aptos"/>
                <a:ea typeface="Aptos"/>
                <a:cs typeface="Aptos"/>
              </a:rPr>
              <a:t>How the positioning architecture differs from the current reference baseline and why that difference matters.</a:t>
            </a:r>
          </a:p>
        </p:txBody>
      </p:sp>
      <p:sp>
        <p:nvSpPr>
          <p:cNvPr id="8" name="TextBox 7">
            <a:extLst xmlns:a="http://schemas.openxmlformats.org/drawingml/2006/main">
              <a:ext uri="{FF2B5EF4-FFF2-40B4-BE49-F238E27FC236}">
                <a16:creationId xmlns:a16="http://schemas.microsoft.com/office/drawing/2014/main" id="{97ABFDFA-9CCA-488F-A3BA-00DD599C961B}"/>
              </a:ext>
            </a:extLst>
          </p:cNvPr>
          <p:cNvSpPr>
            <a:spLocks xmlns:a="http://schemas.openxmlformats.org/drawingml/2006/main" noGrp="1"/>
          </p:cNvSpPr>
          <p:nvPr/>
        </p:nvSpPr>
        <p:spPr>
          <a:xfrm xmlns:a="http://schemas.openxmlformats.org/drawingml/2006/main">
            <a:off x="4389120" y="6400800"/>
            <a:ext cx="3474720" cy="274320"/>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pPr algn="ctr">
              <a:buNone/>
            </a:pPr>
            <a:r>
              <a:rPr sz="1000">
                <a:solidFill>
                  <a:srgbClr val="D2DEEB"/>
                </a:solidFill>
                <a:latin typeface="Aptos"/>
                <a:ea typeface="Aptos"/>
                <a:cs typeface="Aptos"/>
              </a:rPr>
              <a:t>Ecosystem Awareness · Positioning architecture</a:t>
            </a:r>
          </a:p>
        </p:txBody>
      </p:sp>
      <p:sp>
        <p:nvSpPr>
          <p:cNvPr id="9" name="TextBox 8">
            <a:extLst xmlns:a="http://schemas.openxmlformats.org/drawingml/2006/main">
              <a:ext uri="{FF2B5EF4-FFF2-40B4-BE49-F238E27FC236}">
                <a16:creationId xmlns:a16="http://schemas.microsoft.com/office/drawing/2014/main" id="{B5CA4E1E-0661-4E60-A251-B342CADCED5D}"/>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2b6dfac1ee9e4ac6"/>
              </a:rPr>
              <a:t>Benchmark vNext · architectural differential</a:t>
            </a:r>
          </a:p>
        </p:txBody>
      </p:sp>
    </p:spTree>
    <p:extLst>
      <p:ext uri="{BB962C8B-B14F-4D97-AF65-F5344CB8AC3E}">
        <p14:creationId xmlns:p14="http://schemas.microsoft.com/office/powerpoint/2010/main" val="145412527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2BA010BC-EE87-4639-94DC-04B85D4B1A29}"/>
              </a:ext>
            </a:extLst>
          </p:cNvPr>
          <p:cNvSpPr>
            <a:spLocks xmlns:a="http://schemas.openxmlformats.org/drawingml/2006/main" noGrp="1"/>
          </p:cNvSpPr>
          <p:nvPr/>
        </p:nvSpPr>
        <p:spPr>
          <a:xfrm xmlns:a="http://schemas.openxmlformats.org/drawingml/2006/main">
            <a:off x="566928" y="164592"/>
            <a:ext cx="3200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0" i="0" u="none">
                <a:solidFill>
                  <a:srgbClr val="1F2D3D"/>
                </a:solidFill>
                <a:latin typeface="Consolas"/>
                <a:ea typeface="Consolas"/>
                <a:cs typeface="Consolas"/>
              </a:rPr>
              <a:t>BENCHMARK CONTEXT</a:t>
            </a:r>
          </a:p>
        </p:txBody>
      </p:sp>
      <p:sp>
        <p:nvSpPr>
          <p:cNvPr id="3" name="TextBox 2">
            <a:extLst xmlns:a="http://schemas.openxmlformats.org/drawingml/2006/main">
              <a:ext uri="{FF2B5EF4-FFF2-40B4-BE49-F238E27FC236}">
                <a16:creationId xmlns:a16="http://schemas.microsoft.com/office/drawing/2014/main" id="{DA7E9206-24AC-4C0A-B49E-1BC8E716FAD7}"/>
              </a:ext>
            </a:extLst>
          </p:cNvPr>
          <p:cNvSpPr>
            <a:spLocks xmlns:a="http://schemas.openxmlformats.org/drawingml/2006/main" noGrp="1"/>
          </p:cNvSpPr>
          <p:nvPr/>
        </p:nvSpPr>
        <p:spPr>
          <a:xfrm xmlns:a="http://schemas.openxmlformats.org/drawingml/2006/main">
            <a:off x="10716768" y="164592"/>
            <a:ext cx="685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50" b="0" i="0" u="none">
                <a:solidFill>
                  <a:srgbClr val="1F2D3D"/>
                </a:solidFill>
                <a:latin typeface="Consolas"/>
                <a:ea typeface="Consolas"/>
                <a:cs typeface="Consolas"/>
              </a:rPr>
              <a:t>§ B1</a:t>
            </a:r>
          </a:p>
        </p:txBody>
      </p:sp>
      <p:sp>
        <p:nvSpPr>
          <p:cNvPr id="4" name="TextBox 3">
            <a:extLst xmlns:a="http://schemas.openxmlformats.org/drawingml/2006/main">
              <a:ext uri="{FF2B5EF4-FFF2-40B4-BE49-F238E27FC236}">
                <a16:creationId xmlns:a16="http://schemas.microsoft.com/office/drawing/2014/main" id="{202F9BB3-62A8-46FB-944A-30A6CE587A97}"/>
              </a:ext>
            </a:extLst>
          </p:cNvPr>
          <p:cNvSpPr>
            <a:spLocks xmlns:a="http://schemas.openxmlformats.org/drawingml/2006/main" noGrp="1"/>
          </p:cNvSpPr>
          <p:nvPr/>
        </p:nvSpPr>
        <p:spPr>
          <a:xfrm xmlns:a="http://schemas.openxmlformats.org/drawingml/2006/main">
            <a:off x="566928" y="640080"/>
            <a:ext cx="1051560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2350" b="1" i="0" u="none">
                <a:solidFill>
                  <a:srgbClr val="24355B"/>
                </a:solidFill>
                <a:latin typeface="Cambria"/>
                <a:ea typeface="Cambria"/>
                <a:cs typeface="Cambria"/>
              </a:rPr>
              <a:t>Current standards already define the boundary</a:t>
            </a:r>
          </a:p>
        </p:txBody>
      </p:sp>
      <p:sp>
        <p:nvSpPr>
          <p:cNvPr id="5" name="TextBox 4">
            <a:extLst xmlns:a="http://schemas.openxmlformats.org/drawingml/2006/main">
              <a:ext uri="{FF2B5EF4-FFF2-40B4-BE49-F238E27FC236}">
                <a16:creationId xmlns:a16="http://schemas.microsoft.com/office/drawing/2014/main" id="{9921A054-3A33-4FC8-85B6-EF17FFECFD95}"/>
              </a:ext>
            </a:extLst>
          </p:cNvPr>
          <p:cNvSpPr>
            <a:spLocks xmlns:a="http://schemas.openxmlformats.org/drawingml/2006/main" noGrp="1"/>
          </p:cNvSpPr>
          <p:nvPr/>
        </p:nvSpPr>
        <p:spPr>
          <a:xfrm xmlns:a="http://schemas.openxmlformats.org/drawingml/2006/main">
            <a:off x="566928" y="1078992"/>
            <a:ext cx="105156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80">
                <a:solidFill>
                  <a:srgbClr val="5D6775"/>
                </a:solidFill>
                <a:latin typeface="Aptos"/>
                <a:ea typeface="Aptos"/>
                <a:cs typeface="Aptos"/>
              </a:rPr>
              <a:t>The benchmark credits existing primitives at full strength — then tests the composition and requalification obligations that remain outside their stated scope.</a:t>
            </a:r>
          </a:p>
        </p:txBody>
      </p:sp>
      <p:sp>
        <p:nvSpPr>
          <p:cNvPr id="6" name="Rectangle 5">
            <a:extLst xmlns:a="http://schemas.openxmlformats.org/drawingml/2006/main">
              <a:ext uri="{FF2B5EF4-FFF2-40B4-BE49-F238E27FC236}">
                <a16:creationId xmlns:a16="http://schemas.microsoft.com/office/drawing/2014/main" id="{F3960036-B252-44F9-8FEE-9443EBBA41C1}"/>
              </a:ext>
            </a:extLst>
          </p:cNvPr>
          <p:cNvSpPr>
            <a:spLocks xmlns:a="http://schemas.openxmlformats.org/drawingml/2006/main" noGrp="1"/>
          </p:cNvSpPr>
          <p:nvPr/>
        </p:nvSpPr>
        <p:spPr>
          <a:xfrm xmlns:a="http://schemas.openxmlformats.org/drawingml/2006/main">
            <a:off x="566928" y="457200"/>
            <a:ext cx="10835640" cy="10972"/>
          </a:xfrm>
          <a:prstGeom xmlns:a="http://schemas.openxmlformats.org/drawingml/2006/main" prst="rect">
            <a:avLst/>
          </a:prstGeom>
          <a:solidFill xmlns:a="http://schemas.openxmlformats.org/drawingml/2006/main">
            <a:srgbClr val="24355B"/>
          </a:solidFill>
          <a:ln xmlns:a="http://schemas.openxmlformats.org/drawingml/2006/main">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ounded Rectangle 6">
            <a:extLst xmlns:a="http://schemas.openxmlformats.org/drawingml/2006/main">
              <a:ext uri="{FF2B5EF4-FFF2-40B4-BE49-F238E27FC236}">
                <a16:creationId xmlns:a16="http://schemas.microsoft.com/office/drawing/2014/main" id="{E9E13116-7555-4979-8AD7-908369E8A758}"/>
              </a:ext>
            </a:extLst>
          </p:cNvPr>
          <p:cNvSpPr>
            <a:spLocks xmlns:a="http://schemas.openxmlformats.org/drawingml/2006/main" noGrp="1"/>
          </p:cNvSpPr>
          <p:nvPr/>
        </p:nvSpPr>
        <p:spPr>
          <a:xfrm xmlns:a="http://schemas.openxmlformats.org/drawingml/2006/main">
            <a:off x="566928" y="1572768"/>
            <a:ext cx="5257800" cy="141732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Rectangle 7">
            <a:extLst xmlns:a="http://schemas.openxmlformats.org/drawingml/2006/main">
              <a:ext uri="{FF2B5EF4-FFF2-40B4-BE49-F238E27FC236}">
                <a16:creationId xmlns:a16="http://schemas.microsoft.com/office/drawing/2014/main" id="{E0D2D72A-9AA3-4E1C-91E6-F195FCD120C8}"/>
              </a:ext>
            </a:extLst>
          </p:cNvPr>
          <p:cNvSpPr>
            <a:spLocks xmlns:a="http://schemas.openxmlformats.org/drawingml/2006/main" noGrp="1"/>
          </p:cNvSpPr>
          <p:nvPr/>
        </p:nvSpPr>
        <p:spPr>
          <a:xfrm xmlns:a="http://schemas.openxmlformats.org/drawingml/2006/main">
            <a:off x="566928" y="1572768"/>
            <a:ext cx="50292" cy="1417320"/>
          </a:xfrm>
          <a:prstGeom xmlns:a="http://schemas.openxmlformats.org/drawingml/2006/main" prst="rect">
            <a:avLst/>
          </a:prstGeom>
          <a:solidFill xmlns:a="http://schemas.openxmlformats.org/drawingml/2006/main">
            <a:srgbClr val="2F6FB2"/>
          </a:solidFill>
          <a:ln xmlns:a="http://schemas.openxmlformats.org/drawingml/2006/main">
            <a:solidFill>
              <a:srgbClr val="2F6FB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4148E3A-DF9F-4F1B-80EB-630F310DE13A}"/>
              </a:ext>
            </a:extLst>
          </p:cNvPr>
          <p:cNvSpPr>
            <a:spLocks xmlns:a="http://schemas.openxmlformats.org/drawingml/2006/main" noGrp="1"/>
          </p:cNvSpPr>
          <p:nvPr/>
        </p:nvSpPr>
        <p:spPr>
          <a:xfrm xmlns:a="http://schemas.openxmlformats.org/drawingml/2006/main">
            <a:off x="713232" y="1700784"/>
            <a:ext cx="4983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250" b="1" i="0" u="none">
                <a:solidFill>
                  <a:srgbClr val="24355B"/>
                </a:solidFill>
                <a:latin typeface="Cambria"/>
                <a:ea typeface="Cambria"/>
                <a:cs typeface="Cambria"/>
              </a:rPr>
              <a:t>SPIFFE / SPIRE — workload identity</a:t>
            </a:r>
          </a:p>
        </p:txBody>
      </p:sp>
      <p:sp>
        <p:nvSpPr>
          <p:cNvPr id="10" name="TextBox 9">
            <a:extLst xmlns:a="http://schemas.openxmlformats.org/drawingml/2006/main">
              <a:ext uri="{FF2B5EF4-FFF2-40B4-BE49-F238E27FC236}">
                <a16:creationId xmlns:a16="http://schemas.microsoft.com/office/drawing/2014/main" id="{9EE9CEC2-A677-4222-9FA4-11A20C3E8BD9}"/>
              </a:ext>
            </a:extLst>
          </p:cNvPr>
          <p:cNvSpPr>
            <a:spLocks xmlns:a="http://schemas.openxmlformats.org/drawingml/2006/main" noGrp="1"/>
          </p:cNvSpPr>
          <p:nvPr/>
        </p:nvSpPr>
        <p:spPr>
          <a:xfrm xmlns:a="http://schemas.openxmlformats.org/drawingml/2006/main">
            <a:off x="713232" y="2011680"/>
            <a:ext cx="4983480"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60" b="0" i="0" u="none">
                <a:solidFill>
                  <a:srgbClr val="1F2D3D"/>
                </a:solidFill>
                <a:latin typeface="Calibri"/>
                <a:ea typeface="Calibri"/>
                <a:cs typeface="Calibri"/>
              </a:rPr>
              <a:t>Distributed workload authentication is the primitive. SPIFFE/SPIRE documentation explicitly separates authentication from authorization policy.</a:t>
            </a:r>
          </a:p>
        </p:txBody>
      </p:sp>
      <p:sp>
        <p:nvSpPr>
          <p:cNvPr id="11" name="TextBox 10">
            <a:extLst xmlns:a="http://schemas.openxmlformats.org/drawingml/2006/main">
              <a:ext uri="{FF2B5EF4-FFF2-40B4-BE49-F238E27FC236}">
                <a16:creationId xmlns:a16="http://schemas.microsoft.com/office/drawing/2014/main" id="{6AD92E1D-D1AE-4976-A9B8-A51D5B83C1BB}"/>
              </a:ext>
            </a:extLst>
          </p:cNvPr>
          <p:cNvSpPr>
            <a:spLocks xmlns:a="http://schemas.openxmlformats.org/drawingml/2006/main" noGrp="1"/>
          </p:cNvSpPr>
          <p:nvPr/>
        </p:nvSpPr>
        <p:spPr>
          <a:xfrm xmlns:a="http://schemas.openxmlformats.org/drawingml/2006/main">
            <a:off x="713232" y="2770632"/>
            <a:ext cx="4983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40" b="1" i="0" u="sng">
                <a:solidFill>
                  <a:srgbClr val="2F6FB2"/>
                </a:solidFill>
                <a:latin typeface="Calibri"/>
                <a:ea typeface="Calibri"/>
                <a:cs typeface="Calibri"/>
                <a:hlinkClick xmlns:r="http://schemas.openxmlformats.org/officeDocument/2006/relationships" r:id="Ra3fa15664b4d4cc2"/>
              </a:rPr>
              <a:t>SPIFFE — authorization boundary</a:t>
            </a:r>
          </a:p>
        </p:txBody>
      </p:sp>
      <p:sp>
        <p:nvSpPr>
          <p:cNvPr id="12" name="Rounded Rectangle 11">
            <a:extLst xmlns:a="http://schemas.openxmlformats.org/drawingml/2006/main">
              <a:ext uri="{FF2B5EF4-FFF2-40B4-BE49-F238E27FC236}">
                <a16:creationId xmlns:a16="http://schemas.microsoft.com/office/drawing/2014/main" id="{AD93E974-8598-4EBC-96F1-5569D57B3BF0}"/>
              </a:ext>
            </a:extLst>
          </p:cNvPr>
          <p:cNvSpPr>
            <a:spLocks xmlns:a="http://schemas.openxmlformats.org/drawingml/2006/main" noGrp="1"/>
          </p:cNvSpPr>
          <p:nvPr/>
        </p:nvSpPr>
        <p:spPr>
          <a:xfrm xmlns:a="http://schemas.openxmlformats.org/drawingml/2006/main">
            <a:off x="6144768" y="1572768"/>
            <a:ext cx="5257800" cy="141732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4945C111-A172-4F7D-A591-CE1611F356AC}"/>
              </a:ext>
            </a:extLst>
          </p:cNvPr>
          <p:cNvSpPr>
            <a:spLocks xmlns:a="http://schemas.openxmlformats.org/drawingml/2006/main" noGrp="1"/>
          </p:cNvSpPr>
          <p:nvPr/>
        </p:nvSpPr>
        <p:spPr>
          <a:xfrm xmlns:a="http://schemas.openxmlformats.org/drawingml/2006/main">
            <a:off x="6144768" y="1572768"/>
            <a:ext cx="50292" cy="1417320"/>
          </a:xfrm>
          <a:prstGeom xmlns:a="http://schemas.openxmlformats.org/drawingml/2006/main" prst="rect">
            <a:avLst/>
          </a:prstGeom>
          <a:solidFill xmlns:a="http://schemas.openxmlformats.org/drawingml/2006/main">
            <a:srgbClr val="6A4C93"/>
          </a:solidFill>
          <a:ln xmlns:a="http://schemas.openxmlformats.org/drawingml/2006/main">
            <a:solidFill>
              <a:srgbClr val="6A4C93"/>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8D1F6BBB-B099-44AA-879C-C0B7126C2868}"/>
              </a:ext>
            </a:extLst>
          </p:cNvPr>
          <p:cNvSpPr>
            <a:spLocks xmlns:a="http://schemas.openxmlformats.org/drawingml/2006/main" noGrp="1"/>
          </p:cNvSpPr>
          <p:nvPr/>
        </p:nvSpPr>
        <p:spPr>
          <a:xfrm xmlns:a="http://schemas.openxmlformats.org/drawingml/2006/main">
            <a:off x="6291072" y="1700784"/>
            <a:ext cx="4983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250" b="1" i="0" u="none">
                <a:solidFill>
                  <a:srgbClr val="24355B"/>
                </a:solidFill>
                <a:latin typeface="Cambria"/>
                <a:ea typeface="Cambria"/>
                <a:cs typeface="Cambria"/>
              </a:rPr>
              <a:t>RFC 8693 — subject / actor token exchange</a:t>
            </a:r>
          </a:p>
        </p:txBody>
      </p:sp>
      <p:sp>
        <p:nvSpPr>
          <p:cNvPr id="15" name="TextBox 14">
            <a:extLst xmlns:a="http://schemas.openxmlformats.org/drawingml/2006/main">
              <a:ext uri="{FF2B5EF4-FFF2-40B4-BE49-F238E27FC236}">
                <a16:creationId xmlns:a16="http://schemas.microsoft.com/office/drawing/2014/main" id="{05FF709A-6D42-440A-AE17-87BD4B1B2675}"/>
              </a:ext>
            </a:extLst>
          </p:cNvPr>
          <p:cNvSpPr>
            <a:spLocks xmlns:a="http://schemas.openxmlformats.org/drawingml/2006/main" noGrp="1"/>
          </p:cNvSpPr>
          <p:nvPr/>
        </p:nvSpPr>
        <p:spPr>
          <a:xfrm xmlns:a="http://schemas.openxmlformats.org/drawingml/2006/main">
            <a:off x="6291072" y="2011680"/>
            <a:ext cx="4983480"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60" b="0" i="0" u="none">
                <a:solidFill>
                  <a:srgbClr val="1F2D3D"/>
                </a:solidFill>
                <a:latin typeface="Calibri"/>
                <a:ea typeface="Calibri"/>
                <a:cs typeface="Calibri"/>
              </a:rPr>
              <a:t>Delegated token exchange can represent subject and actor relationships, but the exchange is one-time and does not create a general persistent linkage or general revocation-propagation semantics.</a:t>
            </a:r>
          </a:p>
        </p:txBody>
      </p:sp>
      <p:sp>
        <p:nvSpPr>
          <p:cNvPr id="16" name="TextBox 15">
            <a:extLst xmlns:a="http://schemas.openxmlformats.org/drawingml/2006/main">
              <a:ext uri="{FF2B5EF4-FFF2-40B4-BE49-F238E27FC236}">
                <a16:creationId xmlns:a16="http://schemas.microsoft.com/office/drawing/2014/main" id="{2B4FEF94-0283-4CB8-9FB5-0CBB4213CE62}"/>
              </a:ext>
            </a:extLst>
          </p:cNvPr>
          <p:cNvSpPr>
            <a:spLocks xmlns:a="http://schemas.openxmlformats.org/drawingml/2006/main" noGrp="1"/>
          </p:cNvSpPr>
          <p:nvPr/>
        </p:nvSpPr>
        <p:spPr>
          <a:xfrm xmlns:a="http://schemas.openxmlformats.org/drawingml/2006/main">
            <a:off x="6291072" y="2770632"/>
            <a:ext cx="4983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40" b="1" i="0" u="sng">
                <a:solidFill>
                  <a:srgbClr val="2F6FB2"/>
                </a:solidFill>
                <a:latin typeface="Calibri"/>
                <a:ea typeface="Calibri"/>
                <a:cs typeface="Calibri"/>
                <a:hlinkClick xmlns:r="http://schemas.openxmlformats.org/officeDocument/2006/relationships" r:id="R8dcf60a992f44f27"/>
              </a:rPr>
              <a:t>RFC 8693</a:t>
            </a:r>
          </a:p>
        </p:txBody>
      </p:sp>
      <p:sp>
        <p:nvSpPr>
          <p:cNvPr id="17" name="Rounded Rectangle 16">
            <a:extLst xmlns:a="http://schemas.openxmlformats.org/drawingml/2006/main">
              <a:ext uri="{FF2B5EF4-FFF2-40B4-BE49-F238E27FC236}">
                <a16:creationId xmlns:a16="http://schemas.microsoft.com/office/drawing/2014/main" id="{9F3CD275-45A0-4154-B1BB-8082AC573DEC}"/>
              </a:ext>
            </a:extLst>
          </p:cNvPr>
          <p:cNvSpPr>
            <a:spLocks xmlns:a="http://schemas.openxmlformats.org/drawingml/2006/main" noGrp="1"/>
          </p:cNvSpPr>
          <p:nvPr/>
        </p:nvSpPr>
        <p:spPr>
          <a:xfrm xmlns:a="http://schemas.openxmlformats.org/drawingml/2006/main">
            <a:off x="566928" y="3218688"/>
            <a:ext cx="5257800" cy="141732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Rectangle 17">
            <a:extLst xmlns:a="http://schemas.openxmlformats.org/drawingml/2006/main">
              <a:ext uri="{FF2B5EF4-FFF2-40B4-BE49-F238E27FC236}">
                <a16:creationId xmlns:a16="http://schemas.microsoft.com/office/drawing/2014/main" id="{A9BE68A7-5644-48A7-874C-BBD5A099A3C8}"/>
              </a:ext>
            </a:extLst>
          </p:cNvPr>
          <p:cNvSpPr>
            <a:spLocks xmlns:a="http://schemas.openxmlformats.org/drawingml/2006/main" noGrp="1"/>
          </p:cNvSpPr>
          <p:nvPr/>
        </p:nvSpPr>
        <p:spPr>
          <a:xfrm xmlns:a="http://schemas.openxmlformats.org/drawingml/2006/main">
            <a:off x="566928" y="3218688"/>
            <a:ext cx="50292" cy="1417320"/>
          </a:xfrm>
          <a:prstGeom xmlns:a="http://schemas.openxmlformats.org/drawingml/2006/main" prst="rect">
            <a:avLst/>
          </a:prstGeom>
          <a:solidFill xmlns:a="http://schemas.openxmlformats.org/drawingml/2006/main">
            <a:srgbClr val="00848A"/>
          </a:solidFill>
          <a:ln xmlns:a="http://schemas.openxmlformats.org/drawingml/2006/main">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6BE490A8-E370-49ED-ADE9-06023EBDF3AC}"/>
              </a:ext>
            </a:extLst>
          </p:cNvPr>
          <p:cNvSpPr>
            <a:spLocks xmlns:a="http://schemas.openxmlformats.org/drawingml/2006/main" noGrp="1"/>
          </p:cNvSpPr>
          <p:nvPr/>
        </p:nvSpPr>
        <p:spPr>
          <a:xfrm xmlns:a="http://schemas.openxmlformats.org/drawingml/2006/main">
            <a:off x="713232" y="3346704"/>
            <a:ext cx="4983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250" b="1" i="0" u="none">
                <a:solidFill>
                  <a:srgbClr val="24355B"/>
                </a:solidFill>
                <a:latin typeface="Cambria"/>
                <a:ea typeface="Cambria"/>
                <a:cs typeface="Cambria"/>
              </a:rPr>
              <a:t>RFC 9334 RATS — attestation / appraisal</a:t>
            </a:r>
          </a:p>
        </p:txBody>
      </p:sp>
      <p:sp>
        <p:nvSpPr>
          <p:cNvPr id="20" name="TextBox 19">
            <a:extLst xmlns:a="http://schemas.openxmlformats.org/drawingml/2006/main">
              <a:ext uri="{FF2B5EF4-FFF2-40B4-BE49-F238E27FC236}">
                <a16:creationId xmlns:a16="http://schemas.microsoft.com/office/drawing/2014/main" id="{FCB51F9D-D019-4105-B58B-CD33B2AE28BA}"/>
              </a:ext>
            </a:extLst>
          </p:cNvPr>
          <p:cNvSpPr>
            <a:spLocks xmlns:a="http://schemas.openxmlformats.org/drawingml/2006/main" noGrp="1"/>
          </p:cNvSpPr>
          <p:nvPr/>
        </p:nvSpPr>
        <p:spPr>
          <a:xfrm xmlns:a="http://schemas.openxmlformats.org/drawingml/2006/main">
            <a:off x="713232" y="3657600"/>
            <a:ext cx="4983480"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60" b="0" i="0" u="none">
                <a:solidFill>
                  <a:srgbClr val="1F2D3D"/>
                </a:solidFill>
                <a:latin typeface="Calibri"/>
                <a:ea typeface="Calibri"/>
                <a:cs typeface="Calibri"/>
              </a:rPr>
              <a:t>A Verifier produces Attestation Results. The Relying Party then applies its own appraisal policy to make the application-specific decision.</a:t>
            </a:r>
          </a:p>
        </p:txBody>
      </p:sp>
      <p:sp>
        <p:nvSpPr>
          <p:cNvPr id="21" name="TextBox 20">
            <a:extLst xmlns:a="http://schemas.openxmlformats.org/drawingml/2006/main">
              <a:ext uri="{FF2B5EF4-FFF2-40B4-BE49-F238E27FC236}">
                <a16:creationId xmlns:a16="http://schemas.microsoft.com/office/drawing/2014/main" id="{524A8847-0904-4935-A002-F15C90741060}"/>
              </a:ext>
            </a:extLst>
          </p:cNvPr>
          <p:cNvSpPr>
            <a:spLocks xmlns:a="http://schemas.openxmlformats.org/drawingml/2006/main" noGrp="1"/>
          </p:cNvSpPr>
          <p:nvPr/>
        </p:nvSpPr>
        <p:spPr>
          <a:xfrm xmlns:a="http://schemas.openxmlformats.org/drawingml/2006/main">
            <a:off x="713232" y="4416552"/>
            <a:ext cx="4983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40" b="1" i="0" u="sng">
                <a:solidFill>
                  <a:srgbClr val="2F6FB2"/>
                </a:solidFill>
                <a:latin typeface="Calibri"/>
                <a:ea typeface="Calibri"/>
                <a:cs typeface="Calibri"/>
                <a:hlinkClick xmlns:r="http://schemas.openxmlformats.org/officeDocument/2006/relationships" r:id="R7648da2a38144a94"/>
              </a:rPr>
              <a:t>RFC 9334 RATS</a:t>
            </a:r>
          </a:p>
        </p:txBody>
      </p:sp>
      <p:sp>
        <p:nvSpPr>
          <p:cNvPr id="22" name="Rounded Rectangle 21">
            <a:extLst xmlns:a="http://schemas.openxmlformats.org/drawingml/2006/main">
              <a:ext uri="{FF2B5EF4-FFF2-40B4-BE49-F238E27FC236}">
                <a16:creationId xmlns:a16="http://schemas.microsoft.com/office/drawing/2014/main" id="{4E77603B-81DC-4936-A576-189662627B7A}"/>
              </a:ext>
            </a:extLst>
          </p:cNvPr>
          <p:cNvSpPr>
            <a:spLocks xmlns:a="http://schemas.openxmlformats.org/drawingml/2006/main" noGrp="1"/>
          </p:cNvSpPr>
          <p:nvPr/>
        </p:nvSpPr>
        <p:spPr>
          <a:xfrm xmlns:a="http://schemas.openxmlformats.org/drawingml/2006/main">
            <a:off x="6144768" y="3218688"/>
            <a:ext cx="5257800" cy="141732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Rectangle 22">
            <a:extLst xmlns:a="http://schemas.openxmlformats.org/drawingml/2006/main">
              <a:ext uri="{FF2B5EF4-FFF2-40B4-BE49-F238E27FC236}">
                <a16:creationId xmlns:a16="http://schemas.microsoft.com/office/drawing/2014/main" id="{5205A677-32A5-49DB-9C96-C83FF23F01D5}"/>
              </a:ext>
            </a:extLst>
          </p:cNvPr>
          <p:cNvSpPr>
            <a:spLocks xmlns:a="http://schemas.openxmlformats.org/drawingml/2006/main" noGrp="1"/>
          </p:cNvSpPr>
          <p:nvPr/>
        </p:nvSpPr>
        <p:spPr>
          <a:xfrm xmlns:a="http://schemas.openxmlformats.org/drawingml/2006/main">
            <a:off x="6144768" y="3218688"/>
            <a:ext cx="50292" cy="1417320"/>
          </a:xfrm>
          <a:prstGeom xmlns:a="http://schemas.openxmlformats.org/drawingml/2006/main" prst="rect">
            <a:avLst/>
          </a:prstGeom>
          <a:solidFill xmlns:a="http://schemas.openxmlformats.org/drawingml/2006/main">
            <a:srgbClr val="D07800"/>
          </a:solidFill>
          <a:ln xmlns:a="http://schemas.openxmlformats.org/drawingml/2006/main">
            <a:solidFill>
              <a:srgbClr val="D078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E3F41DAF-777F-41A5-96AF-16A53E4956AC}"/>
              </a:ext>
            </a:extLst>
          </p:cNvPr>
          <p:cNvSpPr>
            <a:spLocks xmlns:a="http://schemas.openxmlformats.org/drawingml/2006/main" noGrp="1"/>
          </p:cNvSpPr>
          <p:nvPr/>
        </p:nvSpPr>
        <p:spPr>
          <a:xfrm xmlns:a="http://schemas.openxmlformats.org/drawingml/2006/main">
            <a:off x="6291072" y="3346704"/>
            <a:ext cx="4983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250" b="1" i="0" u="none">
                <a:solidFill>
                  <a:srgbClr val="24355B"/>
                </a:solidFill>
                <a:latin typeface="Cambria"/>
                <a:ea typeface="Cambria"/>
                <a:cs typeface="Cambria"/>
              </a:rPr>
              <a:t>NIST NCCoE 2026 — AI-agent identity &amp; authorization</a:t>
            </a:r>
          </a:p>
        </p:txBody>
      </p:sp>
      <p:sp>
        <p:nvSpPr>
          <p:cNvPr id="25" name="TextBox 24">
            <a:extLst xmlns:a="http://schemas.openxmlformats.org/drawingml/2006/main">
              <a:ext uri="{FF2B5EF4-FFF2-40B4-BE49-F238E27FC236}">
                <a16:creationId xmlns:a16="http://schemas.microsoft.com/office/drawing/2014/main" id="{6D274060-0314-4B8F-8281-F218C2A38AFB}"/>
              </a:ext>
            </a:extLst>
          </p:cNvPr>
          <p:cNvSpPr>
            <a:spLocks xmlns:a="http://schemas.openxmlformats.org/drawingml/2006/main" noGrp="1"/>
          </p:cNvSpPr>
          <p:nvPr/>
        </p:nvSpPr>
        <p:spPr>
          <a:xfrm xmlns:a="http://schemas.openxmlformats.org/drawingml/2006/main">
            <a:off x="6291072" y="3657600"/>
            <a:ext cx="4983480"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60" b="0" i="0" u="none">
                <a:solidFill>
                  <a:srgbClr val="1F2D3D"/>
                </a:solidFill>
                <a:latin typeface="Calibri"/>
                <a:ea typeface="Calibri"/>
                <a:cs typeface="Calibri"/>
              </a:rPr>
              <a:t>NIST is actively scoping standards-based approaches to identify, manage and authorize software/AI agents. The current project is still in the project-definition / comment-review stage.</a:t>
            </a:r>
          </a:p>
        </p:txBody>
      </p:sp>
      <p:sp>
        <p:nvSpPr>
          <p:cNvPr id="26" name="TextBox 25">
            <a:extLst xmlns:a="http://schemas.openxmlformats.org/drawingml/2006/main">
              <a:ext uri="{FF2B5EF4-FFF2-40B4-BE49-F238E27FC236}">
                <a16:creationId xmlns:a16="http://schemas.microsoft.com/office/drawing/2014/main" id="{77955A6C-C40D-434B-BD2A-0BAA61DDC6C9}"/>
              </a:ext>
            </a:extLst>
          </p:cNvPr>
          <p:cNvSpPr>
            <a:spLocks xmlns:a="http://schemas.openxmlformats.org/drawingml/2006/main" noGrp="1"/>
          </p:cNvSpPr>
          <p:nvPr/>
        </p:nvSpPr>
        <p:spPr>
          <a:xfrm xmlns:a="http://schemas.openxmlformats.org/drawingml/2006/main">
            <a:off x="6291072" y="4416552"/>
            <a:ext cx="4983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40" b="1" i="0" u="sng">
                <a:solidFill>
                  <a:srgbClr val="2F6FB2"/>
                </a:solidFill>
                <a:latin typeface="Calibri"/>
                <a:ea typeface="Calibri"/>
                <a:cs typeface="Calibri"/>
                <a:hlinkClick xmlns:r="http://schemas.openxmlformats.org/officeDocument/2006/relationships" r:id="R716e5871c20b445c"/>
              </a:rPr>
              <a:t>NIST NCCoE — Software and AI Agent Identity and Authorization</a:t>
            </a:r>
          </a:p>
        </p:txBody>
      </p:sp>
      <p:sp>
        <p:nvSpPr>
          <p:cNvPr id="27" name="Rounded Rectangle 26">
            <a:extLst xmlns:a="http://schemas.openxmlformats.org/drawingml/2006/main">
              <a:ext uri="{FF2B5EF4-FFF2-40B4-BE49-F238E27FC236}">
                <a16:creationId xmlns:a16="http://schemas.microsoft.com/office/drawing/2014/main" id="{E4BBCA23-4201-4A25-998F-B1AF680B64AB}"/>
              </a:ext>
            </a:extLst>
          </p:cNvPr>
          <p:cNvSpPr>
            <a:spLocks xmlns:a="http://schemas.openxmlformats.org/drawingml/2006/main" noGrp="1"/>
          </p:cNvSpPr>
          <p:nvPr/>
        </p:nvSpPr>
        <p:spPr>
          <a:xfrm xmlns:a="http://schemas.openxmlformats.org/drawingml/2006/main">
            <a:off x="566928" y="4956048"/>
            <a:ext cx="10835640" cy="896112"/>
          </a:xfrm>
          <a:prstGeom xmlns:a="http://schemas.openxmlformats.org/drawingml/2006/main" prst="roundRect">
            <a:avLst/>
          </a:prstGeom>
          <a:solidFill xmlns:a="http://schemas.openxmlformats.org/drawingml/2006/main">
            <a:srgbClr val="F3F6F8"/>
          </a:solidFill>
          <a:ln xmlns:a="http://schemas.openxmlformats.org/drawingml/2006/main">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3A4706E2-B951-4405-97C4-07C1AC44C8B0}"/>
              </a:ext>
            </a:extLst>
          </p:cNvPr>
          <p:cNvSpPr>
            <a:spLocks xmlns:a="http://schemas.openxmlformats.org/drawingml/2006/main" noGrp="1"/>
          </p:cNvSpPr>
          <p:nvPr/>
        </p:nvSpPr>
        <p:spPr>
          <a:xfrm xmlns:a="http://schemas.openxmlformats.org/drawingml/2006/main">
            <a:off x="804672" y="5138928"/>
            <a:ext cx="1874519" cy="1828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60" b="1" i="0" u="none">
                <a:solidFill>
                  <a:srgbClr val="24355B"/>
                </a:solidFill>
                <a:latin typeface="Consolas"/>
                <a:ea typeface="Consolas"/>
                <a:cs typeface="Consolas"/>
              </a:rPr>
              <a:t>BENCHMARK STARTING POINT</a:t>
            </a:r>
          </a:p>
        </p:txBody>
      </p:sp>
      <p:sp>
        <p:nvSpPr>
          <p:cNvPr id="29" name="TextBox 28">
            <a:extLst xmlns:a="http://schemas.openxmlformats.org/drawingml/2006/main">
              <a:ext uri="{FF2B5EF4-FFF2-40B4-BE49-F238E27FC236}">
                <a16:creationId xmlns:a16="http://schemas.microsoft.com/office/drawing/2014/main" id="{2FE382CB-1DF2-433D-9CD5-D780ACFC73B7}"/>
              </a:ext>
            </a:extLst>
          </p:cNvPr>
          <p:cNvSpPr>
            <a:spLocks xmlns:a="http://schemas.openxmlformats.org/drawingml/2006/main" noGrp="1"/>
          </p:cNvSpPr>
          <p:nvPr/>
        </p:nvSpPr>
        <p:spPr>
          <a:xfrm xmlns:a="http://schemas.openxmlformats.org/drawingml/2006/main">
            <a:off x="2670048" y="5084064"/>
            <a:ext cx="836676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30" b="0" i="0" u="none">
                <a:solidFill>
                  <a:srgbClr val="1F2D3D"/>
                </a:solidFill>
                <a:latin typeface="Calibri"/>
                <a:ea typeface="Calibri"/>
                <a:cs typeface="Calibri"/>
              </a:rPr>
              <a:t>Ecosystem Positioning is not presented as a replacement for identity, delegation, attestation or policy. The differential under test is the composition and requalification gap that appears when locally valid primitives cross changing participants, authority, evidence, dependencies and context.</a:t>
            </a:r>
          </a:p>
        </p:txBody>
      </p:sp>
      <p:sp>
        <p:nvSpPr>
          <p:cNvPr id="30" name="TextBox 29">
            <a:extLst xmlns:a="http://schemas.openxmlformats.org/drawingml/2006/main">
              <a:ext uri="{FF2B5EF4-FFF2-40B4-BE49-F238E27FC236}">
                <a16:creationId xmlns:a16="http://schemas.microsoft.com/office/drawing/2014/main" id="{39FD0A60-73C2-4D90-A6D6-DBA25B15E721}"/>
              </a:ext>
            </a:extLst>
          </p:cNvPr>
          <p:cNvSpPr>
            <a:spLocks xmlns:a="http://schemas.openxmlformats.org/drawingml/2006/main" noGrp="1"/>
          </p:cNvSpPr>
          <p:nvPr/>
        </p:nvSpPr>
        <p:spPr>
          <a:xfrm xmlns:a="http://schemas.openxmlformats.org/drawingml/2006/main">
            <a:off x="8458200" y="5596128"/>
            <a:ext cx="257860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40" b="1" i="0" u="sng">
                <a:solidFill>
                  <a:srgbClr val="2F6FB2"/>
                </a:solidFill>
                <a:latin typeface="Calibri"/>
                <a:ea typeface="Calibri"/>
                <a:cs typeface="Calibri"/>
                <a:hlinkClick xmlns:r="http://schemas.openxmlformats.org/officeDocument/2006/relationships" r:id="R54c6c9107679461e"/>
              </a:rPr>
              <a:t>Benchmark v0.3 — standards boundary</a:t>
            </a:r>
          </a:p>
        </p:txBody>
      </p:sp>
      <p:sp>
        <p:nvSpPr>
          <p:cNvPr id="31" name="Rectangle 30">
            <a:extLst xmlns:a="http://schemas.openxmlformats.org/drawingml/2006/main">
              <a:ext uri="{FF2B5EF4-FFF2-40B4-BE49-F238E27FC236}">
                <a16:creationId xmlns:a16="http://schemas.microsoft.com/office/drawing/2014/main" id="{C14C293B-E574-4346-9DAA-32D3E7670878}"/>
              </a:ext>
            </a:extLst>
          </p:cNvPr>
          <p:cNvSpPr>
            <a:spLocks xmlns:a="http://schemas.openxmlformats.org/drawingml/2006/main" noGrp="1"/>
          </p:cNvSpPr>
          <p:nvPr/>
        </p:nvSpPr>
        <p:spPr>
          <a:xfrm xmlns:a="http://schemas.openxmlformats.org/drawingml/2006/main">
            <a:off x="566928" y="6236208"/>
            <a:ext cx="10835640" cy="10972"/>
          </a:xfrm>
          <a:prstGeom xmlns:a="http://schemas.openxmlformats.org/drawingml/2006/main" prst="rect">
            <a:avLst/>
          </a:prstGeom>
          <a:solidFill xmlns:a="http://schemas.openxmlformats.org/drawingml/2006/main">
            <a:srgbClr val="24355B"/>
          </a:solidFill>
          <a:ln xmlns:a="http://schemas.openxmlformats.org/drawingml/2006/main">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TextBox 31">
            <a:extLst xmlns:a="http://schemas.openxmlformats.org/drawingml/2006/main">
              <a:ext uri="{FF2B5EF4-FFF2-40B4-BE49-F238E27FC236}">
                <a16:creationId xmlns:a16="http://schemas.microsoft.com/office/drawing/2014/main" id="{736B4DDA-9AEE-43B9-8F2D-D0F765398AE0}"/>
              </a:ext>
            </a:extLst>
          </p:cNvPr>
          <p:cNvSpPr>
            <a:spLocks xmlns:a="http://schemas.openxmlformats.org/drawingml/2006/main" noGrp="1"/>
          </p:cNvSpPr>
          <p:nvPr/>
        </p:nvSpPr>
        <p:spPr>
          <a:xfrm xmlns:a="http://schemas.openxmlformats.org/drawingml/2006/main">
            <a:off x="4069080" y="6355080"/>
            <a:ext cx="36576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buNone/>
            </a:pPr>
            <a:r>
              <a:rPr sz="720" b="0" i="0" u="none">
                <a:solidFill>
                  <a:srgbClr val="5D6775"/>
                </a:solidFill>
                <a:latin typeface="Consolas"/>
                <a:ea typeface="Consolas"/>
                <a:cs typeface="Consolas"/>
              </a:rPr>
              <a:t>Ecosystem Awareness · Positioning architecture</a:t>
            </a:r>
          </a:p>
        </p:txBody>
      </p:sp>
      <p:sp>
        <p:nvSpPr>
          <p:cNvPr id="33" name="TextBox 32">
            <a:extLst xmlns:a="http://schemas.openxmlformats.org/drawingml/2006/main">
              <a:ext uri="{FF2B5EF4-FFF2-40B4-BE49-F238E27FC236}">
                <a16:creationId xmlns:a16="http://schemas.microsoft.com/office/drawing/2014/main" id="{7525E22E-DBFC-4B32-A75B-240FD692B58D}"/>
              </a:ext>
            </a:extLst>
          </p:cNvPr>
          <p:cNvSpPr>
            <a:spLocks xmlns:a="http://schemas.openxmlformats.org/drawingml/2006/main" noGrp="1"/>
          </p:cNvSpPr>
          <p:nvPr/>
        </p:nvSpPr>
        <p:spPr>
          <a:xfrm xmlns:a="http://schemas.openxmlformats.org/drawingml/2006/main">
            <a:off x="11045952" y="6355080"/>
            <a:ext cx="2743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50">
                <a:solidFill>
                  <a:srgbClr val="5D6775"/>
                </a:solidFill>
                <a:latin typeface="Aptos"/>
                <a:ea typeface="Aptos"/>
                <a:cs typeface="Aptos"/>
              </a:rPr>
              <a:t>11</a:t>
            </a:r>
          </a:p>
        </p:txBody>
      </p:sp>
      <p:sp>
        <p:nvSpPr>
          <p:cNvPr id="34" name="TextBox 33">
            <a:extLst xmlns:a="http://schemas.openxmlformats.org/drawingml/2006/main">
              <a:ext uri="{FF2B5EF4-FFF2-40B4-BE49-F238E27FC236}">
                <a16:creationId xmlns:a16="http://schemas.microsoft.com/office/drawing/2014/main" id="{74CB5CD1-BDBB-4A38-A7F2-2101F22C00BC}"/>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80e99c6edbfd4314"/>
              </a:rPr>
              <a:t>Benchmark vNext · standards boundary</a:t>
            </a:r>
          </a:p>
        </p:txBody>
      </p:sp>
    </p:spTree>
    <p:extLst>
      <p:ext uri="{BB962C8B-B14F-4D97-AF65-F5344CB8AC3E}">
        <p14:creationId xmlns:p14="http://schemas.microsoft.com/office/powerpoint/2010/main" val="120787747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27E80235-6E00-4C4D-A4DA-6E84428944FE}"/>
              </a:ext>
            </a:extLst>
          </p:cNvPr>
          <p:cNvSpPr>
            <a:spLocks xmlns:a="http://schemas.openxmlformats.org/drawingml/2006/main" noGrp="1"/>
          </p:cNvSpPr>
          <p:nvPr/>
        </p:nvSpPr>
        <p:spPr>
          <a:xfrm xmlns:a="http://schemas.openxmlformats.org/drawingml/2006/main">
            <a:off x="566928" y="164592"/>
            <a:ext cx="3200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50" b="0" i="0" u="none">
                <a:solidFill>
                  <a:srgbClr val="1F2D3D"/>
                </a:solidFill>
                <a:latin typeface="Consolas"/>
                <a:ea typeface="Consolas"/>
                <a:cs typeface="Consolas"/>
              </a:rPr>
              <a:t>BENCHMARK</a:t>
            </a:r>
          </a:p>
        </p:txBody>
      </p:sp>
      <p:sp>
        <p:nvSpPr>
          <p:cNvPr id="3" name="TextBox 2">
            <a:extLst xmlns:a="http://schemas.openxmlformats.org/drawingml/2006/main">
              <a:ext uri="{FF2B5EF4-FFF2-40B4-BE49-F238E27FC236}">
                <a16:creationId xmlns:a16="http://schemas.microsoft.com/office/drawing/2014/main" id="{4DC0319B-A866-438D-8E68-EBF696E71BC6}"/>
              </a:ext>
            </a:extLst>
          </p:cNvPr>
          <p:cNvSpPr>
            <a:spLocks xmlns:a="http://schemas.openxmlformats.org/drawingml/2006/main" noGrp="1"/>
          </p:cNvSpPr>
          <p:nvPr/>
        </p:nvSpPr>
        <p:spPr>
          <a:xfrm xmlns:a="http://schemas.openxmlformats.org/drawingml/2006/main">
            <a:off x="10716768" y="164592"/>
            <a:ext cx="685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pPr>
            <a:r>
              <a:rPr sz="850" b="0" i="0" u="none">
                <a:solidFill>
                  <a:srgbClr val="1F2D3D"/>
                </a:solidFill>
                <a:latin typeface="Consolas"/>
                <a:ea typeface="Consolas"/>
                <a:cs typeface="Consolas"/>
              </a:rPr>
              <a:t>§ B2</a:t>
            </a:r>
          </a:p>
        </p:txBody>
      </p:sp>
      <p:sp>
        <p:nvSpPr>
          <p:cNvPr id="4" name="TextBox 3">
            <a:extLst xmlns:a="http://schemas.openxmlformats.org/drawingml/2006/main">
              <a:ext uri="{FF2B5EF4-FFF2-40B4-BE49-F238E27FC236}">
                <a16:creationId xmlns:a16="http://schemas.microsoft.com/office/drawing/2014/main" id="{BBD51E87-A204-4BD5-B77B-55ED3D8C7679}"/>
              </a:ext>
            </a:extLst>
          </p:cNvPr>
          <p:cNvSpPr>
            <a:spLocks xmlns:a="http://schemas.openxmlformats.org/drawingml/2006/main" noGrp="1"/>
          </p:cNvSpPr>
          <p:nvPr/>
        </p:nvSpPr>
        <p:spPr>
          <a:xfrm xmlns:a="http://schemas.openxmlformats.org/drawingml/2006/main">
            <a:off x="566928" y="640080"/>
            <a:ext cx="1051560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2350" b="1" i="0" u="none">
                <a:solidFill>
                  <a:srgbClr val="24355B"/>
                </a:solidFill>
                <a:latin typeface="Cambria"/>
                <a:ea typeface="Cambria"/>
                <a:cs typeface="Cambria"/>
              </a:rPr>
              <a:t>Benchmark — comparison, not marketing</a:t>
            </a:r>
          </a:p>
        </p:txBody>
      </p:sp>
      <p:sp>
        <p:nvSpPr>
          <p:cNvPr id="5" name="TextBox 4">
            <a:extLst xmlns:a="http://schemas.openxmlformats.org/drawingml/2006/main">
              <a:ext uri="{FF2B5EF4-FFF2-40B4-BE49-F238E27FC236}">
                <a16:creationId xmlns:a16="http://schemas.microsoft.com/office/drawing/2014/main" id="{E81DDB9B-3911-48AE-9958-81E832D55371}"/>
              </a:ext>
            </a:extLst>
          </p:cNvPr>
          <p:cNvSpPr>
            <a:spLocks xmlns:a="http://schemas.openxmlformats.org/drawingml/2006/main" noGrp="1"/>
          </p:cNvSpPr>
          <p:nvPr/>
        </p:nvSpPr>
        <p:spPr>
          <a:xfrm xmlns:a="http://schemas.openxmlformats.org/drawingml/2006/main">
            <a:off x="566928" y="1078992"/>
            <a:ext cx="105156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0" b="0" i="0" u="none">
                <a:solidFill>
                  <a:srgbClr val="5D6775"/>
                </a:solidFill>
                <a:latin typeface="Calibri"/>
                <a:ea typeface="Calibri"/>
                <a:cs typeface="Calibri"/>
              </a:rPr>
              <a:t>The benchmark is deliberately symmetric: a strong peer is allowed to win under the same facts, authority, resources and deadlines.</a:t>
            </a:r>
          </a:p>
        </p:txBody>
      </p:sp>
      <p:sp>
        <p:nvSpPr>
          <p:cNvPr id="6" name="Rectangle 5">
            <a:extLst xmlns:a="http://schemas.openxmlformats.org/drawingml/2006/main">
              <a:ext uri="{FF2B5EF4-FFF2-40B4-BE49-F238E27FC236}">
                <a16:creationId xmlns:a16="http://schemas.microsoft.com/office/drawing/2014/main" id="{16CE5B28-700C-4D0B-AF4F-3470786D6D53}"/>
              </a:ext>
            </a:extLst>
          </p:cNvPr>
          <p:cNvSpPr>
            <a:spLocks xmlns:a="http://schemas.openxmlformats.org/drawingml/2006/main" noGrp="1"/>
          </p:cNvSpPr>
          <p:nvPr/>
        </p:nvSpPr>
        <p:spPr>
          <a:xfrm xmlns:a="http://schemas.openxmlformats.org/drawingml/2006/main">
            <a:off x="566928" y="457200"/>
            <a:ext cx="10835640" cy="10972"/>
          </a:xfrm>
          <a:prstGeom xmlns:a="http://schemas.openxmlformats.org/drawingml/2006/main" prst="rect">
            <a:avLst/>
          </a:prstGeom>
          <a:solidFill xmlns:a="http://schemas.openxmlformats.org/drawingml/2006/main">
            <a:srgbClr val="24355B"/>
          </a:solidFill>
          <a:ln xmlns:a="http://schemas.openxmlformats.org/drawingml/2006/main">
            <a:solidFill>
              <a:srgbClr val="24355B"/>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ounded Rectangle 6">
            <a:extLst xmlns:a="http://schemas.openxmlformats.org/drawingml/2006/main">
              <a:ext uri="{FF2B5EF4-FFF2-40B4-BE49-F238E27FC236}">
                <a16:creationId xmlns:a16="http://schemas.microsoft.com/office/drawing/2014/main" id="{12138739-2872-463E-A5AA-E4F73CE14CDC}"/>
              </a:ext>
            </a:extLst>
          </p:cNvPr>
          <p:cNvSpPr>
            <a:spLocks xmlns:a="http://schemas.openxmlformats.org/drawingml/2006/main" noGrp="1"/>
          </p:cNvSpPr>
          <p:nvPr/>
        </p:nvSpPr>
        <p:spPr>
          <a:xfrm xmlns:a="http://schemas.openxmlformats.org/drawingml/2006/main">
            <a:off x="566928" y="1572768"/>
            <a:ext cx="2542032" cy="1078992"/>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7D9DAB83-D06B-4FB7-95E6-E69F48AF41E9}"/>
              </a:ext>
            </a:extLst>
          </p:cNvPr>
          <p:cNvSpPr>
            <a:spLocks xmlns:a="http://schemas.openxmlformats.org/drawingml/2006/main" noGrp="1"/>
          </p:cNvSpPr>
          <p:nvPr/>
        </p:nvSpPr>
        <p:spPr>
          <a:xfrm xmlns:a="http://schemas.openxmlformats.org/drawingml/2006/main">
            <a:off x="676656" y="166420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00" b="1" i="0" u="none">
                <a:solidFill>
                  <a:srgbClr val="2F6FB2"/>
                </a:solidFill>
                <a:latin typeface="Consolas"/>
                <a:ea typeface="Consolas"/>
                <a:cs typeface="Consolas"/>
              </a:rPr>
              <a:t>B0</a:t>
            </a:r>
          </a:p>
        </p:txBody>
      </p:sp>
      <p:sp>
        <p:nvSpPr>
          <p:cNvPr id="9" name="TextBox 8">
            <a:extLst xmlns:a="http://schemas.openxmlformats.org/drawingml/2006/main">
              <a:ext uri="{FF2B5EF4-FFF2-40B4-BE49-F238E27FC236}">
                <a16:creationId xmlns:a16="http://schemas.microsoft.com/office/drawing/2014/main" id="{84CF558C-F609-4B5A-A276-79ABA25769A5}"/>
              </a:ext>
            </a:extLst>
          </p:cNvPr>
          <p:cNvSpPr>
            <a:spLocks xmlns:a="http://schemas.openxmlformats.org/drawingml/2006/main" noGrp="1"/>
          </p:cNvSpPr>
          <p:nvPr/>
        </p:nvSpPr>
        <p:spPr>
          <a:xfrm xmlns:a="http://schemas.openxmlformats.org/drawingml/2006/main">
            <a:off x="1097280" y="1664208"/>
            <a:ext cx="188366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70" b="1" i="0" u="none">
                <a:solidFill>
                  <a:srgbClr val="24355B"/>
                </a:solidFill>
                <a:latin typeface="Cambria"/>
                <a:ea typeface="Cambria"/>
                <a:cs typeface="Cambria"/>
              </a:rPr>
              <a:t>Ordinary competent</a:t>
            </a:r>
          </a:p>
        </p:txBody>
      </p:sp>
      <p:sp>
        <p:nvSpPr>
          <p:cNvPr id="10" name="TextBox 9">
            <a:extLst xmlns:a="http://schemas.openxmlformats.org/drawingml/2006/main">
              <a:ext uri="{FF2B5EF4-FFF2-40B4-BE49-F238E27FC236}">
                <a16:creationId xmlns:a16="http://schemas.microsoft.com/office/drawing/2014/main" id="{E6232F32-AB85-47A0-85CA-4BD91449B33B}"/>
              </a:ext>
            </a:extLst>
          </p:cNvPr>
          <p:cNvSpPr>
            <a:spLocks xmlns:a="http://schemas.openxmlformats.org/drawingml/2006/main" noGrp="1"/>
          </p:cNvSpPr>
          <p:nvPr/>
        </p:nvSpPr>
        <p:spPr>
          <a:xfrm xmlns:a="http://schemas.openxmlformats.org/drawingml/2006/main">
            <a:off x="676656" y="2002536"/>
            <a:ext cx="2322576"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0" i="0" u="none">
                <a:solidFill>
                  <a:srgbClr val="1F2D3D"/>
                </a:solidFill>
                <a:latin typeface="Calibri"/>
                <a:ea typeface="Calibri"/>
                <a:cs typeface="Calibri"/>
              </a:rPr>
              <a:t>Unstrengthened implementation; establishes the observed baseline.</a:t>
            </a:r>
          </a:p>
        </p:txBody>
      </p:sp>
      <p:sp>
        <p:nvSpPr>
          <p:cNvPr id="11" name="Rounded Rectangle 10">
            <a:extLst xmlns:a="http://schemas.openxmlformats.org/drawingml/2006/main">
              <a:ext uri="{FF2B5EF4-FFF2-40B4-BE49-F238E27FC236}">
                <a16:creationId xmlns:a16="http://schemas.microsoft.com/office/drawing/2014/main" id="{259BD957-524D-48F1-9C0E-1AC6FE1BB230}"/>
              </a:ext>
            </a:extLst>
          </p:cNvPr>
          <p:cNvSpPr>
            <a:spLocks xmlns:a="http://schemas.openxmlformats.org/drawingml/2006/main" noGrp="1"/>
          </p:cNvSpPr>
          <p:nvPr/>
        </p:nvSpPr>
        <p:spPr>
          <a:xfrm xmlns:a="http://schemas.openxmlformats.org/drawingml/2006/main">
            <a:off x="3319272" y="1572768"/>
            <a:ext cx="2542032" cy="1078992"/>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295EECE3-9D7A-4090-9FD7-CC9378A543FF}"/>
              </a:ext>
            </a:extLst>
          </p:cNvPr>
          <p:cNvSpPr>
            <a:spLocks xmlns:a="http://schemas.openxmlformats.org/drawingml/2006/main" noGrp="1"/>
          </p:cNvSpPr>
          <p:nvPr/>
        </p:nvSpPr>
        <p:spPr>
          <a:xfrm xmlns:a="http://schemas.openxmlformats.org/drawingml/2006/main">
            <a:off x="3429000" y="166420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00" b="1" i="0" u="none">
                <a:solidFill>
                  <a:srgbClr val="00848A"/>
                </a:solidFill>
                <a:latin typeface="Consolas"/>
                <a:ea typeface="Consolas"/>
                <a:cs typeface="Consolas"/>
              </a:rPr>
              <a:t>B1</a:t>
            </a:r>
          </a:p>
        </p:txBody>
      </p:sp>
      <p:sp>
        <p:nvSpPr>
          <p:cNvPr id="13" name="TextBox 12">
            <a:extLst xmlns:a="http://schemas.openxmlformats.org/drawingml/2006/main">
              <a:ext uri="{FF2B5EF4-FFF2-40B4-BE49-F238E27FC236}">
                <a16:creationId xmlns:a16="http://schemas.microsoft.com/office/drawing/2014/main" id="{250FB008-0DC3-4774-8F75-A667EFC48357}"/>
              </a:ext>
            </a:extLst>
          </p:cNvPr>
          <p:cNvSpPr>
            <a:spLocks xmlns:a="http://schemas.openxmlformats.org/drawingml/2006/main" noGrp="1"/>
          </p:cNvSpPr>
          <p:nvPr/>
        </p:nvSpPr>
        <p:spPr>
          <a:xfrm xmlns:a="http://schemas.openxmlformats.org/drawingml/2006/main">
            <a:off x="3849624" y="1664208"/>
            <a:ext cx="188366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70" b="1" i="0" u="none">
                <a:solidFill>
                  <a:srgbClr val="24355B"/>
                </a:solidFill>
                <a:latin typeface="Cambria"/>
                <a:ea typeface="Cambria"/>
                <a:cs typeface="Cambria"/>
              </a:rPr>
              <a:t>Strong conventional</a:t>
            </a:r>
          </a:p>
        </p:txBody>
      </p:sp>
      <p:sp>
        <p:nvSpPr>
          <p:cNvPr id="14" name="TextBox 13">
            <a:extLst xmlns:a="http://schemas.openxmlformats.org/drawingml/2006/main">
              <a:ext uri="{FF2B5EF4-FFF2-40B4-BE49-F238E27FC236}">
                <a16:creationId xmlns:a16="http://schemas.microsoft.com/office/drawing/2014/main" id="{8652BE3C-672D-4F41-A672-1A40EC2CECEB}"/>
              </a:ext>
            </a:extLst>
          </p:cNvPr>
          <p:cNvSpPr>
            <a:spLocks xmlns:a="http://schemas.openxmlformats.org/drawingml/2006/main" noGrp="1"/>
          </p:cNvSpPr>
          <p:nvPr/>
        </p:nvSpPr>
        <p:spPr>
          <a:xfrm xmlns:a="http://schemas.openxmlformats.org/drawingml/2006/main">
            <a:off x="3429000" y="2002536"/>
            <a:ext cx="2322576"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0" i="0" u="none">
                <a:solidFill>
                  <a:srgbClr val="1F2D3D"/>
                </a:solidFill>
                <a:latin typeface="Calibri"/>
                <a:ea typeface="Calibri"/>
                <a:cs typeface="Calibri"/>
              </a:rPr>
              <a:t>Provenance, policy/security controls, checkpoints, HITL, tracing and evaluation.</a:t>
            </a:r>
          </a:p>
        </p:txBody>
      </p:sp>
      <p:sp>
        <p:nvSpPr>
          <p:cNvPr id="15" name="Rounded Rectangle 14">
            <a:extLst xmlns:a="http://schemas.openxmlformats.org/drawingml/2006/main">
              <a:ext uri="{FF2B5EF4-FFF2-40B4-BE49-F238E27FC236}">
                <a16:creationId xmlns:a16="http://schemas.microsoft.com/office/drawing/2014/main" id="{5DDC4AC8-4CDD-48A1-BD77-65ACCF2C0EF7}"/>
              </a:ext>
            </a:extLst>
          </p:cNvPr>
          <p:cNvSpPr>
            <a:spLocks xmlns:a="http://schemas.openxmlformats.org/drawingml/2006/main" noGrp="1"/>
          </p:cNvSpPr>
          <p:nvPr/>
        </p:nvSpPr>
        <p:spPr>
          <a:xfrm xmlns:a="http://schemas.openxmlformats.org/drawingml/2006/main">
            <a:off x="6071616" y="1572768"/>
            <a:ext cx="2542032" cy="1078992"/>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80597735-FA9F-409F-8BBD-710030FA7E63}"/>
              </a:ext>
            </a:extLst>
          </p:cNvPr>
          <p:cNvSpPr>
            <a:spLocks xmlns:a="http://schemas.openxmlformats.org/drawingml/2006/main" noGrp="1"/>
          </p:cNvSpPr>
          <p:nvPr/>
        </p:nvSpPr>
        <p:spPr>
          <a:xfrm xmlns:a="http://schemas.openxmlformats.org/drawingml/2006/main">
            <a:off x="6181344" y="166420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00" b="1" i="0" u="none">
                <a:solidFill>
                  <a:srgbClr val="6A4C93"/>
                </a:solidFill>
                <a:latin typeface="Consolas"/>
                <a:ea typeface="Consolas"/>
                <a:cs typeface="Consolas"/>
              </a:rPr>
              <a:t>B2</a:t>
            </a:r>
          </a:p>
        </p:txBody>
      </p:sp>
      <p:sp>
        <p:nvSpPr>
          <p:cNvPr id="17" name="TextBox 16">
            <a:extLst xmlns:a="http://schemas.openxmlformats.org/drawingml/2006/main">
              <a:ext uri="{FF2B5EF4-FFF2-40B4-BE49-F238E27FC236}">
                <a16:creationId xmlns:a16="http://schemas.microsoft.com/office/drawing/2014/main" id="{3628C03E-5704-44F6-99C7-DFAD0C8421B0}"/>
              </a:ext>
            </a:extLst>
          </p:cNvPr>
          <p:cNvSpPr>
            <a:spLocks xmlns:a="http://schemas.openxmlformats.org/drawingml/2006/main" noGrp="1"/>
          </p:cNvSpPr>
          <p:nvPr/>
        </p:nvSpPr>
        <p:spPr>
          <a:xfrm xmlns:a="http://schemas.openxmlformats.org/drawingml/2006/main">
            <a:off x="6601968" y="1664208"/>
            <a:ext cx="188366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70" b="1" i="0" u="none">
                <a:solidFill>
                  <a:srgbClr val="24355B"/>
                </a:solidFill>
                <a:latin typeface="Cambria"/>
                <a:ea typeface="Cambria"/>
                <a:cs typeface="Cambria"/>
              </a:rPr>
              <a:t>Strong interoperable peer</a:t>
            </a:r>
          </a:p>
        </p:txBody>
      </p:sp>
      <p:sp>
        <p:nvSpPr>
          <p:cNvPr id="18" name="TextBox 17">
            <a:extLst xmlns:a="http://schemas.openxmlformats.org/drawingml/2006/main">
              <a:ext uri="{FF2B5EF4-FFF2-40B4-BE49-F238E27FC236}">
                <a16:creationId xmlns:a16="http://schemas.microsoft.com/office/drawing/2014/main" id="{08875FD1-603A-471E-9213-70DD849FE0F9}"/>
              </a:ext>
            </a:extLst>
          </p:cNvPr>
          <p:cNvSpPr>
            <a:spLocks xmlns:a="http://schemas.openxmlformats.org/drawingml/2006/main" noGrp="1"/>
          </p:cNvSpPr>
          <p:nvPr/>
        </p:nvSpPr>
        <p:spPr>
          <a:xfrm xmlns:a="http://schemas.openxmlformats.org/drawingml/2006/main">
            <a:off x="6181344" y="2002536"/>
            <a:ext cx="2322576"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0" i="0" u="none">
                <a:solidFill>
                  <a:srgbClr val="1F2D3D"/>
                </a:solidFill>
                <a:latin typeface="Calibri"/>
                <a:ea typeface="Calibri"/>
                <a:cs typeface="Calibri"/>
              </a:rPr>
              <a:t>Identity/access, explicit handoff, cross-system observability and strongest relevant native controls.</a:t>
            </a:r>
          </a:p>
        </p:txBody>
      </p:sp>
      <p:sp>
        <p:nvSpPr>
          <p:cNvPr id="19" name="Rounded Rectangle 18">
            <a:extLst xmlns:a="http://schemas.openxmlformats.org/drawingml/2006/main">
              <a:ext uri="{FF2B5EF4-FFF2-40B4-BE49-F238E27FC236}">
                <a16:creationId xmlns:a16="http://schemas.microsoft.com/office/drawing/2014/main" id="{9FA205CF-8A9B-4ECA-A228-E64D48F4860A}"/>
              </a:ext>
            </a:extLst>
          </p:cNvPr>
          <p:cNvSpPr>
            <a:spLocks xmlns:a="http://schemas.openxmlformats.org/drawingml/2006/main" noGrp="1"/>
          </p:cNvSpPr>
          <p:nvPr/>
        </p:nvSpPr>
        <p:spPr>
          <a:xfrm xmlns:a="http://schemas.openxmlformats.org/drawingml/2006/main">
            <a:off x="8823960" y="1572768"/>
            <a:ext cx="2542032" cy="1078992"/>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F6D94BB7-5DC6-4A17-AEDD-C22DA5522BD3}"/>
              </a:ext>
            </a:extLst>
          </p:cNvPr>
          <p:cNvSpPr>
            <a:spLocks xmlns:a="http://schemas.openxmlformats.org/drawingml/2006/main" noGrp="1"/>
          </p:cNvSpPr>
          <p:nvPr/>
        </p:nvSpPr>
        <p:spPr>
          <a:xfrm xmlns:a="http://schemas.openxmlformats.org/drawingml/2006/main">
            <a:off x="8933688" y="166420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00" b="1" i="0" u="none">
                <a:solidFill>
                  <a:srgbClr val="D07800"/>
                </a:solidFill>
                <a:latin typeface="Consolas"/>
                <a:ea typeface="Consolas"/>
                <a:cs typeface="Consolas"/>
              </a:rPr>
              <a:t>B3</a:t>
            </a:r>
          </a:p>
        </p:txBody>
      </p:sp>
      <p:sp>
        <p:nvSpPr>
          <p:cNvPr id="21" name="TextBox 20">
            <a:extLst xmlns:a="http://schemas.openxmlformats.org/drawingml/2006/main">
              <a:ext uri="{FF2B5EF4-FFF2-40B4-BE49-F238E27FC236}">
                <a16:creationId xmlns:a16="http://schemas.microsoft.com/office/drawing/2014/main" id="{23B72583-0AFE-4E18-A8F4-1BE293E52CFC}"/>
              </a:ext>
            </a:extLst>
          </p:cNvPr>
          <p:cNvSpPr>
            <a:spLocks xmlns:a="http://schemas.openxmlformats.org/drawingml/2006/main" noGrp="1"/>
          </p:cNvSpPr>
          <p:nvPr/>
        </p:nvSpPr>
        <p:spPr>
          <a:xfrm xmlns:a="http://schemas.openxmlformats.org/drawingml/2006/main">
            <a:off x="9354312" y="1664208"/>
            <a:ext cx="188366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70" b="1" i="0" u="none">
                <a:solidFill>
                  <a:srgbClr val="24355B"/>
                </a:solidFill>
                <a:latin typeface="Cambria"/>
                <a:ea typeface="Cambria"/>
                <a:cs typeface="Cambria"/>
              </a:rPr>
              <a:t>B2 + EA semantics</a:t>
            </a:r>
          </a:p>
        </p:txBody>
      </p:sp>
      <p:sp>
        <p:nvSpPr>
          <p:cNvPr id="22" name="TextBox 21">
            <a:extLst xmlns:a="http://schemas.openxmlformats.org/drawingml/2006/main">
              <a:ext uri="{FF2B5EF4-FFF2-40B4-BE49-F238E27FC236}">
                <a16:creationId xmlns:a16="http://schemas.microsoft.com/office/drawing/2014/main" id="{DF24028F-E12D-49FD-B919-0C06E16EFA3B}"/>
              </a:ext>
            </a:extLst>
          </p:cNvPr>
          <p:cNvSpPr>
            <a:spLocks xmlns:a="http://schemas.openxmlformats.org/drawingml/2006/main" noGrp="1"/>
          </p:cNvSpPr>
          <p:nvPr/>
        </p:nvSpPr>
        <p:spPr>
          <a:xfrm xmlns:a="http://schemas.openxmlformats.org/drawingml/2006/main">
            <a:off x="8933688" y="2002536"/>
            <a:ext cx="2322576"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0" i="0" u="none">
                <a:solidFill>
                  <a:srgbClr val="1F2D3D"/>
                </a:solidFill>
                <a:latin typeface="Calibri"/>
                <a:ea typeface="Calibri"/>
                <a:cs typeface="Calibri"/>
              </a:rPr>
              <a:t>Minimum scoped qualification, non-fungible uncertainty and bounded requalification under test.</a:t>
            </a:r>
          </a:p>
        </p:txBody>
      </p:sp>
      <p:sp>
        <p:nvSpPr>
          <p:cNvPr id="23" name="Rounded Rectangle 22">
            <a:extLst xmlns:a="http://schemas.openxmlformats.org/drawingml/2006/main">
              <a:ext uri="{FF2B5EF4-FFF2-40B4-BE49-F238E27FC236}">
                <a16:creationId xmlns:a16="http://schemas.microsoft.com/office/drawing/2014/main" id="{6F546925-96EE-4182-82CD-6DF6886EDB12}"/>
              </a:ext>
            </a:extLst>
          </p:cNvPr>
          <p:cNvSpPr>
            <a:spLocks xmlns:a="http://schemas.openxmlformats.org/drawingml/2006/main" noGrp="1"/>
          </p:cNvSpPr>
          <p:nvPr/>
        </p:nvSpPr>
        <p:spPr>
          <a:xfrm xmlns:a="http://schemas.openxmlformats.org/drawingml/2006/main">
            <a:off x="566928" y="2907792"/>
            <a:ext cx="5349240" cy="2331720"/>
          </a:xfrm>
          <a:prstGeom xmlns:a="http://schemas.openxmlformats.org/drawingml/2006/main" prst="roundRect">
            <a:avLst/>
          </a:prstGeom>
          <a:solidFill xmlns:a="http://schemas.openxmlformats.org/drawingml/2006/main">
            <a:srgbClr val="F3F6F8"/>
          </a:solidFill>
          <a:ln xmlns:a="http://schemas.openxmlformats.org/drawingml/2006/main">
            <a:solidFill>
              <a:srgbClr val="D2D9E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8BBE7CF1-5512-4D25-BFC4-A6C00262B494}"/>
              </a:ext>
            </a:extLst>
          </p:cNvPr>
          <p:cNvSpPr>
            <a:spLocks xmlns:a="http://schemas.openxmlformats.org/drawingml/2006/main" noGrp="1"/>
          </p:cNvSpPr>
          <p:nvPr/>
        </p:nvSpPr>
        <p:spPr>
          <a:xfrm xmlns:a="http://schemas.openxmlformats.org/drawingml/2006/main">
            <a:off x="768096" y="3090672"/>
            <a:ext cx="49377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none">
                <a:solidFill>
                  <a:srgbClr val="24355B"/>
                </a:solidFill>
                <a:latin typeface="Consolas"/>
                <a:ea typeface="Consolas"/>
                <a:cs typeface="Consolas"/>
              </a:rPr>
              <a:t>DECISION RULE</a:t>
            </a:r>
          </a:p>
        </p:txBody>
      </p:sp>
      <p:sp>
        <p:nvSpPr>
          <p:cNvPr id="25" name="TextBox 24">
            <a:extLst xmlns:a="http://schemas.openxmlformats.org/drawingml/2006/main">
              <a:ext uri="{FF2B5EF4-FFF2-40B4-BE49-F238E27FC236}">
                <a16:creationId xmlns:a16="http://schemas.microsoft.com/office/drawing/2014/main" id="{D0517C3D-5BC4-4A97-B22C-0DCF5BC7A266}"/>
              </a:ext>
            </a:extLst>
          </p:cNvPr>
          <p:cNvSpPr>
            <a:spLocks xmlns:a="http://schemas.openxmlformats.org/drawingml/2006/main" noGrp="1"/>
          </p:cNvSpPr>
          <p:nvPr/>
        </p:nvSpPr>
        <p:spPr>
          <a:xfrm xmlns:a="http://schemas.openxmlformats.org/drawingml/2006/main">
            <a:off x="768096" y="3401568"/>
            <a:ext cx="4864608"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19" b="0" i="0" u="none">
                <a:solidFill>
                  <a:srgbClr val="1F2D3D"/>
                </a:solidFill>
                <a:latin typeface="Calibri"/>
                <a:ea typeface="Calibri"/>
                <a:cs typeface="Calibri"/>
              </a:rPr>
              <a:t>• All arms receive the same frozen facts, evidence access, authority, compute/token ceiling, communication budget, human capacity and deadline.</a:t>
            </a:r>
            <a:br>
              <a:rPr sz="1019" b="0" i="0" u="none">
                <a:solidFill>
                  <a:srgbClr val="1F2D3D"/>
                </a:solidFill>
                <a:latin typeface="Calibri"/>
                <a:ea typeface="Calibri"/>
                <a:cs typeface="Calibri"/>
              </a:rPr>
            </a:br>
            <a:r>
              <a:rPr sz="1019" b="0" i="0" u="none">
                <a:solidFill>
                  <a:srgbClr val="1F2D3D"/>
                </a:solidFill>
                <a:latin typeface="Calibri"/>
                <a:ea typeface="Calibri"/>
                <a:cs typeface="Calibri"/>
              </a:rPr>
              <a:t>• If B1/B2 reproduces the proposed behaviour with equal or lower burden, that result counts against differentiation.</a:t>
            </a:r>
            <a:br>
              <a:rPr sz="1019" b="0" i="0" u="none">
                <a:solidFill>
                  <a:srgbClr val="1F2D3D"/>
                </a:solidFill>
                <a:latin typeface="Calibri"/>
                <a:ea typeface="Calibri"/>
                <a:cs typeface="Calibri"/>
              </a:rPr>
            </a:br>
            <a:r>
              <a:rPr sz="1019" b="0" i="0" u="none">
                <a:solidFill>
                  <a:srgbClr val="1F2D3D"/>
                </a:solidFill>
                <a:latin typeface="Calibri"/>
                <a:ea typeface="Calibri"/>
                <a:cs typeface="Calibri"/>
              </a:rPr>
              <a:t>• Comparison is made on an outcome–burden–accountability frontier, not on a vendor league table.</a:t>
            </a:r>
          </a:p>
        </p:txBody>
      </p:sp>
      <p:sp>
        <p:nvSpPr>
          <p:cNvPr id="26" name="TextBox 25">
            <a:extLst xmlns:a="http://schemas.openxmlformats.org/drawingml/2006/main">
              <a:ext uri="{FF2B5EF4-FFF2-40B4-BE49-F238E27FC236}">
                <a16:creationId xmlns:a16="http://schemas.microsoft.com/office/drawing/2014/main" id="{414F7904-EDFF-42F9-AA49-591869051868}"/>
              </a:ext>
            </a:extLst>
          </p:cNvPr>
          <p:cNvSpPr>
            <a:spLocks xmlns:a="http://schemas.openxmlformats.org/drawingml/2006/main" noGrp="1"/>
          </p:cNvSpPr>
          <p:nvPr/>
        </p:nvSpPr>
        <p:spPr>
          <a:xfrm xmlns:a="http://schemas.openxmlformats.org/drawingml/2006/main">
            <a:off x="768096" y="4754880"/>
            <a:ext cx="24231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sng">
                <a:solidFill>
                  <a:srgbClr val="2F6FB2"/>
                </a:solidFill>
                <a:latin typeface="Calibri"/>
                <a:ea typeface="Calibri"/>
                <a:cs typeface="Calibri"/>
                <a:hlinkClick xmlns:r="http://schemas.openxmlformats.org/officeDocument/2006/relationships" r:id="Rd0fc6af8887c4a35"/>
              </a:rPr>
              <a:t>Canonical benchmark v0.2</a:t>
            </a:r>
          </a:p>
        </p:txBody>
      </p:sp>
      <p:sp>
        <p:nvSpPr>
          <p:cNvPr id="27" name="TextBox 26">
            <a:extLst xmlns:a="http://schemas.openxmlformats.org/drawingml/2006/main">
              <a:ext uri="{FF2B5EF4-FFF2-40B4-BE49-F238E27FC236}">
                <a16:creationId xmlns:a16="http://schemas.microsoft.com/office/drawing/2014/main" id="{5BCA24CC-4279-47A0-8E85-28EA0593EFE3}"/>
              </a:ext>
            </a:extLst>
          </p:cNvPr>
          <p:cNvSpPr>
            <a:spLocks xmlns:a="http://schemas.openxmlformats.org/drawingml/2006/main" noGrp="1"/>
          </p:cNvSpPr>
          <p:nvPr/>
        </p:nvSpPr>
        <p:spPr>
          <a:xfrm xmlns:a="http://schemas.openxmlformats.org/drawingml/2006/main">
            <a:off x="3127248" y="4754880"/>
            <a:ext cx="24231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sng">
                <a:solidFill>
                  <a:srgbClr val="2F6FB2"/>
                </a:solidFill>
                <a:latin typeface="Calibri"/>
                <a:ea typeface="Calibri"/>
                <a:cs typeface="Calibri"/>
                <a:hlinkClick xmlns:r="http://schemas.openxmlformats.org/officeDocument/2006/relationships" r:id="R7e2b8f5fc09c45bc"/>
              </a:rPr>
              <a:t>Benchmark vNext v0.3</a:t>
            </a:r>
          </a:p>
        </p:txBody>
      </p:sp>
      <p:sp>
        <p:nvSpPr>
          <p:cNvPr id="28" name="Rounded Rectangle 27">
            <a:extLst xmlns:a="http://schemas.openxmlformats.org/drawingml/2006/main">
              <a:ext uri="{FF2B5EF4-FFF2-40B4-BE49-F238E27FC236}">
                <a16:creationId xmlns:a16="http://schemas.microsoft.com/office/drawing/2014/main" id="{3D367EBF-086F-45B5-B447-D079204335F9}"/>
              </a:ext>
            </a:extLst>
          </p:cNvPr>
          <p:cNvSpPr>
            <a:spLocks xmlns:a="http://schemas.openxmlformats.org/drawingml/2006/main" noGrp="1"/>
          </p:cNvSpPr>
          <p:nvPr/>
        </p:nvSpPr>
        <p:spPr>
          <a:xfrm xmlns:a="http://schemas.openxmlformats.org/drawingml/2006/main">
            <a:off x="6144768" y="2907792"/>
            <a:ext cx="5257800" cy="2331720"/>
          </a:xfrm>
          <a:prstGeom xmlns:a="http://schemas.openxmlformats.org/drawingml/2006/main" prst="roundRect">
            <a:avLst/>
          </a:prstGeom>
          <a:solidFill xmlns:a="http://schemas.openxmlformats.org/drawingml/2006/main">
            <a:srgbClr val="FFFFFF"/>
          </a:solidFill>
          <a:ln xmlns:a="http://schemas.openxmlformats.org/drawingml/2006/main" w="15875">
            <a:solidFill>
              <a:srgbClr val="00848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DB5CA3E4-B02C-499B-995C-F19269AC6E7F}"/>
              </a:ext>
            </a:extLst>
          </p:cNvPr>
          <p:cNvSpPr>
            <a:spLocks xmlns:a="http://schemas.openxmlformats.org/drawingml/2006/main" noGrp="1"/>
          </p:cNvSpPr>
          <p:nvPr/>
        </p:nvSpPr>
        <p:spPr>
          <a:xfrm xmlns:a="http://schemas.openxmlformats.org/drawingml/2006/main">
            <a:off x="6345936" y="3090672"/>
            <a:ext cx="47548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none">
                <a:solidFill>
                  <a:srgbClr val="00848A"/>
                </a:solidFill>
                <a:latin typeface="Consolas"/>
                <a:ea typeface="Consolas"/>
                <a:cs typeface="Consolas"/>
              </a:rPr>
              <a:t>PUBLIC RANKING / APPLIED VALIDATION</a:t>
            </a:r>
          </a:p>
        </p:txBody>
      </p:sp>
      <p:sp>
        <p:nvSpPr>
          <p:cNvPr id="30" name="TextBox 29">
            <a:extLst xmlns:a="http://schemas.openxmlformats.org/drawingml/2006/main">
              <a:ext uri="{FF2B5EF4-FFF2-40B4-BE49-F238E27FC236}">
                <a16:creationId xmlns:a16="http://schemas.microsoft.com/office/drawing/2014/main" id="{76998BD9-8D51-4086-A116-86C6CFA40CEA}"/>
              </a:ext>
            </a:extLst>
          </p:cNvPr>
          <p:cNvSpPr>
            <a:spLocks xmlns:a="http://schemas.openxmlformats.org/drawingml/2006/main" noGrp="1"/>
          </p:cNvSpPr>
          <p:nvPr/>
        </p:nvSpPr>
        <p:spPr>
          <a:xfrm xmlns:a="http://schemas.openxmlformats.org/drawingml/2006/main">
            <a:off x="6345936" y="3401568"/>
            <a:ext cx="4718304" cy="111556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69" b="0" i="0" u="none">
                <a:solidFill>
                  <a:srgbClr val="1F2D3D"/>
                </a:solidFill>
                <a:latin typeface="Calibri"/>
                <a:ea typeface="Calibri"/>
                <a:cs typeface="Calibri"/>
              </a:rPr>
              <a:t>1. Hard admission gates: semantic integrity · authority integrity · continuity · traceability.</a:t>
            </a:r>
            <a:br>
              <a:rPr sz="969" b="0" i="0" u="none">
                <a:solidFill>
                  <a:srgbClr val="1F2D3D"/>
                </a:solidFill>
                <a:latin typeface="Calibri"/>
                <a:ea typeface="Calibri"/>
                <a:cs typeface="Calibri"/>
              </a:rPr>
            </a:br>
            <a:r>
              <a:rPr sz="969" b="0" i="0" u="none">
                <a:solidFill>
                  <a:srgbClr val="1F2D3D"/>
                </a:solidFill>
                <a:latin typeface="Calibri"/>
                <a:ea typeface="Calibri"/>
                <a:cs typeface="Calibri"/>
              </a:rPr>
              <a:t>2. Among admitted configurations: outcome / burden / accountability + Pareto review.</a:t>
            </a:r>
            <a:br>
              <a:rPr sz="969" b="0" i="0" u="none">
                <a:solidFill>
                  <a:srgbClr val="1F2D3D"/>
                </a:solidFill>
                <a:latin typeface="Calibri"/>
                <a:ea typeface="Calibri"/>
                <a:cs typeface="Calibri"/>
              </a:rPr>
            </a:br>
            <a:r>
              <a:rPr sz="969" b="0" i="0" u="none">
                <a:solidFill>
                  <a:srgbClr val="1F2D3D"/>
                </a:solidFill>
                <a:latin typeface="Calibri"/>
                <a:ea typeface="Calibri"/>
                <a:cs typeface="Calibri"/>
              </a:rPr>
              <a:t>3. Evidence maturity: DBC-EL0 Defined → EL1 Mapped → EL2 Deterministic → EL3 Comparative → EL4 Interoperable → EL5 Replicated / applied.</a:t>
            </a:r>
            <a:br>
              <a:rPr sz="969" b="0" i="0" u="none">
                <a:solidFill>
                  <a:srgbClr val="1F2D3D"/>
                </a:solidFill>
                <a:latin typeface="Calibri"/>
                <a:ea typeface="Calibri"/>
                <a:cs typeface="Calibri"/>
              </a:rPr>
            </a:br>
            <a:r>
              <a:rPr sz="969" b="0" i="0" u="none">
                <a:solidFill>
                  <a:srgbClr val="1F2D3D"/>
                </a:solidFill>
                <a:latin typeface="Calibri"/>
                <a:ea typeface="Calibri"/>
                <a:cs typeface="Calibri"/>
              </a:rPr>
              <a:t>No single compensating universal score is permitted.</a:t>
            </a:r>
          </a:p>
        </p:txBody>
      </p:sp>
      <p:sp>
        <p:nvSpPr>
          <p:cNvPr id="31" name="TextBox 30">
            <a:extLst xmlns:a="http://schemas.openxmlformats.org/drawingml/2006/main">
              <a:ext uri="{FF2B5EF4-FFF2-40B4-BE49-F238E27FC236}">
                <a16:creationId xmlns:a16="http://schemas.microsoft.com/office/drawing/2014/main" id="{A51FC30D-1024-4FF3-B3BD-0EAD26FD03CC}"/>
              </a:ext>
            </a:extLst>
          </p:cNvPr>
          <p:cNvSpPr>
            <a:spLocks xmlns:a="http://schemas.openxmlformats.org/drawingml/2006/main" noGrp="1"/>
          </p:cNvSpPr>
          <p:nvPr/>
        </p:nvSpPr>
        <p:spPr>
          <a:xfrm xmlns:a="http://schemas.openxmlformats.org/drawingml/2006/main">
            <a:off x="6345936" y="4754880"/>
            <a:ext cx="43891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80" b="1" i="0" u="sng">
                <a:solidFill>
                  <a:srgbClr val="2F6FB2"/>
                </a:solidFill>
                <a:latin typeface="Calibri"/>
                <a:ea typeface="Calibri"/>
                <a:cs typeface="Calibri"/>
                <a:hlinkClick xmlns:r="http://schemas.openxmlformats.org/officeDocument/2006/relationships" r:id="Rbc920b6768a2430a"/>
              </a:rPr>
              <a:t>Decision Boundary Challenge v0.2 — public ranking-by-evidence</a:t>
            </a:r>
          </a:p>
        </p:txBody>
      </p:sp>
      <p:sp>
        <p:nvSpPr>
          <p:cNvPr id="32" name="Rounded Rectangle 31">
            <a:extLst xmlns:a="http://schemas.openxmlformats.org/drawingml/2006/main">
              <a:ext uri="{FF2B5EF4-FFF2-40B4-BE49-F238E27FC236}">
                <a16:creationId xmlns:a16="http://schemas.microsoft.com/office/drawing/2014/main" id="{A415E69C-D119-4EA2-87C3-E4C013BE6971}"/>
              </a:ext>
            </a:extLst>
          </p:cNvPr>
          <p:cNvSpPr>
            <a:spLocks xmlns:a="http://schemas.openxmlformats.org/drawingml/2006/main" noGrp="1"/>
          </p:cNvSpPr>
          <p:nvPr/>
        </p:nvSpPr>
        <p:spPr>
          <a:xfrm xmlns:a="http://schemas.openxmlformats.org/drawingml/2006/main">
            <a:off x="566928" y="5449824"/>
            <a:ext cx="10835640" cy="530352"/>
          </a:xfrm>
          <a:prstGeom xmlns:a="http://schemas.openxmlformats.org/drawingml/2006/main" prst="roundRect">
            <a:avLst/>
          </a:prstGeom>
          <a:solidFill xmlns:a="http://schemas.openxmlformats.org/drawingml/2006/main">
            <a:srgbClr val="FFFFFF"/>
          </a:solidFill>
          <a:ln xmlns:a="http://schemas.openxmlformats.org/drawingml/2006/main">
            <a:solidFill>
              <a:srgbClr val="D078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08A4B18D-85F2-4A08-A037-6D5BC09114CB}"/>
              </a:ext>
            </a:extLst>
          </p:cNvPr>
          <p:cNvSpPr>
            <a:spLocks xmlns:a="http://schemas.openxmlformats.org/drawingml/2006/main" noGrp="1"/>
          </p:cNvSpPr>
          <p:nvPr/>
        </p:nvSpPr>
        <p:spPr>
          <a:xfrm xmlns:a="http://schemas.openxmlformats.org/drawingml/2006/main">
            <a:off x="768096" y="5577840"/>
            <a:ext cx="103784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80" b="1" i="0" u="none">
                <a:solidFill>
                  <a:srgbClr val="24355B"/>
                </a:solidFill>
                <a:latin typeface="Calibri"/>
                <a:ea typeface="Calibri"/>
                <a:cs typeface="Calibri"/>
              </a:rPr>
              <a:t>DIFFERENTIAL UNDER TEST  —  Does the composed architecture improve the declared outcome–burden–accountability frontier, or preserve the same outcome with a simpler accountable surface?</a:t>
            </a:r>
          </a:p>
        </p:txBody>
      </p:sp>
      <p:sp>
        <p:nvSpPr>
          <p:cNvPr id="34" name="TextBox 33">
            <a:extLst xmlns:a="http://schemas.openxmlformats.org/drawingml/2006/main">
              <a:ext uri="{FF2B5EF4-FFF2-40B4-BE49-F238E27FC236}">
                <a16:creationId xmlns:a16="http://schemas.microsoft.com/office/drawing/2014/main" id="{3F9BDF00-8DEC-43EF-9865-9A80D2A932D6}"/>
              </a:ext>
            </a:extLst>
          </p:cNvPr>
          <p:cNvSpPr>
            <a:spLocks xmlns:a="http://schemas.openxmlformats.org/drawingml/2006/main" noGrp="1"/>
          </p:cNvSpPr>
          <p:nvPr/>
        </p:nvSpPr>
        <p:spPr>
          <a:xfrm xmlns:a="http://schemas.openxmlformats.org/drawingml/2006/main">
            <a:off x="566928" y="6510528"/>
            <a:ext cx="3566160" cy="164592"/>
          </a:xfrm>
          <a:prstGeom xmlns:a="http://schemas.openxmlformats.org/drawingml/2006/main" prst="rect">
            <a:avLst/>
          </a:prstGeom>
          <a:noFill xmlns:a="http://schemas.openxmlformats.org/drawingml/2006/main"/>
        </p:spPr>
        <p:txBody>
          <a:bodyPr xmlns:a="http://schemas.openxmlformats.org/drawingml/2006/main" wrap="none" lIns="0" tIns="0" rIns="0" bIns="0">
            <a:spAutoFit/>
          </a:bodyPr>
          <a:lstStyle xmlns:a="http://schemas.openxmlformats.org/drawingml/2006/main"/>
          <a:p xmlns:a="http://schemas.openxmlformats.org/drawingml/2006/main">
            <a:pPr algn="l">
              <a:buNone/>
            </a:pPr>
            <a:r>
              <a:rPr sz="680" b="1">
                <a:solidFill>
                  <a:srgbClr val="727A86"/>
                </a:solidFill>
                <a:latin typeface="Calibri"/>
                <a:ea typeface="Calibri"/>
                <a:cs typeface="Calibri"/>
              </a:rPr>
              <a:t>CORPUS ↗  </a:t>
            </a:r>
            <a:r>
              <a:rPr sz="680" b="0" u="sng">
                <a:solidFill>
                  <a:srgbClr val="2F6FB2"/>
                </a:solidFill>
                <a:latin typeface="Calibri"/>
                <a:ea typeface="Calibri"/>
                <a:cs typeface="Calibri"/>
                <a:hlinkClick xmlns:r="http://schemas.openxmlformats.org/officeDocument/2006/relationships" r:id="R4e27b7b35b0e4376"/>
              </a:rPr>
              <a:t>Canonical benchmark v0.2</a:t>
            </a:r>
            <a:r>
              <a:rPr sz="680">
                <a:solidFill>
                  <a:srgbClr val="727A86"/>
                </a:solidFill>
                <a:latin typeface="Calibri"/>
                <a:ea typeface="Calibri"/>
                <a:cs typeface="Calibri"/>
              </a:rPr>
              <a:t>  ·  </a:t>
            </a:r>
            <a:r>
              <a:rPr sz="680" b="0" u="sng">
                <a:solidFill>
                  <a:srgbClr val="2F6FB2"/>
                </a:solidFill>
                <a:latin typeface="Calibri"/>
                <a:ea typeface="Calibri"/>
                <a:cs typeface="Calibri"/>
                <a:hlinkClick xmlns:r="http://schemas.openxmlformats.org/officeDocument/2006/relationships" r:id="R6dd8073031e64176"/>
              </a:rPr>
              <a:t>Public ranking · DBC v0.2</a:t>
            </a:r>
          </a:p>
        </p:txBody>
      </p:sp>
    </p:spTree>
    <p:extLst>
      <p:ext uri="{BB962C8B-B14F-4D97-AF65-F5344CB8AC3E}">
        <p14:creationId xmlns:p14="http://schemas.microsoft.com/office/powerpoint/2010/main" val="14838284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2026-09-27T10:25:03.6400000Z</dcterms:created>
  <dcterms:modified xsi:type="dcterms:W3CDTF">2026-09-27T10:25:03.6400000Z</dcterms:modified>
</coreProperties>
</file>