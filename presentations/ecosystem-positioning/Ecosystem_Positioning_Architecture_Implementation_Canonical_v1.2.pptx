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1e2437120d44f0" /><Relationship Type="http://schemas.openxmlformats.org/officeDocument/2006/relationships/extended-properties" Target="/docProps/app.xml" Id="R25e6969d859d474d" /><Relationship Type="http://schemas.openxmlformats.org/officeDocument/2006/relationships/officeDocument" Target="/ppt/presentation.xml" Id="Rdc454ff3b20245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b01e83da45485b"/>
  </p:sldMasterIdLst>
  <p:notesMasterIdLst>
    <p:notesMasterId xmlns:r="http://schemas.openxmlformats.org/officeDocument/2006/relationships" r:id="R34c54772b0e24f2c"/>
  </p:notesMasterIdLst>
  <p:sldIdLst>
    <p:sldId xmlns:r="http://schemas.openxmlformats.org/officeDocument/2006/relationships" id="256" r:id="Rbb1accd7bab14aa0"/>
    <p:sldId xmlns:r="http://schemas.openxmlformats.org/officeDocument/2006/relationships" id="257" r:id="Rabc9c8b2ccad4fd4"/>
    <p:sldId xmlns:r="http://schemas.openxmlformats.org/officeDocument/2006/relationships" id="258" r:id="Rf250a463e22b42b1"/>
    <p:sldId xmlns:r="http://schemas.openxmlformats.org/officeDocument/2006/relationships" id="259" r:id="R40319f2effde4b9d"/>
    <p:sldId xmlns:r="http://schemas.openxmlformats.org/officeDocument/2006/relationships" id="260" r:id="Reb662dc7923f41ea"/>
    <p:sldId xmlns:r="http://schemas.openxmlformats.org/officeDocument/2006/relationships" id="261" r:id="R033cd8f582464994"/>
    <p:sldId xmlns:r="http://schemas.openxmlformats.org/officeDocument/2006/relationships" id="262" r:id="R2b3e899cf1444d0d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authors.xml><?xml version="1.0" encoding="utf-8"?>
<p188:authorLst xmlns:p188="http://schemas.microsoft.com/office/powerpoint/2018/8/main">
  <p188:author id="{08D4D544-A292-4829-B32B-F321090D9532}" name="Codex" initials="CX"/>
  <p188:author id="{A1367D4F-5962-5773-E0CE-22E838CB07E5}" name="Ivan Abril Palma" initials="IA" userId="1518fb449b47511d" providerId="Windows Live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17d22a764a4bfe" /><Relationship Type="http://schemas.openxmlformats.org/officeDocument/2006/relationships/slideMaster" Target="/ppt/slideMasters/slideMaster1.xml" Id="R70b01e83da45485b" /><Relationship Type="http://schemas.openxmlformats.org/officeDocument/2006/relationships/notesMaster" Target="/ppt/notesMasters/notesMaster1.xml" Id="R34c54772b0e24f2c" /><Relationship Type="http://schemas.openxmlformats.org/officeDocument/2006/relationships/presProps" Target="/ppt/presProps.xml" Id="R10e28cf5790a49d0" /><Relationship Type="http://schemas.openxmlformats.org/officeDocument/2006/relationships/viewProps" Target="/ppt/viewProps.xml" Id="R2ad699c717834da3" /><Relationship Type="http://schemas.openxmlformats.org/officeDocument/2006/relationships/tableStyles" Target="/ppt/tableStyles.xml" Id="R0c69ba56d27c4916" /><Relationship Type="http://schemas.microsoft.com/office/2018/10/relationships/authors" Target="/ppt/authors.xml" Id="R1cdfd4e613744b5f" /><Relationship Type="http://schemas.openxmlformats.org/officeDocument/2006/relationships/slide" Target="/ppt/slides/slide1.xml" Id="Rbb1accd7bab14aa0" /><Relationship Type="http://schemas.openxmlformats.org/officeDocument/2006/relationships/slide" Target="/ppt/slides/slide2.xml" Id="Rabc9c8b2ccad4fd4" /><Relationship Type="http://schemas.openxmlformats.org/officeDocument/2006/relationships/slide" Target="/ppt/slides/slide3.xml" Id="Rf250a463e22b42b1" /><Relationship Type="http://schemas.openxmlformats.org/officeDocument/2006/relationships/slide" Target="/ppt/slides/slide4.xml" Id="R40319f2effde4b9d" /><Relationship Type="http://schemas.openxmlformats.org/officeDocument/2006/relationships/slide" Target="/ppt/slides/slide5.xml" Id="Reb662dc7923f41ea" /><Relationship Type="http://schemas.openxmlformats.org/officeDocument/2006/relationships/slide" Target="/ppt/slides/slide6.xml" Id="R033cd8f582464994" /><Relationship Type="http://schemas.openxmlformats.org/officeDocument/2006/relationships/slide" Target="/ppt/slides/slide7.xml" Id="R2b3e899cf1444d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77dd82a62b44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064a7930ef4894" /><Relationship Type="http://schemas.openxmlformats.org/officeDocument/2006/relationships/notesMaster" Target="/ppt/notesMasters/notesMaster1.xml" Id="R9f371b1d67c241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c7e990cc6446b7" /><Relationship Type="http://schemas.openxmlformats.org/officeDocument/2006/relationships/notesMaster" Target="/ppt/notesMasters/notesMaster1.xml" Id="R9808717a7d1b44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6b0ec054cc43c0" /><Relationship Type="http://schemas.openxmlformats.org/officeDocument/2006/relationships/notesMaster" Target="/ppt/notesMasters/notesMaster1.xml" Id="R9fcf643cab3343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3970518aec4425" /><Relationship Type="http://schemas.openxmlformats.org/officeDocument/2006/relationships/notesMaster" Target="/ppt/notesMasters/notesMaster1.xml" Id="R81d1198cc5194d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a78ba8efee4370" /><Relationship Type="http://schemas.openxmlformats.org/officeDocument/2006/relationships/notesMaster" Target="/ppt/notesMasters/notesMaster1.xml" Id="R4e0ff0fb9e454b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f035fdd0754b33" /><Relationship Type="http://schemas.openxmlformats.org/officeDocument/2006/relationships/notesMaster" Target="/ppt/notesMasters/notesMaster1.xml" Id="R25512a1bf66241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5b7dd859db4619" /><Relationship Type="http://schemas.openxmlformats.org/officeDocument/2006/relationships/notesMaster" Target="/ppt/notesMasters/notesMaster1.xml" Id="Rf805002143434c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851b35b0042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8a465e230f416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ASE">
    <p:bg>
      <p:bgPr>
        <a:solidFill xmlns:a="http://schemas.openxmlformats.org/drawingml/2006/main">
          <a:srgbClr val="F8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24AC05A-A514-42F8-9016-2E5D147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B27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0BA3AA8-903F-4A9F-BD7E-F1971757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12064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1B27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FD5C33F-27A7-4571-BF55-22819859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11045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1B27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87C5CD3-1C90-4DE4-AC10-83A6A6D3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32461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67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10B3E1A-A271-4DB8-96AC-80B94A66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6547104"/>
            <a:ext cx="3383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7A7E84"/>
                </a:solidFill>
                <a:latin typeface="Consolas"/>
                <a:ea typeface="Consolas"/>
                <a:cs typeface="Consolas"/>
              </a:rPr>
              <a:t>Ecosystem Awareness · Positioning architecture</a:t>
            </a:r>
            <a:endParaRPr sz="67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58AFA47-6D7A-4B0F-8606-AF5E073936E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537960"/>
            <a:ext cx="50292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a3664e8ebc4b2d" /><Relationship Type="http://schemas.openxmlformats.org/officeDocument/2006/relationships/slideLayout" Target="/ppt/slideLayouts/slideLayout1.xml" Id="R006acf276f234fc0" /><Relationship Type="http://schemas.openxmlformats.org/officeDocument/2006/relationships/slideLayout" Target="/ppt/slideLayouts/slideLayout2.xml" Id="Rf2600fc6e4aa4a0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7F9CD0A-AACD-49F3-918C-789F249C6D5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537960"/>
            <a:ext cx="50292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750">
                <a:solidFill>
                  <a:srgbClr val="1B273F"/>
                </a:solidFill>
                <a:latin typeface="Consolas"/>
                <a:ea typeface="Consolas"/>
                <a:cs typeface="Consolas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1"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6acf276f234fc0"/>
    <p:sldLayoutId xmlns:r="http://schemas.openxmlformats.org/officeDocument/2006/relationships" id="2147483650" r:id="Rf2600fc6e4aa4a0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f17d748f14675" /><Relationship Type="http://schemas.openxmlformats.org/officeDocument/2006/relationships/hyperlink" Target="https://github.com/dakleyer/structural-awareness-contributions/blob/main/architectural-contributions/ecosystem-positioning/README.md" TargetMode="External" Id="Rb7e0138bb6494418" /><Relationship Type="http://schemas.openxmlformats.org/officeDocument/2006/relationships/hyperlink" Target="https://github.com/dakleyer/structural-awareness-contributions/blob/main/architectural-contributions/ecosystem-positioning/README.md" TargetMode="External" Id="R34dd9a471ae6486d" /><Relationship Type="http://schemas.openxmlformats.org/officeDocument/2006/relationships/hyperlink" Target="https://github.com/dakleyer/structural-awareness-contributions/blob/main/architectural-contributions/ecosystem-positioning/README.md" TargetMode="External" Id="R5dfeb07fcd384db8" /><Relationship Type="http://schemas.openxmlformats.org/officeDocument/2006/relationships/notesSlide" Target="/ppt/notesSlides/notesSlide1.xml" Id="R5d79fb21c52e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47d9b340d64bf8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503ab299e68c4cb0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a13af1db64174260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e38330debc3b4a53" /><Relationship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 Id="R3be2a11a36c64af8" /><Relationship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 Id="R56ea0f2631694b25" /><Relationship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 Id="R9a3742ff617e4915" /><Relationship Type="http://schemas.openxmlformats.org/officeDocument/2006/relationships/hyperlink" Target="https://github.com/dakleyer/structural-awareness-contributions/blob/main/standards/minimum-sufficient-control/03_MSCA_ECOSYSTEM_COMPOSITION_AND_CONTROL.md" TargetMode="External" Id="R3a5a37bd7d5348fa" /><Relationship Type="http://schemas.openxmlformats.org/officeDocument/2006/relationships/hyperlink" Target="https://github.com/dakleyer/structural-awareness-contributions/blob/main/standards/minimum-sufficient-control/03_MSCA_ECOSYSTEM_COMPOSITION_AND_CONTROL.md" TargetMode="External" Id="R1dd38d097f5447a3" /><Relationship Type="http://schemas.openxmlformats.org/officeDocument/2006/relationships/hyperlink" Target="https://github.com/dakleyer/structural-awareness-contributions/blob/main/standards/minimum-sufficient-control/03_MSCA_ECOSYSTEM_COMPOSITION_AND_CONTROL.md" TargetMode="External" Id="Rac449b1c68e74809" /><Relationship Type="http://schemas.openxmlformats.org/officeDocument/2006/relationships/hyperlink" Target="https://github.com/dakleyer/structural-awareness-contributions/blob/main/research/regime-awareness/README.md" TargetMode="External" Id="Rbb9f861b12cf4be2" /><Relationship Type="http://schemas.openxmlformats.org/officeDocument/2006/relationships/hyperlink" Target="https://github.com/dakleyer/structural-awareness-contributions/blob/main/research/regime-awareness/README.md" TargetMode="External" Id="Rad4505c40f6b4715" /><Relationship Type="http://schemas.openxmlformats.org/officeDocument/2006/relationships/hyperlink" Target="https://github.com/dakleyer/structural-awareness-contributions/blob/main/research/regime-awareness/README.md" TargetMode="External" Id="R3bd2d6d56c074286" /><Relationship Type="http://schemas.openxmlformats.org/officeDocument/2006/relationships/hyperlink" Target="https://github.com/dakleyer/structural-awareness-contributions/blob/main/standards/minimum-sufficient-control/04_CANONICAL_MSCA_OPERATION_AND_REPOSITIONING.md" TargetMode="External" Id="R166a91aebd024ab3" /><Relationship Type="http://schemas.openxmlformats.org/officeDocument/2006/relationships/hyperlink" Target="https://github.com/dakleyer/structural-awareness-contributions/blob/main/standards/minimum-sufficient-control/04_CANONICAL_MSCA_OPERATION_AND_REPOSITIONING.md" TargetMode="External" Id="R681da7b9d39a465f" /><Relationship Type="http://schemas.openxmlformats.org/officeDocument/2006/relationships/hyperlink" Target="https://github.com/dakleyer/structural-awareness-contributions/blob/main/standards/minimum-sufficient-control/04_CANONICAL_MSCA_OPERATION_AND_REPOSITIONING.md" TargetMode="External" Id="Raeb56ceb41e94674" /><Relationship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 Id="R42259826cbfb4f35" /><Relationship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 Id="Rf4e8cc83fe1640d9" /><Relationship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 Id="R5ac6586b481b42b3" /><Relationship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 Id="R48895d48f47b4c06" /><Relationship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 Id="Re973b516584e42d4" /><Relationship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 Id="R6817ff37ebd54618" /><Relationship Type="http://schemas.openxmlformats.org/officeDocument/2006/relationships/hyperlink" Target="https://github.com/dakleyer/structural-awareness-contributions/blob/main/standards/minimum-sufficient-control/04_CANONICAL_MSCA_OPERATION_AND_REPOSITIONING.md" TargetMode="External" Id="Ra06f16923f734713" /><Relationship Type="http://schemas.openxmlformats.org/officeDocument/2006/relationships/hyperlink" Target="https://github.com/dakleyer/structural-awareness-contributions/blob/main/standards/minimum-sufficient-control/04_CANONICAL_MSCA_OPERATION_AND_REPOSITIONING.md" TargetMode="External" Id="R04eb8658e0284772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12ebdc5f582e4fd1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def73fcf54bd4e09" /><Relationship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 Id="R1afcfb9dfaf44110" /><Relationship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 Id="R476849d1e7464bfa" /><Relationship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 Id="R101b178dd2de471c" /><Relationship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 Id="R687d009cb6244c4e" /><Relationship Type="http://schemas.openxmlformats.org/officeDocument/2006/relationships/hyperlink" Target="https://github.com/dakleyer/structural-awareness-contributions/blob/main/standards/minimum-sufficient-control/00_CANONICAL_MSCA_ARCHITECTURE.md" TargetMode="External" Id="R0a53376212944d9a" /><Relationship Type="http://schemas.openxmlformats.org/officeDocument/2006/relationships/hyperlink" Target="https://github.com/dakleyer/structural-awareness-contributions/blob/main/standards/minimum-sufficient-control/00_CANONICAL_MSCA_ARCHITECTURE.md" TargetMode="External" Id="R9f01c8900ded4112" /><Relationship Type="http://schemas.openxmlformats.org/officeDocument/2006/relationships/hyperlink" Target="https://github.com/dakleyer/structural-awareness-contributions/blob/main/architectural-contributions/ecosystem-positioning/README.md#the-mechanisms-of-the-positioning-cycle" TargetMode="External" Id="R556628a3c3564fb9" /><Relationship Type="http://schemas.openxmlformats.org/officeDocument/2006/relationships/notesSlide" Target="/ppt/notesSlides/notesSlide2.xml" Id="R688921722d444e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0abda4a69465c" /><Relationship Type="http://schemas.openxmlformats.org/officeDocument/2006/relationships/notesSlide" Target="/ppt/notesSlides/notesSlide3.xml" Id="R863e75dda65243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ba2d85a0c249b4" /><Relationship Type="http://schemas.openxmlformats.org/officeDocument/2006/relationships/hyperlink" Target="https://github.com/dakleyer/structural-awareness-contributions/blob/main/research/ecosystem-awareness/baseline/04_GENERAL_FUNCTIONAL_INTERFACES_AGENTIC_SECURITY_v0.5_INTEGRATED.md" TargetMode="External" Id="R9c74b1d6def94de6" /><Relationship Type="http://schemas.openxmlformats.org/officeDocument/2006/relationships/hyperlink" Target="https://github.com/dakleyer/structural-awareness-contributions/blob/main/research/ecosystem-awareness/baseline/04_GENERAL_FUNCTIONAL_INTERFACES_AGENTIC_SECURITY_v0.5_INTEGRATED.md" TargetMode="External" Id="R6ca9e2d18d2b4c4b" /><Relationship Type="http://schemas.openxmlformats.org/officeDocument/2006/relationships/notesSlide" Target="/ppt/notesSlides/notesSlide4.xml" Id="Rf2a2850fc87e43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77611486e54c26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aa54d8bca69045db" /><Relationship Type="http://schemas.openxmlformats.org/officeDocument/2006/relationships/hyperlink" Target="https://github.com/dakleyer/structural-awareness-contributions/blob/main/architectural-contributions/ecosystem-positioning/README.md" TargetMode="External" Id="R52ebef54f46843bf" /><Relationship Type="http://schemas.openxmlformats.org/officeDocument/2006/relationships/hyperlink" Target="https://github.com/dakleyer/structural-awareness-contributions/blob/main/research/ecosystem-awareness/baseline/00_CANONICAL_ARCHITECTURE_TOPOLOGY.md" TargetMode="External" Id="R04fcb85a4a8a44ae" /><Relationship Type="http://schemas.openxmlformats.org/officeDocument/2006/relationships/hyperlink" Target="https://github.com/dakleyer/structural-awareness-contributions/blob/main/architectural-contributions/ecosystem-positioning/README.md" TargetMode="External" Id="R5e2bf9d491094887" /><Relationship Type="http://schemas.openxmlformats.org/officeDocument/2006/relationships/notesSlide" Target="/ppt/notesSlides/notesSlide5.xml" Id="R86acf309531b4f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5f2a642ba4611" /><Relationship Type="http://schemas.openxmlformats.org/officeDocument/2006/relationships/hyperlink" Target="https://github.com/dakleyer/structural-awareness-contributions/blob/main/research/ecosystem-awareness/fg-tida/README.md" TargetMode="External" Id="R5eca524a48794a32" /><Relationship Type="http://schemas.openxmlformats.org/officeDocument/2006/relationships/hyperlink" Target="https://github.com/dakleyer/structural-awareness-contributions/blob/main/architectural-contributions/ecosystem-positioning/README.md" TargetMode="External" Id="R3a0d28345a874b30" /><Relationship Type="http://schemas.openxmlformats.org/officeDocument/2006/relationships/hyperlink" Target="https://github.com/dakleyer/structural-awareness-contributions/blob/main/research/ecosystem-awareness/README.md" TargetMode="External" Id="Rd48124a7dce846b7" /><Relationship Type="http://schemas.openxmlformats.org/officeDocument/2006/relationships/hyperlink" Target="https://github.com/dakleyer/structural-awareness-contributions/blob/main/research/ecosystem-awareness/fg-tida/README.md" TargetMode="External" Id="Rcdd563ba0ef84bc8" /><Relationship Type="http://schemas.openxmlformats.org/officeDocument/2006/relationships/hyperlink" Target="https://github.com/dakleyer/structural-awareness-contributions/blob/main/research/ecosystem-awareness/fg-tida/README.md" TargetMode="External" Id="R12ec264cbbec495f" /><Relationship Type="http://schemas.openxmlformats.org/officeDocument/2006/relationships/notesSlide" Target="/ppt/notesSlides/notesSlide6.xml" Id="R749edc43cbd242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43a411e5e43f0" /><Relationship Type="http://schemas.openxmlformats.org/officeDocument/2006/relationships/notesSlide" Target="/ppt/notesSlides/notesSlide7.xml" Id="Rac370f1f323b4e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27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44C1FD-9BE7-4172-8EB3-B600C960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5967" y="36576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4" name="Connector 3">
            <a:extLst xmlns:a="http://schemas.openxmlformats.org/drawingml/2006/main">
              <a:ext uri="{FF2B5EF4-FFF2-40B4-BE49-F238E27FC236}">
                <a16:creationId xmlns:a16="http://schemas.microsoft.com/office/drawing/2014/main" id="{88B86075-DCCC-4A44-AD37-7FBEBF0D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13232"/>
            <a:ext cx="11057839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3D6D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CB3F87A0-9B7F-4CC6-AEBA-4ADB2ED6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63524"/>
            <a:ext cx="11057839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D3D6DC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D5B8D62-E8BB-4E19-A69A-7C23C3E2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783080"/>
            <a:ext cx="704088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</a:pPr>
            <a:r>
              <a:rPr sz="4600" b="1" i="0" spc="-100">
                <a:solidFill>
                  <a:srgbClr val="FCFCFD"/>
                </a:solidFill>
                <a:latin typeface="Cambria"/>
                <a:ea typeface="Cambria"/>
                <a:cs typeface="Cambria"/>
                <a:hlinkClick xmlns:r="http://schemas.openxmlformats.org/officeDocument/2006/relationships" r:id="Rb7e0138bb6494418"/>
              </a:rPr>
              <a:t>Ecosystem Positioning</a:t>
            </a:r>
          </a:p>
          <a:p xmlns:a="http://schemas.openxmlformats.org/drawingml/2006/main">
            <a:pPr algn="l">
              <a:lnSpc>
                <a:spcPct val="95000"/>
              </a:lnSpc>
              <a:buNone/>
            </a:pPr>
            <a:r>
              <a:rPr sz="4600" b="1" i="0" spc="-100">
                <a:solidFill>
                  <a:srgbClr val="FCFCFD"/>
                </a:solidFill>
                <a:latin typeface="Cambria"/>
                <a:ea typeface="Cambria"/>
                <a:cs typeface="Cambria"/>
                <a:hlinkClick xmlns:r="http://schemas.openxmlformats.org/officeDocument/2006/relationships" r:id="R34dd9a471ae6486d"/>
              </a:rPr>
              <a:t>for Agentic Systems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3FFF38-AB10-4A8D-82EC-580B75F7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83280"/>
            <a:ext cx="63093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1350" b="0" i="0">
                <a:solidFill>
                  <a:srgbClr val="CACDD3"/>
                </a:solidFill>
                <a:latin typeface="Calibri"/>
                <a:ea typeface="Calibri"/>
                <a:cs typeface="Calibri"/>
              </a:rPr>
              <a:t>A proposed architecture for participants that must stay situated, and requalify, as authority, evidence, roles and the ecosystem itself change.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8D80915-4B47-4AED-B24B-784257D0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" y="4928616"/>
            <a:ext cx="292608" cy="29260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B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16341C-B92E-4F9B-B4CA-A2BD3CF1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4937759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B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84407DF-E482-4DAA-8190-BCBEF679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4937759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B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8E96F78-EE96-491B-86E3-289BE64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37759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B2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8EFA27D-7367-4FDD-8492-2D7BFD38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5074920"/>
            <a:ext cx="151790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7FB2DE"/>
            </a:solidFill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52460077-9A01-4EB7-8E4D-B20BEED9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648" y="5074920"/>
            <a:ext cx="151790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7FB2DE"/>
            </a:solidFill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A33DCA61-C02F-4ECB-836D-01059D11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888" y="5074920"/>
            <a:ext cx="151790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7FB2DE"/>
            </a:solidFill>
            <a:tailEnd type="triangle" w="med" len="med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AA8AB46-338A-41D8-9072-2B79785B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8231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triggers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0E9A3CA-6531-4F27-B60A-D8193F71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78231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informs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D3604AD-BA4A-4398-BCC2-5B233B20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782312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guides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3424855-CA76-4EC6-A838-59A192F2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5330952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CHANGE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8CFE189-58C0-40C4-9878-C5C5E1C2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330952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AWARENESS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0CC274B-1102-4ED1-9240-F522FA0A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5330952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GRADIENT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C849B5E-791B-46D2-B407-98F8694A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5330952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 i="0" spc="130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REPOSITIONING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6C8ED7C-AF29-45CC-94C6-AD5C455D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5550408"/>
            <a:ext cx="21945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0" i="0">
                <a:solidFill>
                  <a:srgbClr val="8B919E"/>
                </a:solidFill>
                <a:latin typeface="Consolas"/>
                <a:ea typeface="Consolas"/>
                <a:cs typeface="Consolas"/>
              </a:rPr>
              <a:t>signal ≠ command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2B39579E-1223-4732-A566-50EA4B9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71600"/>
            <a:ext cx="3621024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24A"/>
          </a:solidFill>
          <a:ln xmlns:a="http://schemas.openxmlformats.org/drawingml/2006/main" w="7620">
            <a:solidFill>
              <a:srgbClr val="3F495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90077071-B7F3-409A-9E21-C4A07FC8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71600"/>
            <a:ext cx="41148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B2D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87BBAD8-8C10-41B7-A960-401218E4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627632"/>
            <a:ext cx="316382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DECK II · ARCHITECTURE &amp; IMPLEMENTATION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A230DBCA-C598-4CBC-A2F8-927CD883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38528"/>
            <a:ext cx="31638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</a:pPr>
            <a:r>
              <a:rPr sz="1650" b="1">
                <a:solidFill>
                  <a:srgbClr val="D7E4F2"/>
                </a:solidFill>
                <a:latin typeface="Cambria"/>
                <a:ea typeface="Cambria"/>
                <a:cs typeface="Cambria"/>
              </a:rPr>
              <a:t>Working architecture → interfaces → standards-facing application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CC0098D-5598-4259-9996-0A3CB712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788920"/>
            <a:ext cx="3072384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1050" b="1">
                <a:solidFill>
                  <a:srgbClr val="A6ABB5"/>
                </a:solidFill>
                <a:latin typeface="Consolas"/>
                <a:ea typeface="Consolas"/>
                <a:cs typeface="Consolas"/>
              </a:rPr>
              <a:t>CREATED BY</a:t>
            </a:r>
          </a:p>
          <a:p xmlns:a="http://schemas.openxmlformats.org/drawingml/2006/main">
            <a:pPr algn="l">
              <a:buNone/>
            </a:pPr>
            <a:r>
              <a:rPr sz="1700" b="1">
                <a:solidFill>
                  <a:srgbClr val="FCFCFD"/>
                </a:solidFill>
                <a:latin typeface="Cambria"/>
                <a:ea typeface="Cambria"/>
                <a:cs typeface="Cambria"/>
              </a:rPr>
              <a:t>Iván Abril Palma</a:t>
            </a:r>
          </a:p>
          <a:p xmlns:a="http://schemas.openxmlformats.org/drawingml/2006/main">
            <a:pPr algn="l">
              <a:buNone/>
            </a:pPr>
            <a:r>
              <a:rPr sz="1150" b="0">
                <a:solidFill>
                  <a:srgbClr val="CACDD3"/>
                </a:solidFill>
                <a:latin typeface="Calibri"/>
                <a:ea typeface="Calibri"/>
                <a:cs typeface="Calibri"/>
              </a:rPr>
              <a:t>Tegrity.ai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A2C1FE84-E727-4E00-89B0-AE684AE8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114800"/>
            <a:ext cx="316382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</a:pPr>
            <a:r>
              <a:rPr sz="1000">
                <a:solidFill>
                  <a:srgbClr val="5D6775"/>
                </a:solidFill>
                <a:latin typeface="Aptos"/>
                <a:ea typeface="Aptos"/>
                <a:cs typeface="Aptos"/>
              </a:rPr>
              <a:t>CREATIVE COMMONS · ATTRIBUTION</a:t>
            </a:r>
            <a:br/>
            <a:r>
              <a:rPr sz="1000">
                <a:solidFill>
                  <a:srgbClr val="5D6775"/>
                </a:solidFill>
                <a:latin typeface="Aptos"/>
                <a:ea typeface="Aptos"/>
                <a:cs typeface="Aptos"/>
              </a:rPr>
              <a:t>V1.1 · 2026-09-25 · CANONICAL WORKING PROPOSAL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6E104162-6C42-4DC6-8D59-85A25DD6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0"/>
            <a:ext cx="11057839" cy="0"/>
          </a:xfrm>
          <a:prstGeom xmlns:a="http://schemas.openxmlformats.org/drawingml/2006/main" prst="line">
            <a:avLst/>
          </a:prstGeom>
          <a:ln xmlns:a="http://schemas.openxmlformats.org/drawingml/2006/main" w="6350">
            <a:solidFill>
              <a:srgbClr val="3A4560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716A0F1-7C69-469B-93BA-5C856959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7487" y="629107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endParaRPr/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4493EDE-A661-431A-B611-4FE3923A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3566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680" b="1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CORPUS ↗  </a:t>
            </a:r>
            <a:r>
              <a:rPr sz="680" b="0" u="sng">
                <a:solidFill>
                  <a:srgbClr val="2F6FB2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dfeb07fcd384db8"/>
              </a:rPr>
              <a:t>Ecosystem Positioning README</a:t>
            </a:r>
          </a:p>
        </p:txBody>
      </p:sp>
    </p:spTree>
    <p:extLst>
      <p:ext uri="{BB962C8B-B14F-4D97-AF65-F5344CB8AC3E}">
        <p14:creationId xmlns:p14="http://schemas.microsoft.com/office/powerpoint/2010/main" val="6767178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9603C2A-EDE6-4F29-A34B-C5ADE34E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630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PROPOSED PROCESS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1A6EEE-EF09-4EAB-9991-53413BC2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29184"/>
            <a:ext cx="10972800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C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B911BA3-C90C-4EAC-89FB-AF2D210B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46304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§ 04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522ADA-7F11-4646-AC5D-53A8C74E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76656"/>
            <a:ext cx="10789920" cy="5180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From unresolved ecosystem change to qualified repositioning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0FBD1609-1773-4E81-A4D0-CFAAD5DA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36792"/>
            <a:ext cx="12191695" cy="5212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17E6288D-530F-4430-A549-73DD0F71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92240"/>
            <a:ext cx="10972800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C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98172088-50EC-4488-A3BA-69A5D884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6528816"/>
            <a:ext cx="36576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6193EA4-CB24-47D0-A4F3-21E636B3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6528816"/>
            <a:ext cx="36576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>
                <a:solidFill>
                  <a:srgbClr val="5D67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0" name="Subtitle">
            <a:extLst xmlns:a="http://schemas.openxmlformats.org/drawingml/2006/main">
              <a:ext uri="{FF2B5EF4-FFF2-40B4-BE49-F238E27FC236}">
                <a16:creationId xmlns:a16="http://schemas.microsoft.com/office/drawing/2014/main" id="{483E7DE4-BD57-4DAE-964E-61610543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133856"/>
            <a:ext cx="10881360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Working proposal, not an adopted standard. Top row: the process sequence. Panels below: expansion of the numbered steps.</a:t>
            </a:r>
          </a:p>
        </p:txBody>
      </p:sp>
      <p:sp>
        <p:nvSpPr>
          <p:cNvPr id="101" name="Badge proposal">
            <a:extLst xmlns:a="http://schemas.openxmlformats.org/drawingml/2006/main">
              <a:ext uri="{FF2B5EF4-FFF2-40B4-BE49-F238E27FC236}">
                <a16:creationId xmlns:a16="http://schemas.microsoft.com/office/drawing/2014/main" id="{76673D47-3A06-4329-B8DA-59ED66B1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91440"/>
            <a:ext cx="1463040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7B8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18288" rIns="36576" bIns="18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PROPOSAL PROCESS</a:t>
            </a:r>
          </a:p>
        </p:txBody>
      </p:sp>
      <p:sp>
        <p:nvSpPr>
          <p:cNvPr id="102" name="Process step 0">
            <a:extLst xmlns:a="http://schemas.openxmlformats.org/drawingml/2006/main">
              <a:ext uri="{FF2B5EF4-FFF2-40B4-BE49-F238E27FC236}">
                <a16:creationId xmlns:a16="http://schemas.microsoft.com/office/drawing/2014/main" id="{517B6355-DB34-405C-9938-4D1D746C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17629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  <a:hlinkClick xmlns:r="http://schemas.openxmlformats.org/officeDocument/2006/relationships" r:id="R503ab299e68c4cb0"/>
              </a:rPr>
              <a:t>0 · Epistemic Awareness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  <a:hlinkClick xmlns:r="http://schemas.openxmlformats.org/officeDocument/2006/relationships" r:id="Ra13af1db64174260"/>
              </a:rPr>
              <a:t>Local position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e38330debc3b4a53"/>
              </a:rPr>
              <a:t>Qualify Π_EA = A/B/C/D</a:t>
            </a:r>
          </a:p>
        </p:txBody>
      </p:sp>
      <p:sp>
        <p:nvSpPr>
          <p:cNvPr id="103" name="Process step 1">
            <a:extLst xmlns:a="http://schemas.openxmlformats.org/drawingml/2006/main">
              <a:ext uri="{FF2B5EF4-FFF2-40B4-BE49-F238E27FC236}">
                <a16:creationId xmlns:a16="http://schemas.microsoft.com/office/drawing/2014/main" id="{16B9117A-4BCA-491C-9F68-6B8C032A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844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C4CAD4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3be2a11a36c64af8"/>
              </a:rPr>
              <a:t>1 · Ecosystem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56ea0f2631694b25"/>
              </a:rPr>
              <a:t>Signalling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9a3742ff617e4915"/>
              </a:rPr>
              <a:t>Qualify / exchange ReceivedSignals</a:t>
            </a:r>
          </a:p>
        </p:txBody>
      </p:sp>
      <p:sp>
        <p:nvSpPr>
          <p:cNvPr id="104" name="Process step 2">
            <a:extLst xmlns:a="http://schemas.openxmlformats.org/drawingml/2006/main">
              <a:ext uri="{FF2B5EF4-FFF2-40B4-BE49-F238E27FC236}">
                <a16:creationId xmlns:a16="http://schemas.microsoft.com/office/drawing/2014/main" id="{6164AB89-51DB-4AF3-80CB-5BA82DB7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C4CAD4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3a5a37bd7d5348fa"/>
              </a:rPr>
              <a:t>2 · Ecosystem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1dd38d097f5447a3"/>
              </a:rPr>
              <a:t>Cartography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ac449b1c68e74809"/>
              </a:rPr>
              <a:t>Update Cart_i / Δ_Cart_i</a:t>
            </a:r>
          </a:p>
        </p:txBody>
      </p:sp>
      <p:sp>
        <p:nvSpPr>
          <p:cNvPr id="105" name="Process step 3">
            <a:extLst xmlns:a="http://schemas.openxmlformats.org/drawingml/2006/main">
              <a:ext uri="{FF2B5EF4-FFF2-40B4-BE49-F238E27FC236}">
                <a16:creationId xmlns:a16="http://schemas.microsoft.com/office/drawing/2014/main" id="{8F158232-38E7-4B2F-AEEE-4A1EEAB5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676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C4CAD4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bb9f861b12cf4be2"/>
              </a:rPr>
              <a:t>3 · Regime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ad4505c40f6b4715"/>
              </a:rPr>
              <a:t>Awareness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3bd2d6d56c074286"/>
              </a:rPr>
              <a:t>Emit Δ_RA + regime overlay</a:t>
            </a:r>
          </a:p>
        </p:txBody>
      </p:sp>
      <p:sp>
        <p:nvSpPr>
          <p:cNvPr id="106" name="Process step 4">
            <a:extLst xmlns:a="http://schemas.openxmlformats.org/drawingml/2006/main">
              <a:ext uri="{FF2B5EF4-FFF2-40B4-BE49-F238E27FC236}">
                <a16:creationId xmlns:a16="http://schemas.microsoft.com/office/drawing/2014/main" id="{4329262A-0C2C-42B2-BB72-41EC113B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C4CAD4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166a91aebd024ab3"/>
              </a:rPr>
              <a:t>4 · MSCA Operation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681da7b9d39a465f"/>
              </a:rPr>
              <a:t>Drift &amp; Posture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aeb56ceb41e94674"/>
              </a:rPr>
              <a:t>Role_effective · Type 0/1/2 · P1/P2/P3</a:t>
            </a:r>
          </a:p>
        </p:txBody>
      </p:sp>
      <p:sp>
        <p:nvSpPr>
          <p:cNvPr id="22" name="Process step 5">
            <a:extLst xmlns:a="http://schemas.openxmlformats.org/drawingml/2006/main">
              <a:ext uri="{FF2B5EF4-FFF2-40B4-BE49-F238E27FC236}">
                <a16:creationId xmlns:a16="http://schemas.microsoft.com/office/drawing/2014/main" id="{706D606C-E386-4F91-98D7-A34A3755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508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C4CAD4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42259826cbfb4f35"/>
              </a:rPr>
              <a:t>5 · Gradient &amp;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f4e8cc83fe1640d9"/>
              </a:rPr>
              <a:t>Repositioning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5ac6586b481b42b3"/>
              </a:rPr>
              <a:t>Rank from Role_effective → ACC gate → re-contract / escalate</a:t>
            </a:r>
          </a:p>
        </p:txBody>
      </p:sp>
      <p:sp>
        <p:nvSpPr>
          <p:cNvPr id="107" name="Process step 6">
            <a:extLst xmlns:a="http://schemas.openxmlformats.org/drawingml/2006/main">
              <a:ext uri="{FF2B5EF4-FFF2-40B4-BE49-F238E27FC236}">
                <a16:creationId xmlns:a16="http://schemas.microsoft.com/office/drawing/2014/main" id="{AF72C7D0-9333-4194-A4D4-8F31D703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0424" y="1627632"/>
            <a:ext cx="13716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F2C4A"/>
            </a:solidFill>
          </a:ln>
        </p:spPr>
        <p:txBody>
          <a:bodyPr xmlns:a="http://schemas.openxmlformats.org/drawingml/2006/main" wrap="square" lIns="45720" tIns="27432" rIns="45720" bIns="27432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48895d48f47b4c06"/>
              </a:rPr>
              <a:t>Human / Institutional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  <a:hlinkClick xmlns:r="http://schemas.openxmlformats.org/officeDocument/2006/relationships" r:id="Re973b516584e42d4"/>
              </a:rPr>
              <a:t>Governance</a:t>
            </a:r>
          </a:p>
          <a:p xmlns:a="http://schemas.openxmlformats.org/drawingml/2006/main"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6817ff37ebd54618"/>
              </a:rPr>
              <a:t>Authority decides; signals ≠ commands</a:t>
            </a:r>
          </a:p>
        </p:txBody>
      </p:sp>
      <p:cxnSp>
        <p:nvCxnSpPr>
          <p:cNvPr id="206" name="Flow 0-1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1938528" y="2011680"/>
            <a:ext cx="242316" cy="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1F2C4A"/>
            </a:solidFill>
            <a:tailEnd type="triangle" w="med" len="med"/>
          </a:ln>
        </p:spPr>
      </p:cxnSp>
      <p:cxnSp>
        <p:nvCxnSpPr>
          <p:cNvPr id="207" name="Flow 1-2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3552444" y="2011680"/>
            <a:ext cx="242316" cy="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1F2C4A"/>
            </a:solidFill>
            <a:tailEnd type="triangle" w="med" len="med"/>
          </a:ln>
        </p:spPr>
      </p:cxnSp>
      <p:cxnSp>
        <p:nvCxnSpPr>
          <p:cNvPr id="208" name="Flow 2-3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5166360" y="2011680"/>
            <a:ext cx="242316" cy="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1F2C4A"/>
            </a:solidFill>
            <a:tailEnd type="triangle" w="med" len="med"/>
          </a:ln>
        </p:spPr>
      </p:cxnSp>
      <p:cxnSp>
        <p:nvCxnSpPr>
          <p:cNvPr id="209" name="Flow 3-4"/>
          <p:cNvCxnSpPr>
            <a:stCxn xmlns:a="http://schemas.openxmlformats.org/drawingml/2006/main" id="105" idx="3"/>
            <a:endCxn xmlns:a="http://schemas.openxmlformats.org/drawingml/2006/main" id="106" idx="1"/>
          </p:cNvCxnSpPr>
          <p:nvPr/>
        </p:nvCxnSpPr>
        <p:spPr>
          <a:xfrm xmlns:a="http://schemas.openxmlformats.org/drawingml/2006/main">
            <a:off x="6780276" y="2011680"/>
            <a:ext cx="242316" cy="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1F2C4A"/>
            </a:solidFill>
            <a:tailEnd type="triangle" w="med" len="med"/>
          </a:ln>
        </p:spPr>
      </p:cxnSp>
      <p:cxnSp>
        <p:nvCxnSpPr>
          <p:cNvPr id="210" name="Flow 4-5"/>
          <p:cNvCxnSpPr>
            <a:stCxn xmlns:a="http://schemas.openxmlformats.org/drawingml/2006/main" id="106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8394192" y="2011680"/>
            <a:ext cx="242316" cy="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1F2C4A"/>
            </a:solidFill>
            <a:tailEnd type="triangle" w="med" len="med"/>
          </a:ln>
        </p:spPr>
      </p:cxnSp>
      <p:cxnSp>
        <p:nvCxnSpPr>
          <p:cNvPr id="211" name="Flow 5-6"/>
          <p:cNvCxnSpPr>
            <a:stCxn xmlns:a="http://schemas.openxmlformats.org/drawingml/2006/main" id="22" idx="3"/>
            <a:endCxn xmlns:a="http://schemas.openxmlformats.org/drawingml/2006/main" id="107" idx="1"/>
          </p:cNvCxnSpPr>
          <p:nvPr/>
        </p:nvCxnSpPr>
        <p:spPr>
          <a:xfrm xmlns:a="http://schemas.openxmlformats.org/drawingml/2006/main">
            <a:off x="10008108" y="2011680"/>
            <a:ext cx="242316" cy="0"/>
          </a:xfrm>
          <a:prstGeom xmlns:a="http://schemas.openxmlformats.org/drawingml/2006/main" prst="line">
            <a:avLst/>
          </a:prstGeom>
          <a:ln xmlns:a="http://schemas.openxmlformats.org/drawingml/2006/main" w="15875">
            <a:solidFill>
              <a:srgbClr val="1F2C4A"/>
            </a:solidFill>
            <a:prstDash val="dash"/>
            <a:tailEnd type="triangle" w="med" len="med"/>
          </a:ln>
        </p:spPr>
      </p:cxnSp>
      <p:sp>
        <p:nvSpPr>
          <p:cNvPr id="114" name="Participant boundary">
            <a:extLst xmlns:a="http://schemas.openxmlformats.org/drawingml/2006/main">
              <a:ext uri="{FF2B5EF4-FFF2-40B4-BE49-F238E27FC236}">
                <a16:creationId xmlns:a16="http://schemas.microsoft.com/office/drawing/2014/main" id="{4BA6BC61-0BF4-4712-A4FD-E11266E7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9266" y="1581912"/>
            <a:ext cx="0" cy="859536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C4CAD4"/>
            </a:solidFill>
            <a:prstDash val="sysDot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5" name="Loop up">
            <a:extLst xmlns:a="http://schemas.openxmlformats.org/drawingml/2006/main">
              <a:ext uri="{FF2B5EF4-FFF2-40B4-BE49-F238E27FC236}">
                <a16:creationId xmlns:a16="http://schemas.microsoft.com/office/drawing/2014/main" id="{0AB932F0-B549-4108-AEB3-0C81134A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936224" y="1435608"/>
            <a:ext cx="0" cy="192024"/>
          </a:xfrm>
          <a:prstGeom xmlns:a="http://schemas.openxmlformats.org/drawingml/2006/main" prst="line">
            <a:avLst/>
          </a:prstGeom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6" name="Loop across">
            <a:extLst xmlns:a="http://schemas.openxmlformats.org/drawingml/2006/main">
              <a:ext uri="{FF2B5EF4-FFF2-40B4-BE49-F238E27FC236}">
                <a16:creationId xmlns:a16="http://schemas.microsoft.com/office/drawing/2014/main" id="{06A65A58-BB32-4A44-B23B-C36B1CA0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252728" y="1435608"/>
            <a:ext cx="9683496" cy="0"/>
          </a:xfrm>
          <a:prstGeom xmlns:a="http://schemas.openxmlformats.org/drawingml/2006/main" prst="line">
            <a:avLst/>
          </a:prstGeom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7" name="Loop down">
            <a:extLst xmlns:a="http://schemas.openxmlformats.org/drawingml/2006/main">
              <a:ext uri="{FF2B5EF4-FFF2-40B4-BE49-F238E27FC236}">
                <a16:creationId xmlns:a16="http://schemas.microsoft.com/office/drawing/2014/main" id="{C44B0C9F-E4A3-45DF-B1D0-4473CC2C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1435608"/>
            <a:ext cx="0" cy="192024"/>
          </a:xfrm>
          <a:prstGeom xmlns:a="http://schemas.openxmlformats.org/drawingml/2006/main" prst="line">
            <a:avLst/>
          </a:prstGeom>
          <a:ln xmlns:a="http://schemas.openxmlformats.org/drawingml/2006/main" w="13970">
            <a:solidFill>
              <a:srgbClr val="C17629"/>
            </a:solidFill>
            <a:tailEnd type="triangle" w="med" len="me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8" name="Loop label">
            <a:extLst xmlns:a="http://schemas.openxmlformats.org/drawingml/2006/main">
              <a:ext uri="{FF2B5EF4-FFF2-40B4-BE49-F238E27FC236}">
                <a16:creationId xmlns:a16="http://schemas.microsoft.com/office/drawing/2014/main" id="{5EF6659A-4EAA-43B5-988F-49F1E38B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344168"/>
            <a:ext cx="5577840" cy="18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" tIns="0" rIns="18288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C17629"/>
                </a:solidFill>
                <a:latin typeface="Aptos"/>
                <a:ea typeface="Aptos"/>
                <a:cs typeface="Aptos"/>
              </a:rPr>
              <a:t>↺  role / ACC / authority / outcome changes re-enter as new state</a:t>
            </a:r>
          </a:p>
        </p:txBody>
      </p:sp>
      <p:sp>
        <p:nvSpPr>
          <p:cNvPr id="37" name="Panel Regime change detect">
            <a:extLst xmlns:a="http://schemas.openxmlformats.org/drawingml/2006/main">
              <a:ext uri="{FF2B5EF4-FFF2-40B4-BE49-F238E27FC236}">
                <a16:creationId xmlns:a16="http://schemas.microsoft.com/office/drawing/2014/main" id="{8A7CD422-9742-4E90-B80B-8D3B855C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97480"/>
            <a:ext cx="1847088" cy="2542032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17629"/>
            </a:solidFill>
          </a:ln>
        </p:spPr>
        <p:txBody>
          <a:bodyPr xmlns:a="http://schemas.openxmlformats.org/drawingml/2006/main" wrap="square" lIns="82296" tIns="64008" rIns="82296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  <a:hlinkClick xmlns:r="http://schemas.openxmlformats.org/officeDocument/2006/relationships" r:id="Ra06f16923f734713"/>
              </a:rPr>
              <a:t>Repositioning posture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04eb8658e0284772"/>
              </a:rPr>
              <a:t>Step 4 · P1 / P2 / P3</a:t>
            </a:r>
          </a:p>
        </p:txBody>
      </p:sp>
      <p:sp>
        <p:nvSpPr>
          <p:cNvPr id="120" name="State 1 · Normal operation">
            <a:extLst xmlns:a="http://schemas.openxmlformats.org/drawingml/2006/main">
              <a:ext uri="{FF2B5EF4-FFF2-40B4-BE49-F238E27FC236}">
                <a16:creationId xmlns:a16="http://schemas.microsoft.com/office/drawing/2014/main" id="{491654FA-69EB-4BE3-833E-FA1F2459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170078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6F4EF"/>
          </a:solidFill>
          <a:ln xmlns:a="http://schemas.openxmlformats.org/drawingml/2006/main" w="9525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P1 · Normal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Qualified frame remains usable.</a:t>
            </a:r>
          </a:p>
        </p:txBody>
      </p:sp>
      <p:sp>
        <p:nvSpPr>
          <p:cNvPr id="121" name="State 2 · Containment mode">
            <a:extLst xmlns:a="http://schemas.openxmlformats.org/drawingml/2006/main">
              <a:ext uri="{FF2B5EF4-FFF2-40B4-BE49-F238E27FC236}">
                <a16:creationId xmlns:a16="http://schemas.microsoft.com/office/drawing/2014/main" id="{C0321FCE-250A-4341-B7E0-E492D7C7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86784"/>
            <a:ext cx="170078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P2 · Containment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Bounded response needed; request / escalate.</a:t>
            </a:r>
          </a:p>
        </p:txBody>
      </p:sp>
      <p:sp>
        <p:nvSpPr>
          <p:cNvPr id="122" name="State 3 · Transition/Migration">
            <a:extLst xmlns:a="http://schemas.openxmlformats.org/drawingml/2006/main">
              <a:ext uri="{FF2B5EF4-FFF2-40B4-BE49-F238E27FC236}">
                <a16:creationId xmlns:a16="http://schemas.microsoft.com/office/drawing/2014/main" id="{86593AE9-ED2B-47E7-90D4-F876FF12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90288"/>
            <a:ext cx="1700784" cy="566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9525">
            <a:solidFill>
              <a:srgbClr val="C65D4E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C65D4E"/>
                </a:solidFill>
                <a:latin typeface="Aptos"/>
                <a:ea typeface="Aptos"/>
                <a:cs typeface="Aptos"/>
              </a:rPr>
              <a:t>P3 · Migration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Current frame insufficient; qualify transition.</a:t>
            </a:r>
          </a:p>
        </p:txBody>
      </p:sp>
      <p:sp>
        <p:nvSpPr>
          <p:cNvPr id="27" name="Panel Epistemic state — 4 ">
            <a:extLst xmlns:a="http://schemas.openxmlformats.org/drawingml/2006/main">
              <a:ext uri="{FF2B5EF4-FFF2-40B4-BE49-F238E27FC236}">
                <a16:creationId xmlns:a16="http://schemas.microsoft.com/office/drawing/2014/main" id="{BA84E12A-5615-46D2-A4D1-4BA250EE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697480"/>
            <a:ext cx="2788920" cy="2542032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9050">
            <a:solidFill>
              <a:srgbClr val="007B82"/>
            </a:solidFill>
          </a:ln>
        </p:spPr>
        <p:txBody>
          <a:bodyPr xmlns:a="http://schemas.openxmlformats.org/drawingml/2006/main" wrap="square" lIns="82296" tIns="64008" rIns="82296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007B82"/>
                </a:solidFill>
                <a:latin typeface="Aptos"/>
                <a:ea typeface="Aptos"/>
                <a:cs typeface="Aptos"/>
                <a:hlinkClick xmlns:r="http://schemas.openxmlformats.org/officeDocument/2006/relationships" r:id="R12ebdc5f582e4fd1"/>
              </a:rPr>
              <a:t>Epistemic state — 4 components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def73fcf54bd4e09"/>
              </a:rPr>
              <a:t>Step 0 · A/B/C/D, relative to the active decision window</a:t>
            </a:r>
          </a:p>
        </p:txBody>
      </p:sp>
      <p:sp>
        <p:nvSpPr>
          <p:cNvPr id="123" name="Epistemic state label">
            <a:extLst xmlns:a="http://schemas.openxmlformats.org/drawingml/2006/main">
              <a:ext uri="{FF2B5EF4-FFF2-40B4-BE49-F238E27FC236}">
                <a16:creationId xmlns:a16="http://schemas.microsoft.com/office/drawing/2014/main" id="{6F986745-2163-4481-B181-186ED3EC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5038344"/>
            <a:ext cx="2624328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Not equal quadrants; the balance is decision-specific.</a:t>
            </a:r>
          </a:p>
        </p:txBody>
      </p:sp>
      <p:sp>
        <p:nvSpPr>
          <p:cNvPr id="125" name="Component A">
            <a:extLst xmlns:a="http://schemas.openxmlformats.org/drawingml/2006/main">
              <a:ext uri="{FF2B5EF4-FFF2-40B4-BE49-F238E27FC236}">
                <a16:creationId xmlns:a16="http://schemas.microsoft.com/office/drawing/2014/main" id="{833A6830-8B62-4F91-B47F-11ED6B79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3383280"/>
            <a:ext cx="1252728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A · Situated assertion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What / where / from which frame is represented now.</a:t>
            </a:r>
          </a:p>
        </p:txBody>
      </p:sp>
      <p:sp>
        <p:nvSpPr>
          <p:cNvPr id="126" name="Component B">
            <a:extLst xmlns:a="http://schemas.openxmlformats.org/drawingml/2006/main">
              <a:ext uri="{FF2B5EF4-FFF2-40B4-BE49-F238E27FC236}">
                <a16:creationId xmlns:a16="http://schemas.microsoft.com/office/drawing/2014/main" id="{B471F6DB-7FAB-44B0-9932-1B8F632B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383280"/>
            <a:ext cx="1252728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B · Confidence / intensity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Support for A; does not erase C or D.</a:t>
            </a:r>
          </a:p>
        </p:txBody>
      </p:sp>
      <p:sp>
        <p:nvSpPr>
          <p:cNvPr id="127" name="Component C">
            <a:extLst xmlns:a="http://schemas.openxmlformats.org/drawingml/2006/main">
              <a:ext uri="{FF2B5EF4-FFF2-40B4-BE49-F238E27FC236}">
                <a16:creationId xmlns:a16="http://schemas.microsoft.com/office/drawing/2014/main" id="{1856D2F8-FED5-4A8D-940B-B9B71976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4215384"/>
            <a:ext cx="1252728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C · Capability frontier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What can still be established with current capability.</a:t>
            </a:r>
          </a:p>
        </p:txBody>
      </p:sp>
      <p:sp>
        <p:nvSpPr>
          <p:cNvPr id="128" name="Component D">
            <a:extLst xmlns:a="http://schemas.openxmlformats.org/drawingml/2006/main">
              <a:ext uri="{FF2B5EF4-FFF2-40B4-BE49-F238E27FC236}">
                <a16:creationId xmlns:a16="http://schemas.microsoft.com/office/drawing/2014/main" id="{8F66D00B-A29A-488D-87CE-ED6AB2C9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215384"/>
            <a:ext cx="1252728" cy="786384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D · Structural residual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6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Outside represented / recognized-obtainable capability.</a:t>
            </a:r>
          </a:p>
        </p:txBody>
      </p:sp>
      <p:sp>
        <p:nvSpPr>
          <p:cNvPr id="129" name="Panel EHD · Epistemic Hand">
            <a:extLst xmlns:a="http://schemas.openxmlformats.org/drawingml/2006/main">
              <a:ext uri="{FF2B5EF4-FFF2-40B4-BE49-F238E27FC236}">
                <a16:creationId xmlns:a16="http://schemas.microsoft.com/office/drawing/2014/main" id="{118B7937-6006-4DF1-8153-C10F2E21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2697480"/>
            <a:ext cx="1828800" cy="2542032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9050">
            <a:solidFill>
              <a:srgbClr val="007B82"/>
            </a:solidFill>
          </a:ln>
        </p:spPr>
        <p:txBody>
          <a:bodyPr xmlns:a="http://schemas.openxmlformats.org/drawingml/2006/main" wrap="square" lIns="82296" tIns="64008" rIns="82296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007B82"/>
                </a:solidFill>
                <a:latin typeface="Aptos"/>
                <a:ea typeface="Aptos"/>
                <a:cs typeface="Aptos"/>
                <a:hlinkClick xmlns:r="http://schemas.openxmlformats.org/officeDocument/2006/relationships" r:id="R1afcfb9dfaf44110"/>
              </a:rPr>
              <a:t>Ecosystem Signalling / EHD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476849d1e7464bfa"/>
              </a:rPr>
              <a:t>Step 1 · what crosses a boundary</a:t>
            </a:r>
          </a:p>
        </p:txBody>
      </p:sp>
      <p:sp>
        <p:nvSpPr>
          <p:cNvPr id="131" name="EHD fields">
            <a:extLst xmlns:a="http://schemas.openxmlformats.org/drawingml/2006/main">
              <a:ext uri="{FF2B5EF4-FFF2-40B4-BE49-F238E27FC236}">
                <a16:creationId xmlns:a16="http://schemas.microsoft.com/office/drawing/2014/main" id="{CDDED5F8-8DDE-4A09-9F01-50140C86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1264" y="3383280"/>
            <a:ext cx="1664208" cy="181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qualified state / MSCA / role (where material)</a:t>
            </a:r>
          </a:p>
          <a:p xmlns:a="http://schemas.openxmlformats.org/drawingml/2006/main">
            <a:pPr>
              <a:spcBef>
                <a:spcPts val="200"/>
              </a:spcBef>
              <a:buNone/>
            </a:pPr>
            <a:r>
              <a:rPr sz="78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</a:t>
            </a: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scope and receiving decision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provenance / source dependence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epistemic state composition (A–D)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revalidation conditions</a:t>
            </a:r>
          </a:p>
          <a:p xmlns:a="http://schemas.openxmlformats.org/drawingml/2006/main">
            <a:pPr algn="l">
              <a:spcBef>
                <a:spcPts val="60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Compound profiles may carry RepositionIntent / AuthorityResponse. Signal ≠ authority.</a:t>
            </a:r>
          </a:p>
        </p:txBody>
      </p:sp>
      <p:sp>
        <p:nvSpPr>
          <p:cNvPr id="132" name="Panel Positioning opportun">
            <a:extLst xmlns:a="http://schemas.openxmlformats.org/drawingml/2006/main">
              <a:ext uri="{FF2B5EF4-FFF2-40B4-BE49-F238E27FC236}">
                <a16:creationId xmlns:a16="http://schemas.microsoft.com/office/drawing/2014/main" id="{0FFD818B-517B-4AFE-A5EB-B3617E21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97480"/>
            <a:ext cx="2331720" cy="2542032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17629"/>
            </a:solidFill>
          </a:ln>
        </p:spPr>
        <p:txBody>
          <a:bodyPr xmlns:a="http://schemas.openxmlformats.org/drawingml/2006/main" wrap="square" lIns="82296" tIns="64008" rIns="82296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C17629"/>
                </a:solidFill>
                <a:latin typeface="Aptos"/>
                <a:ea typeface="Aptos"/>
                <a:cs typeface="Aptos"/>
                <a:hlinkClick xmlns:r="http://schemas.openxmlformats.org/officeDocument/2006/relationships" r:id="R101b178dd2de471c"/>
              </a:rPr>
              <a:t>Agentic gradient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  <a:hlinkClick xmlns:r="http://schemas.openxmlformats.org/officeDocument/2006/relationships" r:id="R687d009cb6244c4e"/>
              </a:rPr>
              <a:t>Step 5 · objective-conditioned opportunity</a:t>
            </a:r>
          </a:p>
        </p:txBody>
      </p:sp>
      <p:sp>
        <p:nvSpPr>
          <p:cNvPr id="134" name="Gradient body">
            <a:extLst xmlns:a="http://schemas.openxmlformats.org/drawingml/2006/main">
              <a:ext uri="{FF2B5EF4-FFF2-40B4-BE49-F238E27FC236}">
                <a16:creationId xmlns:a16="http://schemas.microsoft.com/office/drawing/2014/main" id="{EF4C3839-235A-4590-B94E-6E6F6B1C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3346704"/>
            <a:ext cx="2167128" cy="1865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6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Which candidate transition most reduces objective-conditioned MSCA risk from Role_effective?</a:t>
            </a:r>
          </a:p>
          <a:p xmlns:a="http://schemas.openxmlformats.org/drawingml/2006/main"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4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Basis: </a:t>
            </a:r>
            <a:r>
              <a:rPr sz="72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Δ_RA, Cart_i, Objective Envelope, burden and response horizon.</a:t>
            </a:r>
          </a:p>
          <a:p xmlns:a="http://schemas.openxmlformats.org/drawingml/2006/main"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72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Ranks candidate transitions: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remain / adapt in role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request authority / ACC change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realign / re-contract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74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→ migrate / request isolation</a:t>
            </a:r>
          </a:p>
          <a:p xmlns:a="http://schemas.openxmlformats.org/drawingml/2006/main"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80" b="0" i="1">
                <a:solidFill>
                  <a:srgbClr val="C17629"/>
                </a:solidFill>
                <a:latin typeface="Aptos"/>
                <a:ea typeface="Aptos"/>
                <a:cs typeface="Aptos"/>
              </a:rPr>
              <a:t>Opportunity ≠ permission · signal ≠ command.</a:t>
            </a:r>
          </a:p>
        </p:txBody>
      </p:sp>
      <p:sp>
        <p:nvSpPr>
          <p:cNvPr id="135" name="Panel Choreography">
            <a:extLst xmlns:a="http://schemas.openxmlformats.org/drawingml/2006/main">
              <a:ext uri="{FF2B5EF4-FFF2-40B4-BE49-F238E27FC236}">
                <a16:creationId xmlns:a16="http://schemas.microsoft.com/office/drawing/2014/main" id="{D78CD6A8-B52D-4E47-8140-3BE710D2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8" y="2697480"/>
            <a:ext cx="1728216" cy="2542032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F2C4A"/>
            </a:solidFill>
          </a:ln>
        </p:spPr>
        <p:txBody>
          <a:bodyPr xmlns:a="http://schemas.openxmlformats.org/drawingml/2006/main" wrap="square" lIns="82296" tIns="64008" rIns="82296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Choreography, not orchestration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Role · Cartography · Signalling</a:t>
            </a:r>
          </a:p>
        </p:txBody>
      </p:sp>
      <p:sp>
        <p:nvSpPr>
          <p:cNvPr id="137" name="Choreography body">
            <a:extLst xmlns:a="http://schemas.openxmlformats.org/drawingml/2006/main">
              <a:ext uri="{FF2B5EF4-FFF2-40B4-BE49-F238E27FC236}">
                <a16:creationId xmlns:a16="http://schemas.microsoft.com/office/drawing/2014/main" id="{E88C962F-3417-4135-9127-8C46CEC5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3218688"/>
            <a:ext cx="1591056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Autonomy kept: </a:t>
            </a:r>
            <a:r>
              <a:rPr sz="71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each participant evaluates locally.</a:t>
            </a:r>
          </a:p>
          <a:p xmlns:a="http://schemas.openxmlformats.org/drawingml/2006/main"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Signalling: </a:t>
            </a:r>
            <a:r>
              <a:rPr sz="71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RepositionIntent may stay local or go to authority.</a:t>
            </a:r>
          </a:p>
          <a:p xmlns:a="http://schemas.openxmlformats.org/drawingml/2006/main"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Effective role: </a:t>
            </a:r>
            <a:r>
              <a:rPr sz="71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the gradient starts from Role_effective after drift.</a:t>
            </a:r>
          </a:p>
          <a:p xmlns:a="http://schemas.openxmlformats.org/drawingml/2006/main"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Evidence: </a:t>
            </a:r>
            <a:r>
              <a:rPr sz="71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qualified signals change evidence, not commands.</a:t>
            </a:r>
          </a:p>
          <a:p xmlns:a="http://schemas.openxmlformats.org/drawingml/2006/main">
            <a:pPr algn="l">
              <a:spcBef>
                <a:spcPts val="250"/>
              </a:spcBef>
              <a:spcAft>
                <a:spcPts val="0"/>
              </a:spcAft>
              <a:buNone/>
            </a:pPr>
            <a:r>
              <a:rPr sz="71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• Not required: </a:t>
            </a:r>
            <a:r>
              <a:rPr sz="71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a central controller or shared world-state.</a:t>
            </a:r>
          </a:p>
          <a:p xmlns:a="http://schemas.openxmlformats.org/drawingml/2006/main">
            <a:pPr algn="l">
              <a:spcBef>
                <a:spcPts val="400"/>
              </a:spcBef>
              <a:spcAft>
                <a:spcPts val="0"/>
              </a:spcAft>
              <a:buNone/>
            </a:pPr>
            <a:r>
              <a:rPr sz="67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Self-healing is bounded; convergence is not guaranteed.</a:t>
            </a:r>
          </a:p>
        </p:txBody>
      </p:sp>
      <p:sp>
        <p:nvSpPr>
          <p:cNvPr id="138" name="MSCA bar">
            <a:extLst xmlns:a="http://schemas.openxmlformats.org/drawingml/2006/main">
              <a:ext uri="{FF2B5EF4-FFF2-40B4-BE49-F238E27FC236}">
                <a16:creationId xmlns:a16="http://schemas.microsoft.com/office/drawing/2014/main" id="{B198B108-1D9D-462C-A455-5219D41C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76672"/>
            <a:ext cx="11055096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12700">
            <a:solidFill>
              <a:srgbClr val="1F2C4A"/>
            </a:solidFill>
          </a:ln>
        </p:spPr>
        <p:txBody>
          <a:bodyPr xmlns:a="http://schemas.openxmlformats.org/drawingml/2006/main" wrap="square" lIns="64008" tIns="45720" rIns="64008" bIns="45720" anchor="t">
            <a:noAutofit/>
          </a:bodyPr>
          <a:lstStyle xmlns:a="http://schemas.openxmlformats.org/drawingml/2006/main"/>
          <a:p xmlns:a="http://schemas.openxmlformats.org/drawingml/2006/main">
            <a:endParaRPr sz="800"/>
          </a:p>
        </p:txBody>
      </p:sp>
      <p:sp>
        <p:nvSpPr>
          <p:cNvPr id="139" name="MSCA tag">
            <a:extLst xmlns:a="http://schemas.openxmlformats.org/drawingml/2006/main">
              <a:ext uri="{FF2B5EF4-FFF2-40B4-BE49-F238E27FC236}">
                <a16:creationId xmlns:a16="http://schemas.microsoft.com/office/drawing/2014/main" id="{F3A04202-8946-404C-BC47-3A68AEB8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468112"/>
            <a:ext cx="210312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2C4A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36576" tIns="9144" rIns="36576" bIns="9144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0a53376212944d9a"/>
              </a:rPr>
              <a:t>MSCA · Minimum Sufficient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9f01c8900ded4112"/>
              </a:rPr>
              <a:t>Control Architecture</a:t>
            </a:r>
          </a:p>
        </p:txBody>
      </p:sp>
      <p:sp>
        <p:nvSpPr>
          <p:cNvPr id="140" name="MSCA text">
            <a:extLst xmlns:a="http://schemas.openxmlformats.org/drawingml/2006/main">
              <a:ext uri="{FF2B5EF4-FFF2-40B4-BE49-F238E27FC236}">
                <a16:creationId xmlns:a16="http://schemas.microsoft.com/office/drawing/2014/main" id="{C54DD751-B187-453E-93D0-0922A076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431536"/>
            <a:ext cx="86410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MSCA static + dynamic set — </a:t>
            </a:r>
            <a:r>
              <a:rPr sz="800" b="0" i="0">
                <a:solidFill>
                  <a:srgbClr val="1F2C4A"/>
                </a:solidFill>
                <a:latin typeface="Aptos"/>
                <a:ea typeface="Aptos"/>
                <a:cs typeface="Aptos"/>
              </a:rPr>
              <a:t>S/E/C/P/M kernel · Architectural Role · Ecosystem Cartography · Operation/Repositioning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Re-assessed when frame, role, envelope or authority changes; MSCA never creates authority.</a:t>
            </a:r>
          </a:p>
        </p:txBody>
      </p:sp>
      <p:sp>
        <p:nvSpPr>
          <p:cNvPr id="165" name="TextBox 164">
            <a:extLst xmlns:a="http://schemas.openxmlformats.org/drawingml/2006/main">
              <a:ext uri="{FF2B5EF4-FFF2-40B4-BE49-F238E27FC236}">
                <a16:creationId xmlns:a16="http://schemas.microsoft.com/office/drawing/2014/main" id="{C0AB7471-29CF-45A1-A0C2-254773C7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3566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680" b="1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CORPUS ↗  </a:t>
            </a:r>
            <a:r>
              <a:rPr sz="680" b="0" u="sng">
                <a:solidFill>
                  <a:srgbClr val="2F6FB2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56628a3c3564fb9"/>
              </a:rPr>
              <a:t>Positioning cycle</a:t>
            </a:r>
          </a:p>
        </p:txBody>
      </p:sp>
    </p:spTree>
    <p:extLst>
      <p:ext uri="{BB962C8B-B14F-4D97-AF65-F5344CB8AC3E}">
        <p14:creationId xmlns:p14="http://schemas.microsoft.com/office/powerpoint/2010/main" val="9055802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9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945CB40D-AA99-4784-9494-F0CEC198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7A7E84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7A7E84"/>
                </a:solidFill>
                <a:latin typeface="Aptos"/>
                <a:ea typeface="Aptos"/>
                <a:cs typeface="Aptos"/>
              </a:rPr>
              <a:t>PROPOSED ARCHITECTURE</a:t>
            </a:r>
          </a:p>
        </p:txBody>
      </p:sp>
      <p:sp>
        <p:nvSpPr>
          <p:cNvPr id="2" name="section-code">
            <a:extLst xmlns:a="http://schemas.openxmlformats.org/drawingml/2006/main">
              <a:ext uri="{FF2B5EF4-FFF2-40B4-BE49-F238E27FC236}">
                <a16:creationId xmlns:a16="http://schemas.microsoft.com/office/drawing/2014/main" id="{7F5F64C6-7258-4AE8-976B-45796DD9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1143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38" b="0" i="0">
                <a:solidFill>
                  <a:srgbClr val="7A7E84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7A7E84"/>
                </a:solidFill>
                <a:latin typeface="Aptos"/>
                <a:ea typeface="Aptos"/>
                <a:cs typeface="Aptos"/>
              </a:rPr>
              <a:t>§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D8A47-0AEB-474E-B19A-2CEF677C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0953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 w="0">
            <a:noFill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D20D0F-7346-4565-9E18-FF32156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Architecture map — where each mechanism lives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2F59A2C2-419B-4B03-9BA4-52094D6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47725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90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990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One participant-local map: governance sets the boundary; EA qualifies knowledge; MSCA supports control and repositioning; signalling crosses boundaries.</a:t>
            </a:r>
          </a:p>
        </p:txBody>
      </p:sp>
      <p:sp>
        <p:nvSpPr>
          <p:cNvPr id="6" name="positioning-boundary">
            <a:extLst xmlns:a="http://schemas.openxmlformats.org/drawingml/2006/main">
              <a:ext uri="{FF2B5EF4-FFF2-40B4-BE49-F238E27FC236}">
                <a16:creationId xmlns:a16="http://schemas.microsoft.com/office/drawing/2014/main" id="{D0F0E8C7-BC08-4C69-9713-B27F7737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10953750" cy="4343400"/>
          </a:xfrm>
          <a:prstGeom xmlns:a="http://schemas.openxmlformats.org/drawingml/2006/main" prst="roundRect">
            <a:avLst>
              <a:gd name="adj" fmla="val 6140"/>
            </a:avLst>
          </a:prstGeom>
          <a:solidFill xmlns:a="http://schemas.openxmlformats.org/drawingml/2006/main">
            <a:srgbClr val="ECF4F9"/>
          </a:solidFill>
          <a:ln xmlns:a="http://schemas.openxmlformats.org/drawingml/2006/main" w="21908">
            <a:solidFill>
              <a:srgbClr val="4E91C2"/>
            </a:solidFill>
            <a:prstDash val="solid"/>
          </a:ln>
        </p:spPr>
      </p:sp>
      <p:sp>
        <p:nvSpPr>
          <p:cNvPr id="7" name="governance-ribbon">
            <a:extLst xmlns:a="http://schemas.openxmlformats.org/drawingml/2006/main">
              <a:ext uri="{FF2B5EF4-FFF2-40B4-BE49-F238E27FC236}">
                <a16:creationId xmlns:a16="http://schemas.microsoft.com/office/drawing/2014/main" id="{EF73C569-8562-4C2F-881E-3AD98F00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23975"/>
            <a:ext cx="10572750" cy="3810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808EA0"/>
          </a:solidFill>
          <a:ln xmlns:a="http://schemas.openxmlformats.org/drawingml/2006/main" w="0">
            <a:noFill/>
          </a:ln>
        </p:spPr>
      </p:sp>
      <p:sp>
        <p:nvSpPr>
          <p:cNvPr id="8" name="governance-label">
            <a:extLst xmlns:a="http://schemas.openxmlformats.org/drawingml/2006/main">
              <a:ext uri="{FF2B5EF4-FFF2-40B4-BE49-F238E27FC236}">
                <a16:creationId xmlns:a16="http://schemas.microsoft.com/office/drawing/2014/main" id="{F660C982-0158-4B1F-B732-78E22025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00175"/>
            <a:ext cx="1026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38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38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/ INSTITUTIONAL GOVERNANCE</a:t>
            </a:r>
          </a:p>
        </p:txBody>
      </p:sp>
      <p:sp>
        <p:nvSpPr>
          <p:cNvPr id="9" name="positioning-label">
            <a:extLst xmlns:a="http://schemas.openxmlformats.org/drawingml/2006/main">
              <a:ext uri="{FF2B5EF4-FFF2-40B4-BE49-F238E27FC236}">
                <a16:creationId xmlns:a16="http://schemas.microsoft.com/office/drawing/2014/main" id="{03B03018-E4C7-47FE-8209-1B25106C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27638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76383"/>
                </a:solidFill>
                <a:latin typeface="Aptos"/>
                <a:ea typeface="Aptos"/>
                <a:cs typeface="Aptos"/>
              </a:rPr>
              <a:t>AGENT / ECOSYSTEM POSITIONING</a:t>
            </a:r>
          </a:p>
        </p:txBody>
      </p:sp>
      <p:sp>
        <p:nvSpPr>
          <p:cNvPr id="10" name="citizenship">
            <a:extLst xmlns:a="http://schemas.openxmlformats.org/drawingml/2006/main">
              <a:ext uri="{FF2B5EF4-FFF2-40B4-BE49-F238E27FC236}">
                <a16:creationId xmlns:a16="http://schemas.microsoft.com/office/drawing/2014/main" id="{9052897A-A314-4E1A-9DC3-A2141E2E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2667000" cy="1362075"/>
          </a:xfrm>
          <a:prstGeom xmlns:a="http://schemas.openxmlformats.org/drawingml/2006/main" prst="roundRect">
            <a:avLst>
              <a:gd name="adj" fmla="val 11189"/>
            </a:avLst>
          </a:prstGeom>
          <a:solidFill xmlns:a="http://schemas.openxmlformats.org/drawingml/2006/main">
            <a:srgbClr val="F8EDE1"/>
          </a:solidFill>
          <a:ln xmlns:a="http://schemas.openxmlformats.org/drawingml/2006/main" w="17145">
            <a:solidFill>
              <a:srgbClr val="E2984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35205A-1C4F-4C51-9171-7620F952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2362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38" b="1" i="0">
                <a:solidFill>
                  <a:srgbClr val="A8681F"/>
                </a:solidFill>
                <a:latin typeface="Aptos"/>
                <a:ea typeface="Aptos"/>
                <a:cs typeface="Aptos"/>
              </a:defRPr>
            </a:pPr>
            <a:r>
              <a:rPr sz="1238" b="1" i="0">
                <a:solidFill>
                  <a:srgbClr val="A8681F"/>
                </a:solidFill>
                <a:latin typeface="Aptos"/>
                <a:ea typeface="Aptos"/>
                <a:cs typeface="Aptos"/>
              </a:rPr>
              <a:t>AGENTIC CITIZENSHIP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32D1D2-4E98-44FA-9B87-ABF6053B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0" b="0" i="0">
                <a:solidFill>
                  <a:srgbClr val="74542F"/>
                </a:solidFill>
                <a:latin typeface="Aptos"/>
                <a:ea typeface="Aptos"/>
                <a:cs typeface="Aptos"/>
              </a:defRPr>
            </a:pPr>
            <a:r>
              <a:rPr sz="81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membership · admissible roles</a:t>
            </a:r>
          </a:p>
          <a:p xmlns:a="http://schemas.openxmlformats.org/drawingml/2006/main">
            <a:pPr algn="ctr">
              <a:buNone/>
              <a:defRPr sz="810" b="0" i="0">
                <a:solidFill>
                  <a:srgbClr val="74542F"/>
                </a:solidFill>
                <a:latin typeface="Aptos"/>
                <a:ea typeface="Aptos"/>
                <a:cs typeface="Aptos"/>
              </a:defRPr>
            </a:pPr>
            <a:r>
              <a:rPr sz="81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obligations · prohibitions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02BCA0-2F79-4D01-B731-AC4AE5E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41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0" b="0" i="0">
                <a:solidFill>
                  <a:srgbClr val="74542F"/>
                </a:solidFill>
                <a:latin typeface="Aptos"/>
                <a:ea typeface="Aptos"/>
                <a:cs typeface="Aptos"/>
              </a:defRPr>
            </a:pPr>
            <a:r>
              <a:rPr sz="81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autonomy bounds · hard constraints</a:t>
            </a:r>
          </a:p>
          <a:p xmlns:a="http://schemas.openxmlformats.org/drawingml/2006/main">
            <a:pPr algn="ctr">
              <a:buNone/>
              <a:defRPr sz="810" b="0" i="0">
                <a:solidFill>
                  <a:srgbClr val="74542F"/>
                </a:solidFill>
                <a:latin typeface="Aptos"/>
                <a:ea typeface="Aptos"/>
                <a:cs typeface="Aptos"/>
              </a:defRPr>
            </a:pPr>
            <a:r>
              <a:rPr sz="810" b="0" i="0">
                <a:solidFill>
                  <a:srgbClr val="74542F"/>
                </a:solidFill>
                <a:latin typeface="Aptos"/>
                <a:ea typeface="Aptos"/>
                <a:cs typeface="Aptos"/>
              </a:rPr>
              <a:t>revocation / exit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F9DCA-28A5-45C4-90CB-38BA93DA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23622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35" b="0" i="1">
                <a:solidFill>
                  <a:srgbClr val="74542F"/>
                </a:solidFill>
                <a:latin typeface="Aptos"/>
                <a:ea typeface="Aptos"/>
                <a:cs typeface="Aptos"/>
              </a:defRPr>
            </a:pPr>
            <a:r>
              <a:rPr sz="735" b="0" i="1">
                <a:solidFill>
                  <a:srgbClr val="74542F"/>
                </a:solidFill>
                <a:latin typeface="Aptos"/>
                <a:ea typeface="Aptos"/>
                <a:cs typeface="Aptos"/>
              </a:rPr>
              <a:t>Defines admissible conditions — not each trajectory</a:t>
            </a:r>
          </a:p>
        </p:txBody>
      </p:sp>
      <p:sp>
        <p:nvSpPr>
          <p:cNvPr id="15" name="msca">
            <a:extLst xmlns:a="http://schemas.openxmlformats.org/drawingml/2006/main">
              <a:ext uri="{FF2B5EF4-FFF2-40B4-BE49-F238E27FC236}">
                <a16:creationId xmlns:a16="http://schemas.microsoft.com/office/drawing/2014/main" id="{1C8E417A-19ED-41AB-B205-46252CD4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667000" cy="1209675"/>
          </a:xfrm>
          <a:prstGeom xmlns:a="http://schemas.openxmlformats.org/drawingml/2006/main" prst="roundRect">
            <a:avLst>
              <a:gd name="adj" fmla="val 12598"/>
            </a:avLst>
          </a:prstGeom>
          <a:solidFill xmlns:a="http://schemas.openxmlformats.org/drawingml/2006/main">
            <a:srgbClr val="EFE8F8"/>
          </a:solidFill>
          <a:ln xmlns:a="http://schemas.openxmlformats.org/drawingml/2006/main" w="17145">
            <a:solidFill>
              <a:srgbClr val="7A4FB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0EE15-B283-46B0-AC44-5022A833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603790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603790"/>
                </a:solidFill>
                <a:latin typeface="Aptos"/>
                <a:ea typeface="Aptos"/>
                <a:cs typeface="Aptos"/>
              </a:rPr>
              <a:t>MSCA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78235D-D787-432E-B4CA-C3C45E1A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 i="0">
                <a:solidFill>
                  <a:srgbClr val="603790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603790"/>
                </a:solidFill>
                <a:latin typeface="Aptos"/>
                <a:ea typeface="Aptos"/>
                <a:cs typeface="Aptos"/>
              </a:rPr>
              <a:t>Minimum Sufficient Control Architecture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28EF79-7DB4-41A7-B20F-8084E7DA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8147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7A4FB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7A4FBA"/>
                </a:solidFill>
                <a:latin typeface="Aptos"/>
                <a:ea typeface="Aptos"/>
                <a:cs typeface="Aptos"/>
              </a:rPr>
              <a:t>Role · Cartography · Operation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F69DB-30CB-4FFE-81BA-C7157414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863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Control sufficiency; never creates authority.</a:t>
            </a:r>
          </a:p>
        </p:txBody>
      </p:sp>
      <p:sp>
        <p:nvSpPr>
          <p:cNvPr id="20" name="ea-core">
            <a:extLst xmlns:a="http://schemas.openxmlformats.org/drawingml/2006/main">
              <a:ext uri="{FF2B5EF4-FFF2-40B4-BE49-F238E27FC236}">
                <a16:creationId xmlns:a16="http://schemas.microsoft.com/office/drawing/2014/main" id="{98CA527A-5F79-4CC7-A4B6-7BC757F4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14550"/>
            <a:ext cx="5048250" cy="2552700"/>
          </a:xfrm>
          <a:prstGeom xmlns:a="http://schemas.openxmlformats.org/drawingml/2006/main" prst="roundRect">
            <a:avLst>
              <a:gd name="adj" fmla="val 7463"/>
            </a:avLst>
          </a:prstGeom>
          <a:solidFill xmlns:a="http://schemas.openxmlformats.org/drawingml/2006/main">
            <a:srgbClr val="D3E3EC"/>
          </a:solidFill>
          <a:ln xmlns:a="http://schemas.openxmlformats.org/drawingml/2006/main" w="21908">
            <a:solidFill>
              <a:srgbClr val="007B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40C7C6-1403-425C-B4EC-5C4E30C1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6695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E5B75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E5B75"/>
                </a:solidFill>
                <a:latin typeface="Aptos"/>
                <a:ea typeface="Aptos"/>
                <a:cs typeface="Aptos"/>
              </a:rPr>
              <a:t>ECOSYSTEM AWARENESS (EA)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D77F8-524A-4073-8CC8-EDA28936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62225"/>
            <a:ext cx="4629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45" b="0" i="0">
                <a:solidFill>
                  <a:srgbClr val="34677E"/>
                </a:solidFill>
                <a:latin typeface="Aptos"/>
                <a:ea typeface="Aptos"/>
                <a:cs typeface="Aptos"/>
              </a:defRPr>
            </a:pPr>
            <a:r>
              <a:rPr sz="945" b="0" i="0">
                <a:solidFill>
                  <a:srgbClr val="34677E"/>
                </a:solidFill>
                <a:latin typeface="Aptos"/>
                <a:ea typeface="Aptos"/>
                <a:cs typeface="Aptos"/>
              </a:rPr>
              <a:t>Qualifies the participant-local epistemic position</a:t>
            </a:r>
          </a:p>
        </p:txBody>
      </p:sp>
      <p:sp>
        <p:nvSpPr>
          <p:cNvPr id="23" name="epistemic-position">
            <a:extLst xmlns:a="http://schemas.openxmlformats.org/drawingml/2006/main">
              <a:ext uri="{FF2B5EF4-FFF2-40B4-BE49-F238E27FC236}">
                <a16:creationId xmlns:a16="http://schemas.microsoft.com/office/drawing/2014/main" id="{F14080C3-0054-4094-9C63-0C1F91E8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847975"/>
            <a:ext cx="2209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5AD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C635C2-23B1-41C1-B45A-2820560A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0037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73" b="1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1073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Current epistemic 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E79F51-CB3B-4D8A-B4B6-1E81E07F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2861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Π_EA · A/B/C/D · residual</a:t>
            </a:r>
          </a:p>
        </p:txBody>
      </p:sp>
      <p:sp>
        <p:nvSpPr>
          <p:cNvPr id="26" name="cartography-input">
            <a:extLst xmlns:a="http://schemas.openxmlformats.org/drawingml/2006/main">
              <a:ext uri="{FF2B5EF4-FFF2-40B4-BE49-F238E27FC236}">
                <a16:creationId xmlns:a16="http://schemas.microsoft.com/office/drawing/2014/main" id="{4FC03612-88E9-49EA-96D6-7A727A1F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47975"/>
            <a:ext cx="22098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5ADB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ED785F-4103-44D1-9989-EC39A57A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037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73" b="1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1073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Cartography input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AAB2E6-FB03-4F9D-AE2D-E9669CE7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1943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23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923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Cart_i where material</a:t>
            </a:r>
          </a:p>
          <a:p xmlns:a="http://schemas.openxmlformats.org/drawingml/2006/main">
            <a:pPr algn="ctr">
              <a:buNone/>
              <a:defRPr sz="923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923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owned by MSCA</a:t>
            </a:r>
          </a:p>
        </p:txBody>
      </p:sp>
      <p:sp>
        <p:nvSpPr>
          <p:cNvPr id="29" name="regime-awareness">
            <a:extLst xmlns:a="http://schemas.openxmlformats.org/drawingml/2006/main">
              <a:ext uri="{FF2B5EF4-FFF2-40B4-BE49-F238E27FC236}">
                <a16:creationId xmlns:a16="http://schemas.microsoft.com/office/drawing/2014/main" id="{B6FEA643-6DC7-4933-8EE5-16067091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48100"/>
            <a:ext cx="329565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65D4E"/>
          </a:solidFill>
          <a:ln xmlns:a="http://schemas.openxmlformats.org/drawingml/2006/main" w="9525">
            <a:solidFill>
              <a:srgbClr val="C65D4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5D2669-196B-4835-84EA-9620E9B9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433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4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4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REGIME AWARENESS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4DB743-93FF-454E-8FD6-4D91557B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7195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9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9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Δ_RA + regime overlay</a:t>
            </a:r>
          </a:p>
        </p:txBody>
      </p:sp>
      <p:sp>
        <p:nvSpPr>
          <p:cNvPr id="32" name="repositioning">
            <a:extLst xmlns:a="http://schemas.openxmlformats.org/drawingml/2006/main">
              <a:ext uri="{FF2B5EF4-FFF2-40B4-BE49-F238E27FC236}">
                <a16:creationId xmlns:a16="http://schemas.microsoft.com/office/drawing/2014/main" id="{8A454659-F1A8-4395-8CC2-03A751EB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476500" cy="25527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4F97D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D1A48E-8974-4F41-84D2-1E840588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217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63" b="1" i="0">
                <a:solidFill>
                  <a:srgbClr val="276383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276383"/>
                </a:solidFill>
                <a:latin typeface="Aptos"/>
                <a:ea typeface="Aptos"/>
                <a:cs typeface="Aptos"/>
              </a:rPr>
              <a:t>MSCA OPERATION /</a:t>
            </a:r>
          </a:p>
          <a:p xmlns:a="http://schemas.openxmlformats.org/drawingml/2006/main">
            <a:pPr algn="ctr">
              <a:buNone/>
              <a:defRPr sz="1163" b="1" i="0">
                <a:solidFill>
                  <a:srgbClr val="276383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276383"/>
                </a:solidFill>
                <a:latin typeface="Aptos"/>
                <a:ea typeface="Aptos"/>
                <a:cs typeface="Aptos"/>
              </a:rPr>
              <a:t>REPOSITIONING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EE568D-3E93-4472-9B7B-F025526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24150"/>
            <a:ext cx="217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 i="0">
                <a:solidFill>
                  <a:srgbClr val="007B82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Role_bound ↔ Role_effective</a:t>
            </a:r>
          </a:p>
        </p:txBody>
      </p:sp>
      <p:sp>
        <p:nvSpPr>
          <p:cNvPr id="35" name="repositioning-detail">
            <a:extLst xmlns:a="http://schemas.openxmlformats.org/drawingml/2006/main">
              <a:ext uri="{FF2B5EF4-FFF2-40B4-BE49-F238E27FC236}">
                <a16:creationId xmlns:a16="http://schemas.microsoft.com/office/drawing/2014/main" id="{25AC5728-6C15-480C-ADAC-DBDCF25F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90850"/>
            <a:ext cx="21336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78" b="0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878" b="0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Type catalogue: Type 0 · Type 1 · Type 2</a:t>
            </a:r>
          </a:p>
          <a:p xmlns:a="http://schemas.openxmlformats.org/drawingml/2006/main">
            <a:pPr algn="l">
              <a:buNone/>
              <a:defRPr sz="878" b="0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878" b="0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Posture: P1 Normal · P2 Containment · P3 Migration</a:t>
            </a:r>
          </a:p>
          <a:p xmlns:a="http://schemas.openxmlformats.org/drawingml/2006/main">
            <a:pPr algn="l">
              <a:buNone/>
              <a:defRPr sz="878" b="0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878" b="0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Gradient: Role_effective → candidate roles</a:t>
            </a:r>
          </a:p>
          <a:p xmlns:a="http://schemas.openxmlformats.org/drawingml/2006/main">
            <a:pPr algn="l">
              <a:buNone/>
              <a:defRPr sz="878" b="0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878" b="0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Output: Π_RP + RepositionIntent / escalation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878" b="0" i="0">
                <a:solidFill>
                  <a:srgbClr val="282828"/>
                </a:solidFill>
                <a:latin typeface="Aptos"/>
                <a:ea typeface="Aptos"/>
                <a:cs typeface="Aptos"/>
              </a:defRPr>
            </a:pPr>
            <a:r>
              <a:rPr sz="878" b="0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Selects / proposes / escalates; control owners actuate.</a:t>
            </a:r>
          </a:p>
        </p:txBody>
      </p:sp>
      <p:sp>
        <p:nvSpPr>
          <p:cNvPr id="36" name="signalling">
            <a:extLst xmlns:a="http://schemas.openxmlformats.org/drawingml/2006/main">
              <a:ext uri="{FF2B5EF4-FFF2-40B4-BE49-F238E27FC236}">
                <a16:creationId xmlns:a16="http://schemas.microsoft.com/office/drawing/2014/main" id="{B6F69604-2898-4AF4-8C96-124CF972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1057275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44A784"/>
          </a:solidFill>
          <a:ln xmlns:a="http://schemas.openxmlformats.org/drawingml/2006/main" w="11430">
            <a:solidFill>
              <a:srgbClr val="3B977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0DDA7D-BDE5-478C-B991-93F324B3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72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ECOSYSTEM SIGNALLING / EHD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5ADC43-A3A7-4E00-A123-1021B901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530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qualified state · Cart_i · RepositionIntent</a:t>
            </a:r>
          </a:p>
          <a:p xmlns:a="http://schemas.openxmlformats.org/drawingml/2006/main">
            <a:pPr algn="ctr">
              <a:buNone/>
              <a:defRPr sz="863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lineage / UNKNOWN preserved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2EE3D4-F7AE-4540-98A6-4614A530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953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transport · peers · authorities</a:t>
            </a:r>
          </a:p>
          <a:p xmlns:a="http://schemas.openxmlformats.org/drawingml/2006/main">
            <a:pPr algn="ctr">
              <a:buNone/>
              <a:defRPr sz="863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63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membership may vary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CDB9AA-241C-4749-BB17-5000673B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24355B"/>
                </a:solidFill>
                <a:latin typeface="Consolas"/>
                <a:ea typeface="Consolas"/>
                <a:cs typeface="Consolas"/>
              </a:defRPr>
            </a:pPr>
            <a:r>
              <a:rPr sz="863" b="1" i="0">
                <a:solidFill>
                  <a:srgbClr val="24355B"/>
                </a:solidFill>
                <a:latin typeface="Consolas"/>
                <a:ea typeface="Consolas"/>
                <a:cs typeface="Consolas"/>
              </a:rPr>
              <a:t>KEY BOUNDARY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780EBE-5C5A-4B09-A175-5E2C504E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976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7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907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Citizenship constrains admissibility. Role binds function. EA qualifies knowledge. Cartography maps dependencies. Repositioning proposes or escalates; control owners act. Signalling crosses boundaries.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F0375F-2930-4D60-BBB1-E24EFDFE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953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A95FD0-10AA-426B-9E97-3590DE18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727A86"/>
                </a:solidFill>
                <a:latin typeface="Calibri"/>
                <a:ea typeface="Calibri"/>
                <a:cs typeface="Calibri"/>
              </a:defRPr>
            </a:pPr>
            <a:r>
              <a:rPr sz="690" b="1" i="0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CORPUS ↗  Architecture composition  ·  MSCA operation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CF3E1C-2943-409B-8FA9-01BF23C6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486525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0" i="0">
                <a:solidFill>
                  <a:srgbClr val="7A7E84"/>
                </a:solidFill>
                <a:latin typeface="Aptos"/>
                <a:ea typeface="Aptos"/>
                <a:cs typeface="Aptos"/>
              </a:defRPr>
            </a:pPr>
            <a:r>
              <a:rPr sz="788" b="0" i="0">
                <a:solidFill>
                  <a:srgbClr val="7A7E84"/>
                </a:solidFill>
                <a:latin typeface="Aptos"/>
                <a:ea typeface="Aptos"/>
                <a:cs typeface="Aptos"/>
              </a:rPr>
              <a:t>Ecosystem Awareness · Positioning architecture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8A1960-A9B4-40C0-BBCD-C33C7027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D6775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5D67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08214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D50204C4-576C-4BD3-A27A-FE709401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6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7ACC525A-693C-4C5A-9C45-85582F02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89320"/>
            <a:ext cx="12191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41891FA7-9CF7-4CDC-B621-FFD7AC40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6547104"/>
            <a:ext cx="32004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>
                <a:solidFill>
                  <a:srgbClr val="5D67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1" name="Title">
            <a:extLst xmlns:a="http://schemas.openxmlformats.org/drawingml/2006/main">
              <a:ext uri="{FF2B5EF4-FFF2-40B4-BE49-F238E27FC236}">
                <a16:creationId xmlns:a16="http://schemas.microsoft.com/office/drawing/2014/main" id="{177716D4-2D17-4599-9361-3553DFC0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82880"/>
            <a:ext cx="1133856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282828"/>
                </a:solidFill>
                <a:latin typeface="Aptos"/>
                <a:ea typeface="Aptos"/>
                <a:cs typeface="Aptos"/>
                <a:hlinkClick xmlns:r="http://schemas.openxmlformats.org/officeDocument/2006/relationships" r:id="R9c74b1d6def94de6"/>
              </a:rPr>
              <a:t>Ecosystem Awareness — subsystem inputs and outputs</a:t>
            </a:r>
          </a:p>
        </p:txBody>
      </p:sp>
      <p:sp>
        <p:nvSpPr>
          <p:cNvPr id="52" name="Subtitle">
            <a:extLst xmlns:a="http://schemas.openxmlformats.org/drawingml/2006/main">
              <a:ext uri="{FF2B5EF4-FFF2-40B4-BE49-F238E27FC236}">
                <a16:creationId xmlns:a16="http://schemas.microsoft.com/office/drawing/2014/main" id="{E290C597-A0AC-42D0-850B-AB09CF17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548640"/>
            <a:ext cx="11338560" cy="356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EA interface slice. Green = inputs to EA; orange = EA outputs / requests — never commands or authority.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Consumes existing identity, authorization and attestation mechanisms as inputs; does not replace them.</a:t>
            </a:r>
          </a:p>
        </p:txBody>
      </p:sp>
      <p:sp>
        <p:nvSpPr>
          <p:cNvPr id="101" name="Subsystem Human / Institutional Go">
            <a:extLst xmlns:a="http://schemas.openxmlformats.org/drawingml/2006/main">
              <a:ext uri="{FF2B5EF4-FFF2-40B4-BE49-F238E27FC236}">
                <a16:creationId xmlns:a16="http://schemas.microsoft.com/office/drawing/2014/main" id="{3381D30E-876C-4D47-91EC-C7FF7165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987552"/>
            <a:ext cx="2148840" cy="11887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54864" rIns="73152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/ Institutional Governance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Objectives, criticality, tolerated residual, deadlines and control options.</a:t>
            </a:r>
          </a:p>
          <a:p xmlns:a="http://schemas.openxmlformats.org/drawingml/2006/main"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O1 Mission / Objective · IF-S13 Trust framework</a:t>
            </a:r>
          </a:p>
        </p:txBody>
      </p:sp>
      <p:sp>
        <p:nvSpPr>
          <p:cNvPr id="102" name="IN chip">
            <a:extLst xmlns:a="http://schemas.openxmlformats.org/drawingml/2006/main">
              <a:ext uri="{FF2B5EF4-FFF2-40B4-BE49-F238E27FC236}">
                <a16:creationId xmlns:a16="http://schemas.microsoft.com/office/drawing/2014/main" id="{924F3F1F-724E-4B3A-9825-684320B3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987552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objective and material decision domains · criticality, deadline, tolerated residual · authority refs</a:t>
            </a:r>
          </a:p>
        </p:txBody>
      </p:sp>
      <p:sp>
        <p:nvSpPr>
          <p:cNvPr id="103" name="OUT chip">
            <a:extLst xmlns:a="http://schemas.openxmlformats.org/drawingml/2006/main">
              <a:ext uri="{FF2B5EF4-FFF2-40B4-BE49-F238E27FC236}">
                <a16:creationId xmlns:a16="http://schemas.microsoft.com/office/drawing/2014/main" id="{4A09B22A-084D-4D94-A6C5-80A43DEE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1600200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qualified affected state · requalification / escalation request</a:t>
            </a:r>
          </a:p>
        </p:txBody>
      </p:sp>
      <p:sp>
        <p:nvSpPr>
          <p:cNvPr id="104" name="Subsystem Identity &amp; Delegated Aut">
            <a:extLst xmlns:a="http://schemas.openxmlformats.org/drawingml/2006/main">
              <a:ext uri="{FF2B5EF4-FFF2-40B4-BE49-F238E27FC236}">
                <a16:creationId xmlns:a16="http://schemas.microsoft.com/office/drawing/2014/main" id="{35A9D533-2283-4A8B-9893-C6F284A3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404872"/>
            <a:ext cx="2148840" cy="11887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54864" rIns="73152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Identity &amp; Delegated Authority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Who/what is acting, on whose behalf, under which mandate and scope.</a:t>
            </a:r>
          </a:p>
          <a:p xmlns:a="http://schemas.openxmlformats.org/drawingml/2006/main"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IF-S1 Identity · IF-S2 Authority / Delegation</a:t>
            </a:r>
          </a:p>
        </p:txBody>
      </p:sp>
      <p:sp>
        <p:nvSpPr>
          <p:cNvPr id="105" name="IN chip">
            <a:extLst xmlns:a="http://schemas.openxmlformats.org/drawingml/2006/main">
              <a:ext uri="{FF2B5EF4-FFF2-40B4-BE49-F238E27FC236}">
                <a16:creationId xmlns:a16="http://schemas.microsoft.com/office/drawing/2014/main" id="{1C4A70D8-59E1-47DA-8FD2-E851B25B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2404872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principal binding · grant scope and limits · validity / revocation · contested or absent state</a:t>
            </a:r>
          </a:p>
        </p:txBody>
      </p:sp>
      <p:sp>
        <p:nvSpPr>
          <p:cNvPr id="106" name="OUT chip">
            <a:extLst xmlns:a="http://schemas.openxmlformats.org/drawingml/2006/main">
              <a:ext uri="{FF2B5EF4-FFF2-40B4-BE49-F238E27FC236}">
                <a16:creationId xmlns:a16="http://schemas.microsoft.com/office/drawing/2014/main" id="{71019615-05FC-4D9C-95A0-A53F5162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3017520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authority / binding UNKNOWN where binding · narrow to qualified mandate · refresh</a:t>
            </a:r>
          </a:p>
        </p:txBody>
      </p:sp>
      <p:sp>
        <p:nvSpPr>
          <p:cNvPr id="107" name="Subsystem Policy / Intent / Constr">
            <a:extLst xmlns:a="http://schemas.openxmlformats.org/drawingml/2006/main">
              <a:ext uri="{FF2B5EF4-FFF2-40B4-BE49-F238E27FC236}">
                <a16:creationId xmlns:a16="http://schemas.microsoft.com/office/drawing/2014/main" id="{7BA4946F-8B87-4A45-A510-CA2FECFC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822192"/>
            <a:ext cx="2148840" cy="11887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54864" rIns="73152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Policy / Intent / Constraints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Versioned policy and intent references and their runtime conformance.</a:t>
            </a:r>
          </a:p>
          <a:p xmlns:a="http://schemas.openxmlformats.org/drawingml/2006/main"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IF-S4 Policy / Intent conformance</a:t>
            </a:r>
          </a:p>
        </p:txBody>
      </p:sp>
      <p:sp>
        <p:nvSpPr>
          <p:cNvPr id="108" name="IN chip">
            <a:extLst xmlns:a="http://schemas.openxmlformats.org/drawingml/2006/main">
              <a:ext uri="{FF2B5EF4-FFF2-40B4-BE49-F238E27FC236}">
                <a16:creationId xmlns:a16="http://schemas.microsoft.com/office/drawing/2014/main" id="{E64B7818-90E1-4D01-9FFF-45B52F270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3822192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→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versioned policy ref · verdict permit … indeterminate · scope examined · competing directives</a:t>
            </a:r>
          </a:p>
        </p:txBody>
      </p:sp>
      <p:sp>
        <p:nvSpPr>
          <p:cNvPr id="109" name="OUT chip">
            <a:extLst xmlns:a="http://schemas.openxmlformats.org/drawingml/2006/main">
              <a:ext uri="{FF2B5EF4-FFF2-40B4-BE49-F238E27FC236}">
                <a16:creationId xmlns:a16="http://schemas.microsoft.com/office/drawing/2014/main" id="{92F273DA-4183-4C0A-96B5-BD2A454D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56" y="4434840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←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preserve INDETERMINATE · verdict scope insufficient · re-evaluate / independent evaluator</a:t>
            </a:r>
          </a:p>
        </p:txBody>
      </p:sp>
      <p:sp>
        <p:nvSpPr>
          <p:cNvPr id="110" name="Subsystem Attestation / Runtime Ev">
            <a:extLst xmlns:a="http://schemas.openxmlformats.org/drawingml/2006/main">
              <a:ext uri="{FF2B5EF4-FFF2-40B4-BE49-F238E27FC236}">
                <a16:creationId xmlns:a16="http://schemas.microsoft.com/office/drawing/2014/main" id="{FA268EB3-784C-40D3-B140-360BC889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987552"/>
            <a:ext cx="2148840" cy="11887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54864" rIns="73152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Attestation / Runtime Evidence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Attestation results and verifier-side appraisal of runtime and interaction state.</a:t>
            </a:r>
          </a:p>
          <a:p xmlns:a="http://schemas.openxmlformats.org/drawingml/2006/main"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IF-S3 Attestation · IF-S5 Evidence appraisal</a:t>
            </a:r>
          </a:p>
        </p:txBody>
      </p:sp>
      <p:sp>
        <p:nvSpPr>
          <p:cNvPr id="111" name="IN chip">
            <a:extLst xmlns:a="http://schemas.openxmlformats.org/drawingml/2006/main">
              <a:ext uri="{FF2B5EF4-FFF2-40B4-BE49-F238E27FC236}">
                <a16:creationId xmlns:a16="http://schemas.microsoft.com/office/drawing/2014/main" id="{9B9A8702-314C-4B86-BBEA-A8A5F8CC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987552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Attestation Result · freshness / replay · appraisal relationship · limitations</a:t>
            </a:r>
          </a:p>
        </p:txBody>
      </p:sp>
      <p:sp>
        <p:nvSpPr>
          <p:cNvPr id="112" name="OUT chip">
            <a:extLst xmlns:a="http://schemas.openxmlformats.org/drawingml/2006/main">
              <a:ext uri="{FF2B5EF4-FFF2-40B4-BE49-F238E27FC236}">
                <a16:creationId xmlns:a16="http://schemas.microsoft.com/office/drawing/2014/main" id="{07C35E0B-FA3E-430A-BB61-14E4E1BC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1600200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re-attest or independently rooted attestation · reduce reliance to attested scope</a:t>
            </a:r>
          </a:p>
        </p:txBody>
      </p:sp>
      <p:sp>
        <p:nvSpPr>
          <p:cNvPr id="113" name="Subsystem Ecosystem Defense / Self">
            <a:extLst xmlns:a="http://schemas.openxmlformats.org/drawingml/2006/main">
              <a:ext uri="{FF2B5EF4-FFF2-40B4-BE49-F238E27FC236}">
                <a16:creationId xmlns:a16="http://schemas.microsoft.com/office/drawing/2014/main" id="{99C3CA9D-73EF-4543-885B-074C607F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404872"/>
            <a:ext cx="2148840" cy="11887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54864" rIns="73152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Defense / Self-Healing / Recovery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Containment, revocation, recovery and migration under legitimate authority.</a:t>
            </a:r>
          </a:p>
          <a:p xmlns:a="http://schemas.openxmlformats.org/drawingml/2006/main"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IF-S12 Enforcement / Containment / Migration</a:t>
            </a:r>
          </a:p>
        </p:txBody>
      </p:sp>
      <p:sp>
        <p:nvSpPr>
          <p:cNvPr id="114" name="IN chip">
            <a:extLst xmlns:a="http://schemas.openxmlformats.org/drawingml/2006/main">
              <a:ext uri="{FF2B5EF4-FFF2-40B4-BE49-F238E27FC236}">
                <a16:creationId xmlns:a16="http://schemas.microsoft.com/office/drawing/2014/main" id="{54FCE996-4E1C-48F6-8C2C-B3311DA0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2404872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response capability and reach · actionability window · residual exposure · rollback state</a:t>
            </a:r>
          </a:p>
        </p:txBody>
      </p:sp>
      <p:sp>
        <p:nvSpPr>
          <p:cNvPr id="115" name="OUT chip">
            <a:extLst xmlns:a="http://schemas.openxmlformats.org/drawingml/2006/main">
              <a:ext uri="{FF2B5EF4-FFF2-40B4-BE49-F238E27FC236}">
                <a16:creationId xmlns:a16="http://schemas.microsoft.com/office/drawing/2014/main" id="{3793D52C-37A8-40D2-A7C3-5ADB1ED6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3017520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affected scope · requalification / containment request</a:t>
            </a:r>
          </a:p>
        </p:txBody>
      </p:sp>
      <p:sp>
        <p:nvSpPr>
          <p:cNvPr id="116" name="Subsystem Human Oversight / Assura">
            <a:extLst xmlns:a="http://schemas.openxmlformats.org/drawingml/2006/main">
              <a:ext uri="{FF2B5EF4-FFF2-40B4-BE49-F238E27FC236}">
                <a16:creationId xmlns:a16="http://schemas.microsoft.com/office/drawing/2014/main" id="{57DC0CDA-6427-4187-9F3C-FA5C0125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3822192"/>
            <a:ext cx="2148840" cy="11887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54864" rIns="73152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Oversight / Assurance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Review, intervention and authority beyond autonomous limits.</a:t>
            </a:r>
          </a:p>
          <a:p xmlns:a="http://schemas.openxmlformats.org/drawingml/2006/main"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IF-S6 Human oversight capacity</a:t>
            </a:r>
          </a:p>
        </p:txBody>
      </p:sp>
      <p:sp>
        <p:nvSpPr>
          <p:cNvPr id="117" name="IN chip">
            <a:extLst xmlns:a="http://schemas.openxmlformats.org/drawingml/2006/main">
              <a:ext uri="{FF2B5EF4-FFF2-40B4-BE49-F238E27FC236}">
                <a16:creationId xmlns:a16="http://schemas.microsoft.com/office/drawing/2014/main" id="{6A7965A4-E2B5-45F2-88DC-44F4C8DC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3822192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←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human-capacity state · reviewer role and authority · response window · intervention outcome</a:t>
            </a:r>
          </a:p>
        </p:txBody>
      </p:sp>
      <p:sp>
        <p:nvSpPr>
          <p:cNvPr id="118" name="OUT chip">
            <a:extLst xmlns:a="http://schemas.openxmlformats.org/drawingml/2006/main">
              <a:ext uri="{FF2B5EF4-FFF2-40B4-BE49-F238E27FC236}">
                <a16:creationId xmlns:a16="http://schemas.microsoft.com/office/drawing/2014/main" id="{337DFCCB-F128-4E81-B1F9-5B312CFE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408" y="4434840"/>
            <a:ext cx="1847088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→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targeted review for the affected domain · capacity-insufficient flag · Type 1 stop boundary</a:t>
            </a:r>
          </a:p>
        </p:txBody>
      </p:sp>
      <p:sp>
        <p:nvSpPr>
          <p:cNvPr id="119" name="Subsystem External agents">
            <a:extLst xmlns:a="http://schemas.openxmlformats.org/drawingml/2006/main">
              <a:ext uri="{FF2B5EF4-FFF2-40B4-BE49-F238E27FC236}">
                <a16:creationId xmlns:a16="http://schemas.microsoft.com/office/drawing/2014/main" id="{BF59EAA6-FA4A-415B-894D-F2A2ACC7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914400"/>
            <a:ext cx="3227832" cy="603504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45720" rIns="73152" bIns="27432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External Agents / A2A / Epistemic Signaling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O2 · O6 · IF-S11 Ecosystem signalling</a:t>
            </a:r>
          </a:p>
        </p:txBody>
      </p:sp>
      <p:sp>
        <p:nvSpPr>
          <p:cNvPr id="120" name="IN chip">
            <a:extLst xmlns:a="http://schemas.openxmlformats.org/drawingml/2006/main">
              <a:ext uri="{FF2B5EF4-FFF2-40B4-BE49-F238E27FC236}">
                <a16:creationId xmlns:a16="http://schemas.microsoft.com/office/drawing/2014/main" id="{DCD3542C-6C15-4964-9694-BC2DBA46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72768"/>
            <a:ext cx="1581912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↓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EHD / envelope · source and provenance · freshness · corroboration history</a:t>
            </a:r>
          </a:p>
        </p:txBody>
      </p:sp>
      <p:sp>
        <p:nvSpPr>
          <p:cNvPr id="121" name="OUT chip">
            <a:extLst xmlns:a="http://schemas.openxmlformats.org/drawingml/2006/main">
              <a:ext uri="{FF2B5EF4-FFF2-40B4-BE49-F238E27FC236}">
                <a16:creationId xmlns:a16="http://schemas.microsoft.com/office/drawing/2014/main" id="{4C0C9ADD-4F2A-491E-80FB-CDF89FBE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572768"/>
            <a:ext cx="1581912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↑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External Epistemic Envelope (F8) · targeted corroboration · source-dependence mark</a:t>
            </a:r>
          </a:p>
        </p:txBody>
      </p:sp>
      <p:sp>
        <p:nvSpPr>
          <p:cNvPr id="122" name="Hub Ecosystem Positioning">
            <a:extLst xmlns:a="http://schemas.openxmlformats.org/drawingml/2006/main">
              <a:ext uri="{FF2B5EF4-FFF2-40B4-BE49-F238E27FC236}">
                <a16:creationId xmlns:a16="http://schemas.microsoft.com/office/drawing/2014/main" id="{AE6207F6-C505-4B0E-A4F3-BCCA05D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40280"/>
            <a:ext cx="3227832" cy="208483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EF5FA"/>
          </a:solidFill>
          <a:ln xmlns:a="http://schemas.openxmlformats.org/drawingml/2006/main" w="25400">
            <a:solidFill>
              <a:srgbClr val="4682DC"/>
            </a:solidFill>
          </a:ln>
        </p:spPr>
        <p:txBody>
          <a:bodyPr xmlns:a="http://schemas.openxmlformats.org/drawingml/2006/main" wrap="square" lIns="164592" tIns="73152" rIns="109728" bIns="54864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ECOSYSTEM AWARENESS</a:t>
            </a:r>
          </a:p>
          <a:p xmlns:a="http://schemas.openxmlformats.org/drawingml/2006/main">
            <a:pPr algn="ctr">
              <a:spcBef>
                <a:spcPts val="0"/>
              </a:spcBef>
              <a:spcAft>
                <a:spcPts val="400"/>
              </a:spcAft>
              <a:buNone/>
            </a:pPr>
            <a:r>
              <a:rPr sz="78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participant-local qualification layer</a:t>
            </a:r>
          </a:p>
          <a:p xmlns:a="http://schemas.openxmlformats.org/drawingml/2006/main">
            <a:pPr>
              <a:spcBef>
                <a:spcPts val="200"/>
              </a:spcBef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Π_EA = </a:t>
            </a:r>
            <a:r>
              <a:rPr sz="10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[A,B,C,D]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W(d,t) · provenance · residual</a:t>
            </a:r>
          </a:p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ReceivedSignals qualification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Cart_i / Δ_RA inputs where material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requalification / evidence requests</a:t>
            </a:r>
          </a:p>
          <a:p xmlns:a="http://schemas.openxmlformats.org/drawingml/2006/main">
            <a:pPr algn="ctr">
              <a:spcBef>
                <a:spcPts val="60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4682DC"/>
                </a:solidFill>
                <a:latin typeface="Aptos"/>
                <a:ea typeface="Aptos"/>
                <a:cs typeface="Aptos"/>
              </a:rPr>
              <a:t>→ MSCA Operation / Repositioning</a:t>
            </a:r>
          </a:p>
        </p:txBody>
      </p:sp>
      <p:sp>
        <p:nvSpPr>
          <p:cNvPr id="123" name="IN chip">
            <a:extLst xmlns:a="http://schemas.openxmlformats.org/drawingml/2006/main">
              <a:ext uri="{FF2B5EF4-FFF2-40B4-BE49-F238E27FC236}">
                <a16:creationId xmlns:a16="http://schemas.microsoft.com/office/drawing/2014/main" id="{99EE24C0-A186-48C1-AEF6-4A9F6F79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89120"/>
            <a:ext cx="1581912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4FBF9"/>
          </a:solidFill>
          <a:ln xmlns:a="http://schemas.openxmlformats.org/drawingml/2006/main" w="13970">
            <a:solidFill>
              <a:srgbClr val="007B82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↑  to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result and execution status · drift / telemetry · verifiable action record</a:t>
            </a:r>
          </a:p>
        </p:txBody>
      </p:sp>
      <p:sp>
        <p:nvSpPr>
          <p:cNvPr id="124" name="OUT chip">
            <a:extLst xmlns:a="http://schemas.openxmlformats.org/drawingml/2006/main">
              <a:ext uri="{FF2B5EF4-FFF2-40B4-BE49-F238E27FC236}">
                <a16:creationId xmlns:a16="http://schemas.microsoft.com/office/drawing/2014/main" id="{96C0D077-DEB6-40B0-B202-88A66C21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389120"/>
            <a:ext cx="1581912" cy="576072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13970">
            <a:solidFill>
              <a:srgbClr val="C17629"/>
            </a:solidFill>
          </a:ln>
        </p:spPr>
        <p:txBody>
          <a:bodyPr xmlns:a="http://schemas.openxmlformats.org/drawingml/2006/main" wrap="square" lIns="54864" tIns="27432" rIns="45720" bIns="18288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↓  from EA</a:t>
            </a:r>
          </a:p>
          <a:p xmlns:a="http://schemas.openxmlformats.org/drawingml/2006/main">
            <a:pPr algn="l">
              <a:spcBef>
                <a:spcPts val="50"/>
              </a:spcBef>
              <a:spcAft>
                <a:spcPts val="0"/>
              </a:spcAft>
              <a:buNone/>
            </a:pPr>
            <a:r>
              <a:rPr sz="690" b="0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outcome reconciliation · qualified effect state · F8 statement for record</a:t>
            </a:r>
          </a:p>
        </p:txBody>
      </p:sp>
      <p:sp>
        <p:nvSpPr>
          <p:cNvPr id="125" name="Subsystem Execution">
            <a:extLst xmlns:a="http://schemas.openxmlformats.org/drawingml/2006/main">
              <a:ext uri="{FF2B5EF4-FFF2-40B4-BE49-F238E27FC236}">
                <a16:creationId xmlns:a16="http://schemas.microsoft.com/office/drawing/2014/main" id="{6C9C90C6-3E2D-4860-B845-E79DB595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029200"/>
            <a:ext cx="3227832" cy="73152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A8B4C4"/>
            </a:solidFill>
          </a:ln>
        </p:spPr>
        <p:txBody>
          <a:bodyPr xmlns:a="http://schemas.openxmlformats.org/drawingml/2006/main" wrap="square" lIns="82296" tIns="45720" rIns="73152" bIns="27432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80" b="1" i="0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 / Outcome / Audit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Tools, outcomes, telemetry and action records.</a:t>
            </a:r>
          </a:p>
          <a:p xmlns:a="http://schemas.openxmlformats.org/drawingml/2006/main"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sz="72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O3 · O5 · IF-S7 · IF-S8</a:t>
            </a:r>
          </a:p>
        </p:txBody>
      </p:sp>
      <p:sp>
        <p:nvSpPr>
          <p:cNvPr id="126" name="Legend frame">
            <a:extLst xmlns:a="http://schemas.openxmlformats.org/drawingml/2006/main">
              <a:ext uri="{FF2B5EF4-FFF2-40B4-BE49-F238E27FC236}">
                <a16:creationId xmlns:a16="http://schemas.microsoft.com/office/drawing/2014/main" id="{4A3AF2E9-6040-40A0-B5D1-5AF21C9E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035040"/>
            <a:ext cx="10332720" cy="384048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7DCE4"/>
            </a:solidFill>
          </a:ln>
        </p:spPr>
        <p:txBody>
          <a:bodyPr xmlns:a="http://schemas.openxmlformats.org/drawingml/2006/main" wrap="square" lIns="64008" tIns="45720" rIns="64008" bIns="45720" anchor="t">
            <a:noAutofit/>
          </a:bodyPr>
          <a:lstStyle xmlns:a="http://schemas.openxmlformats.org/drawingml/2006/main"/>
          <a:p xmlns:a="http://schemas.openxmlformats.org/drawingml/2006/main">
            <a:endParaRPr sz="800"/>
          </a:p>
        </p:txBody>
      </p:sp>
      <p:sp>
        <p:nvSpPr>
          <p:cNvPr id="58" name="Legend">
            <a:extLst xmlns:a="http://schemas.openxmlformats.org/drawingml/2006/main">
              <a:ext uri="{FF2B5EF4-FFF2-40B4-BE49-F238E27FC236}">
                <a16:creationId xmlns:a16="http://schemas.microsoft.com/office/drawing/2014/main" id="{53AB5A43-4F6B-4F25-AB8D-D17A480A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062472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IN · to EA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inputs listed in doc 04 for that interface   </a:t>
            </a:r>
            <a:r>
              <a:rPr sz="780" b="1" i="0">
                <a:solidFill>
                  <a:srgbClr val="C17629"/>
                </a:solidFill>
                <a:latin typeface="Aptos"/>
                <a:ea typeface="Aptos"/>
                <a:cs typeface="Aptos"/>
              </a:rPr>
              <a:t>OUT · from EA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EA outputs to that function   </a:t>
            </a:r>
            <a:r>
              <a:rPr sz="780" b="1" i="0">
                <a:solidFill>
                  <a:srgbClr val="007B82"/>
                </a:solidFill>
                <a:latin typeface="Aptos"/>
                <a:ea typeface="Aptos"/>
                <a:cs typeface="Aptos"/>
              </a:rPr>
              <a:t>04 · codes </a:t>
            </a:r>
            <a:r>
              <a:rPr sz="74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interface IDs O1–O6 / IF-S1–S13</a:t>
            </a:r>
          </a:p>
          <a:p xmlns:a="http://schemas.openxmlformats.org/drawingml/2006/main">
            <a:pPr algn="l">
              <a:spcBef>
                <a:spcPts val="100"/>
              </a:spcBef>
              <a:spcAft>
                <a:spcPts val="0"/>
              </a:spcAft>
              <a:buNone/>
            </a:pPr>
            <a:r>
              <a:rPr sz="700" b="0" i="1">
                <a:solidFill>
                  <a:srgbClr val="5D6572"/>
                </a:solidFill>
                <a:latin typeface="Aptos"/>
                <a:ea typeface="Aptos"/>
                <a:cs typeface="Aptos"/>
              </a:rPr>
              <a:t>Not shown: O4 context / memory / retrieval, IF-S9 evaluation, IF-S10 privacy. Final P1/P2/P3 closure belongs to MSCA Operation/Repositioning.</a:t>
            </a:r>
          </a:p>
        </p:txBody>
      </p:sp>
      <p:sp>
        <p:nvSpPr>
          <p:cNvPr id="127" name="TextBox 126">
            <a:extLst xmlns:a="http://schemas.openxmlformats.org/drawingml/2006/main">
              <a:ext uri="{FF2B5EF4-FFF2-40B4-BE49-F238E27FC236}">
                <a16:creationId xmlns:a16="http://schemas.microsoft.com/office/drawing/2014/main" id="{09C1E38D-6417-430E-A435-4F1126E0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3566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680" b="1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CORPUS ↗  </a:t>
            </a:r>
            <a:r>
              <a:rPr sz="680" b="0" u="sng">
                <a:solidFill>
                  <a:srgbClr val="2F6FB2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ca9e2d18d2b4c4b"/>
              </a:rPr>
              <a:t>04 · General Functional Interfaces</a:t>
            </a:r>
          </a:p>
        </p:txBody>
      </p:sp>
    </p:spTree>
    <p:extLst>
      <p:ext uri="{BB962C8B-B14F-4D97-AF65-F5344CB8AC3E}">
        <p14:creationId xmlns:p14="http://schemas.microsoft.com/office/powerpoint/2010/main" val="19390099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92E6A4-C223-47D6-BF38-597BE3D3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82880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A7F391-D7B8-4F08-9D36-37209015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02920"/>
            <a:ext cx="1097280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0B9B8E4-91EB-4996-82AC-EE2FA4D3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822960"/>
            <a:ext cx="2176272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7A4FB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 / Institutional</a:t>
            </a:r>
          </a:p>
          <a:p xmlns:a="http://schemas.openxmlformats.org/drawingml/2006/main"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Governance</a:t>
            </a:r>
          </a:p>
          <a:p xmlns:a="http://schemas.openxmlformats.org/drawingml/2006/main"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Objectives, rights, legitimacy, accountability,</a:t>
            </a:r>
          </a:p>
          <a:p xmlns:a="http://schemas.openxmlformats.org/drawingml/2006/main"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legal / organizational constraints.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21C733EF-43AC-4659-BB45-FE9CEA98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2072" y="822960"/>
            <a:ext cx="2176272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5D657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Privacy / Data</a:t>
            </a:r>
          </a:p>
          <a:p xmlns:a="http://schemas.openxmlformats.org/drawingml/2006/main"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Governance</a:t>
            </a:r>
          </a:p>
          <a:p xmlns:a="http://schemas.openxmlformats.org/drawingml/2006/main"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Consent, disclosure limits, data minimization,</a:t>
            </a:r>
          </a:p>
          <a:p xmlns:a="http://schemas.openxmlformats.org/drawingml/2006/main"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correlation and privacy boundaries.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0346905-C103-46BF-A7DC-C7A53791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822960"/>
            <a:ext cx="2176272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7A4FB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Organization / Roles /</a:t>
            </a:r>
          </a:p>
          <a:p xmlns:a="http://schemas.openxmlformats.org/drawingml/2006/main"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Membership</a:t>
            </a:r>
          </a:p>
          <a:p xmlns:a="http://schemas.openxmlformats.org/drawingml/2006/main"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Organizational role models, membership,</a:t>
            </a:r>
          </a:p>
          <a:p xmlns:a="http://schemas.openxmlformats.org/drawingml/2006/main"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ownership and participation context.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6E32366-8414-40E6-AC2B-5E2670C0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79" y="822960"/>
            <a:ext cx="2176272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4682D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3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Standards / Profiles /</a:t>
            </a:r>
          </a:p>
          <a:p xmlns:a="http://schemas.openxmlformats.org/drawingml/2006/main">
            <a:pPr algn="l">
              <a:buNone/>
            </a:pPr>
            <a:r>
              <a:rPr sz="7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Conformance</a:t>
            </a:r>
          </a:p>
          <a:p xmlns:a="http://schemas.openxmlformats.org/drawingml/2006/main">
            <a:pPr algn="l">
              <a:spcBef>
                <a:spcPts val="300"/>
              </a:spcBef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Versioned profiles, schemas, interoperability</a:t>
            </a:r>
          </a:p>
          <a:p xmlns:a="http://schemas.openxmlformats.org/drawingml/2006/main">
            <a:pPr algn="l">
              <a:buNone/>
            </a:pPr>
            <a:r>
              <a:rPr sz="780">
                <a:solidFill>
                  <a:srgbClr val="5D6572"/>
                </a:solidFill>
                <a:latin typeface="Aptos"/>
                <a:ea typeface="Aptos"/>
                <a:cs typeface="Aptos"/>
              </a:rPr>
              <a:t>mappings and conformance fixtures.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0C6A0BE-F613-4A87-8E10-170B5526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1810512"/>
            <a:ext cx="2084831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4682D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Identity / Principal Binding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FA57CD3A-EF42-40EE-8F66-AA4080EF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2587752"/>
            <a:ext cx="2084831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4682D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Delegated Authority / Capability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A6E39C68-3AEF-45DF-A433-ED7D48E8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3364992"/>
            <a:ext cx="2084831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4682D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Policy / Intent / Authorization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D343FD-B334-42B7-902F-89BB2492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4142232"/>
            <a:ext cx="2084831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1762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Remote Attestation / Runtime Integrity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FDB27AEF-1C20-41EF-B049-F5B0D28B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4919472"/>
            <a:ext cx="2084831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5D657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Agent Discovery / Capabilities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DDD08544-774F-4A0B-A390-671FD32B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5696712"/>
            <a:ext cx="2084831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5D657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Memory / Context Provenance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B2D554E7-12B8-48D7-AD51-6B22E234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1810512"/>
            <a:ext cx="22402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5D657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A2A / Messaging / Interoperability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9DD466A7-5C37-4469-927A-6CD06BDC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587752"/>
            <a:ext cx="22402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1762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Trust / Reputation / Corroboration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48AE9B10-69CC-4C51-9933-B1CEBDFB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364992"/>
            <a:ext cx="22402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1762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Shared Signals / Warnings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C99288BB-C11C-471F-A31C-1D259469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142232"/>
            <a:ext cx="22402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1762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Defense / Blast Radius / Containment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31981E61-D988-40CC-BDDD-0FB68638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4919472"/>
            <a:ext cx="22402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1762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Incentives / Accountability / Inspection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6616CFA2-3D76-4EBA-B7C0-7DBB4495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696712"/>
            <a:ext cx="224028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4682D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76200" rIns="76200" bIns="762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Lifecycle / Session / Resolution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6D7ACA73-78C5-4DA4-9230-03732A2B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488" y="5687568"/>
            <a:ext cx="132588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65D4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63500" tIns="63500" rIns="63500" bIns="635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Tool &amp; Action</a:t>
            </a:r>
          </a:p>
          <a:p xmlns:a="http://schemas.openxmlformats.org/drawingml/2006/main"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49866764-FF1A-41FA-B4CD-6076BEE8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87568"/>
            <a:ext cx="132588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65D4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63500" tIns="63500" rIns="63500" bIns="635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Human</a:t>
            </a:r>
          </a:p>
          <a:p xmlns:a="http://schemas.openxmlformats.org/drawingml/2006/main"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Oversight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EF592D59-8754-47FF-A51C-145587FE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7024" y="5687568"/>
            <a:ext cx="132588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C1762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63500" tIns="63500" rIns="63500" bIns="635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Observability /</a:t>
            </a:r>
          </a:p>
          <a:p xmlns:a="http://schemas.openxmlformats.org/drawingml/2006/main"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Telemetry</a:t>
            </a: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AED2D0A6-8B69-4209-A953-84099DF9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687568"/>
            <a:ext cx="132588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780">
            <a:solidFill>
              <a:srgbClr val="4682D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63500" tIns="63500" rIns="63500" bIns="63500" anchor="t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8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Execution</a:t>
            </a:r>
          </a:p>
          <a:p xmlns:a="http://schemas.openxmlformats.org/drawingml/2006/main">
            <a:pPr algn="l">
              <a:buNone/>
            </a:pPr>
            <a:r>
              <a:rPr sz="800" b="1">
                <a:solidFill>
                  <a:srgbClr val="282828"/>
                </a:solidFill>
                <a:latin typeface="Aptos"/>
                <a:ea typeface="Aptos"/>
                <a:cs typeface="Aptos"/>
              </a:rPr>
              <a:t>Outcome / Receipts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13230E1E-F3E2-4A2E-AF13-D38B9C07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912" y="6400800"/>
            <a:ext cx="6903720" cy="146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2BD233C-1719-47C3-BFDD-CED09062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1F814F5A-9F02-4AE0-AF83-79EC5E84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" y="237744"/>
            <a:ext cx="10972800" cy="3590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00" tIns="25400" rIns="38100" bIns="2540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282828"/>
                </a:solidFill>
                <a:latin typeface="Aptos"/>
                <a:ea typeface="Aptos"/>
                <a:cs typeface="Aptos"/>
                <a:hlinkClick xmlns:r="http://schemas.openxmlformats.org/officeDocument/2006/relationships" r:id="Raa54d8bca69045db"/>
              </a:rPr>
              <a:t>Ecosystem Positioning Architecture — Extended Situational Core</a:t>
            </a: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D2309E72-8CFB-4008-AFEB-1B373401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" y="530352"/>
            <a:ext cx="1097280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00" tIns="25400" rIns="38100" bIns="2540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Agentic-AI, decentralized-identity (DIF) and ecosystem-defense components around one core: Ecosystem Positioning.</a:t>
            </a:r>
          </a:p>
        </p:txBody>
      </p:sp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0BB55AFC-8860-4DC4-82F0-CE43981B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27648"/>
            <a:ext cx="12191695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0A4DBB4B-5E31-44A6-A694-AA9AE44F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6382512"/>
            <a:ext cx="6537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00" tIns="25400" rIns="38100" bIns="2540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80" b="0">
                <a:solidFill>
                  <a:srgbClr val="5D6572"/>
                </a:solidFill>
                <a:latin typeface="Aptos"/>
                <a:ea typeface="Aptos"/>
                <a:cs typeface="Aptos"/>
              </a:rPr>
              <a:t>Reading rule: outer boxes are familiar agentic-AI capabilities. Positioning composes their decision-relevant state into a participant-local frame and requests requalification; owners decide.</a:t>
            </a: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7F815D9E-1456-4348-B01B-9AB03858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6547104"/>
            <a:ext cx="32004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>
                <a:solidFill>
                  <a:srgbClr val="5D67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01" name="Spoke L">
            <a:extLst xmlns:a="http://schemas.openxmlformats.org/drawingml/2006/main">
              <a:ext uri="{FF2B5EF4-FFF2-40B4-BE49-F238E27FC236}">
                <a16:creationId xmlns:a16="http://schemas.microsoft.com/office/drawing/2014/main" id="{6DEF5231-E5AB-48AA-A904-ABD7C227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093976"/>
            <a:ext cx="1975104" cy="329184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2" name="Spoke R">
            <a:extLst xmlns:a="http://schemas.openxmlformats.org/drawingml/2006/main">
              <a:ext uri="{FF2B5EF4-FFF2-40B4-BE49-F238E27FC236}">
                <a16:creationId xmlns:a16="http://schemas.microsoft.com/office/drawing/2014/main" id="{685027F5-76F7-48A5-9861-E3A82B4A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571232" y="2093976"/>
            <a:ext cx="1984248" cy="329184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" name="Spoke L">
            <a:extLst xmlns:a="http://schemas.openxmlformats.org/drawingml/2006/main">
              <a:ext uri="{FF2B5EF4-FFF2-40B4-BE49-F238E27FC236}">
                <a16:creationId xmlns:a16="http://schemas.microsoft.com/office/drawing/2014/main" id="{BDF05B2C-0FF4-463B-B787-5279F298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871216"/>
            <a:ext cx="197510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" name="Spoke R">
            <a:extLst xmlns:a="http://schemas.openxmlformats.org/drawingml/2006/main">
              <a:ext uri="{FF2B5EF4-FFF2-40B4-BE49-F238E27FC236}">
                <a16:creationId xmlns:a16="http://schemas.microsoft.com/office/drawing/2014/main" id="{C1ECA60C-3210-48A9-84B8-7A5AC112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571232" y="2871216"/>
            <a:ext cx="1984248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" name="Spoke L">
            <a:extLst xmlns:a="http://schemas.openxmlformats.org/drawingml/2006/main">
              <a:ext uri="{FF2B5EF4-FFF2-40B4-BE49-F238E27FC236}">
                <a16:creationId xmlns:a16="http://schemas.microsoft.com/office/drawing/2014/main" id="{073DA238-C45A-49B7-8E71-859139C6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648456"/>
            <a:ext cx="197510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" name="Spoke R">
            <a:extLst xmlns:a="http://schemas.openxmlformats.org/drawingml/2006/main">
              <a:ext uri="{FF2B5EF4-FFF2-40B4-BE49-F238E27FC236}">
                <a16:creationId xmlns:a16="http://schemas.microsoft.com/office/drawing/2014/main" id="{0837DA7B-397B-4589-AB1D-6D79D45F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571232" y="3648456"/>
            <a:ext cx="1984248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" name="Spoke L">
            <a:extLst xmlns:a="http://schemas.openxmlformats.org/drawingml/2006/main">
              <a:ext uri="{FF2B5EF4-FFF2-40B4-BE49-F238E27FC236}">
                <a16:creationId xmlns:a16="http://schemas.microsoft.com/office/drawing/2014/main" id="{CC3F3DA9-7138-41D8-8205-C5855399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4425696"/>
            <a:ext cx="197510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" name="Spoke R">
            <a:extLst xmlns:a="http://schemas.openxmlformats.org/drawingml/2006/main">
              <a:ext uri="{FF2B5EF4-FFF2-40B4-BE49-F238E27FC236}">
                <a16:creationId xmlns:a16="http://schemas.microsoft.com/office/drawing/2014/main" id="{B2380F46-4E89-4032-98E4-9C171DFC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571232" y="4425696"/>
            <a:ext cx="1984248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9" name="Spoke L">
            <a:extLst xmlns:a="http://schemas.openxmlformats.org/drawingml/2006/main">
              <a:ext uri="{FF2B5EF4-FFF2-40B4-BE49-F238E27FC236}">
                <a16:creationId xmlns:a16="http://schemas.microsoft.com/office/drawing/2014/main" id="{4F788A74-0BDD-4767-8268-1135FB9D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4636008"/>
            <a:ext cx="1975104" cy="56692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0" name="Spoke R">
            <a:extLst xmlns:a="http://schemas.openxmlformats.org/drawingml/2006/main">
              <a:ext uri="{FF2B5EF4-FFF2-40B4-BE49-F238E27FC236}">
                <a16:creationId xmlns:a16="http://schemas.microsoft.com/office/drawing/2014/main" id="{69893DC1-F0F3-4F99-A871-9AB6BDC0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571232" y="4636008"/>
            <a:ext cx="1984248" cy="56692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1" name="Spoke L">
            <a:extLst xmlns:a="http://schemas.openxmlformats.org/drawingml/2006/main">
              <a:ext uri="{FF2B5EF4-FFF2-40B4-BE49-F238E27FC236}">
                <a16:creationId xmlns:a16="http://schemas.microsoft.com/office/drawing/2014/main" id="{82F661A7-D742-46D3-8DCB-3BFC5BD6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4636008"/>
            <a:ext cx="1975104" cy="134416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2" name="Spoke R">
            <a:extLst xmlns:a="http://schemas.openxmlformats.org/drawingml/2006/main">
              <a:ext uri="{FF2B5EF4-FFF2-40B4-BE49-F238E27FC236}">
                <a16:creationId xmlns:a16="http://schemas.microsoft.com/office/drawing/2014/main" id="{7A4D5E6E-126A-49AE-A82C-64D91941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571232" y="4636008"/>
            <a:ext cx="1984248" cy="134416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3" name="Spoke T">
            <a:extLst xmlns:a="http://schemas.openxmlformats.org/drawingml/2006/main">
              <a:ext uri="{FF2B5EF4-FFF2-40B4-BE49-F238E27FC236}">
                <a16:creationId xmlns:a16="http://schemas.microsoft.com/office/drawing/2014/main" id="{3933FA16-3DF4-4A12-BC2F-678C4A4F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1499616"/>
            <a:ext cx="3328416" cy="603504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4" name="Spoke T">
            <a:extLst xmlns:a="http://schemas.openxmlformats.org/drawingml/2006/main">
              <a:ext uri="{FF2B5EF4-FFF2-40B4-BE49-F238E27FC236}">
                <a16:creationId xmlns:a16="http://schemas.microsoft.com/office/drawing/2014/main" id="{147A7F0B-FF2F-4851-A3D4-0B049360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208" y="1499616"/>
            <a:ext cx="786384" cy="603504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5" name="Spoke T">
            <a:extLst xmlns:a="http://schemas.openxmlformats.org/drawingml/2006/main">
              <a:ext uri="{FF2B5EF4-FFF2-40B4-BE49-F238E27FC236}">
                <a16:creationId xmlns:a16="http://schemas.microsoft.com/office/drawing/2014/main" id="{E3D6500A-28F7-4948-976E-CD38EFB8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384" y="1499616"/>
            <a:ext cx="0" cy="603504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6" name="Spoke T">
            <a:extLst xmlns:a="http://schemas.openxmlformats.org/drawingml/2006/main">
              <a:ext uri="{FF2B5EF4-FFF2-40B4-BE49-F238E27FC236}">
                <a16:creationId xmlns:a16="http://schemas.microsoft.com/office/drawing/2014/main" id="{4F82C2EC-7585-4C4E-9F52-86A81149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05472" y="1499616"/>
            <a:ext cx="1837944" cy="603504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7" name="Spoke B">
            <a:extLst xmlns:a="http://schemas.openxmlformats.org/drawingml/2006/main">
              <a:ext uri="{FF2B5EF4-FFF2-40B4-BE49-F238E27FC236}">
                <a16:creationId xmlns:a16="http://schemas.microsoft.com/office/drawing/2014/main" id="{52A1FD36-6D8B-48E5-A251-C3458542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24428" y="4956048"/>
            <a:ext cx="1312164" cy="73152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8" name="Spoke B">
            <a:extLst xmlns:a="http://schemas.openxmlformats.org/drawingml/2006/main">
              <a:ext uri="{FF2B5EF4-FFF2-40B4-BE49-F238E27FC236}">
                <a16:creationId xmlns:a16="http://schemas.microsoft.com/office/drawing/2014/main" id="{4B77709C-4E23-413A-AEE6-75C6928A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78908" y="4956048"/>
            <a:ext cx="0" cy="73152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9" name="Spoke B">
            <a:extLst xmlns:a="http://schemas.openxmlformats.org/drawingml/2006/main">
              <a:ext uri="{FF2B5EF4-FFF2-40B4-BE49-F238E27FC236}">
                <a16:creationId xmlns:a16="http://schemas.microsoft.com/office/drawing/2014/main" id="{C61F39E2-F436-4E8B-A846-F6088ABC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569964" y="4956048"/>
            <a:ext cx="0" cy="73152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0" name="Spoke B">
            <a:extLst xmlns:a="http://schemas.openxmlformats.org/drawingml/2006/main">
              <a:ext uri="{FF2B5EF4-FFF2-40B4-BE49-F238E27FC236}">
                <a16:creationId xmlns:a16="http://schemas.microsoft.com/office/drawing/2014/main" id="{9275322F-5162-457F-8F7B-85FE11BA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205472" y="4956048"/>
            <a:ext cx="982980" cy="73152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A0A8B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1" name="Hub Ecosystem Positioning">
            <a:extLst xmlns:a="http://schemas.openxmlformats.org/drawingml/2006/main">
              <a:ext uri="{FF2B5EF4-FFF2-40B4-BE49-F238E27FC236}">
                <a16:creationId xmlns:a16="http://schemas.microsoft.com/office/drawing/2014/main" id="{41D40484-C4DC-4CBB-8242-83EE6BF6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103120"/>
            <a:ext cx="3200400" cy="2852928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F4F9"/>
          </a:solidFill>
          <a:ln xmlns:a="http://schemas.openxmlformats.org/drawingml/2006/main" w="27940">
            <a:solidFill>
              <a:srgbClr val="4682DC"/>
            </a:solidFill>
          </a:ln>
        </p:spPr>
        <p:txBody>
          <a:bodyPr xmlns:a="http://schemas.openxmlformats.org/drawingml/2006/main" wrap="square" lIns="64008" tIns="45720" rIns="64008" bIns="45720" anchor="t">
            <a:noAutofit/>
          </a:bodyPr>
          <a:lstStyle xmlns:a="http://schemas.openxmlformats.org/drawingml/2006/main"/>
          <a:p xmlns:a="http://schemas.openxmlformats.org/drawingml/2006/main">
            <a:endParaRPr sz="800"/>
          </a:p>
        </p:txBody>
      </p:sp>
      <p:sp>
        <p:nvSpPr>
          <p:cNvPr id="53" name="Hub title">
            <a:extLst xmlns:a="http://schemas.openxmlformats.org/drawingml/2006/main">
              <a:ext uri="{FF2B5EF4-FFF2-40B4-BE49-F238E27FC236}">
                <a16:creationId xmlns:a16="http://schemas.microsoft.com/office/drawing/2014/main" id="{64C5EBA2-3938-4FBB-B72F-999F6E38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19456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82828"/>
                </a:solidFill>
                <a:latin typeface="Aptos"/>
                <a:ea typeface="Aptos"/>
                <a:cs typeface="Aptos"/>
                <a:hlinkClick xmlns:r="http://schemas.openxmlformats.org/officeDocument/2006/relationships" r:id="R52ebef54f46843bf"/>
              </a:rPr>
              <a:t>Ecosystem Positioning</a:t>
            </a:r>
          </a:p>
        </p:txBody>
      </p:sp>
      <p:sp>
        <p:nvSpPr>
          <p:cNvPr id="122" name="Hub description">
            <a:extLst xmlns:a="http://schemas.openxmlformats.org/drawingml/2006/main">
              <a:ext uri="{FF2B5EF4-FFF2-40B4-BE49-F238E27FC236}">
                <a16:creationId xmlns:a16="http://schemas.microsoft.com/office/drawing/2014/main" id="{8DF46EAF-E97E-4FBE-8D6F-AC6A10FE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4" y="2505456"/>
            <a:ext cx="2871216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 i="0">
                <a:solidFill>
                  <a:srgbClr val="5D6572"/>
                </a:solidFill>
                <a:latin typeface="Aptos"/>
                <a:ea typeface="Aptos"/>
                <a:cs typeface="Aptos"/>
              </a:rPr>
              <a:t>Participant-local core: qualifies state, maps opportunity, requests transition; owners decide / act.</a:t>
            </a:r>
          </a:p>
        </p:txBody>
      </p:sp>
      <p:sp>
        <p:nvSpPr>
          <p:cNvPr id="123" name="Cycle arc 1">
            <a:extLst xmlns:a="http://schemas.openxmlformats.org/drawingml/2006/main">
              <a:ext uri="{FF2B5EF4-FFF2-40B4-BE49-F238E27FC236}">
                <a16:creationId xmlns:a16="http://schemas.microsoft.com/office/drawing/2014/main" id="{1FE34E99-D956-4862-B5A9-F12EC2BF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172968"/>
            <a:ext cx="1097280" cy="1097280"/>
          </a:xfrm>
          <a:prstGeom xmlns:a="http://schemas.openxmlformats.org/drawingml/2006/main" prst="arc">
            <a:avLst>
              <a:gd name="adj1" fmla="val 16920000"/>
              <a:gd name="adj2" fmla="val 20880000"/>
            </a:avLst>
          </a:prstGeom>
          <a:noFill xmlns:a="http://schemas.openxmlformats.org/drawingml/2006/main"/>
          <a:ln xmlns:a="http://schemas.openxmlformats.org/drawingml/2006/main" w="44450">
            <a:solidFill>
              <a:srgbClr val="007B82"/>
            </a:solidFill>
            <a:tailEnd type="triangle" w="med" len="sm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4" name="Cycle arc 2">
            <a:extLst xmlns:a="http://schemas.openxmlformats.org/drawingml/2006/main">
              <a:ext uri="{FF2B5EF4-FFF2-40B4-BE49-F238E27FC236}">
                <a16:creationId xmlns:a16="http://schemas.microsoft.com/office/drawing/2014/main" id="{B5BC55CB-6200-4FAD-9AFD-F15EAC6E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172968"/>
            <a:ext cx="1097280" cy="1097280"/>
          </a:xfrm>
          <a:prstGeom xmlns:a="http://schemas.openxmlformats.org/drawingml/2006/main" prst="arc">
            <a:avLst>
              <a:gd name="adj1" fmla="val 720000"/>
              <a:gd name="adj2" fmla="val 4680000"/>
            </a:avLst>
          </a:prstGeom>
          <a:noFill xmlns:a="http://schemas.openxmlformats.org/drawingml/2006/main"/>
          <a:ln xmlns:a="http://schemas.openxmlformats.org/drawingml/2006/main" w="44450">
            <a:solidFill>
              <a:srgbClr val="4682DC"/>
            </a:solidFill>
            <a:tailEnd type="triangle" w="med" len="sm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5" name="Cycle arc 3">
            <a:extLst xmlns:a="http://schemas.openxmlformats.org/drawingml/2006/main">
              <a:ext uri="{FF2B5EF4-FFF2-40B4-BE49-F238E27FC236}">
                <a16:creationId xmlns:a16="http://schemas.microsoft.com/office/drawing/2014/main" id="{0D5999F2-30A4-429D-A146-A2940D4A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172968"/>
            <a:ext cx="1097280" cy="1097280"/>
          </a:xfrm>
          <a:prstGeom xmlns:a="http://schemas.openxmlformats.org/drawingml/2006/main" prst="arc">
            <a:avLst>
              <a:gd name="adj1" fmla="val 6120000"/>
              <a:gd name="adj2" fmla="val 10080000"/>
            </a:avLst>
          </a:prstGeom>
          <a:noFill xmlns:a="http://schemas.openxmlformats.org/drawingml/2006/main"/>
          <a:ln xmlns:a="http://schemas.openxmlformats.org/drawingml/2006/main" w="44450">
            <a:solidFill>
              <a:srgbClr val="C17629"/>
            </a:solidFill>
            <a:tailEnd type="triangle" w="med" len="sm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6" name="Cycle arc 4">
            <a:extLst xmlns:a="http://schemas.openxmlformats.org/drawingml/2006/main">
              <a:ext uri="{FF2B5EF4-FFF2-40B4-BE49-F238E27FC236}">
                <a16:creationId xmlns:a16="http://schemas.microsoft.com/office/drawing/2014/main" id="{4808004D-831C-4D3E-9567-6599A44D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172968"/>
            <a:ext cx="1097280" cy="1097280"/>
          </a:xfrm>
          <a:prstGeom xmlns:a="http://schemas.openxmlformats.org/drawingml/2006/main" prst="arc">
            <a:avLst>
              <a:gd name="adj1" fmla="val 11520000"/>
              <a:gd name="adj2" fmla="val 15480000"/>
            </a:avLst>
          </a:prstGeom>
          <a:noFill xmlns:a="http://schemas.openxmlformats.org/drawingml/2006/main"/>
          <a:ln xmlns:a="http://schemas.openxmlformats.org/drawingml/2006/main" w="44450">
            <a:solidFill>
              <a:srgbClr val="1F2C4A"/>
            </a:solidFill>
            <a:tailEnd type="triangle" w="med" len="sm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8" name="Cycle centre">
            <a:extLst xmlns:a="http://schemas.openxmlformats.org/drawingml/2006/main">
              <a:ext uri="{FF2B5EF4-FFF2-40B4-BE49-F238E27FC236}">
                <a16:creationId xmlns:a16="http://schemas.microsoft.com/office/drawing/2014/main" id="{2205A0E7-7B50-456E-B89A-F1693153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832" y="356616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682DC"/>
                </a:solidFill>
                <a:latin typeface="Aptos"/>
                <a:ea typeface="Aptos"/>
                <a:cs typeface="Aptos"/>
              </a:rPr>
              <a:t>↻</a:t>
            </a:r>
          </a:p>
        </p:txBody>
      </p:sp>
      <p:sp>
        <p:nvSpPr>
          <p:cNvPr id="129" name="Stage Requalify">
            <a:extLst xmlns:a="http://schemas.openxmlformats.org/drawingml/2006/main">
              <a:ext uri="{FF2B5EF4-FFF2-40B4-BE49-F238E27FC236}">
                <a16:creationId xmlns:a16="http://schemas.microsoft.com/office/drawing/2014/main" id="{ED2ECC73-D76D-46AC-AA78-A59A6EE2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880360"/>
            <a:ext cx="786384" cy="21945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B82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" tIns="0" rIns="18288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Requalify</a:t>
            </a:r>
          </a:p>
        </p:txBody>
      </p:sp>
      <p:sp>
        <p:nvSpPr>
          <p:cNvPr id="130" name="Stage Reposition">
            <a:extLst xmlns:a="http://schemas.openxmlformats.org/drawingml/2006/main">
              <a:ext uri="{FF2B5EF4-FFF2-40B4-BE49-F238E27FC236}">
                <a16:creationId xmlns:a16="http://schemas.microsoft.com/office/drawing/2014/main" id="{28BB7222-74C8-46F0-AD40-B2A32DCF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611880"/>
            <a:ext cx="786384" cy="21945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682DC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" tIns="0" rIns="18288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Request</a:t>
            </a:r>
          </a:p>
        </p:txBody>
      </p:sp>
      <p:sp>
        <p:nvSpPr>
          <p:cNvPr id="131" name="Stage Act">
            <a:extLst xmlns:a="http://schemas.openxmlformats.org/drawingml/2006/main">
              <a:ext uri="{FF2B5EF4-FFF2-40B4-BE49-F238E27FC236}">
                <a16:creationId xmlns:a16="http://schemas.microsoft.com/office/drawing/2014/main" id="{67F4247A-1603-4EC3-BAB0-8E5585B9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9572" y="4343400"/>
            <a:ext cx="502920" cy="21945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7629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" tIns="0" rIns="18288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32" name="Stage Observe">
            <a:extLst xmlns:a="http://schemas.openxmlformats.org/drawingml/2006/main">
              <a:ext uri="{FF2B5EF4-FFF2-40B4-BE49-F238E27FC236}">
                <a16:creationId xmlns:a16="http://schemas.microsoft.com/office/drawing/2014/main" id="{9E2D046F-F60C-4BFD-8C26-E47FB194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3611880"/>
            <a:ext cx="786384" cy="21945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2C4A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 lIns="18288" tIns="0" rIns="18288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8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33" name="Cycle caption">
            <a:extLst xmlns:a="http://schemas.openxmlformats.org/drawingml/2006/main">
              <a:ext uri="{FF2B5EF4-FFF2-40B4-BE49-F238E27FC236}">
                <a16:creationId xmlns:a16="http://schemas.microsoft.com/office/drawing/2014/main" id="{494ABEAE-5239-4CE7-AC89-3B625F7F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2" y="4663440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18288" tIns="9144" rIns="18288" bIns="9144" anchor="t">
            <a:no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740" b="0" i="1">
                <a:solidFill>
                  <a:srgbClr val="4682DC"/>
                </a:solidFill>
                <a:latin typeface="Aptos"/>
                <a:ea typeface="Aptos"/>
                <a:cs typeface="Aptos"/>
              </a:rPr>
              <a:t>event / threshold / schedule driven · no global controller</a:t>
            </a:r>
          </a:p>
        </p:txBody>
      </p:sp>
      <p:sp>
        <p:nvSpPr>
          <p:cNvPr id="134" name="TextBox 133">
            <a:extLst xmlns:a="http://schemas.openxmlformats.org/drawingml/2006/main">
              <a:ext uri="{FF2B5EF4-FFF2-40B4-BE49-F238E27FC236}">
                <a16:creationId xmlns:a16="http://schemas.microsoft.com/office/drawing/2014/main" id="{373561B0-5BE5-4951-9356-0E791B83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3566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680" b="1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CORPUS ↗  </a:t>
            </a:r>
            <a:r>
              <a:rPr sz="680" b="0" u="sng">
                <a:solidFill>
                  <a:srgbClr val="2F6FB2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4fcb85a4a8a44ae"/>
              </a:rPr>
              <a:t>Canonical topology</a:t>
            </a:r>
            <a:r>
              <a:rPr sz="680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680" b="0" u="sng">
                <a:solidFill>
                  <a:srgbClr val="2F6FB2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e2bf9d491094887"/>
              </a:rPr>
              <a:t>Ecosystem Positioning</a:t>
            </a:r>
          </a:p>
        </p:txBody>
      </p:sp>
    </p:spTree>
    <p:extLst>
      <p:ext uri="{BB962C8B-B14F-4D97-AF65-F5344CB8AC3E}">
        <p14:creationId xmlns:p14="http://schemas.microsoft.com/office/powerpoint/2010/main" val="2665394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2C5700A-15D5-47D7-BB4B-62D07D73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4592"/>
            <a:ext cx="3383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1F2D3D"/>
                </a:solidFill>
                <a:latin typeface="Consolas"/>
                <a:ea typeface="Consolas"/>
                <a:cs typeface="Consolas"/>
              </a:rPr>
              <a:t>FG-TIDA APPLICATION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72D26D-D811-4608-A510-F09193D4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6768" y="164592"/>
            <a:ext cx="685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 b="0">
                <a:solidFill>
                  <a:srgbClr val="1F2D3D"/>
                </a:solidFill>
                <a:latin typeface="Consolas"/>
                <a:ea typeface="Consolas"/>
                <a:cs typeface="Consolas"/>
              </a:rPr>
              <a:t>§ 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E2553F-CE9F-4889-82CD-3C7FF1A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7200"/>
            <a:ext cx="108356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>
            <a:solidFill>
              <a:srgbClr val="24355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9F18F6-8468-43C7-BFD1-1D627909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0080"/>
            <a:ext cx="105156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24355B"/>
                </a:solidFill>
                <a:latin typeface="Cambria"/>
                <a:ea typeface="Cambria"/>
                <a:cs typeface="Cambria"/>
                <a:hlinkClick xmlns:r="http://schemas.openxmlformats.org/officeDocument/2006/relationships" r:id="R5eca524a48794a32"/>
              </a:rPr>
              <a:t>FG-TIDA — bounded application of the architecture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DCBE4E-A21D-493A-9E6C-AD172191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78992"/>
            <a:ext cx="10515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0" b="0">
                <a:solidFill>
                  <a:srgbClr val="5D6775"/>
                </a:solidFill>
                <a:latin typeface="Calibri"/>
                <a:ea typeface="Calibri"/>
                <a:cs typeface="Calibri"/>
              </a:rPr>
              <a:t>The architecture is being projected into FG-TIDA as an explicit, evidence-bounded application route — without turning the general corpus into an FG-TIDA-specific design.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1A7C472-CB7B-4098-8A1D-407AF412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64208"/>
            <a:ext cx="6537960" cy="3401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2D9E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849164-E872-4917-B2B7-B3C88992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64208"/>
            <a:ext cx="50292" cy="34015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48A"/>
          </a:solidFill>
          <a:ln xmlns:a="http://schemas.openxmlformats.org/drawingml/2006/main">
            <a:solidFill>
              <a:srgbClr val="00848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E20172F-9BF4-4703-8B42-92C3EE50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10512"/>
            <a:ext cx="620877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4355B"/>
                </a:solidFill>
                <a:latin typeface="Cambria"/>
                <a:ea typeface="Cambria"/>
                <a:cs typeface="Cambria"/>
              </a:rPr>
              <a:t>What is being applied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E09521-90DC-4A3B-8704-61557A9F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39696"/>
            <a:ext cx="6208776" cy="2779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Ecosystem Positioning supplies the participant-local architecture: awareness, positioning, signalling and bounded repositioning.</a:t>
            </a: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Ecosystem Awareness supplies the canonical requirements, epistemic qualification and programme-independent interface layer.</a:t>
            </a: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The FG-TIDA package then projects that general layer into a standards-facing application: charter/specification preparation, cross-Theme interfaces, cases, tests and provenance.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ED4C0AA-C2DE-4FCC-B534-A688BE2E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87952"/>
            <a:ext cx="1664208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4355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D0719B1-50EF-4CCC-959E-4462B995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0248"/>
            <a:ext cx="151790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1">
                <a:solidFill>
                  <a:srgbClr val="24355B"/>
                </a:solidFill>
                <a:latin typeface="Consolas"/>
                <a:ea typeface="Consolas"/>
                <a:cs typeface="Consolas"/>
              </a:rPr>
              <a:t>ECOSYSTEM</a:t>
            </a:r>
            <a:br>
              <a:rPr sz="800" b="1">
                <a:solidFill>
                  <a:srgbClr val="24355B"/>
                </a:solidFill>
                <a:latin typeface="Consolas"/>
                <a:ea typeface="Consolas"/>
                <a:cs typeface="Consolas"/>
              </a:rPr>
            </a:br>
            <a:r>
              <a:rPr sz="800" b="1">
                <a:solidFill>
                  <a:srgbClr val="243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A1FB97-E2C1-4DEE-83A0-E657BBF6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3712"/>
            <a:ext cx="151790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30" b="0">
                <a:solidFill>
                  <a:srgbClr val="5D6775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38A57B2-DBC0-4ED8-B346-344EDCC3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4389120"/>
            <a:ext cx="228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24355B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FA019EA-3599-4C15-8EDF-B0A5A9D0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187952"/>
            <a:ext cx="1664208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848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1A28E0A-3C59-4D9E-8E4A-6C5D2B7C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270248"/>
            <a:ext cx="151790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1">
                <a:solidFill>
                  <a:srgbClr val="00848A"/>
                </a:solidFill>
                <a:latin typeface="Consolas"/>
                <a:ea typeface="Consolas"/>
                <a:cs typeface="Consolas"/>
              </a:rPr>
              <a:t>ECOSYSTEM</a:t>
            </a:r>
            <a:br>
              <a:rPr sz="800" b="1">
                <a:solidFill>
                  <a:srgbClr val="00848A"/>
                </a:solidFill>
                <a:latin typeface="Consolas"/>
                <a:ea typeface="Consolas"/>
                <a:cs typeface="Consolas"/>
              </a:rPr>
            </a:br>
            <a:r>
              <a:rPr sz="800" b="1">
                <a:solidFill>
                  <a:srgbClr val="00848A"/>
                </a:solidFill>
                <a:latin typeface="Consolas"/>
                <a:ea typeface="Consolas"/>
                <a:cs typeface="Consolas"/>
              </a:rPr>
              <a:t>AWARENESS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1AD5315-5FE5-4E0F-AD4D-F085369F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553712"/>
            <a:ext cx="151790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30" b="0">
                <a:solidFill>
                  <a:srgbClr val="5D6775"/>
                </a:solidFill>
                <a:latin typeface="Calibri"/>
                <a:ea typeface="Calibri"/>
                <a:cs typeface="Calibri"/>
              </a:rPr>
              <a:t>requirements + 04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483A36E-AB72-43C6-9CB1-117B72D1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4" y="4389120"/>
            <a:ext cx="228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24355B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01FFBF14-24C0-4AC1-AD93-A2D5AD2C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4187952"/>
            <a:ext cx="1664208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0780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49B97C3-2126-4C8C-A366-B8AC90D0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270248"/>
            <a:ext cx="151790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00" b="1">
                <a:solidFill>
                  <a:srgbClr val="D07800"/>
                </a:solidFill>
                <a:latin typeface="Consolas"/>
                <a:ea typeface="Consolas"/>
                <a:cs typeface="Consolas"/>
              </a:rPr>
              <a:t>FG-TIDA</a:t>
            </a:r>
            <a:br>
              <a:rPr sz="800" b="1">
                <a:solidFill>
                  <a:srgbClr val="D07800"/>
                </a:solidFill>
                <a:latin typeface="Consolas"/>
                <a:ea typeface="Consolas"/>
                <a:cs typeface="Consolas"/>
              </a:rPr>
            </a:br>
            <a:r>
              <a:rPr sz="800" b="1">
                <a:solidFill>
                  <a:srgbClr val="D07800"/>
                </a:solidFill>
                <a:latin typeface="Consolas"/>
                <a:ea typeface="Consolas"/>
                <a:cs typeface="Consolas"/>
              </a:rPr>
              <a:t>APPLICATION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38A6E69-218E-4C49-90A7-89DE091D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553712"/>
            <a:ext cx="151790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30" b="0">
                <a:solidFill>
                  <a:srgbClr val="5D6775"/>
                </a:solidFill>
                <a:latin typeface="Calibri"/>
                <a:ea typeface="Calibri"/>
                <a:cs typeface="Calibri"/>
              </a:rPr>
              <a:t>bounded projection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750C95A2-DEC2-4DF1-BEF9-E9B69309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88" y="1664208"/>
            <a:ext cx="4069080" cy="3401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2D9E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9A42427-EC2A-4627-9DDA-CCDC5FB5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88" y="1664208"/>
            <a:ext cx="50292" cy="34015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7800"/>
          </a:solidFill>
          <a:ln xmlns:a="http://schemas.openxmlformats.org/drawingml/2006/main">
            <a:solidFill>
              <a:srgbClr val="D0780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9D32305-2192-4839-B515-CAAC3BA1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810512"/>
            <a:ext cx="373989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24355B"/>
                </a:solidFill>
                <a:latin typeface="Cambria"/>
                <a:ea typeface="Cambria"/>
                <a:cs typeface="Cambria"/>
              </a:rPr>
              <a:t>Bounded by design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925496C-04BF-4726-97D6-CFA9B177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139696"/>
            <a:ext cx="3739896" cy="2779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• 04 remains programme-independent.</a:t>
            </a: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• 05 is the ideal FG-TIDA projection: the maximum coherent target mapping.</a:t>
            </a: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• 05A is the current-state bridge: only what the public / contributor-confirmed record presently supports; the rest remains candidate, test-only or not established.</a:t>
            </a: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b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</a:br>
            <a:r>
              <a:rPr sz="1000" b="0">
                <a:solidFill>
                  <a:srgbClr val="1F2D3D"/>
                </a:solidFill>
                <a:latin typeface="Calibri"/>
                <a:ea typeface="Calibri"/>
                <a:cs typeface="Calibri"/>
              </a:rPr>
              <a:t>• Charter and specification preparation do not imply FG-TIDA adoption, an established Working Group, an ITU-T deliverable or institutional endorsement.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AD40877-2766-4C65-9CF1-BAFEB7FE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321808"/>
            <a:ext cx="27432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19" b="1">
                <a:solidFill>
                  <a:srgbClr val="24355B"/>
                </a:solidFill>
                <a:latin typeface="Consolas"/>
                <a:ea typeface="Consolas"/>
                <a:cs typeface="Consolas"/>
              </a:rPr>
              <a:t>THREE DIRECT ROUTES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2C4AADFD-C16A-4044-9847-5B9188A9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559552"/>
            <a:ext cx="338328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24355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3CB9B4A-5435-4D2A-ABF5-F8D3B41D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623560"/>
            <a:ext cx="32735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1">
                <a:solidFill>
                  <a:srgbClr val="24355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a0d28345a874b30"/>
              </a:rPr>
              <a:t>Ecosystem Positioning 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4BF022D1-0430-402F-97FD-5814C0BD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5559552"/>
            <a:ext cx="338328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00848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5554013F-7B7F-4B9B-A1D5-E66F4665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5623560"/>
            <a:ext cx="32735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1">
                <a:solidFill>
                  <a:srgbClr val="00848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48124a7dce846b7"/>
              </a:rPr>
              <a:t>Ecosystem Awareness →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95459A3-AE4A-4D15-B777-69E2CCB6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5559552"/>
            <a:ext cx="315468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970">
            <a:solidFill>
              <a:srgbClr val="D0780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6CF1315C-14D2-4D85-8D6C-BEFB5DD5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5623560"/>
            <a:ext cx="30449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1">
                <a:solidFill>
                  <a:srgbClr val="D07800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dd563ba0ef84bc8"/>
              </a:rPr>
              <a:t>FG-TIDA application package →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2606F19-01CE-47CC-8B75-F661CE5A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36208"/>
            <a:ext cx="108356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>
            <a:solidFill>
              <a:srgbClr val="24355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DD28ECC-D224-4AA8-9C4A-4503F40F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6355080"/>
            <a:ext cx="3931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20" b="0">
                <a:solidFill>
                  <a:srgbClr val="5D6775"/>
                </a:solidFill>
                <a:latin typeface="Consolas"/>
                <a:ea typeface="Consolas"/>
                <a:cs typeface="Consolas"/>
              </a:rPr>
              <a:t>Ecosystem Positioning · bounded FG-TIDA application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ED806D4-D8CD-4849-BDD0-888792C0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952" y="6355080"/>
            <a:ext cx="2743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>
                <a:solidFill>
                  <a:srgbClr val="5D67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79E046A-32AC-4F29-9481-F1184D43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3566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680" b="1">
                <a:solidFill>
                  <a:srgbClr val="727A86"/>
                </a:solidFill>
                <a:latin typeface="Calibri"/>
                <a:ea typeface="Calibri"/>
                <a:cs typeface="Calibri"/>
              </a:rPr>
              <a:t>CORPUS ↗  </a:t>
            </a:r>
            <a:r>
              <a:rPr sz="680" b="0" u="sng">
                <a:solidFill>
                  <a:srgbClr val="2F6FB2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2ec264cbbec495f"/>
              </a:rPr>
              <a:t>FG-TIDA application package</a:t>
            </a:r>
          </a:p>
        </p:txBody>
      </p:sp>
    </p:spTree>
    <p:extLst>
      <p:ext uri="{BB962C8B-B14F-4D97-AF65-F5344CB8AC3E}">
        <p14:creationId xmlns:p14="http://schemas.microsoft.com/office/powerpoint/2010/main" val="17226370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918FDE-658B-40E4-B938-49830474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55448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60" b="0">
                <a:solidFill>
                  <a:srgbClr val="5D6775"/>
                </a:solidFill>
                <a:latin typeface="Consolas"/>
                <a:ea typeface="Consolas"/>
                <a:cs typeface="Consolas"/>
              </a:rPr>
              <a:t>CURRENT STATE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7F44D7-907A-4D45-A367-08CE2AD2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55448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60" b="0">
                <a:solidFill>
                  <a:srgbClr val="5D6775"/>
                </a:solidFill>
                <a:latin typeface="Consolas"/>
                <a:ea typeface="Consolas"/>
                <a:cs typeface="Consolas"/>
              </a:rPr>
              <a:t>§ A1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169670-6BC7-451E-8915-968255F0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457200"/>
            <a:ext cx="10826496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262B222-0EE1-4609-A900-06884FBA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512064"/>
            <a:ext cx="10826496" cy="54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AD928CD-0647-42C1-9CFB-5D585C4E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94944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24355B"/>
                </a:solidFill>
                <a:latin typeface="Cambria"/>
                <a:ea typeface="Cambria"/>
                <a:cs typeface="Cambria"/>
              </a:rPr>
              <a:t>What exists today — beyond the architecture diagram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2639ACA-DEC7-4614-9C58-F4124917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152144"/>
            <a:ext cx="10515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70" b="0">
                <a:solidFill>
                  <a:srgbClr val="5D6775"/>
                </a:solidFill>
                <a:latin typeface="Aptos"/>
                <a:ea typeface="Aptos"/>
                <a:cs typeface="Aptos"/>
              </a:rPr>
              <a:t>Working hypothesis, but not paper-only: canonical artefacts, executable harnesses and a standards-facing contribution route already exist.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6B8D0E-ECEB-4472-89FB-B9A2EABD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6446520"/>
            <a:ext cx="10826496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D8FF76-89B9-4680-A999-29C7C80B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5212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70" b="0">
                <a:solidFill>
                  <a:srgbClr val="5D6775"/>
                </a:solidFill>
                <a:latin typeface="Aptos"/>
                <a:ea typeface="Aptos"/>
                <a:cs typeface="Aptos"/>
              </a:rPr>
              <a:t>CORPUS ↗  00 · 04 · 05/05A · 00K/A1–A6 · CASE-EXTENSION · FG-TIDA package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E547132-D898-4272-BFC0-04066A5D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10528"/>
            <a:ext cx="3657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760" b="0">
                <a:solidFill>
                  <a:srgbClr val="5D6775"/>
                </a:solidFill>
                <a:latin typeface="Aptos"/>
                <a:ea typeface="Aptos"/>
                <a:cs typeface="Aptos"/>
              </a:rPr>
              <a:t>Ecosystem Positioning · canonical working proposal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BE4297E-59E0-4EFB-A6C5-61E44D50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520" y="6510528"/>
            <a:ext cx="228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50">
                <a:solidFill>
                  <a:srgbClr val="5D67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972A893F-FAC8-404C-999C-2278D793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64208"/>
            <a:ext cx="3383280" cy="3182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6F5"/>
          </a:solidFill>
          <a:ln xmlns:a="http://schemas.openxmlformats.org/drawingml/2006/main" w="10160">
            <a:solidFill>
              <a:srgbClr val="D9DF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21E451-73C7-4EEA-8F0C-47FC4AFA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664208"/>
            <a:ext cx="50292" cy="3182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48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8907C9-ED8C-4A72-B439-DAB4371E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47088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40" b="1">
                <a:solidFill>
                  <a:srgbClr val="00848A"/>
                </a:solidFill>
                <a:latin typeface="Consolas"/>
                <a:ea typeface="Consolas"/>
                <a:cs typeface="Consolas"/>
              </a:rPr>
              <a:t>CANONICAL ARTEFACTS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42CEAF9-08E0-4D93-9808-201CBA53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2971800" cy="2432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00 · S1–S14 / T1–T4 / KPI contract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04 · </a:t>
            </a: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programme</a:t>
            </a: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-independent interfaces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05 · ideal FG-TIDA projection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05A · current-state evidence bridge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draft charter / specification preparation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six Success Model Cases + extensibility profiles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B46EBFE-DF04-4E8A-A4AE-D7D076D3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664208"/>
            <a:ext cx="3383280" cy="3182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2FB"/>
          </a:solidFill>
          <a:ln xmlns:a="http://schemas.openxmlformats.org/drawingml/2006/main" w="10160">
            <a:solidFill>
              <a:srgbClr val="D9DF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53DBB5B-0C52-4764-B85B-3944F928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664208"/>
            <a:ext cx="50292" cy="3182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106AE5C-3A12-4464-B8A7-720308D9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847088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40" b="1">
                <a:solidFill>
                  <a:srgbClr val="2F6FB2"/>
                </a:solidFill>
                <a:latin typeface="Consolas"/>
                <a:ea typeface="Consolas"/>
                <a:cs typeface="Consolas"/>
              </a:rPr>
              <a:t>EXECUTABLE EVIDENCE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49DC941-7AAB-45B7-99B0-433E9871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2258568"/>
            <a:ext cx="2971800" cy="2432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00E–00J quality-plan routes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A1–A6 ablation harnesses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379 registered symbolic tests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A22 full-cube certificate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A23 65,536-state conformance check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TRACE / CLOSURE / CASE-EXTENSION registries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3F1B81A-A67B-47F6-BC04-FB8C1ADC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664208"/>
            <a:ext cx="3584448" cy="3182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1E5"/>
          </a:solidFill>
          <a:ln xmlns:a="http://schemas.openxmlformats.org/drawingml/2006/main" w="10160">
            <a:solidFill>
              <a:srgbClr val="D9DFE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B7D0E0E-862E-4279-9F38-1726FD4C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664208"/>
            <a:ext cx="50292" cy="31821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780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E03F469-EC74-4C6B-A45C-72F1DB39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1847088"/>
            <a:ext cx="31729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40" b="1">
                <a:solidFill>
                  <a:srgbClr val="D07800"/>
                </a:solidFill>
                <a:latin typeface="Consolas"/>
                <a:ea typeface="Consolas"/>
                <a:cs typeface="Consolas"/>
              </a:rPr>
              <a:t>STANDARDS-FACING WORK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EF3D9FC-B9F0-4DA9-835F-C8894093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2258568"/>
            <a:ext cx="3172968" cy="2432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FG-TIDA contribution package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Theme #13 architectural contribution route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cross-Theme interfaces, cases, tests &amp; provenance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harness / testbed paths for independent implementation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current-state vs ideal mapping kept explicit</a:t>
            </a:r>
            <a:b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</a:br>
            <a:r>
              <a:rPr sz="1019" b="0">
                <a:solidFill>
                  <a:srgbClr val="1F2D3D"/>
                </a:solidFill>
                <a:latin typeface="Aptos"/>
                <a:ea typeface="Aptos"/>
                <a:cs typeface="Aptos"/>
              </a:rPr>
              <a:t>• no claim of formal ITU adoption or endorsement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672E17E-5E6A-4885-8F1F-515DCED0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74920"/>
            <a:ext cx="21031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30" b="1">
                <a:solidFill>
                  <a:srgbClr val="24355B"/>
                </a:solidFill>
                <a:latin typeface="Consolas"/>
                <a:ea typeface="Consolas"/>
                <a:cs typeface="Consolas"/>
              </a:rPr>
              <a:t>DEVELOPMENT PATH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4FEBED2A-4ED7-441D-8A4F-D0EEB0B8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431536"/>
            <a:ext cx="196596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4355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EAFFA3AB-961D-4B11-AAD4-3FCED134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5532120"/>
            <a:ext cx="181965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80" b="1">
                <a:solidFill>
                  <a:srgbClr val="24355B"/>
                </a:solidFill>
                <a:latin typeface="Aptos"/>
                <a:ea typeface="Aptos"/>
                <a:cs typeface="Aptos"/>
              </a:rPr>
              <a:t>Architecture hypothesis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04BBAC4-838F-4700-B8D6-6E504EED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616" y="5522976"/>
            <a:ext cx="2468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5D677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7372AFD-E1C4-443B-B1FC-06A7BC37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224" y="5431536"/>
            <a:ext cx="22402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F6FB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42B6DB15-7BA5-4D9B-A08D-021F8146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376" y="5532120"/>
            <a:ext cx="209397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80" b="1">
                <a:solidFill>
                  <a:srgbClr val="2F6FB2"/>
                </a:solidFill>
                <a:latin typeface="Aptos"/>
                <a:ea typeface="Aptos"/>
                <a:cs typeface="Aptos"/>
              </a:rPr>
              <a:t>Frozen case / requirement route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D7AED02-2431-4639-AF06-F8D13B83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5522976"/>
            <a:ext cx="2468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5D677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DC1F64A4-343B-4290-8B29-C334943C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31536"/>
            <a:ext cx="17830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848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EEC73629-5B79-4A9E-BB93-DED546A0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5532120"/>
            <a:ext cx="163677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80" b="1">
                <a:solidFill>
                  <a:srgbClr val="00848A"/>
                </a:solidFill>
                <a:latin typeface="Aptos"/>
                <a:ea typeface="Aptos"/>
                <a:cs typeface="Aptos"/>
              </a:rPr>
              <a:t>Executable harness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37FBE5C1-6133-45E7-8C73-B5DE1784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7768" y="5522976"/>
            <a:ext cx="2468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5D677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AACE5D3E-DF74-4F3C-A255-51C7FC5B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75" y="5431536"/>
            <a:ext cx="210312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C86E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DD57AE9-716C-4D14-ACF3-E8620C0F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7" y="5532120"/>
            <a:ext cx="1956815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80" b="1">
                <a:solidFill>
                  <a:srgbClr val="C86E14"/>
                </a:solidFill>
                <a:latin typeface="Aptos"/>
                <a:ea typeface="Aptos"/>
                <a:cs typeface="Aptos"/>
              </a:rPr>
              <a:t>Interoperable implementation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06407E49-B635-4039-B0CB-AFF8CB45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1784" y="5522976"/>
            <a:ext cx="24688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5D677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7D89A4E9-7FFF-450F-9D13-D9CEB0F9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5431536"/>
            <a:ext cx="205740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F2D3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406CBF5C-534D-47E1-832A-BA9F635D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5532120"/>
            <a:ext cx="1911095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80" b="1">
                <a:solidFill>
                  <a:srgbClr val="1F2D3D"/>
                </a:solidFill>
                <a:latin typeface="Aptos"/>
                <a:ea typeface="Aptos"/>
                <a:cs typeface="Aptos"/>
              </a:rPr>
              <a:t>Independent replication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0FC79434-EB92-42A0-B6CF-F1B3E987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6126480"/>
            <a:ext cx="10561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1">
                <a:solidFill>
                  <a:srgbClr val="5D6775"/>
                </a:solidFill>
                <a:latin typeface="Consolas"/>
                <a:ea typeface="Consolas"/>
                <a:cs typeface="Consolas"/>
              </a:rPr>
              <a:t>STATUS BOUNDARY  ·  contributed ≠ adopted   ·   tested ≠ production-proven   ·   working architecture remains falsifiable</a:t>
            </a:r>
          </a:p>
        </p:txBody>
      </p:sp>
    </p:spTree>
    <p:extLst>
      <p:ext uri="{BB962C8B-B14F-4D97-AF65-F5344CB8AC3E}">
        <p14:creationId xmlns:p14="http://schemas.microsoft.com/office/powerpoint/2010/main" val="3781171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2026-09-27T10:23:55.4350000Z</dcterms:created>
  <dcterms:modified xsi:type="dcterms:W3CDTF">2026-09-27T10:23:55.4350000Z</dcterms:modified>
</coreProperties>
</file>