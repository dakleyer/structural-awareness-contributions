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69FEE93-8B14-43DF-BA43-9BF7DEEB9FE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0308ABA-E4CB-47F4-8B2D-0DDCD4D42392}" type="slidenum">
              <a:t>&lt;#&gt;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640" y="457200"/>
            <a:ext cx="11046240" cy="360"/>
          </a:xfrm>
          <a:prstGeom prst="line">
            <a:avLst/>
          </a:prstGeom>
          <a:ln w="19050">
            <a:solidFill>
              <a:srgbClr val="1b2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640" y="511920"/>
            <a:ext cx="11046240" cy="360"/>
          </a:xfrm>
          <a:prstGeom prst="line">
            <a:avLst/>
          </a:prstGeom>
          <a:ln w="8890">
            <a:solidFill>
              <a:srgbClr val="1b2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640" y="6510240"/>
            <a:ext cx="11046240" cy="360"/>
          </a:xfrm>
          <a:prstGeom prst="line">
            <a:avLst/>
          </a:prstGeom>
          <a:ln w="10160">
            <a:solidFill>
              <a:srgbClr val="1b27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7000" y="6546960"/>
            <a:ext cx="324540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67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87880" y="6546960"/>
            <a:ext cx="338256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670" spc="-1" strike="noStrike">
                <a:solidFill>
                  <a:srgbClr val="7a7e84"/>
                </a:solidFill>
                <a:latin typeface="Consolas"/>
                <a:ea typeface="Consolas"/>
              </a:rPr>
              <a:t>Ecosystem Awareness · Positioning architecture</a:t>
            </a:r>
            <a:endParaRPr b="0" lang="en-US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Num" idx="1"/>
          </p:nvPr>
        </p:nvSpPr>
        <p:spPr>
          <a:xfrm>
            <a:off x="11064240" y="6537960"/>
            <a:ext cx="502200" cy="16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en-US" sz="750" spc="-1" strike="noStrike">
                <a:solidFill>
                  <a:srgbClr val="1b273f"/>
                </a:solidFill>
                <a:latin typeface="Consolas"/>
                <a:ea typeface="Consola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D36860-E741-462D-93F3-B78FE671E5F3}" type="slidenum">
              <a:rPr b="1" lang="en-US" sz="750" spc="-1" strike="noStrike">
                <a:solidFill>
                  <a:srgbClr val="1b273f"/>
                </a:solidFill>
                <a:latin typeface="Consolas"/>
                <a:ea typeface="Consolas"/>
              </a:rPr>
              <a:t>&lt;number&gt;</a:t>
            </a:fld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architectural-contributions/ecosystem-positioning/README.md" TargetMode="External"/><Relationship Id="rId2" Type="http://schemas.openxmlformats.org/officeDocument/2006/relationships/hyperlink" Target="https://github.com/dakleyer/structural-awareness-contributions/blob/main/architectural-contributions/ecosystem-positioning/README.md" TargetMode="External"/><Relationship Id="rId3" Type="http://schemas.openxmlformats.org/officeDocument/2006/relationships/hyperlink" Target="https://github.com/dakleyer/structural-awareness-contributions/blob/main/architectural-contributions/ecosystem-positioning/README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2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3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4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5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6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7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8" Type="http://schemas.openxmlformats.org/officeDocument/2006/relationships/hyperlink" Target="https://github.com/dakleyer/structural-awareness-contributions/blob/main/standards/minimum-sufficient-control/03_MSCA_ECOSYSTEM_COMPOSITION_AND_CONTROL.md" TargetMode="External"/><Relationship Id="rId9" Type="http://schemas.openxmlformats.org/officeDocument/2006/relationships/hyperlink" Target="https://github.com/dakleyer/structural-awareness-contributions/blob/main/standards/minimum-sufficient-control/03_MSCA_ECOSYSTEM_COMPOSITION_AND_CONTROL.md" TargetMode="External"/><Relationship Id="rId10" Type="http://schemas.openxmlformats.org/officeDocument/2006/relationships/hyperlink" Target="https://github.com/dakleyer/structural-awareness-contributions/blob/main/standards/minimum-sufficient-control/03_MSCA_ECOSYSTEM_COMPOSITION_AND_CONTROL.md" TargetMode="External"/><Relationship Id="rId11" Type="http://schemas.openxmlformats.org/officeDocument/2006/relationships/hyperlink" Target="https://github.com/dakleyer/structural-awareness-contributions/blob/main/research/regime-awareness/README.md" TargetMode="External"/><Relationship Id="rId12" Type="http://schemas.openxmlformats.org/officeDocument/2006/relationships/hyperlink" Target="https://github.com/dakleyer/structural-awareness-contributions/blob/main/research/regime-awareness/README.md" TargetMode="External"/><Relationship Id="rId13" Type="http://schemas.openxmlformats.org/officeDocument/2006/relationships/hyperlink" Target="https://github.com/dakleyer/structural-awareness-contributions/blob/main/research/regime-awareness/README.md" TargetMode="External"/><Relationship Id="rId14" Type="http://schemas.openxmlformats.org/officeDocument/2006/relationships/hyperlink" Target="https://github.com/dakleyer/structural-awareness-contributions/blob/main/research/regime-awareness/README.md" TargetMode="External"/><Relationship Id="rId15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6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7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8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19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0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1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2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3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24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5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6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7" Type="http://schemas.openxmlformats.org/officeDocument/2006/relationships/hyperlink" Target="https://github.com/dakleyer/structural-awareness-contributions/blob/main/research/ecosystem-awareness/baseline/01I_AGENTIC_CITIZENSHIP_CONTRACT_HUMAN_GOVERNED_PARTICIPATION_PROFILE_v0.1.md" TargetMode="External"/><Relationship Id="rId28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29" Type="http://schemas.openxmlformats.org/officeDocument/2006/relationships/hyperlink" Target="https://github.com/dakleyer/structural-awareness-contributions/blob/main/standards/minimum-sufficient-control/04_CANONICAL_MSCA_OPERATION_AND_REPOSITIONING.md" TargetMode="External"/><Relationship Id="rId30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31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32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33" Type="http://schemas.openxmlformats.org/officeDocument/2006/relationships/hyperlink" Target="https://github.com/dakleyer/structural-awareness-contributions/blob/main/research/ecosystem-awareness/baseline/01J_ECOSYSTEM_SIGNALLING_SELECTIVE_DISCLOSURE_AND_CHOREOGRAPHED_REPOSITIONING_v0.1.md" TargetMode="External"/><Relationship Id="rId34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35" Type="http://schemas.openxmlformats.org/officeDocument/2006/relationships/hyperlink" Target="https://github.com/dakleyer/structural-awareness-contributions/blob/main/architectural-contributions/ecosystem-positioning/01_OBJECTIVE_CONDITIONED_AGENTIC_GRADIENT_LAW.md" TargetMode="External"/><Relationship Id="rId36" Type="http://schemas.openxmlformats.org/officeDocument/2006/relationships/hyperlink" Target="https://github.com/dakleyer/structural-awareness-contributions/blob/main/standards/minimum-sufficient-control/00_CANONICAL_MSCA_ARCHITECTURE.md" TargetMode="External"/><Relationship Id="rId37" Type="http://schemas.openxmlformats.org/officeDocument/2006/relationships/hyperlink" Target="https://github.com/dakleyer/structural-awareness-contributions/blob/main/standards/minimum-sufficient-control/00_CANONICAL_MSCA_ARCHITECTURE.md" TargetMode="External"/><Relationship Id="rId38" Type="http://schemas.openxmlformats.org/officeDocument/2006/relationships/hyperlink" Target="https://github.com/dakleyer/structural-awareness-contributions/blob/main/architectural-contributions/ecosystem-positioning/README.md#the-mechanisms-of-the-positioning-cycle" TargetMode="External"/><Relationship Id="rId39" Type="http://schemas.openxmlformats.org/officeDocument/2006/relationships/slideLayout" Target="../slideLayouts/slideLayout2.xml"/><Relationship Id="rId4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baseline/04_GENERAL_FUNCTIONAL_INTERFACES_AGENTIC_SECURITY_v0.5_INTEGRATED.md" TargetMode="External"/><Relationship Id="rId2" Type="http://schemas.openxmlformats.org/officeDocument/2006/relationships/hyperlink" Target="https://github.com/dakleyer/structural-awareness-contributions/blob/main/research/ecosystem-awareness/baseline/04_GENERAL_FUNCTIONAL_INTERFACES_AGENTIC_SECURITY_v0.5_INTEGRATED.md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2" Type="http://schemas.openxmlformats.org/officeDocument/2006/relationships/hyperlink" Target="https://github.com/dakleyer/structural-awareness-contributions/blob/main/architectural-contributions/ecosystem-positioning/README.md" TargetMode="External"/><Relationship Id="rId3" Type="http://schemas.openxmlformats.org/officeDocument/2006/relationships/hyperlink" Target="https://github.com/dakleyer/structural-awareness-contributions/blob/main/research/ecosystem-awareness/baseline/00_CANONICAL_ARCHITECTURE_TOPOLOGY.md" TargetMode="External"/><Relationship Id="rId4" Type="http://schemas.openxmlformats.org/officeDocument/2006/relationships/hyperlink" Target="https://github.com/dakleyer/structural-awareness-contributions/blob/main/architectural-contributions/ecosystem-positioning/README.md" TargetMode="Externa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akleyer/structural-awareness-contributions/blob/main/research/ecosystem-awareness/fg-tida/README.md" TargetMode="External"/><Relationship Id="rId2" Type="http://schemas.openxmlformats.org/officeDocument/2006/relationships/hyperlink" Target="https://github.com/dakleyer/structural-awareness-contributions/blob/main/architectural-contributions/ecosystem-positioning/README.md" TargetMode="External"/><Relationship Id="rId3" Type="http://schemas.openxmlformats.org/officeDocument/2006/relationships/hyperlink" Target="https://github.com/dakleyer/structural-awareness-contributions/blob/main/research/ecosystem-awareness/README.md" TargetMode="External"/><Relationship Id="rId4" Type="http://schemas.openxmlformats.org/officeDocument/2006/relationships/hyperlink" Target="https://github.com/dakleyer/structural-awareness-contributions/blob/main/research/ecosystem-awareness/fg-tida/README.md" TargetMode="External"/><Relationship Id="rId5" Type="http://schemas.openxmlformats.org/officeDocument/2006/relationships/hyperlink" Target="https://github.com/dakleyer/structural-awareness-contributions/blob/main/research/ecosystem-awareness/fg-tida/README.md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2"/>
          <p:cNvSpPr/>
          <p:nvPr/>
        </p:nvSpPr>
        <p:spPr>
          <a:xfrm>
            <a:off x="9795960" y="365760"/>
            <a:ext cx="18280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" name="Connector 3"/>
          <p:cNvSpPr/>
          <p:nvPr/>
        </p:nvSpPr>
        <p:spPr>
          <a:xfrm>
            <a:off x="566640" y="713160"/>
            <a:ext cx="11058120" cy="360"/>
          </a:xfrm>
          <a:prstGeom prst="line">
            <a:avLst/>
          </a:prstGeom>
          <a:ln w="19050">
            <a:solidFill>
              <a:srgbClr val="d3d6dc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8" name="Connector 4"/>
          <p:cNvSpPr/>
          <p:nvPr/>
        </p:nvSpPr>
        <p:spPr>
          <a:xfrm>
            <a:off x="566640" y="763200"/>
            <a:ext cx="11058120" cy="360"/>
          </a:xfrm>
          <a:prstGeom prst="line">
            <a:avLst/>
          </a:prstGeom>
          <a:ln w="7620">
            <a:solidFill>
              <a:srgbClr val="d3d6dc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" name="TextBox 6"/>
          <p:cNvSpPr/>
          <p:nvPr/>
        </p:nvSpPr>
        <p:spPr>
          <a:xfrm>
            <a:off x="567000" y="1783080"/>
            <a:ext cx="7315200" cy="133502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4000" spc="-100" strike="noStrike" u="sng">
                <a:solidFill>
                  <a:srgbClr val="0563c1"/>
                </a:solidFill>
                <a:uFillTx/>
                <a:latin typeface="Cambria"/>
                <a:ea typeface="Cambria"/>
                <a:hlinkClick r:id="rId1"/>
              </a:rPr>
              <a:t>Ecosystem Positioning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4000" spc="-100" strike="noStrike" u="sng">
                <a:solidFill>
                  <a:srgbClr val="0563c1"/>
                </a:solidFill>
                <a:uFillTx/>
                <a:latin typeface="Cambria"/>
                <a:ea typeface="Cambria"/>
                <a:hlinkClick r:id="rId2"/>
              </a:rPr>
              <a:t>for Agentic Systems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Box 7"/>
          <p:cNvSpPr/>
          <p:nvPr/>
        </p:nvSpPr>
        <p:spPr>
          <a:xfrm>
            <a:off x="567000" y="3383280"/>
            <a:ext cx="630864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b="0" lang="en-US" sz="1350" spc="-1" strike="noStrike">
                <a:solidFill>
                  <a:srgbClr val="cacdd3"/>
                </a:solidFill>
                <a:latin typeface="Calibri"/>
                <a:ea typeface="Calibri"/>
              </a:rPr>
              <a:t>A proposed architecture for participants that must stay situated, and requalify, as authority, evidence, roles and the ecosystem itself change.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Oval 8"/>
          <p:cNvSpPr/>
          <p:nvPr/>
        </p:nvSpPr>
        <p:spPr>
          <a:xfrm>
            <a:off x="631080" y="4928760"/>
            <a:ext cx="291960" cy="291960"/>
          </a:xfrm>
          <a:prstGeom prst="ellipse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" name="Rectangle 9"/>
          <p:cNvSpPr/>
          <p:nvPr/>
        </p:nvSpPr>
        <p:spPr>
          <a:xfrm>
            <a:off x="2560320" y="4937760"/>
            <a:ext cx="273600" cy="273600"/>
          </a:xfrm>
          <a:prstGeom prst="rect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" name="Rectangle 10"/>
          <p:cNvSpPr/>
          <p:nvPr/>
        </p:nvSpPr>
        <p:spPr>
          <a:xfrm>
            <a:off x="4480560" y="4937760"/>
            <a:ext cx="273600" cy="273600"/>
          </a:xfrm>
          <a:prstGeom prst="rect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" name="Rectangle 11"/>
          <p:cNvSpPr/>
          <p:nvPr/>
        </p:nvSpPr>
        <p:spPr>
          <a:xfrm>
            <a:off x="6400800" y="4937760"/>
            <a:ext cx="273600" cy="273600"/>
          </a:xfrm>
          <a:prstGeom prst="rect">
            <a:avLst/>
          </a:prstGeom>
          <a:noFill/>
          <a:ln w="12700">
            <a:solidFill>
              <a:srgbClr val="7fb2d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" name="Connector 12"/>
          <p:cNvSpPr/>
          <p:nvPr/>
        </p:nvSpPr>
        <p:spPr>
          <a:xfrm>
            <a:off x="978120" y="5074920"/>
            <a:ext cx="1518120" cy="360"/>
          </a:xfrm>
          <a:prstGeom prst="line">
            <a:avLst/>
          </a:prstGeom>
          <a:ln>
            <a:solidFill>
              <a:srgbClr val="7fb2de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6" name="Connector 13"/>
          <p:cNvSpPr/>
          <p:nvPr/>
        </p:nvSpPr>
        <p:spPr>
          <a:xfrm>
            <a:off x="2898360" y="5074920"/>
            <a:ext cx="1518120" cy="360"/>
          </a:xfrm>
          <a:prstGeom prst="line">
            <a:avLst/>
          </a:prstGeom>
          <a:ln>
            <a:solidFill>
              <a:srgbClr val="7fb2de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7" name="Connector 14"/>
          <p:cNvSpPr/>
          <p:nvPr/>
        </p:nvSpPr>
        <p:spPr>
          <a:xfrm>
            <a:off x="4818600" y="5074920"/>
            <a:ext cx="1518120" cy="360"/>
          </a:xfrm>
          <a:prstGeom prst="line">
            <a:avLst/>
          </a:prstGeom>
          <a:ln>
            <a:solidFill>
              <a:srgbClr val="7fb2de"/>
            </a:solidFill>
            <a:round/>
            <a:tailEnd len="med"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8" name="TextBox 15"/>
          <p:cNvSpPr/>
          <p:nvPr/>
        </p:nvSpPr>
        <p:spPr>
          <a:xfrm>
            <a:off x="1188720" y="4782240"/>
            <a:ext cx="109656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triggers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Box 16"/>
          <p:cNvSpPr/>
          <p:nvPr/>
        </p:nvSpPr>
        <p:spPr>
          <a:xfrm>
            <a:off x="3108960" y="4782240"/>
            <a:ext cx="109656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informs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17"/>
          <p:cNvSpPr/>
          <p:nvPr/>
        </p:nvSpPr>
        <p:spPr>
          <a:xfrm>
            <a:off x="5029200" y="4782240"/>
            <a:ext cx="109656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guides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Box 18"/>
          <p:cNvSpPr/>
          <p:nvPr/>
        </p:nvSpPr>
        <p:spPr>
          <a:xfrm>
            <a:off x="137160" y="5330880"/>
            <a:ext cx="12794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6" strike="noStrike">
                <a:solidFill>
                  <a:srgbClr val="a6abb5"/>
                </a:solidFill>
                <a:latin typeface="Consolas"/>
                <a:ea typeface="Consolas"/>
              </a:rPr>
              <a:t>CHANGE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Box 19"/>
          <p:cNvSpPr/>
          <p:nvPr/>
        </p:nvSpPr>
        <p:spPr>
          <a:xfrm>
            <a:off x="2057400" y="5330880"/>
            <a:ext cx="12794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6" strike="noStrike">
                <a:solidFill>
                  <a:srgbClr val="a6abb5"/>
                </a:solidFill>
                <a:latin typeface="Consolas"/>
                <a:ea typeface="Consolas"/>
              </a:rPr>
              <a:t>AWARENESS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Box 20"/>
          <p:cNvSpPr/>
          <p:nvPr/>
        </p:nvSpPr>
        <p:spPr>
          <a:xfrm>
            <a:off x="3977640" y="5330880"/>
            <a:ext cx="12794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6" strike="noStrike">
                <a:solidFill>
                  <a:srgbClr val="a6abb5"/>
                </a:solidFill>
                <a:latin typeface="Consolas"/>
                <a:ea typeface="Consolas"/>
              </a:rPr>
              <a:t>GRADIENT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Box 21"/>
          <p:cNvSpPr/>
          <p:nvPr/>
        </p:nvSpPr>
        <p:spPr>
          <a:xfrm>
            <a:off x="5897880" y="5330880"/>
            <a:ext cx="12794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50" spc="126" strike="noStrike">
                <a:solidFill>
                  <a:srgbClr val="a6abb5"/>
                </a:solidFill>
                <a:latin typeface="Consolas"/>
                <a:ea typeface="Consolas"/>
              </a:rPr>
              <a:t>REPOSITIONING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Box 22"/>
          <p:cNvSpPr/>
          <p:nvPr/>
        </p:nvSpPr>
        <p:spPr>
          <a:xfrm>
            <a:off x="5440680" y="5550480"/>
            <a:ext cx="2193840" cy="1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00" spc="-1" strike="noStrike">
                <a:solidFill>
                  <a:srgbClr val="8b919e"/>
                </a:solidFill>
                <a:latin typeface="Consolas"/>
                <a:ea typeface="Consolas"/>
              </a:rPr>
              <a:t>signal ≠ command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Rectangle 23"/>
          <p:cNvSpPr/>
          <p:nvPr/>
        </p:nvSpPr>
        <p:spPr>
          <a:xfrm>
            <a:off x="8001000" y="1371600"/>
            <a:ext cx="3620160" cy="3428280"/>
          </a:xfrm>
          <a:prstGeom prst="rect">
            <a:avLst/>
          </a:prstGeom>
          <a:solidFill>
            <a:srgbClr val="27324a"/>
          </a:solidFill>
          <a:ln w="7620">
            <a:solidFill>
              <a:srgbClr val="3f495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" name="Rectangle 24"/>
          <p:cNvSpPr/>
          <p:nvPr/>
        </p:nvSpPr>
        <p:spPr>
          <a:xfrm>
            <a:off x="8001000" y="1371600"/>
            <a:ext cx="40320" cy="3428280"/>
          </a:xfrm>
          <a:prstGeom prst="rect">
            <a:avLst/>
          </a:prstGeom>
          <a:solidFill>
            <a:srgbClr val="7fb2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" name="TextBox 25"/>
          <p:cNvSpPr/>
          <p:nvPr/>
        </p:nvSpPr>
        <p:spPr>
          <a:xfrm>
            <a:off x="8275320" y="1627560"/>
            <a:ext cx="316296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Consolas"/>
                <a:ea typeface="Consolas"/>
              </a:rPr>
              <a:t>DECK II · ARCHITECTURE &amp; IMPLEMENTATION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Box 26"/>
          <p:cNvSpPr/>
          <p:nvPr/>
        </p:nvSpPr>
        <p:spPr>
          <a:xfrm>
            <a:off x="8275320" y="1938600"/>
            <a:ext cx="3162960" cy="73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8000"/>
              </a:lnSpc>
            </a:pPr>
            <a:r>
              <a:rPr b="1" lang="en-US" sz="1650" spc="-1" strike="noStrike">
                <a:solidFill>
                  <a:srgbClr val="d7e4f2"/>
                </a:solidFill>
                <a:latin typeface="Cambria"/>
                <a:ea typeface="Cambria"/>
              </a:rPr>
              <a:t>Working architecture → interfaces → standards-facing application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Box 27"/>
          <p:cNvSpPr/>
          <p:nvPr/>
        </p:nvSpPr>
        <p:spPr>
          <a:xfrm>
            <a:off x="8275320" y="2788920"/>
            <a:ext cx="30715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b="1" lang="en-US" sz="1050" spc="-1" strike="noStrike">
                <a:solidFill>
                  <a:srgbClr val="a6abb5"/>
                </a:solidFill>
                <a:latin typeface="Consolas"/>
                <a:ea typeface="Consolas"/>
              </a:rPr>
              <a:t>CREATED BY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1700" spc="-1" strike="noStrike">
                <a:solidFill>
                  <a:srgbClr val="fcfcfd"/>
                </a:solidFill>
                <a:latin typeface="Cambria"/>
                <a:ea typeface="Cambria"/>
              </a:rPr>
              <a:t>Iván Abril Palma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50" spc="-1" strike="noStrike">
                <a:solidFill>
                  <a:srgbClr val="cacdd3"/>
                </a:solidFill>
                <a:latin typeface="Calibri"/>
                <a:ea typeface="Calibri"/>
              </a:rPr>
              <a:t>Tegrity.ai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Box 28"/>
          <p:cNvSpPr/>
          <p:nvPr/>
        </p:nvSpPr>
        <p:spPr>
          <a:xfrm>
            <a:off x="8275320" y="4114800"/>
            <a:ext cx="3162960" cy="68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r>
              <a:rPr b="0" lang="en-US" sz="1000" spc="-1" strike="noStrike">
                <a:solidFill>
                  <a:srgbClr val="5d6775"/>
                </a:solidFill>
                <a:latin typeface="Aptos"/>
                <a:ea typeface="Aptos"/>
              </a:rPr>
              <a:t>CREATIVE COMMONS · ATTRIBUTION</a:t>
            </a:r>
            <a:br>
              <a:rPr sz="1800"/>
            </a:br>
            <a:r>
              <a:rPr b="0" lang="en-US" sz="1000" spc="-1" strike="noStrike">
                <a:solidFill>
                  <a:srgbClr val="5d6775"/>
                </a:solidFill>
                <a:latin typeface="Aptos"/>
                <a:ea typeface="Aptos"/>
              </a:rPr>
              <a:t>V1.2 · 2026-09-28 · CANONICAL WORKING PROPOSAL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Connector 29"/>
          <p:cNvSpPr/>
          <p:nvPr/>
        </p:nvSpPr>
        <p:spPr>
          <a:xfrm>
            <a:off x="566640" y="6217920"/>
            <a:ext cx="11058120" cy="360"/>
          </a:xfrm>
          <a:prstGeom prst="line">
            <a:avLst/>
          </a:prstGeom>
          <a:ln w="6350">
            <a:solidFill>
              <a:srgbClr val="3a456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43" name="TextBox 31"/>
          <p:cNvSpPr/>
          <p:nvPr/>
        </p:nvSpPr>
        <p:spPr>
          <a:xfrm>
            <a:off x="10527480" y="62910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44" name="TextBox 32"/>
          <p:cNvSpPr/>
          <p:nvPr/>
        </p:nvSpPr>
        <p:spPr>
          <a:xfrm>
            <a:off x="1383120" y="6510600"/>
            <a:ext cx="1933200" cy="1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"/>
              </a:rPr>
              <a:t>Ecosystem Positioning README</a:t>
            </a:r>
            <a:endParaRPr b="0" lang="en-US" sz="68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1"/>
          <p:cNvSpPr/>
          <p:nvPr/>
        </p:nvSpPr>
        <p:spPr>
          <a:xfrm>
            <a:off x="567000" y="146160"/>
            <a:ext cx="25596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5d6572"/>
                </a:solidFill>
                <a:latin typeface="Aptos"/>
                <a:ea typeface="Aptos"/>
              </a:rPr>
              <a:t>PROPOSED PROCESS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567000" y="329040"/>
            <a:ext cx="10972080" cy="15840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8440" bIns="-2844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" name="TextBox 3"/>
          <p:cNvSpPr/>
          <p:nvPr/>
        </p:nvSpPr>
        <p:spPr>
          <a:xfrm>
            <a:off x="10881360" y="146160"/>
            <a:ext cx="6393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5d6572"/>
                </a:solidFill>
                <a:latin typeface="Aptos"/>
                <a:ea typeface="Aptos"/>
              </a:rPr>
              <a:t>§ 04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Box 8"/>
          <p:cNvSpPr/>
          <p:nvPr/>
        </p:nvSpPr>
        <p:spPr>
          <a:xfrm>
            <a:off x="567000" y="676800"/>
            <a:ext cx="1078920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pc="-1" strike="noStrike">
                <a:solidFill>
                  <a:srgbClr val="1f2c4a"/>
                </a:solidFill>
                <a:latin typeface="Aptos"/>
                <a:ea typeface="Aptos"/>
              </a:rPr>
              <a:t>From unresolved ecosystem change to qualified repositioning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Rectangle 39"/>
          <p:cNvSpPr/>
          <p:nvPr/>
        </p:nvSpPr>
        <p:spPr>
          <a:xfrm>
            <a:off x="0" y="6336720"/>
            <a:ext cx="12191040" cy="52056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50" name="Rectangle 40"/>
          <p:cNvSpPr/>
          <p:nvPr/>
        </p:nvSpPr>
        <p:spPr>
          <a:xfrm>
            <a:off x="567000" y="6492240"/>
            <a:ext cx="10972080" cy="12960"/>
          </a:xfrm>
          <a:prstGeom prst="rect">
            <a:avLst/>
          </a:prstGeom>
          <a:solidFill>
            <a:srgbClr val="1f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1320" bIns="-313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51" name="TextBox 42"/>
          <p:cNvSpPr/>
          <p:nvPr/>
        </p:nvSpPr>
        <p:spPr>
          <a:xfrm>
            <a:off x="4114800" y="6528960"/>
            <a:ext cx="36568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Ecosystem Awareness · Positioning architecture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43"/>
          <p:cNvSpPr/>
          <p:nvPr/>
        </p:nvSpPr>
        <p:spPr>
          <a:xfrm>
            <a:off x="11018520" y="6528960"/>
            <a:ext cx="365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ubtitle"/>
          <p:cNvSpPr/>
          <p:nvPr/>
        </p:nvSpPr>
        <p:spPr>
          <a:xfrm>
            <a:off x="567000" y="1134000"/>
            <a:ext cx="108806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050" spc="-1" strike="noStrike">
                <a:solidFill>
                  <a:srgbClr val="5d6572"/>
                </a:solidFill>
                <a:latin typeface="Aptos"/>
                <a:ea typeface="Aptos"/>
              </a:rPr>
              <a:t>Working proposal, not an adopted standard. Top row: the process sequence. Panels below: expansion of the numbered steps.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Badge proposal"/>
          <p:cNvSpPr/>
          <p:nvPr/>
        </p:nvSpPr>
        <p:spPr>
          <a:xfrm>
            <a:off x="9052560" y="91440"/>
            <a:ext cx="1462320" cy="218880"/>
          </a:xfrm>
          <a:prstGeom prst="roundRect">
            <a:avLst>
              <a:gd name="adj" fmla="val 16667"/>
            </a:avLst>
          </a:prstGeom>
          <a:solidFill>
            <a:srgbClr val="007b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  <a:ea typeface="Aptos"/>
              </a:rPr>
              <a:t>PROPOSAL PROCESS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Process step 0"/>
          <p:cNvSpPr/>
          <p:nvPr/>
        </p:nvSpPr>
        <p:spPr>
          <a:xfrm>
            <a:off x="56700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6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"/>
              </a:rPr>
              <a:t>0 · Epistemic Awareness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"/>
              </a:rPr>
              <a:t>Local position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"/>
              </a:rPr>
              <a:t>Qualify Π_EA = A/B/C/D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rocess step 1"/>
          <p:cNvSpPr/>
          <p:nvPr/>
        </p:nvSpPr>
        <p:spPr>
          <a:xfrm>
            <a:off x="218088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4"/>
              </a:rPr>
              <a:t>1 · Ecosystem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5"/>
              </a:rPr>
              <a:t>Signalling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4"/>
              </a:rPr>
              <a:t>Qualify / exchange</a:t>
            </a:r>
            <a:br/>
            <a:r>
              <a:rPr sz="700" b="0" u="sng">
                <a:solidFill>
                  <a:schemeClr val="hlink"/>
                </a:solidFill>
                <a:hlinkClick r:id="rId4"/>
              </a:rPr>
              <a:t>ReceivedSignals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rocess step 2"/>
          <p:cNvSpPr/>
          <p:nvPr/>
        </p:nvSpPr>
        <p:spPr>
          <a:xfrm>
            <a:off x="379476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8"/>
              </a:rPr>
              <a:t>2 · Ecosystem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9"/>
              </a:rPr>
              <a:t>Cartography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0"/>
              </a:rPr>
              <a:t>Update Cart_i / Δ_Cart_i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rocess step 3"/>
          <p:cNvSpPr/>
          <p:nvPr/>
        </p:nvSpPr>
        <p:spPr>
          <a:xfrm>
            <a:off x="540864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1"/>
              </a:rPr>
              <a:t>3 · Regime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2"/>
              </a:rPr>
              <a:t>Awareness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11"/>
              </a:rPr>
              <a:t>Emit Δ_RA + regime</a:t>
            </a:r>
            <a:br/>
            <a:r>
              <a:rPr sz="700" b="0" u="sng">
                <a:solidFill>
                  <a:schemeClr val="hlink"/>
                </a:solidFill>
                <a:hlinkClick r:id="rId11"/>
              </a:rPr>
              <a:t>overlay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rocess step 4"/>
          <p:cNvSpPr/>
          <p:nvPr/>
        </p:nvSpPr>
        <p:spPr>
          <a:xfrm>
            <a:off x="702252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5"/>
              </a:rPr>
              <a:t>4 · MSCA Operation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6"/>
              </a:rPr>
              <a:t>Drift &amp; Posture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15"/>
              </a:rPr>
              <a:t>Role_effective · Type 0/1/2</a:t>
            </a:r>
            <a:br/>
            <a:r>
              <a:rPr sz="700" b="0" u="sng">
                <a:solidFill>
                  <a:schemeClr val="hlink"/>
                </a:solidFill>
                <a:hlinkClick r:id="rId15"/>
              </a:rPr>
              <a:t>· P1/P2/P3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rocess step 5"/>
          <p:cNvSpPr/>
          <p:nvPr/>
        </p:nvSpPr>
        <p:spPr>
          <a:xfrm>
            <a:off x="863640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4ca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9"/>
              </a:rPr>
              <a:t>5 · Gradient &amp;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0"/>
              </a:rPr>
              <a:t>Repositioning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19"/>
              </a:rPr>
              <a:t>Rank from Role_effective →</a:t>
            </a:r>
            <a:br/>
            <a:r>
              <a:rPr sz="700" b="0" u="sng">
                <a:solidFill>
                  <a:schemeClr val="hlink"/>
                </a:solidFill>
                <a:hlinkClick r:id="rId19"/>
              </a:rPr>
              <a:t>ACC gate → re-contract /</a:t>
            </a:r>
            <a:br/>
            <a:r>
              <a:rPr sz="700" b="0" u="sng">
                <a:solidFill>
                  <a:schemeClr val="hlink"/>
                </a:solidFill>
                <a:hlinkClick r:id="rId19"/>
              </a:rPr>
              <a:t>escalate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rocess step 6"/>
          <p:cNvSpPr/>
          <p:nvPr/>
        </p:nvSpPr>
        <p:spPr>
          <a:xfrm>
            <a:off x="10250280" y="1627560"/>
            <a:ext cx="1370880" cy="868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2c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004" rIns="32004" tIns="18288" bIns="18288" anchor="ctr">
            <a:noAutofit/>
          </a:bodyPr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4"/>
              </a:rPr>
              <a:t>Human / Institutional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8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5"/>
              </a:rPr>
              <a:t>Governance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u="sng">
                <a:solidFill>
                  <a:schemeClr val="hlink"/>
                </a:solidFill>
                <a:hlinkClick r:id="rId24"/>
              </a:rPr>
              <a:t>Authority decides;</a:t>
            </a:r>
            <a:br/>
            <a:r>
              <a:rPr sz="700" b="0" u="sng">
                <a:solidFill>
                  <a:schemeClr val="hlink"/>
                </a:solidFill>
                <a:hlinkClick r:id="rId24"/>
              </a:rPr>
              <a:t>signals ≠ commands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2" name="Flow 0-1"/>
          <p:cNvCxnSpPr>
            <a:stCxn id="55" idx="3"/>
            <a:endCxn id="56" idx="1"/>
          </p:cNvCxnSpPr>
          <p:nvPr/>
        </p:nvCxnSpPr>
        <p:spPr>
          <a:xfrm>
            <a:off x="1938240" y="2011680"/>
            <a:ext cx="243000" cy="72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3" name="Flow 1-2"/>
          <p:cNvCxnSpPr>
            <a:stCxn id="56" idx="3"/>
            <a:endCxn id="57" idx="1"/>
          </p:cNvCxnSpPr>
          <p:nvPr/>
        </p:nvCxnSpPr>
        <p:spPr>
          <a:xfrm>
            <a:off x="3552120" y="2011680"/>
            <a:ext cx="243360" cy="72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4" name="Flow 2-3"/>
          <p:cNvCxnSpPr>
            <a:stCxn id="57" idx="3"/>
            <a:endCxn id="58" idx="1"/>
          </p:cNvCxnSpPr>
          <p:nvPr/>
        </p:nvCxnSpPr>
        <p:spPr>
          <a:xfrm>
            <a:off x="5166360" y="2011680"/>
            <a:ext cx="243000" cy="72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5" name="Flow 3-4"/>
          <p:cNvCxnSpPr>
            <a:stCxn id="58" idx="3"/>
            <a:endCxn id="59" idx="1"/>
          </p:cNvCxnSpPr>
          <p:nvPr/>
        </p:nvCxnSpPr>
        <p:spPr>
          <a:xfrm>
            <a:off x="6780240" y="2011680"/>
            <a:ext cx="243000" cy="72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6" name="Flow 4-5"/>
          <p:cNvCxnSpPr>
            <a:stCxn id="59" idx="3"/>
            <a:endCxn id="60" idx="1"/>
          </p:cNvCxnSpPr>
          <p:nvPr/>
        </p:nvCxnSpPr>
        <p:spPr>
          <a:xfrm>
            <a:off x="8394120" y="2011680"/>
            <a:ext cx="243000" cy="720"/>
          </a:xfrm>
          <a:prstGeom prst="straightConnector1">
            <a:avLst/>
          </a:prstGeom>
          <a:ln w="15875">
            <a:solidFill>
              <a:srgbClr val="1f2c4a"/>
            </a:solidFill>
            <a:round/>
            <a:tailEnd len="med" type="triangle" w="med"/>
          </a:ln>
        </p:spPr>
      </p:cxnSp>
      <p:cxnSp>
        <p:nvCxnSpPr>
          <p:cNvPr id="67" name="Flow 5-6"/>
          <p:cNvCxnSpPr>
            <a:stCxn id="60" idx="3"/>
            <a:endCxn id="61" idx="1"/>
          </p:cNvCxnSpPr>
          <p:nvPr/>
        </p:nvCxnSpPr>
        <p:spPr>
          <a:xfrm>
            <a:off x="10008000" y="2011680"/>
            <a:ext cx="243000" cy="720"/>
          </a:xfrm>
          <a:prstGeom prst="straightConnector1">
            <a:avLst/>
          </a:prstGeom>
          <a:ln w="15875">
            <a:solidFill>
              <a:srgbClr val="1f2c4a"/>
            </a:solidFill>
            <a:prstDash val="dash"/>
            <a:round/>
            <a:tailEnd len="med" type="triangle" w="med"/>
          </a:ln>
        </p:spPr>
      </p:cxnSp>
      <p:sp>
        <p:nvSpPr>
          <p:cNvPr id="68" name="Participant boundary"/>
          <p:cNvSpPr/>
          <p:nvPr/>
        </p:nvSpPr>
        <p:spPr>
          <a:xfrm>
            <a:off x="10128960" y="1581840"/>
            <a:ext cx="360" cy="859320"/>
          </a:xfrm>
          <a:prstGeom prst="line">
            <a:avLst/>
          </a:prstGeom>
          <a:ln w="12700">
            <a:solidFill>
              <a:srgbClr val="c4cad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69" name="Loop up"/>
          <p:cNvSpPr/>
          <p:nvPr/>
        </p:nvSpPr>
        <p:spPr>
          <a:xfrm flipV="1">
            <a:off x="10936080" y="1435320"/>
            <a:ext cx="360" cy="192240"/>
          </a:xfrm>
          <a:prstGeom prst="line">
            <a:avLst/>
          </a:prstGeom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70" name="Loop across"/>
          <p:cNvSpPr/>
          <p:nvPr/>
        </p:nvSpPr>
        <p:spPr>
          <a:xfrm flipH="1">
            <a:off x="1252440" y="1435320"/>
            <a:ext cx="9683640" cy="360"/>
          </a:xfrm>
          <a:prstGeom prst="line">
            <a:avLst/>
          </a:prstGeom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71" name="Loop down"/>
          <p:cNvSpPr/>
          <p:nvPr/>
        </p:nvSpPr>
        <p:spPr>
          <a:xfrm>
            <a:off x="1252440" y="1435320"/>
            <a:ext cx="360" cy="192240"/>
          </a:xfrm>
          <a:prstGeom prst="line">
            <a:avLst/>
          </a:prstGeom>
          <a:ln w="13970">
            <a:solidFill>
              <a:srgbClr val="c1762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72" name="Loop label"/>
          <p:cNvSpPr/>
          <p:nvPr/>
        </p:nvSpPr>
        <p:spPr>
          <a:xfrm>
            <a:off x="3291840" y="1344240"/>
            <a:ext cx="5577120" cy="182160"/>
          </a:xfrm>
          <a:prstGeom prst="rect">
            <a:avLst/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c17629"/>
                </a:solidFill>
                <a:latin typeface="Aptos"/>
                <a:ea typeface="Aptos"/>
              </a:rPr>
              <a:t>↺  </a:t>
            </a:r>
            <a:r>
              <a:rPr b="0" i="1" lang="en-US" sz="800" spc="-1" strike="noStrike">
                <a:solidFill>
                  <a:srgbClr val="c17629"/>
                </a:solidFill>
                <a:latin typeface="Aptos"/>
                <a:ea typeface="Aptos"/>
              </a:rPr>
              <a:t>role / ACC / authority / outcome changes re-enter as new state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anel Regime change detect"/>
          <p:cNvSpPr/>
          <p:nvPr/>
        </p:nvSpPr>
        <p:spPr>
          <a:xfrm>
            <a:off x="567000" y="2697480"/>
            <a:ext cx="1846440" cy="254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8"/>
              </a:rPr>
              <a:t>Repositioning posture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9"/>
              </a:rPr>
              <a:t>Step 4 · P1 / P2 / P3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tate 1 · Normal operation"/>
          <p:cNvSpPr/>
          <p:nvPr/>
        </p:nvSpPr>
        <p:spPr>
          <a:xfrm>
            <a:off x="640080" y="3383280"/>
            <a:ext cx="1699920" cy="56628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007b82"/>
                </a:solidFill>
                <a:latin typeface="Aptos"/>
                <a:ea typeface="Aptos"/>
              </a:rPr>
              <a:t>P1 · Normal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Qualified frame remains usable.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tate 2 · Containment mode"/>
          <p:cNvSpPr/>
          <p:nvPr/>
        </p:nvSpPr>
        <p:spPr>
          <a:xfrm>
            <a:off x="640080" y="3986640"/>
            <a:ext cx="1699920" cy="566280"/>
          </a:xfrm>
          <a:prstGeom prst="roundRect">
            <a:avLst>
              <a:gd name="adj" fmla="val 10000"/>
            </a:avLst>
          </a:prstGeom>
          <a:solidFill>
            <a:srgbClr val="fff4e6"/>
          </a:solidFill>
          <a:ln w="9525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c17629"/>
                </a:solidFill>
                <a:latin typeface="Aptos"/>
                <a:ea typeface="Aptos"/>
              </a:rPr>
              <a:t>P2 · Containment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Bounded response needed; request / escalate.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tate 3 · Transition/Migration"/>
          <p:cNvSpPr/>
          <p:nvPr/>
        </p:nvSpPr>
        <p:spPr>
          <a:xfrm>
            <a:off x="640080" y="4590360"/>
            <a:ext cx="1699920" cy="566280"/>
          </a:xfrm>
          <a:prstGeom prst="roundRect">
            <a:avLst>
              <a:gd name="adj" fmla="val 10000"/>
            </a:avLst>
          </a:prstGeom>
          <a:solidFill>
            <a:srgbClr val="fbecea"/>
          </a:solidFill>
          <a:ln w="9525">
            <a:solidFill>
              <a:srgbClr val="c65d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c65d4e"/>
                </a:solidFill>
                <a:latin typeface="Aptos"/>
                <a:ea typeface="Aptos"/>
              </a:rPr>
              <a:t>P3 · Migration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Current frame insufficient; qualify transition.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anel Epistemic state — 4 "/>
          <p:cNvSpPr/>
          <p:nvPr/>
        </p:nvSpPr>
        <p:spPr>
          <a:xfrm>
            <a:off x="2532960" y="2697480"/>
            <a:ext cx="2788200" cy="2541240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0"/>
              </a:rPr>
              <a:t>Epistemic state — 4 components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1"/>
              </a:rPr>
              <a:t>Step 0 · A/B/C/D, relative to the active decision window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Epistemic state label"/>
          <p:cNvSpPr/>
          <p:nvPr/>
        </p:nvSpPr>
        <p:spPr>
          <a:xfrm>
            <a:off x="2615040" y="5038200"/>
            <a:ext cx="262368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0" i="1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Not equal quadrants; the balance is decision-specific.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Component A"/>
          <p:cNvSpPr/>
          <p:nvPr/>
        </p:nvSpPr>
        <p:spPr>
          <a:xfrm>
            <a:off x="2624400" y="3383280"/>
            <a:ext cx="1252080" cy="78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A · Situated assertion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What / where / from which frame is represented now.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Component B"/>
          <p:cNvSpPr/>
          <p:nvPr/>
        </p:nvSpPr>
        <p:spPr>
          <a:xfrm>
            <a:off x="3977640" y="3383280"/>
            <a:ext cx="1252080" cy="78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B · Confidence / intensity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Support for A; does not erase C or D.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Component C"/>
          <p:cNvSpPr/>
          <p:nvPr/>
        </p:nvSpPr>
        <p:spPr>
          <a:xfrm>
            <a:off x="2624400" y="4215240"/>
            <a:ext cx="1252080" cy="78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C · Capability frontier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What can still be established with current capability.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omponent D"/>
          <p:cNvSpPr/>
          <p:nvPr/>
        </p:nvSpPr>
        <p:spPr>
          <a:xfrm>
            <a:off x="3977640" y="4215240"/>
            <a:ext cx="1252080" cy="785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c17629"/>
                </a:solidFill>
                <a:latin typeface="Aptos"/>
                <a:ea typeface="Aptos"/>
              </a:rPr>
              <a:t>D · Structural residual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680" spc="-1" strike="noStrike">
                <a:solidFill>
                  <a:srgbClr val="5d6572"/>
                </a:solidFill>
                <a:latin typeface="Aptos"/>
                <a:ea typeface="Aptos"/>
              </a:rPr>
              <a:t>Outside represented / recognized-obtainable capability.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anel EHD · Epistemic Hand"/>
          <p:cNvSpPr/>
          <p:nvPr/>
        </p:nvSpPr>
        <p:spPr>
          <a:xfrm>
            <a:off x="5459040" y="2697480"/>
            <a:ext cx="1828080" cy="2541240"/>
          </a:xfrm>
          <a:prstGeom prst="roundRect">
            <a:avLst>
              <a:gd name="adj" fmla="val 6000"/>
            </a:avLst>
          </a:prstGeom>
          <a:solidFill>
            <a:srgbClr val="f4fbf9"/>
          </a:solidFill>
          <a:ln w="1905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2"/>
              </a:rPr>
              <a:t>Ecosystem Signalling / EHD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3"/>
              </a:rPr>
              <a:t>Step 1 · what crosses a boundary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EHD fields"/>
          <p:cNvSpPr/>
          <p:nvPr/>
        </p:nvSpPr>
        <p:spPr>
          <a:xfrm>
            <a:off x="5541120" y="3383280"/>
            <a:ext cx="166356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qualified state / MSCA / role (where material)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scope and receiving decision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provenance / source dependence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epistemic state composition (A–D)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0" lang="en-US" sz="780" spc="-1" strike="noStrike">
                <a:solidFill>
                  <a:srgbClr val="1f2c4a"/>
                </a:solidFill>
                <a:latin typeface="Aptos"/>
                <a:ea typeface="Aptos"/>
              </a:rPr>
              <a:t>revalidation conditions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b="0" i="1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Compound profiles may carry RepositionIntent / AuthorityResponse. Signal ≠ authority.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anel Positioning opportun"/>
          <p:cNvSpPr/>
          <p:nvPr/>
        </p:nvSpPr>
        <p:spPr>
          <a:xfrm>
            <a:off x="7425000" y="2697480"/>
            <a:ext cx="2331000" cy="254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4"/>
              </a:rPr>
              <a:t>Agentic gradient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5"/>
              </a:rPr>
              <a:t>Step 5 · objective-conditioned opportunity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radient body"/>
          <p:cNvSpPr/>
          <p:nvPr/>
        </p:nvSpPr>
        <p:spPr>
          <a:xfrm>
            <a:off x="7507080" y="3346560"/>
            <a:ext cx="2166480" cy="186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60" spc="-1" strike="noStrike">
                <a:solidFill>
                  <a:srgbClr val="1f2c4a"/>
                </a:solidFill>
                <a:latin typeface="Aptos"/>
                <a:ea typeface="Aptos"/>
              </a:rPr>
              <a:t>Which candidate transition most reduces objective-conditioned MSCA risk from Role_effective?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1" lang="en-US" sz="740" spc="-1" strike="noStrike">
                <a:solidFill>
                  <a:srgbClr val="c17629"/>
                </a:solidFill>
                <a:latin typeface="Aptos"/>
                <a:ea typeface="Aptos"/>
              </a:rPr>
              <a:t>Basis: </a:t>
            </a: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Δ_RA, Cart_i, Objective Envelope, burden and response horizon.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Ranks candidate transitions: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remain / adapt in role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request authority / ACC change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realign / re-contract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→ </a:t>
            </a:r>
            <a:r>
              <a:rPr b="0" lang="en-US" sz="740" spc="-1" strike="noStrike">
                <a:solidFill>
                  <a:srgbClr val="1f2c4a"/>
                </a:solidFill>
                <a:latin typeface="Aptos"/>
                <a:ea typeface="Aptos"/>
              </a:rPr>
              <a:t>migrate / request isolation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0" i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Opportunity ≠ permission · signal ≠ command.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anel Choreography"/>
          <p:cNvSpPr/>
          <p:nvPr/>
        </p:nvSpPr>
        <p:spPr>
          <a:xfrm>
            <a:off x="9893880" y="2697480"/>
            <a:ext cx="1727640" cy="254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c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82440" tIns="6408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1f2c4a"/>
                </a:solidFill>
                <a:latin typeface="Aptos"/>
                <a:ea typeface="Aptos"/>
              </a:rPr>
              <a:t>Choreography, not orchestration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50" spc="-1" strike="noStrike">
                <a:solidFill>
                  <a:srgbClr val="5d6572"/>
                </a:solidFill>
                <a:latin typeface="Aptos"/>
                <a:ea typeface="Aptos"/>
              </a:rPr>
              <a:t>Role · Cartography · Signalling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Choreography body"/>
          <p:cNvSpPr/>
          <p:nvPr/>
        </p:nvSpPr>
        <p:spPr>
          <a:xfrm>
            <a:off x="9966960" y="3218760"/>
            <a:ext cx="1590480" cy="19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Autonomy kept: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each participant evaluates locally.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Signalling: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RepositionIntent may stay local or go to authority.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Effective role: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the gradient starts from Role_effective after drift.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Evidence: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qualified signals change evidence, not commands.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49"/>
              </a:spcBef>
            </a:pP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• </a:t>
            </a:r>
            <a:r>
              <a:rPr b="1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Not required: </a:t>
            </a:r>
            <a:r>
              <a:rPr b="0" lang="en-US" sz="710" spc="-1" strike="noStrike">
                <a:solidFill>
                  <a:srgbClr val="1f2c4a"/>
                </a:solidFill>
                <a:latin typeface="Aptos"/>
                <a:ea typeface="Aptos"/>
              </a:rPr>
              <a:t>a central controller or shared world-state.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</a:pPr>
            <a:r>
              <a:rPr b="0" i="1" lang="en-US" sz="670" spc="-1" strike="noStrike">
                <a:solidFill>
                  <a:srgbClr val="5d6572"/>
                </a:solidFill>
                <a:latin typeface="Aptos"/>
                <a:ea typeface="Aptos"/>
              </a:rPr>
              <a:t>Self-healing is bounded; convergence is not guaranteed.</a:t>
            </a:r>
            <a:endParaRPr b="0" lang="en-US" sz="6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MSCA bar"/>
          <p:cNvSpPr/>
          <p:nvPr/>
        </p:nvSpPr>
        <p:spPr>
          <a:xfrm>
            <a:off x="567000" y="5376600"/>
            <a:ext cx="11054520" cy="566280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1f2c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080" rIns="6408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90" name="MSCA tag"/>
          <p:cNvSpPr/>
          <p:nvPr/>
        </p:nvSpPr>
        <p:spPr>
          <a:xfrm>
            <a:off x="658440" y="5468040"/>
            <a:ext cx="2102400" cy="383400"/>
          </a:xfrm>
          <a:prstGeom prst="roundRect">
            <a:avLst>
              <a:gd name="adj" fmla="val 16667"/>
            </a:avLst>
          </a:prstGeom>
          <a:solidFill>
            <a:srgbClr val="1f2c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9000" bIns="9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8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6"/>
              </a:rPr>
              <a:t>MSCA · Minimum Sufficient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85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37"/>
              </a:rPr>
              <a:t>Control Architecture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MSCA text"/>
          <p:cNvSpPr/>
          <p:nvPr/>
        </p:nvSpPr>
        <p:spPr>
          <a:xfrm>
            <a:off x="2880360" y="5431680"/>
            <a:ext cx="8640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1f2c4a"/>
                </a:solidFill>
                <a:latin typeface="Aptos"/>
                <a:ea typeface="Aptos"/>
              </a:rPr>
              <a:t>MSCA static + dynamic set — </a:t>
            </a:r>
            <a:r>
              <a:rPr b="0" lang="en-US" sz="800" spc="-1" strike="noStrike">
                <a:solidFill>
                  <a:srgbClr val="1f2c4a"/>
                </a:solidFill>
                <a:latin typeface="Aptos"/>
                <a:ea typeface="Aptos"/>
              </a:rPr>
              <a:t>S/E/C/P/M kernel · Architectural Role · Ecosystem Cartography · Operation/Repositioning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Re-assessed when frame, role, envelope or authority changes; MSCA never creates authority.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164"/>
          <p:cNvSpPr/>
          <p:nvPr/>
        </p:nvSpPr>
        <p:spPr>
          <a:xfrm>
            <a:off x="1705320" y="6510600"/>
            <a:ext cx="1288440" cy="1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8"/>
              </a:rPr>
              <a:t>Positioning cycle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ection-label"/>
          <p:cNvSpPr/>
          <p:nvPr/>
        </p:nvSpPr>
        <p:spPr>
          <a:xfrm>
            <a:off x="571680" y="114480"/>
            <a:ext cx="26661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39" spc="-1" strike="noStrike">
                <a:solidFill>
                  <a:srgbClr val="7a7e84"/>
                </a:solidFill>
                <a:latin typeface="Aptos"/>
                <a:ea typeface="Aptos"/>
              </a:rPr>
              <a:t>PROPOSED ARCHITECTURE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ection-code"/>
          <p:cNvSpPr/>
          <p:nvPr/>
        </p:nvSpPr>
        <p:spPr>
          <a:xfrm>
            <a:off x="10858680" y="114480"/>
            <a:ext cx="66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0" lang="en-US" sz="939" spc="-1" strike="noStrike">
                <a:solidFill>
                  <a:srgbClr val="7a7e84"/>
                </a:solidFill>
                <a:latin typeface="Aptos"/>
                <a:ea typeface="Aptos"/>
              </a:rPr>
              <a:t>§ 05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571680" y="324000"/>
            <a:ext cx="10953000" cy="13680"/>
          </a:xfrm>
          <a:prstGeom prst="rect">
            <a:avLst/>
          </a:prstGeom>
          <a:solidFill>
            <a:srgbClr val="2435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0600" bIns="-306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itle"/>
          <p:cNvSpPr/>
          <p:nvPr/>
        </p:nvSpPr>
        <p:spPr>
          <a:xfrm>
            <a:off x="571680" y="457200"/>
            <a:ext cx="1095300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320" spc="-1" strike="noStrike">
                <a:solidFill>
                  <a:srgbClr val="282828"/>
                </a:solidFill>
                <a:latin typeface="Aptos"/>
                <a:ea typeface="Aptos"/>
              </a:rPr>
              <a:t>Architecture map — where each mechanism lives</a:t>
            </a:r>
            <a:endParaRPr b="0" lang="en-US" sz="2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ubtitle"/>
          <p:cNvSpPr/>
          <p:nvPr/>
        </p:nvSpPr>
        <p:spPr>
          <a:xfrm>
            <a:off x="571680" y="847800"/>
            <a:ext cx="10953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89" spc="-1" strike="noStrike">
                <a:solidFill>
                  <a:srgbClr val="5d6775"/>
                </a:solidFill>
                <a:latin typeface="Aptos"/>
                <a:ea typeface="Aptos"/>
              </a:rPr>
              <a:t>One participant-local map: governance sets the boundary; EA qualifies knowledge; MSCA supports control and repositioning; signalling crosses boundaries.</a:t>
            </a:r>
            <a:endParaRPr b="0" lang="en-US" sz="98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ositioning-boundary"/>
          <p:cNvSpPr/>
          <p:nvPr/>
        </p:nvSpPr>
        <p:spPr>
          <a:xfrm>
            <a:off x="571680" y="1181160"/>
            <a:ext cx="10953000" cy="4342680"/>
          </a:xfrm>
          <a:prstGeom prst="roundRect">
            <a:avLst>
              <a:gd name="adj" fmla="val 6140"/>
            </a:avLst>
          </a:prstGeom>
          <a:solidFill>
            <a:srgbClr val="ecf4f9"/>
          </a:solidFill>
          <a:ln w="21908">
            <a:solidFill>
              <a:srgbClr val="4e91c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governance-ribbon"/>
          <p:cNvSpPr/>
          <p:nvPr/>
        </p:nvSpPr>
        <p:spPr>
          <a:xfrm>
            <a:off x="762120" y="1324080"/>
            <a:ext cx="10572120" cy="380160"/>
          </a:xfrm>
          <a:prstGeom prst="roundRect">
            <a:avLst>
              <a:gd name="adj" fmla="val 25000"/>
            </a:avLst>
          </a:prstGeom>
          <a:solidFill>
            <a:srgbClr val="808e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vernance-label"/>
          <p:cNvSpPr/>
          <p:nvPr/>
        </p:nvSpPr>
        <p:spPr>
          <a:xfrm>
            <a:off x="914400" y="1400040"/>
            <a:ext cx="10267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40" spc="-1" strike="noStrike">
                <a:solidFill>
                  <a:srgbClr val="ffffff"/>
                </a:solidFill>
                <a:latin typeface="Aptos"/>
                <a:ea typeface="Aptos"/>
              </a:rPr>
              <a:t>HUMAN / INSTITUTIONAL GOVERNANCE</a:t>
            </a:r>
            <a:endParaRPr b="0" lang="en-US" sz="12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ositioning-label"/>
          <p:cNvSpPr/>
          <p:nvPr/>
        </p:nvSpPr>
        <p:spPr>
          <a:xfrm>
            <a:off x="4095720" y="1752480"/>
            <a:ext cx="3904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50" spc="-1" strike="noStrike">
                <a:solidFill>
                  <a:srgbClr val="276383"/>
                </a:solidFill>
                <a:latin typeface="Aptos"/>
                <a:ea typeface="Aptos"/>
              </a:rPr>
              <a:t>AGENT / ECOSYSTEM POSITIONING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citizenship"/>
          <p:cNvSpPr/>
          <p:nvPr/>
        </p:nvSpPr>
        <p:spPr>
          <a:xfrm>
            <a:off x="762120" y="2114640"/>
            <a:ext cx="2666160" cy="1361520"/>
          </a:xfrm>
          <a:prstGeom prst="roundRect">
            <a:avLst>
              <a:gd name="adj" fmla="val 11189"/>
            </a:avLst>
          </a:prstGeom>
          <a:solidFill>
            <a:srgbClr val="f8ede1"/>
          </a:solidFill>
          <a:ln w="17145">
            <a:solidFill>
              <a:srgbClr val="e298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914400" y="2247840"/>
            <a:ext cx="23616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40" spc="-1" strike="noStrike">
                <a:solidFill>
                  <a:srgbClr val="a8681f"/>
                </a:solidFill>
                <a:latin typeface="Aptos"/>
                <a:ea typeface="Aptos"/>
              </a:rPr>
              <a:t>AGENTIC CITIZENSHIP CONTRACT</a:t>
            </a:r>
            <a:endParaRPr b="0" lang="en-US" sz="12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914400" y="2610000"/>
            <a:ext cx="23616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membership · admissible roles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obligations · prohibitions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914400" y="2924280"/>
            <a:ext cx="236160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autonomy bounds · hard constraints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10" spc="-1" strike="noStrike">
                <a:solidFill>
                  <a:srgbClr val="74542f"/>
                </a:solidFill>
                <a:latin typeface="Aptos"/>
                <a:ea typeface="Aptos"/>
              </a:rPr>
              <a:t>revocation / exit</a:t>
            </a:r>
            <a:endParaRPr b="0" lang="en-US" sz="8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914400" y="3257640"/>
            <a:ext cx="23616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i="1" lang="en-US" sz="730" spc="-1" strike="noStrike">
                <a:solidFill>
                  <a:srgbClr val="74542f"/>
                </a:solidFill>
                <a:latin typeface="Aptos"/>
                <a:ea typeface="Aptos"/>
              </a:rPr>
              <a:t>Defines admissible conditions — not each trajectory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msca"/>
          <p:cNvSpPr/>
          <p:nvPr/>
        </p:nvSpPr>
        <p:spPr>
          <a:xfrm>
            <a:off x="762120" y="3457440"/>
            <a:ext cx="2666160" cy="1208880"/>
          </a:xfrm>
          <a:prstGeom prst="roundRect">
            <a:avLst>
              <a:gd name="adj" fmla="val 12598"/>
            </a:avLst>
          </a:prstGeom>
          <a:solidFill>
            <a:srgbClr val="efe8f8"/>
          </a:solidFill>
          <a:ln w="17145">
            <a:solidFill>
              <a:srgbClr val="7a4f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952560" y="3600360"/>
            <a:ext cx="2285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580" spc="-1" strike="noStrike">
                <a:solidFill>
                  <a:srgbClr val="603790"/>
                </a:solidFill>
                <a:latin typeface="Aptos"/>
                <a:ea typeface="Aptos"/>
              </a:rPr>
              <a:t>MSCA</a:t>
            </a:r>
            <a:endParaRPr b="0" lang="en-US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952560" y="3895560"/>
            <a:ext cx="228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603790"/>
                </a:solidFill>
                <a:latin typeface="Aptos"/>
                <a:ea typeface="Aptos"/>
              </a:rPr>
              <a:t>Minimum Sufficient Control Architecture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952560" y="4181400"/>
            <a:ext cx="22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00" spc="-1" strike="noStrike">
                <a:solidFill>
                  <a:srgbClr val="7a4fba"/>
                </a:solidFill>
                <a:latin typeface="Aptos"/>
                <a:ea typeface="Aptos"/>
              </a:rPr>
              <a:t>Role · Cartography · Operation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952560" y="4400640"/>
            <a:ext cx="228528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5d6775"/>
                </a:solidFill>
                <a:latin typeface="Aptos"/>
                <a:ea typeface="Aptos"/>
              </a:rPr>
              <a:t>Control sufficiency; never creates authority.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ea-core"/>
          <p:cNvSpPr/>
          <p:nvPr/>
        </p:nvSpPr>
        <p:spPr>
          <a:xfrm>
            <a:off x="3619440" y="2114640"/>
            <a:ext cx="5047560" cy="2552040"/>
          </a:xfrm>
          <a:prstGeom prst="roundRect">
            <a:avLst>
              <a:gd name="adj" fmla="val 7463"/>
            </a:avLst>
          </a:prstGeom>
          <a:solidFill>
            <a:srgbClr val="d3e3ec"/>
          </a:solidFill>
          <a:ln w="21908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828960" y="2266920"/>
            <a:ext cx="46285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1e5b75"/>
                </a:solidFill>
                <a:latin typeface="Aptos"/>
                <a:ea typeface="Aptos"/>
              </a:rPr>
              <a:t>ECOSYSTEM AWARENESS (EA)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3828960" y="2562120"/>
            <a:ext cx="4628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939" spc="-1" strike="noStrike">
                <a:solidFill>
                  <a:srgbClr val="34677e"/>
                </a:solidFill>
                <a:latin typeface="Aptos"/>
                <a:ea typeface="Aptos"/>
              </a:rPr>
              <a:t>Qualifies the participant-local epistemic position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epistemic-position"/>
          <p:cNvSpPr/>
          <p:nvPr/>
        </p:nvSpPr>
        <p:spPr>
          <a:xfrm>
            <a:off x="3828960" y="2847960"/>
            <a:ext cx="2208960" cy="81828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4288">
            <a:solidFill>
              <a:srgbClr val="85a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3962520" y="3000240"/>
            <a:ext cx="19425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070" spc="-1" strike="noStrike">
                <a:solidFill>
                  <a:srgbClr val="282828"/>
                </a:solidFill>
                <a:latin typeface="Aptos"/>
                <a:ea typeface="Aptos"/>
              </a:rPr>
              <a:t>Current epistemic position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3962520" y="3286080"/>
            <a:ext cx="19425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980" spc="-1" strike="noStrike">
                <a:solidFill>
                  <a:srgbClr val="5d6775"/>
                </a:solidFill>
                <a:latin typeface="Aptos"/>
                <a:ea typeface="Aptos"/>
              </a:rPr>
              <a:t>Π_EA · A/B/C/D · residual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artography-input"/>
          <p:cNvSpPr/>
          <p:nvPr/>
        </p:nvSpPr>
        <p:spPr>
          <a:xfrm>
            <a:off x="6248520" y="2847960"/>
            <a:ext cx="2208960" cy="81828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4288">
            <a:solidFill>
              <a:srgbClr val="85ad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381720" y="3000240"/>
            <a:ext cx="19425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070" spc="-1" strike="noStrike">
                <a:solidFill>
                  <a:srgbClr val="282828"/>
                </a:solidFill>
                <a:latin typeface="Aptos"/>
                <a:ea typeface="Aptos"/>
              </a:rPr>
              <a:t>Cartography input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6381720" y="3238560"/>
            <a:ext cx="19425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920" spc="-1" strike="noStrike">
                <a:solidFill>
                  <a:srgbClr val="5d6775"/>
                </a:solidFill>
                <a:latin typeface="Aptos"/>
                <a:ea typeface="Aptos"/>
              </a:rPr>
              <a:t>Cart_i where material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920" spc="-1" strike="noStrike">
                <a:solidFill>
                  <a:srgbClr val="5d6775"/>
                </a:solidFill>
                <a:latin typeface="Aptos"/>
                <a:ea typeface="Aptos"/>
              </a:rPr>
              <a:t>owned by MSCA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regime-awareness"/>
          <p:cNvSpPr/>
          <p:nvPr/>
        </p:nvSpPr>
        <p:spPr>
          <a:xfrm>
            <a:off x="4495680" y="3848040"/>
            <a:ext cx="3295080" cy="570960"/>
          </a:xfrm>
          <a:prstGeom prst="roundRect">
            <a:avLst>
              <a:gd name="adj" fmla="val 16667"/>
            </a:avLst>
          </a:prstGeom>
          <a:solidFill>
            <a:srgbClr val="c65d4e"/>
          </a:solidFill>
          <a:ln w="9525">
            <a:solidFill>
              <a:srgbClr val="c65d4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4667400" y="3943440"/>
            <a:ext cx="2952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140" spc="-1" strike="noStrike">
                <a:solidFill>
                  <a:srgbClr val="ffffff"/>
                </a:solidFill>
                <a:latin typeface="Aptos"/>
                <a:ea typeface="Aptos"/>
              </a:rPr>
              <a:t>REGIME AWARENESS</a:t>
            </a:r>
            <a:endParaRPr b="0" lang="en-US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667400" y="4172040"/>
            <a:ext cx="295200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89" spc="-1" strike="noStrike">
                <a:solidFill>
                  <a:srgbClr val="ffffff"/>
                </a:solidFill>
                <a:latin typeface="Aptos"/>
                <a:ea typeface="Aptos"/>
              </a:rPr>
              <a:t>Δ_RA + regime overlay</a:t>
            </a:r>
            <a:endParaRPr b="0" lang="en-US" sz="98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positioning"/>
          <p:cNvSpPr/>
          <p:nvPr/>
        </p:nvSpPr>
        <p:spPr>
          <a:xfrm>
            <a:off x="8858160" y="2114640"/>
            <a:ext cx="2475720" cy="25520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7145">
            <a:solidFill>
              <a:srgbClr val="4f97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9010800" y="2266920"/>
            <a:ext cx="2171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170" spc="-1" strike="noStrike">
                <a:solidFill>
                  <a:srgbClr val="276383"/>
                </a:solidFill>
                <a:latin typeface="Aptos"/>
                <a:ea typeface="Aptos"/>
              </a:rPr>
              <a:t>MSCA OPERATION /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170" spc="-1" strike="noStrike">
                <a:solidFill>
                  <a:srgbClr val="276383"/>
                </a:solidFill>
                <a:latin typeface="Aptos"/>
                <a:ea typeface="Aptos"/>
              </a:rPr>
              <a:t>REPOSITIONING</a:t>
            </a:r>
            <a:endParaRPr b="0" lang="en-US" sz="11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9010800" y="2724120"/>
            <a:ext cx="21711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007b82"/>
                </a:solidFill>
                <a:latin typeface="Aptos"/>
                <a:ea typeface="Aptos"/>
              </a:rPr>
              <a:t>Role_bound ↔ Role_effective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positioning-detail"/>
          <p:cNvSpPr/>
          <p:nvPr/>
        </p:nvSpPr>
        <p:spPr>
          <a:xfrm>
            <a:off x="9029880" y="2990880"/>
            <a:ext cx="2133000" cy="14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Type catalogue: Type 0 · Type 1 · Type 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Posture: P1 Normal · P2 Containment · P3 Migration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Gradient: Role_effective → candidate roles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Output: Π_RP + RepositionIntent / escalation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282828"/>
                </a:solidFill>
                <a:latin typeface="Aptos"/>
                <a:ea typeface="Aptos"/>
              </a:rPr>
              <a:t>Selects / proposes / escalates; control owners actuate.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ignalling"/>
          <p:cNvSpPr/>
          <p:nvPr/>
        </p:nvSpPr>
        <p:spPr>
          <a:xfrm>
            <a:off x="762120" y="4857840"/>
            <a:ext cx="10572120" cy="551880"/>
          </a:xfrm>
          <a:prstGeom prst="roundRect">
            <a:avLst>
              <a:gd name="adj" fmla="val 17241"/>
            </a:avLst>
          </a:prstGeom>
          <a:solidFill>
            <a:srgbClr val="44a784"/>
          </a:solidFill>
          <a:ln w="11430">
            <a:solidFill>
              <a:srgbClr val="3b97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933480" y="4971960"/>
            <a:ext cx="285696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  <a:ea typeface="Aptos"/>
              </a:rPr>
              <a:t>ECOSYSTEM SIGNALLING / EHD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3905280" y="4952880"/>
            <a:ext cx="314244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qualified state · Cart_i · RepositionIntent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lineage / UNKNOWN preserved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7372440" y="4952880"/>
            <a:ext cx="28569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transport · peers · authorities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Aptos"/>
                <a:ea typeface="Aptos"/>
              </a:rPr>
              <a:t>membership may vary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571680" y="5734080"/>
            <a:ext cx="11898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860" spc="-1" strike="noStrike">
                <a:solidFill>
                  <a:srgbClr val="24355b"/>
                </a:solidFill>
                <a:latin typeface="Consolas"/>
                <a:ea typeface="Consolas"/>
              </a:rPr>
              <a:t>KEY BOUNDARY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1762200" y="5686560"/>
            <a:ext cx="976248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00" spc="-1" strike="noStrike">
                <a:solidFill>
                  <a:srgbClr val="5d6775"/>
                </a:solidFill>
                <a:latin typeface="Aptos"/>
                <a:ea typeface="Aptos"/>
              </a:rPr>
              <a:t>Citizenship constrains admissibility. Role binds function. EA qualifies knowledge. Cartography maps dependencies. Repositioning proposes or escalates; control owners act. Signalling crosses boundaries.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571680" y="6419880"/>
            <a:ext cx="10953000" cy="13680"/>
          </a:xfrm>
          <a:prstGeom prst="rect">
            <a:avLst/>
          </a:prstGeom>
          <a:solidFill>
            <a:srgbClr val="2435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0600" bIns="-306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571680" y="6486480"/>
            <a:ext cx="371412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90" spc="-1" strike="noStrike">
                <a:solidFill>
                  <a:srgbClr val="727a86"/>
                </a:solidFill>
                <a:latin typeface="Calibri"/>
                <a:ea typeface="Calibri"/>
              </a:rPr>
              <a:t>CORPUS ↗  Architecture composition  ·  MSCA operation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286160" y="6486480"/>
            <a:ext cx="361872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790" spc="-1" strike="noStrike">
                <a:solidFill>
                  <a:srgbClr val="7a7e84"/>
                </a:solidFill>
                <a:latin typeface="Aptos"/>
                <a:ea typeface="Aptos"/>
              </a:rPr>
              <a:t>Ecosystem Awareness · Positioning architecture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11096640" y="6486480"/>
            <a:ext cx="33264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</a:pPr>
            <a:r>
              <a:rPr b="0" lang="en-US" sz="820" spc="-1" strike="noStrike">
                <a:solidFill>
                  <a:srgbClr val="5d6775"/>
                </a:solidFill>
                <a:latin typeface="Aptos"/>
                <a:ea typeface="Aptos"/>
              </a:rPr>
              <a:t>4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49"/>
          <p:cNvSpPr/>
          <p:nvPr/>
        </p:nvSpPr>
        <p:spPr>
          <a:xfrm>
            <a:off x="0" y="0"/>
            <a:ext cx="12191040" cy="84060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39" name="Rectangle 55"/>
          <p:cNvSpPr/>
          <p:nvPr/>
        </p:nvSpPr>
        <p:spPr>
          <a:xfrm>
            <a:off x="0" y="5989320"/>
            <a:ext cx="12191040" cy="86796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40" name="TextBox 61"/>
          <p:cNvSpPr/>
          <p:nvPr/>
        </p:nvSpPr>
        <p:spPr>
          <a:xfrm>
            <a:off x="11018520" y="6546960"/>
            <a:ext cx="319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itle"/>
          <p:cNvSpPr/>
          <p:nvPr/>
        </p:nvSpPr>
        <p:spPr>
          <a:xfrm>
            <a:off x="384120" y="182880"/>
            <a:ext cx="1133784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1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"/>
              </a:rPr>
              <a:t>Ecosystem Awareness — subsystem inputs and outputs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ubtitle"/>
          <p:cNvSpPr/>
          <p:nvPr/>
        </p:nvSpPr>
        <p:spPr>
          <a:xfrm>
            <a:off x="384120" y="548640"/>
            <a:ext cx="1133784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950" spc="-1" strike="noStrike">
                <a:solidFill>
                  <a:srgbClr val="5d6572"/>
                </a:solidFill>
                <a:latin typeface="Aptos"/>
                <a:ea typeface="Aptos"/>
              </a:rPr>
              <a:t>EA interface slice. Green = inputs to EA; orange = EA outputs / requests — never commands or authority.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i="1" lang="en-US" sz="780" spc="-1" strike="noStrike">
                <a:solidFill>
                  <a:srgbClr val="5d6572"/>
                </a:solidFill>
                <a:latin typeface="Aptos"/>
                <a:ea typeface="Aptos"/>
              </a:rPr>
              <a:t>Consumes existing identity, authorization and attestation mechanisms as inputs; does not replace them.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ubsystem Human / Institutional Go"/>
          <p:cNvSpPr/>
          <p:nvPr/>
        </p:nvSpPr>
        <p:spPr>
          <a:xfrm>
            <a:off x="274320" y="987480"/>
            <a:ext cx="2148120" cy="1188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Human / Institutional Governance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Objectives, criticality, tolerated residual, deadlines and control options.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O1 Mission / Objective · IF-S13 Trust framework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IN chip"/>
          <p:cNvSpPr/>
          <p:nvPr/>
        </p:nvSpPr>
        <p:spPr>
          <a:xfrm>
            <a:off x="2505600" y="98748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→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objective and material decision domains · criticality, deadline, tolerated residual · authority refs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OUT chip"/>
          <p:cNvSpPr/>
          <p:nvPr/>
        </p:nvSpPr>
        <p:spPr>
          <a:xfrm>
            <a:off x="2505600" y="160020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←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qualified affected state · requalification / escalation request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ubsystem Identity &amp; Delegated Aut"/>
          <p:cNvSpPr/>
          <p:nvPr/>
        </p:nvSpPr>
        <p:spPr>
          <a:xfrm>
            <a:off x="274320" y="2404800"/>
            <a:ext cx="2148120" cy="1188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Identity &amp; Delegated Authority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Who/what is acting, on whose behalf, under which mandate and scope.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IF-S1 Identity · IF-S2 Authority / Delegation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IN chip"/>
          <p:cNvSpPr/>
          <p:nvPr/>
        </p:nvSpPr>
        <p:spPr>
          <a:xfrm>
            <a:off x="2505600" y="240480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→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principal binding · grant scope and limits · validity / revocation · contested or absent state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OUT chip"/>
          <p:cNvSpPr/>
          <p:nvPr/>
        </p:nvSpPr>
        <p:spPr>
          <a:xfrm>
            <a:off x="2505600" y="301752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←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authority / binding UNKNOWN where binding · narrow to qualified mandate · refresh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ubsystem Policy / Intent / Constr"/>
          <p:cNvSpPr/>
          <p:nvPr/>
        </p:nvSpPr>
        <p:spPr>
          <a:xfrm>
            <a:off x="274320" y="3822120"/>
            <a:ext cx="2148120" cy="1188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Policy / Intent / Constraints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Versioned policy and intent references and their runtime conformance.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IF-S4 Policy / Intent conformance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IN chip"/>
          <p:cNvSpPr/>
          <p:nvPr/>
        </p:nvSpPr>
        <p:spPr>
          <a:xfrm>
            <a:off x="2505600" y="382212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→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versioned policy ref · verdict permit … indeterminate · scope examined · competing directives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OUT chip"/>
          <p:cNvSpPr/>
          <p:nvPr/>
        </p:nvSpPr>
        <p:spPr>
          <a:xfrm>
            <a:off x="2505600" y="443484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←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preserve INDETERMINATE · verdict scope insufficient · re-evaluate / independent evaluator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ubsystem Attestation / Runtime Ev"/>
          <p:cNvSpPr/>
          <p:nvPr/>
        </p:nvSpPr>
        <p:spPr>
          <a:xfrm>
            <a:off x="9765720" y="987480"/>
            <a:ext cx="2148120" cy="1188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Attestation / Runtime Evidence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Attestation results and verifier-side appraisal of runtime and interaction state.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IF-S3 Attestation · IF-S5 Evidence appraisal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IN chip"/>
          <p:cNvSpPr/>
          <p:nvPr/>
        </p:nvSpPr>
        <p:spPr>
          <a:xfrm>
            <a:off x="7836480" y="98748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←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Attestation Result · freshness / replay · appraisal relationship · limitations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OUT chip"/>
          <p:cNvSpPr/>
          <p:nvPr/>
        </p:nvSpPr>
        <p:spPr>
          <a:xfrm>
            <a:off x="7836480" y="160020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→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re-attest or independently rooted attestation · reduce reliance to attested scope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ubsystem Ecosystem Defense / Self"/>
          <p:cNvSpPr/>
          <p:nvPr/>
        </p:nvSpPr>
        <p:spPr>
          <a:xfrm>
            <a:off x="9765720" y="2404800"/>
            <a:ext cx="2148120" cy="1188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Ecosystem Defense / Self-Healing / Recovery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Containment, revocation, recovery and migration under legitimate authority.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IF-S12 Enforcement / Containment / Migration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IN chip"/>
          <p:cNvSpPr/>
          <p:nvPr/>
        </p:nvSpPr>
        <p:spPr>
          <a:xfrm>
            <a:off x="7836480" y="240480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←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response capability and reach · actionability window · residual exposure · rollback state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OUT chip"/>
          <p:cNvSpPr/>
          <p:nvPr/>
        </p:nvSpPr>
        <p:spPr>
          <a:xfrm>
            <a:off x="7836480" y="301752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→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affected scope · requalification / containment request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ubsystem Human Oversight / Assura"/>
          <p:cNvSpPr/>
          <p:nvPr/>
        </p:nvSpPr>
        <p:spPr>
          <a:xfrm>
            <a:off x="9765720" y="3822120"/>
            <a:ext cx="2148120" cy="1188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54720" bIns="367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Human Oversight / Assurance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Review, intervention and authority beyond autonomous limits.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00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IF-S6 Human oversight capacity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IN chip"/>
          <p:cNvSpPr/>
          <p:nvPr/>
        </p:nvSpPr>
        <p:spPr>
          <a:xfrm>
            <a:off x="7836480" y="382212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←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human-capacity state · reviewer role and authority · response window · intervention outcome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OUT chip"/>
          <p:cNvSpPr/>
          <p:nvPr/>
        </p:nvSpPr>
        <p:spPr>
          <a:xfrm>
            <a:off x="7836480" y="4434840"/>
            <a:ext cx="184644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→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targeted review for the affected domain · capacity-insufficient flag · Type 1 stop boundary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ubsystem External agents"/>
          <p:cNvSpPr/>
          <p:nvPr/>
        </p:nvSpPr>
        <p:spPr>
          <a:xfrm>
            <a:off x="4480560" y="914400"/>
            <a:ext cx="3227040" cy="602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45000" bIns="27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External Agents / A2A / Epistemic Signaling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O2 · O6 · IF-S11 Ecosystem signalling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IN chip"/>
          <p:cNvSpPr/>
          <p:nvPr/>
        </p:nvSpPr>
        <p:spPr>
          <a:xfrm>
            <a:off x="4480560" y="1572840"/>
            <a:ext cx="158112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↓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EHD / envelope · source and provenance · freshness · corroboration history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OUT chip"/>
          <p:cNvSpPr/>
          <p:nvPr/>
        </p:nvSpPr>
        <p:spPr>
          <a:xfrm>
            <a:off x="6126480" y="1572840"/>
            <a:ext cx="158112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↑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External Epistemic Envelope (F8) · targeted corroboration · source-dependence mark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Hub Ecosystem Positioning"/>
          <p:cNvSpPr/>
          <p:nvPr/>
        </p:nvSpPr>
        <p:spPr>
          <a:xfrm>
            <a:off x="4480560" y="2240280"/>
            <a:ext cx="3227040" cy="2084040"/>
          </a:xfrm>
          <a:prstGeom prst="roundRect">
            <a:avLst>
              <a:gd name="adj" fmla="val 12000"/>
            </a:avLst>
          </a:prstGeom>
          <a:solidFill>
            <a:srgbClr val="eef5fa"/>
          </a:solidFill>
          <a:ln w="25400">
            <a:solidFill>
              <a:srgbClr val="4682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rIns="109800" tIns="73080" bIns="5472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050" spc="-1" strike="noStrike">
                <a:solidFill>
                  <a:srgbClr val="282828"/>
                </a:solidFill>
                <a:latin typeface="Aptos"/>
                <a:ea typeface="Aptos"/>
              </a:rPr>
              <a:t>ECOSYSTEM AWARENESS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b="0" i="1" lang="en-US" sz="780" spc="-1" strike="noStrike">
                <a:solidFill>
                  <a:srgbClr val="5d6572"/>
                </a:solidFill>
                <a:latin typeface="Aptos"/>
                <a:ea typeface="Aptos"/>
              </a:rPr>
              <a:t>participant-local qualification layer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Π_EA = [A,B,C,D]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W(d,t) · provenance · residual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780" spc="-1" strike="noStrike">
                <a:solidFill>
                  <a:srgbClr val="5d6572"/>
                </a:solidFill>
                <a:latin typeface="Aptos"/>
                <a:ea typeface="Aptos"/>
              </a:rPr>
              <a:t>ReceivedSignals qualification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Cart_i / Δ_RA inputs where material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1000" spc="-1" strike="noStrike">
                <a:solidFill>
                  <a:srgbClr val="282828"/>
                </a:solidFill>
                <a:latin typeface="Aptos"/>
                <a:ea typeface="Aptos"/>
              </a:rPr>
              <a:t>requalification / evidence requests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b="1" lang="en-US" sz="850" spc="-1" strike="noStrike">
                <a:solidFill>
                  <a:srgbClr val="4682dc"/>
                </a:solidFill>
                <a:latin typeface="Aptos"/>
                <a:ea typeface="Aptos"/>
              </a:rPr>
              <a:t>→ </a:t>
            </a:r>
            <a:r>
              <a:rPr b="1" lang="en-US" sz="850" spc="-1" strike="noStrike">
                <a:solidFill>
                  <a:srgbClr val="4682dc"/>
                </a:solidFill>
                <a:latin typeface="Aptos"/>
                <a:ea typeface="Aptos"/>
              </a:rPr>
              <a:t>MSCA Operation / Repositioning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IN chip"/>
          <p:cNvSpPr/>
          <p:nvPr/>
        </p:nvSpPr>
        <p:spPr>
          <a:xfrm>
            <a:off x="4480560" y="4389120"/>
            <a:ext cx="1581120" cy="575280"/>
          </a:xfrm>
          <a:prstGeom prst="roundRect">
            <a:avLst>
              <a:gd name="adj" fmla="val 12000"/>
            </a:avLst>
          </a:prstGeom>
          <a:solidFill>
            <a:srgbClr val="f4fbf9"/>
          </a:solidFill>
          <a:ln w="13970">
            <a:solidFill>
              <a:srgbClr val="007b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007b82"/>
                </a:solidFill>
                <a:latin typeface="Aptos"/>
                <a:ea typeface="Aptos"/>
              </a:rPr>
              <a:t>IN ↑  to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007b82"/>
                </a:solidFill>
                <a:latin typeface="Aptos"/>
                <a:ea typeface="Aptos"/>
              </a:rPr>
              <a:t>result and execution status · drift / telemetry · verifiable action record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OUT chip"/>
          <p:cNvSpPr/>
          <p:nvPr/>
        </p:nvSpPr>
        <p:spPr>
          <a:xfrm>
            <a:off x="6126480" y="4389120"/>
            <a:ext cx="1581120" cy="575280"/>
          </a:xfrm>
          <a:prstGeom prst="roundRect">
            <a:avLst>
              <a:gd name="adj" fmla="val 12000"/>
            </a:avLst>
          </a:prstGeom>
          <a:solidFill>
            <a:srgbClr val="fff8f2"/>
          </a:solidFill>
          <a:ln w="13970">
            <a:solidFill>
              <a:srgbClr val="c1762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54720" rIns="45720" tIns="27360" bIns="18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c17629"/>
                </a:solidFill>
                <a:latin typeface="Aptos"/>
                <a:ea typeface="Aptos"/>
              </a:rPr>
              <a:t>OUT ↓  from EA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51"/>
              </a:spcBef>
            </a:pPr>
            <a:r>
              <a:rPr b="0" lang="en-US" sz="690" spc="-1" strike="noStrike">
                <a:solidFill>
                  <a:srgbClr val="c17629"/>
                </a:solidFill>
                <a:latin typeface="Aptos"/>
                <a:ea typeface="Aptos"/>
              </a:rPr>
              <a:t>outcome reconciliation · qualified effect state · F8 statement for record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ubsystem Execution"/>
          <p:cNvSpPr/>
          <p:nvPr/>
        </p:nvSpPr>
        <p:spPr>
          <a:xfrm>
            <a:off x="4480560" y="5029200"/>
            <a:ext cx="3227040" cy="730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7780">
            <a:solidFill>
              <a:srgbClr val="a8b4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440" rIns="73080" tIns="45000" bIns="27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Execution / Outcome / Audit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Tools, outcomes, telemetry and action records.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b="1" lang="en-US" sz="720" spc="-1" strike="noStrike">
                <a:solidFill>
                  <a:srgbClr val="007b82"/>
                </a:solidFill>
                <a:latin typeface="Aptos"/>
                <a:ea typeface="Aptos"/>
              </a:rPr>
              <a:t>04 · O3 · O5 · IF-S7 · IF-S8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Legend frame"/>
          <p:cNvSpPr/>
          <p:nvPr/>
        </p:nvSpPr>
        <p:spPr>
          <a:xfrm>
            <a:off x="384120" y="6035040"/>
            <a:ext cx="10332000" cy="3834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9525">
            <a:solidFill>
              <a:srgbClr val="d7dce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080" rIns="6408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69" name="Legend"/>
          <p:cNvSpPr/>
          <p:nvPr/>
        </p:nvSpPr>
        <p:spPr>
          <a:xfrm>
            <a:off x="502920" y="6062400"/>
            <a:ext cx="10149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IN · to EA </a:t>
            </a:r>
            <a:r>
              <a:rPr b="0" lang="en-US" sz="740" spc="-1" strike="noStrike">
                <a:solidFill>
                  <a:srgbClr val="5d6572"/>
                </a:solidFill>
                <a:latin typeface="Aptos"/>
                <a:ea typeface="Aptos"/>
              </a:rPr>
              <a:t>inputs listed in doc 04 for that interface   </a:t>
            </a:r>
            <a:r>
              <a:rPr b="1" lang="en-US" sz="780" spc="-1" strike="noStrike">
                <a:solidFill>
                  <a:srgbClr val="c17629"/>
                </a:solidFill>
                <a:latin typeface="Aptos"/>
                <a:ea typeface="Aptos"/>
              </a:rPr>
              <a:t>OUT · from EA </a:t>
            </a:r>
            <a:r>
              <a:rPr b="0" lang="en-US" sz="740" spc="-1" strike="noStrike">
                <a:solidFill>
                  <a:srgbClr val="5d6572"/>
                </a:solidFill>
                <a:latin typeface="Aptos"/>
                <a:ea typeface="Aptos"/>
              </a:rPr>
              <a:t>EA outputs to that function   </a:t>
            </a:r>
            <a:r>
              <a:rPr b="1" lang="en-US" sz="780" spc="-1" strike="noStrike">
                <a:solidFill>
                  <a:srgbClr val="007b82"/>
                </a:solidFill>
                <a:latin typeface="Aptos"/>
                <a:ea typeface="Aptos"/>
              </a:rPr>
              <a:t>04 · codes </a:t>
            </a:r>
            <a:r>
              <a:rPr b="0" lang="en-US" sz="740" spc="-1" strike="noStrike">
                <a:solidFill>
                  <a:srgbClr val="5d6572"/>
                </a:solidFill>
                <a:latin typeface="Aptos"/>
                <a:ea typeface="Aptos"/>
              </a:rPr>
              <a:t>interface IDs O1–O6 / IF-S1–S13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99"/>
              </a:spcBef>
            </a:pPr>
            <a:r>
              <a:rPr b="0" i="1" lang="en-US" sz="700" spc="-1" strike="noStrike">
                <a:solidFill>
                  <a:srgbClr val="5d6572"/>
                </a:solidFill>
                <a:latin typeface="Aptos"/>
                <a:ea typeface="Aptos"/>
              </a:rPr>
              <a:t>Not shown: O4 context / memory / retrieval, IF-S9 evaluation, IF-S10 privacy. Final P1/P2/P3 closure belongs to MSCA Operation/Repositioning.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126"/>
          <p:cNvSpPr/>
          <p:nvPr/>
        </p:nvSpPr>
        <p:spPr>
          <a:xfrm>
            <a:off x="1332000" y="6510600"/>
            <a:ext cx="2035080" cy="1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2"/>
              </a:rPr>
              <a:t>04 · General Functional Interfaces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Box 1"/>
          <p:cNvSpPr/>
          <p:nvPr/>
        </p:nvSpPr>
        <p:spPr>
          <a:xfrm>
            <a:off x="255960" y="182880"/>
            <a:ext cx="987480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255960" y="502920"/>
            <a:ext cx="109720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3" name="Rounded Rectangle 3"/>
          <p:cNvSpPr/>
          <p:nvPr/>
        </p:nvSpPr>
        <p:spPr>
          <a:xfrm>
            <a:off x="320040" y="822960"/>
            <a:ext cx="217548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7a4fb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Human / Institutional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Governance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Objectives, rights, legitimacy, accountability,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legal / organizational constraints.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ounded Rectangle 4"/>
          <p:cNvSpPr/>
          <p:nvPr/>
        </p:nvSpPr>
        <p:spPr>
          <a:xfrm>
            <a:off x="2862000" y="822960"/>
            <a:ext cx="217548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Privacy / Data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Governance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Consent, disclosure limits, data minimization,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correlation and privacy boundaries.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5"/>
          <p:cNvSpPr/>
          <p:nvPr/>
        </p:nvSpPr>
        <p:spPr>
          <a:xfrm>
            <a:off x="5413320" y="822960"/>
            <a:ext cx="217548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7a4fb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Organization / Roles /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Membership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Organizational role models, membership,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ownership and participation context.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6"/>
          <p:cNvSpPr/>
          <p:nvPr/>
        </p:nvSpPr>
        <p:spPr>
          <a:xfrm>
            <a:off x="7955280" y="822960"/>
            <a:ext cx="217548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22860" bIns="22860" anchor="t">
            <a:noAutofit/>
          </a:bodyPr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1030" spc="-1" strike="noStrike">
                <a:solidFill>
                  <a:srgbClr val="282828"/>
                </a:solidFill>
                <a:latin typeface="Aptos"/>
                <a:ea typeface="Aptos"/>
              </a:rPr>
              <a:t>Standards / Profiles /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lang="en-US" sz="720" spc="-1" strike="noStrike">
                <a:solidFill>
                  <a:srgbClr val="282828"/>
                </a:solidFill>
                <a:latin typeface="Aptos"/>
                <a:ea typeface="Aptos"/>
              </a:rPr>
              <a:t>Conformance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Versioned profiles, schemas, interoperability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0" lang="en-US" sz="720" spc="-1" strike="noStrike">
                <a:solidFill>
                  <a:srgbClr val="5d6572"/>
                </a:solidFill>
                <a:latin typeface="Aptos"/>
                <a:ea typeface="Aptos"/>
              </a:rPr>
              <a:t>mappings and conformance fixtures.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Rounded Rectangle 19"/>
          <p:cNvSpPr/>
          <p:nvPr/>
        </p:nvSpPr>
        <p:spPr>
          <a:xfrm>
            <a:off x="311040" y="1810440"/>
            <a:ext cx="208404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Identity / Principal Binding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ounded Rectangle 21"/>
          <p:cNvSpPr/>
          <p:nvPr/>
        </p:nvSpPr>
        <p:spPr>
          <a:xfrm>
            <a:off x="311040" y="2587680"/>
            <a:ext cx="208404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Delegated Authority / Capability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23"/>
          <p:cNvSpPr/>
          <p:nvPr/>
        </p:nvSpPr>
        <p:spPr>
          <a:xfrm>
            <a:off x="311040" y="3364920"/>
            <a:ext cx="208404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Policy / Intent / Authorization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ounded Rectangle 25"/>
          <p:cNvSpPr/>
          <p:nvPr/>
        </p:nvSpPr>
        <p:spPr>
          <a:xfrm>
            <a:off x="311040" y="4142160"/>
            <a:ext cx="208404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Remote Attestation / Runtime Integrity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ounded Rectangle 27"/>
          <p:cNvSpPr/>
          <p:nvPr/>
        </p:nvSpPr>
        <p:spPr>
          <a:xfrm>
            <a:off x="311040" y="4919400"/>
            <a:ext cx="208404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Agent Discovery / Capabilities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ounded Rectangle 29"/>
          <p:cNvSpPr/>
          <p:nvPr/>
        </p:nvSpPr>
        <p:spPr>
          <a:xfrm>
            <a:off x="311040" y="5696640"/>
            <a:ext cx="208404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Memory / Context Provenance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ounded Rectangle 31"/>
          <p:cNvSpPr/>
          <p:nvPr/>
        </p:nvSpPr>
        <p:spPr>
          <a:xfrm>
            <a:off x="9555480" y="1810440"/>
            <a:ext cx="2239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5d657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A2A / Messaging / Interoperability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Rounded Rectangle 33"/>
          <p:cNvSpPr/>
          <p:nvPr/>
        </p:nvSpPr>
        <p:spPr>
          <a:xfrm>
            <a:off x="9555480" y="2587680"/>
            <a:ext cx="2239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Trust / Reputation / Corroboration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ounded Rectangle 35"/>
          <p:cNvSpPr/>
          <p:nvPr/>
        </p:nvSpPr>
        <p:spPr>
          <a:xfrm>
            <a:off x="9555480" y="3364920"/>
            <a:ext cx="2239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Shared Signals / Warnings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ounded Rectangle 37"/>
          <p:cNvSpPr/>
          <p:nvPr/>
        </p:nvSpPr>
        <p:spPr>
          <a:xfrm>
            <a:off x="9555480" y="4142160"/>
            <a:ext cx="2239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Defense / Blast Radius / Containment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Rounded Rectangle 39"/>
          <p:cNvSpPr/>
          <p:nvPr/>
        </p:nvSpPr>
        <p:spPr>
          <a:xfrm>
            <a:off x="9555480" y="4919400"/>
            <a:ext cx="2239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Incentives / Accountability / Inspection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ounded Rectangle 41"/>
          <p:cNvSpPr/>
          <p:nvPr/>
        </p:nvSpPr>
        <p:spPr>
          <a:xfrm>
            <a:off x="9555480" y="5696640"/>
            <a:ext cx="2239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rIns="76320" tIns="76320" bIns="7632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Lifecycle / Session / Resolution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ounded Rectangle 43"/>
          <p:cNvSpPr/>
          <p:nvPr/>
        </p:nvSpPr>
        <p:spPr>
          <a:xfrm>
            <a:off x="2761560" y="5687640"/>
            <a:ext cx="1325160" cy="60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65d4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Tool &amp; Action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Execution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4316040" y="5687640"/>
            <a:ext cx="1325160" cy="60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65d4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Human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Oversight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5906880" y="5687640"/>
            <a:ext cx="1325160" cy="60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c1762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Observability /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Telemetry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7525440" y="5687640"/>
            <a:ext cx="1325160" cy="602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4682d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3360" rIns="63360" tIns="63360" bIns="6336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980" spc="-1" strike="noStrike">
                <a:solidFill>
                  <a:srgbClr val="282828"/>
                </a:solidFill>
                <a:latin typeface="Aptos"/>
                <a:ea typeface="Aptos"/>
              </a:rPr>
              <a:t>Execution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82828"/>
                </a:solidFill>
                <a:latin typeface="Aptos"/>
                <a:ea typeface="Aptos"/>
              </a:rPr>
              <a:t>Outcome / Receipts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47"/>
          <p:cNvSpPr/>
          <p:nvPr/>
        </p:nvSpPr>
        <p:spPr>
          <a:xfrm>
            <a:off x="2724840" y="6400800"/>
            <a:ext cx="690300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4" name="Rectangle 48"/>
          <p:cNvSpPr/>
          <p:nvPr/>
        </p:nvSpPr>
        <p:spPr>
          <a:xfrm>
            <a:off x="0" y="0"/>
            <a:ext cx="12191040" cy="78552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5" name="TextBox 49"/>
          <p:cNvSpPr/>
          <p:nvPr/>
        </p:nvSpPr>
        <p:spPr>
          <a:xfrm>
            <a:off x="292680" y="237600"/>
            <a:ext cx="1097208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25560" bIns="2556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1"/>
              </a:rPr>
              <a:t>Ecosystem Positioning Architecture — Extended Situational Core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50"/>
          <p:cNvSpPr/>
          <p:nvPr/>
        </p:nvSpPr>
        <p:spPr>
          <a:xfrm>
            <a:off x="292680" y="530280"/>
            <a:ext cx="1097208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25560" bIns="2556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5d6572"/>
                </a:solidFill>
                <a:latin typeface="Aptos"/>
                <a:ea typeface="Aptos"/>
              </a:rPr>
              <a:t>Agentic-AI, decentralized-identity (DIF) and ecosystem-defense components around one core: Ecosystem Positioning.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54"/>
          <p:cNvSpPr/>
          <p:nvPr/>
        </p:nvSpPr>
        <p:spPr>
          <a:xfrm>
            <a:off x="0" y="6327720"/>
            <a:ext cx="12191040" cy="52956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8" name="TextBox 55"/>
          <p:cNvSpPr/>
          <p:nvPr/>
        </p:nvSpPr>
        <p:spPr>
          <a:xfrm>
            <a:off x="2834640" y="6382440"/>
            <a:ext cx="6537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rIns="38160" tIns="25560" bIns="2556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880" spc="-1" strike="noStrike">
                <a:solidFill>
                  <a:srgbClr val="5d6572"/>
                </a:solidFill>
                <a:latin typeface="Aptos"/>
                <a:ea typeface="Aptos"/>
              </a:rPr>
              <a:t>Reading rule: outer boxes are familiar agentic-AI capabilities. Positioning composes their decision-relevant state into a participant-local frame and requests requalification; owners decide.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56"/>
          <p:cNvSpPr/>
          <p:nvPr/>
        </p:nvSpPr>
        <p:spPr>
          <a:xfrm>
            <a:off x="11018520" y="6546960"/>
            <a:ext cx="319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poke L"/>
          <p:cNvSpPr/>
          <p:nvPr/>
        </p:nvSpPr>
        <p:spPr>
          <a:xfrm>
            <a:off x="2395440" y="2093760"/>
            <a:ext cx="1975320" cy="3294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1" name="Spoke R"/>
          <p:cNvSpPr/>
          <p:nvPr/>
        </p:nvSpPr>
        <p:spPr>
          <a:xfrm flipH="1">
            <a:off x="7571160" y="2093760"/>
            <a:ext cx="1984320" cy="3294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2" name="Spoke L"/>
          <p:cNvSpPr/>
          <p:nvPr/>
        </p:nvSpPr>
        <p:spPr>
          <a:xfrm>
            <a:off x="2395440" y="2871000"/>
            <a:ext cx="1975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3" name="Spoke R"/>
          <p:cNvSpPr/>
          <p:nvPr/>
        </p:nvSpPr>
        <p:spPr>
          <a:xfrm flipH="1">
            <a:off x="7571160" y="2871000"/>
            <a:ext cx="1984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4" name="Spoke L"/>
          <p:cNvSpPr/>
          <p:nvPr/>
        </p:nvSpPr>
        <p:spPr>
          <a:xfrm>
            <a:off x="2395440" y="3648240"/>
            <a:ext cx="1975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5" name="Spoke R"/>
          <p:cNvSpPr/>
          <p:nvPr/>
        </p:nvSpPr>
        <p:spPr>
          <a:xfrm flipH="1">
            <a:off x="7571160" y="3648240"/>
            <a:ext cx="1984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6" name="Spoke L"/>
          <p:cNvSpPr/>
          <p:nvPr/>
        </p:nvSpPr>
        <p:spPr>
          <a:xfrm>
            <a:off x="2395440" y="4425480"/>
            <a:ext cx="1975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7" name="Spoke R"/>
          <p:cNvSpPr/>
          <p:nvPr/>
        </p:nvSpPr>
        <p:spPr>
          <a:xfrm flipH="1">
            <a:off x="7571160" y="4425480"/>
            <a:ext cx="1984320" cy="36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8" name="Spoke L"/>
          <p:cNvSpPr/>
          <p:nvPr/>
        </p:nvSpPr>
        <p:spPr>
          <a:xfrm flipV="1">
            <a:off x="2395440" y="4635720"/>
            <a:ext cx="1975320" cy="5670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9" name="Spoke R"/>
          <p:cNvSpPr/>
          <p:nvPr/>
        </p:nvSpPr>
        <p:spPr>
          <a:xfrm flipH="1" flipV="1">
            <a:off x="7571160" y="4635720"/>
            <a:ext cx="1984320" cy="56700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0" name="Spoke L"/>
          <p:cNvSpPr/>
          <p:nvPr/>
        </p:nvSpPr>
        <p:spPr>
          <a:xfrm flipV="1">
            <a:off x="2395440" y="4635720"/>
            <a:ext cx="1975320" cy="134424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1" name="Spoke R"/>
          <p:cNvSpPr/>
          <p:nvPr/>
        </p:nvSpPr>
        <p:spPr>
          <a:xfrm flipH="1" flipV="1">
            <a:off x="7571160" y="4635720"/>
            <a:ext cx="1984320" cy="134424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2" name="Spoke T"/>
          <p:cNvSpPr/>
          <p:nvPr/>
        </p:nvSpPr>
        <p:spPr>
          <a:xfrm>
            <a:off x="1407960" y="1499400"/>
            <a:ext cx="332856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3" name="Spoke T"/>
          <p:cNvSpPr/>
          <p:nvPr/>
        </p:nvSpPr>
        <p:spPr>
          <a:xfrm>
            <a:off x="3949920" y="1499400"/>
            <a:ext cx="78660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4" name="Spoke T"/>
          <p:cNvSpPr/>
          <p:nvPr/>
        </p:nvSpPr>
        <p:spPr>
          <a:xfrm>
            <a:off x="6501240" y="1499400"/>
            <a:ext cx="36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5" name="Spoke T"/>
          <p:cNvSpPr/>
          <p:nvPr/>
        </p:nvSpPr>
        <p:spPr>
          <a:xfrm flipH="1">
            <a:off x="7205400" y="1499400"/>
            <a:ext cx="1837800" cy="6037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6" name="Spoke B"/>
          <p:cNvSpPr/>
          <p:nvPr/>
        </p:nvSpPr>
        <p:spPr>
          <a:xfrm flipV="1">
            <a:off x="3424320" y="4955760"/>
            <a:ext cx="131220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7" name="Spoke B"/>
          <p:cNvSpPr/>
          <p:nvPr/>
        </p:nvSpPr>
        <p:spPr>
          <a:xfrm flipV="1">
            <a:off x="4978800" y="4955760"/>
            <a:ext cx="36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8" name="Spoke B"/>
          <p:cNvSpPr/>
          <p:nvPr/>
        </p:nvSpPr>
        <p:spPr>
          <a:xfrm flipV="1">
            <a:off x="6569640" y="4955760"/>
            <a:ext cx="36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19" name="Spoke B"/>
          <p:cNvSpPr/>
          <p:nvPr/>
        </p:nvSpPr>
        <p:spPr>
          <a:xfrm flipH="1" flipV="1">
            <a:off x="7205400" y="4955760"/>
            <a:ext cx="982800" cy="731520"/>
          </a:xfrm>
          <a:prstGeom prst="line">
            <a:avLst/>
          </a:prstGeom>
          <a:ln w="12700">
            <a:solidFill>
              <a:srgbClr val="a0a8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0" name="Hub Ecosystem Positioning"/>
          <p:cNvSpPr/>
          <p:nvPr/>
        </p:nvSpPr>
        <p:spPr>
          <a:xfrm>
            <a:off x="4370760" y="2103120"/>
            <a:ext cx="3199680" cy="2852280"/>
          </a:xfrm>
          <a:prstGeom prst="roundRect">
            <a:avLst>
              <a:gd name="adj" fmla="val 10000"/>
            </a:avLst>
          </a:prstGeom>
          <a:solidFill>
            <a:srgbClr val="ecf4f9"/>
          </a:solidFill>
          <a:ln w="27940">
            <a:solidFill>
              <a:srgbClr val="4682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080" rIns="6408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1" name="Hub title"/>
          <p:cNvSpPr/>
          <p:nvPr/>
        </p:nvSpPr>
        <p:spPr>
          <a:xfrm>
            <a:off x="4462200" y="2194560"/>
            <a:ext cx="3016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 u="sng">
                <a:solidFill>
                  <a:srgbClr val="0563c1"/>
                </a:solidFill>
                <a:uFillTx/>
                <a:latin typeface="Aptos"/>
                <a:ea typeface="Aptos"/>
                <a:hlinkClick r:id="rId2"/>
              </a:rPr>
              <a:t>Ecosystem Positioning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Hub description"/>
          <p:cNvSpPr/>
          <p:nvPr/>
        </p:nvSpPr>
        <p:spPr>
          <a:xfrm>
            <a:off x="4535280" y="2505600"/>
            <a:ext cx="2870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760" spc="-1" strike="noStrike">
                <a:solidFill>
                  <a:srgbClr val="5d6572"/>
                </a:solidFill>
                <a:latin typeface="Aptos"/>
                <a:ea typeface="Aptos"/>
              </a:rPr>
              <a:t>Participant-local core: qualifies state, maps opportunity, requests transition; owners decide / act.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Cycle arc 1"/>
          <p:cNvSpPr/>
          <p:nvPr/>
        </p:nvSpPr>
        <p:spPr>
          <a:xfrm>
            <a:off x="5422320" y="3173040"/>
            <a:ext cx="1096560" cy="1096560"/>
          </a:xfrm>
          <a:prstGeom prst="arc">
            <a:avLst>
              <a:gd name="adj1" fmla="val 16920000"/>
              <a:gd name="adj2" fmla="val 20880000"/>
            </a:avLst>
          </a:prstGeom>
          <a:noFill/>
          <a:ln w="44450">
            <a:solidFill>
              <a:srgbClr val="007b82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4" name="Cycle arc 2"/>
          <p:cNvSpPr/>
          <p:nvPr/>
        </p:nvSpPr>
        <p:spPr>
          <a:xfrm>
            <a:off x="5422320" y="3173040"/>
            <a:ext cx="1096560" cy="1096560"/>
          </a:xfrm>
          <a:prstGeom prst="arc">
            <a:avLst>
              <a:gd name="adj1" fmla="val 720000"/>
              <a:gd name="adj2" fmla="val 4680000"/>
            </a:avLst>
          </a:prstGeom>
          <a:noFill/>
          <a:ln w="44450">
            <a:solidFill>
              <a:srgbClr val="4682dc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5" name="Cycle arc 3"/>
          <p:cNvSpPr/>
          <p:nvPr/>
        </p:nvSpPr>
        <p:spPr>
          <a:xfrm>
            <a:off x="5422320" y="3173040"/>
            <a:ext cx="1096560" cy="1096560"/>
          </a:xfrm>
          <a:prstGeom prst="arc">
            <a:avLst>
              <a:gd name="adj1" fmla="val 6120000"/>
              <a:gd name="adj2" fmla="val 10080000"/>
            </a:avLst>
          </a:prstGeom>
          <a:noFill/>
          <a:ln w="44450">
            <a:solidFill>
              <a:srgbClr val="c17629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6" name="Cycle arc 4"/>
          <p:cNvSpPr/>
          <p:nvPr/>
        </p:nvSpPr>
        <p:spPr>
          <a:xfrm>
            <a:off x="5422320" y="3173040"/>
            <a:ext cx="1096560" cy="1096560"/>
          </a:xfrm>
          <a:prstGeom prst="arc">
            <a:avLst>
              <a:gd name="adj1" fmla="val 11520000"/>
              <a:gd name="adj2" fmla="val 15480000"/>
            </a:avLst>
          </a:prstGeom>
          <a:noFill/>
          <a:ln w="44450">
            <a:solidFill>
              <a:srgbClr val="1f2c4a"/>
            </a:solidFill>
            <a:round/>
            <a:tailEnd len="sm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27" name="Cycle centre"/>
          <p:cNvSpPr/>
          <p:nvPr/>
        </p:nvSpPr>
        <p:spPr>
          <a:xfrm>
            <a:off x="5513760" y="3566160"/>
            <a:ext cx="9136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4682dc"/>
                </a:solidFill>
                <a:latin typeface="Aptos"/>
                <a:ea typeface="Aptos"/>
              </a:rPr>
              <a:t>↻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tage Requalify"/>
          <p:cNvSpPr/>
          <p:nvPr/>
        </p:nvSpPr>
        <p:spPr>
          <a:xfrm>
            <a:off x="5577840" y="2880360"/>
            <a:ext cx="785520" cy="218880"/>
          </a:xfrm>
          <a:prstGeom prst="roundRect">
            <a:avLst>
              <a:gd name="adj" fmla="val 50000"/>
            </a:avLst>
          </a:prstGeom>
          <a:solidFill>
            <a:srgbClr val="007b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Requalify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tage Reposition"/>
          <p:cNvSpPr/>
          <p:nvPr/>
        </p:nvSpPr>
        <p:spPr>
          <a:xfrm>
            <a:off x="6602040" y="3611880"/>
            <a:ext cx="785520" cy="218880"/>
          </a:xfrm>
          <a:prstGeom prst="roundRect">
            <a:avLst>
              <a:gd name="adj" fmla="val 50000"/>
            </a:avLst>
          </a:prstGeom>
          <a:solidFill>
            <a:srgbClr val="4682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Request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tage Act"/>
          <p:cNvSpPr/>
          <p:nvPr/>
        </p:nvSpPr>
        <p:spPr>
          <a:xfrm>
            <a:off x="5719680" y="4343400"/>
            <a:ext cx="502200" cy="218880"/>
          </a:xfrm>
          <a:prstGeom prst="roundRect">
            <a:avLst>
              <a:gd name="adj" fmla="val 50000"/>
            </a:avLst>
          </a:prstGeom>
          <a:solidFill>
            <a:srgbClr val="c176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Act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tage Observe"/>
          <p:cNvSpPr/>
          <p:nvPr/>
        </p:nvSpPr>
        <p:spPr>
          <a:xfrm>
            <a:off x="4553640" y="3611880"/>
            <a:ext cx="785520" cy="218880"/>
          </a:xfrm>
          <a:prstGeom prst="roundRect">
            <a:avLst>
              <a:gd name="adj" fmla="val 50000"/>
            </a:avLst>
          </a:prstGeom>
          <a:solidFill>
            <a:srgbClr val="1f2c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780" spc="-1" strike="noStrike">
                <a:solidFill>
                  <a:srgbClr val="ffffff"/>
                </a:solidFill>
                <a:latin typeface="Aptos"/>
                <a:ea typeface="Aptos"/>
              </a:rPr>
              <a:t>Observe</a:t>
            </a:r>
            <a:endParaRPr b="0" lang="en-US" sz="7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Cycle caption"/>
          <p:cNvSpPr/>
          <p:nvPr/>
        </p:nvSpPr>
        <p:spPr>
          <a:xfrm>
            <a:off x="4507920" y="4663440"/>
            <a:ext cx="29253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9000" bIns="9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i="1" lang="en-US" sz="740" spc="-1" strike="noStrike">
                <a:solidFill>
                  <a:srgbClr val="4682dc"/>
                </a:solidFill>
                <a:latin typeface="Aptos"/>
                <a:ea typeface="Aptos"/>
              </a:rPr>
              <a:t>event / threshold / schedule driven · no global controller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Box 133"/>
          <p:cNvSpPr/>
          <p:nvPr/>
        </p:nvSpPr>
        <p:spPr>
          <a:xfrm>
            <a:off x="1098360" y="6510600"/>
            <a:ext cx="2502720" cy="1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"/>
              </a:rPr>
              <a:t>Canonical topology</a:t>
            </a:r>
            <a:r>
              <a:rPr b="0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  ·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4"/>
              </a:rPr>
              <a:t>Ecosystem Positioning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Box 1"/>
          <p:cNvSpPr/>
          <p:nvPr/>
        </p:nvSpPr>
        <p:spPr>
          <a:xfrm>
            <a:off x="567000" y="164520"/>
            <a:ext cx="33825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1f2d3d"/>
                </a:solidFill>
                <a:latin typeface="Consolas"/>
                <a:ea typeface="Consolas"/>
              </a:rPr>
              <a:t>FG-TIDA APPLICATION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2"/>
          <p:cNvSpPr/>
          <p:nvPr/>
        </p:nvSpPr>
        <p:spPr>
          <a:xfrm>
            <a:off x="10716840" y="164520"/>
            <a:ext cx="6850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1f2d3d"/>
                </a:solidFill>
                <a:latin typeface="Consolas"/>
                <a:ea typeface="Consolas"/>
              </a:rPr>
              <a:t>§ A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3"/>
          <p:cNvSpPr/>
          <p:nvPr/>
        </p:nvSpPr>
        <p:spPr>
          <a:xfrm>
            <a:off x="567000" y="457200"/>
            <a:ext cx="10834920" cy="10080"/>
          </a:xfrm>
          <a:prstGeom prst="rect">
            <a:avLst/>
          </a:prstGeom>
          <a:solidFill>
            <a:srgbClr val="24355b"/>
          </a:solidFill>
          <a:ln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7" name="TextBox 4"/>
          <p:cNvSpPr/>
          <p:nvPr/>
        </p:nvSpPr>
        <p:spPr>
          <a:xfrm>
            <a:off x="567000" y="640080"/>
            <a:ext cx="1051488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350" spc="-1" strike="noStrike" u="sng">
                <a:solidFill>
                  <a:srgbClr val="0563c1"/>
                </a:solidFill>
                <a:uFillTx/>
                <a:latin typeface="Cambria"/>
                <a:ea typeface="Cambria"/>
                <a:hlinkClick r:id="rId1"/>
              </a:rPr>
              <a:t>FG-TIDA — bounded application of the architecture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5"/>
          <p:cNvSpPr/>
          <p:nvPr/>
        </p:nvSpPr>
        <p:spPr>
          <a:xfrm>
            <a:off x="567000" y="1078920"/>
            <a:ext cx="10514880" cy="34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120" spc="-1" strike="noStrike">
                <a:solidFill>
                  <a:srgbClr val="5d6775"/>
                </a:solidFill>
                <a:latin typeface="Calibri"/>
                <a:ea typeface="Calibri"/>
              </a:rPr>
              <a:t>The architecture is being projected into FG-TIDA as an explicit, evidence-bounded application route — without turning the general corpus into an FG-TIDA-specific design.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ounded Rectangle 6"/>
          <p:cNvSpPr/>
          <p:nvPr/>
        </p:nvSpPr>
        <p:spPr>
          <a:xfrm>
            <a:off x="567000" y="1664280"/>
            <a:ext cx="6537240" cy="3400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2d9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0" name="Rectangle 7"/>
          <p:cNvSpPr/>
          <p:nvPr/>
        </p:nvSpPr>
        <p:spPr>
          <a:xfrm>
            <a:off x="567000" y="1664280"/>
            <a:ext cx="49680" cy="3400920"/>
          </a:xfrm>
          <a:prstGeom prst="rect">
            <a:avLst/>
          </a:prstGeom>
          <a:solidFill>
            <a:srgbClr val="00848a"/>
          </a:solidFill>
          <a:ln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8"/>
          <p:cNvSpPr/>
          <p:nvPr/>
        </p:nvSpPr>
        <p:spPr>
          <a:xfrm>
            <a:off x="731520" y="1810440"/>
            <a:ext cx="620820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24355b"/>
                </a:solidFill>
                <a:latin typeface="Cambria"/>
                <a:ea typeface="Cambria"/>
              </a:rPr>
              <a:t>What is being applied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9"/>
          <p:cNvSpPr/>
          <p:nvPr/>
        </p:nvSpPr>
        <p:spPr>
          <a:xfrm>
            <a:off x="731520" y="2139840"/>
            <a:ext cx="6208200" cy="12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Ecosystem Positioning supplies the participant-local architecture: awareness, positioning, signalling and bounded repositioning.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Ecosystem Awareness supplies the canonical requirements, epistemic qualification and programme-independent interface layer.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The FG-TIDA package then projects that general layer into a standards-facing application: charter/specification preparation, cross-Theme interfaces, cases, tests and provenance.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ounded Rectangle 10"/>
          <p:cNvSpPr/>
          <p:nvPr/>
        </p:nvSpPr>
        <p:spPr>
          <a:xfrm>
            <a:off x="841320" y="4187880"/>
            <a:ext cx="1663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4" name="TextBox 11"/>
          <p:cNvSpPr/>
          <p:nvPr/>
        </p:nvSpPr>
        <p:spPr>
          <a:xfrm>
            <a:off x="914400" y="4270320"/>
            <a:ext cx="15170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24355b"/>
                </a:solidFill>
                <a:latin typeface="Consolas"/>
                <a:ea typeface="Consolas"/>
              </a:rPr>
              <a:t>ECOSYSTEM</a:t>
            </a:r>
            <a:br>
              <a:rPr sz="800"/>
            </a:br>
            <a:r>
              <a:rPr b="1" lang="en-US" sz="800" spc="-1" strike="noStrike">
                <a:solidFill>
                  <a:srgbClr val="24355b"/>
                </a:solidFill>
                <a:latin typeface="Consolas"/>
                <a:ea typeface="Consolas"/>
              </a:rPr>
              <a:t>POSITIONING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2"/>
          <p:cNvSpPr/>
          <p:nvPr/>
        </p:nvSpPr>
        <p:spPr>
          <a:xfrm>
            <a:off x="914400" y="4553640"/>
            <a:ext cx="1517040" cy="11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30" spc="-1" strike="noStrike">
                <a:solidFill>
                  <a:srgbClr val="5d6775"/>
                </a:solidFill>
                <a:latin typeface="Calibri"/>
                <a:ea typeface="Calibri"/>
              </a:rPr>
              <a:t>architecture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13"/>
          <p:cNvSpPr/>
          <p:nvPr/>
        </p:nvSpPr>
        <p:spPr>
          <a:xfrm>
            <a:off x="2541960" y="4389120"/>
            <a:ext cx="2278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24355b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ounded Rectangle 14"/>
          <p:cNvSpPr/>
          <p:nvPr/>
        </p:nvSpPr>
        <p:spPr>
          <a:xfrm>
            <a:off x="2834640" y="4187880"/>
            <a:ext cx="1663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8" name="TextBox 15"/>
          <p:cNvSpPr/>
          <p:nvPr/>
        </p:nvSpPr>
        <p:spPr>
          <a:xfrm>
            <a:off x="2907720" y="4270320"/>
            <a:ext cx="15170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00848a"/>
                </a:solidFill>
                <a:latin typeface="Consolas"/>
                <a:ea typeface="Consolas"/>
              </a:rPr>
              <a:t>ECOSYSTEM</a:t>
            </a:r>
            <a:br>
              <a:rPr sz="800"/>
            </a:br>
            <a:r>
              <a:rPr b="1" lang="en-US" sz="800" spc="-1" strike="noStrike">
                <a:solidFill>
                  <a:srgbClr val="00848a"/>
                </a:solidFill>
                <a:latin typeface="Consolas"/>
                <a:ea typeface="Consolas"/>
              </a:rPr>
              <a:t>AWARENESS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16"/>
          <p:cNvSpPr/>
          <p:nvPr/>
        </p:nvSpPr>
        <p:spPr>
          <a:xfrm>
            <a:off x="2907720" y="4553640"/>
            <a:ext cx="1517040" cy="11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30" spc="-1" strike="noStrike">
                <a:solidFill>
                  <a:srgbClr val="5d6775"/>
                </a:solidFill>
                <a:latin typeface="Calibri"/>
                <a:ea typeface="Calibri"/>
              </a:rPr>
              <a:t>requirements + 04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7"/>
          <p:cNvSpPr/>
          <p:nvPr/>
        </p:nvSpPr>
        <p:spPr>
          <a:xfrm>
            <a:off x="4535280" y="4389120"/>
            <a:ext cx="2278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24355b"/>
                </a:solidFill>
                <a:latin typeface="Calibri"/>
                <a:ea typeface="Calibr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ounded Rectangle 18"/>
          <p:cNvSpPr/>
          <p:nvPr/>
        </p:nvSpPr>
        <p:spPr>
          <a:xfrm>
            <a:off x="4827960" y="4187880"/>
            <a:ext cx="1663560" cy="566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d078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2" name="TextBox 19"/>
          <p:cNvSpPr/>
          <p:nvPr/>
        </p:nvSpPr>
        <p:spPr>
          <a:xfrm>
            <a:off x="4901040" y="4270320"/>
            <a:ext cx="151704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00" spc="-1" strike="noStrike">
                <a:solidFill>
                  <a:srgbClr val="d07800"/>
                </a:solidFill>
                <a:latin typeface="Consolas"/>
                <a:ea typeface="Consolas"/>
              </a:rPr>
              <a:t>FG-TIDA</a:t>
            </a:r>
            <a:br>
              <a:rPr sz="800"/>
            </a:br>
            <a:r>
              <a:rPr b="1" lang="en-US" sz="800" spc="-1" strike="noStrike">
                <a:solidFill>
                  <a:srgbClr val="d07800"/>
                </a:solidFill>
                <a:latin typeface="Consolas"/>
                <a:ea typeface="Consolas"/>
              </a:rPr>
              <a:t>APPLICATION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0"/>
          <p:cNvSpPr/>
          <p:nvPr/>
        </p:nvSpPr>
        <p:spPr>
          <a:xfrm>
            <a:off x="4901040" y="4553640"/>
            <a:ext cx="1517040" cy="11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30" spc="-1" strike="noStrike">
                <a:solidFill>
                  <a:srgbClr val="5d6775"/>
                </a:solidFill>
                <a:latin typeface="Calibri"/>
                <a:ea typeface="Calibri"/>
              </a:rPr>
              <a:t>bounded projection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21"/>
          <p:cNvSpPr/>
          <p:nvPr/>
        </p:nvSpPr>
        <p:spPr>
          <a:xfrm>
            <a:off x="7333560" y="1664280"/>
            <a:ext cx="4068360" cy="3400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2d9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5" name="Rectangle 22"/>
          <p:cNvSpPr/>
          <p:nvPr/>
        </p:nvSpPr>
        <p:spPr>
          <a:xfrm>
            <a:off x="7333560" y="1664280"/>
            <a:ext cx="49680" cy="3400920"/>
          </a:xfrm>
          <a:prstGeom prst="rect">
            <a:avLst/>
          </a:prstGeom>
          <a:solidFill>
            <a:srgbClr val="d07800"/>
          </a:solidFill>
          <a:ln>
            <a:solidFill>
              <a:srgbClr val="d078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6" name="TextBox 23"/>
          <p:cNvSpPr/>
          <p:nvPr/>
        </p:nvSpPr>
        <p:spPr>
          <a:xfrm>
            <a:off x="7498080" y="1810440"/>
            <a:ext cx="37393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24355b"/>
                </a:solidFill>
                <a:latin typeface="Cambria"/>
                <a:ea typeface="Cambria"/>
              </a:rPr>
              <a:t>Bounded by design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24"/>
          <p:cNvSpPr/>
          <p:nvPr/>
        </p:nvSpPr>
        <p:spPr>
          <a:xfrm>
            <a:off x="7498080" y="2139840"/>
            <a:ext cx="3739320" cy="183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</a:t>
            </a: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04 remains programme-independent.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05 is the ideal FG-TIDA projection: the maximum coherent target mapping.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05A is the current-state bridge: only what the public / contributor-confirmed record presently supports; the rest remains candidate, test-only or not established.</a:t>
            </a:r>
            <a:br>
              <a:rPr sz="1000"/>
            </a:br>
            <a:br>
              <a:rPr sz="1000"/>
            </a:br>
            <a:r>
              <a:rPr b="0" lang="en-US" sz="1000" spc="-1" strike="noStrike">
                <a:solidFill>
                  <a:srgbClr val="1f2d3d"/>
                </a:solidFill>
                <a:latin typeface="Calibri"/>
                <a:ea typeface="Calibri"/>
              </a:rPr>
              <a:t>• Charter and specification preparation do not imply FG-TIDA adoption, an established Working Group, an ITU-T deliverable or institutional endorsement.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25"/>
          <p:cNvSpPr/>
          <p:nvPr/>
        </p:nvSpPr>
        <p:spPr>
          <a:xfrm>
            <a:off x="567000" y="5321880"/>
            <a:ext cx="2742480" cy="12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820" spc="-1" strike="noStrike">
                <a:solidFill>
                  <a:srgbClr val="24355b"/>
                </a:solidFill>
                <a:latin typeface="Consolas"/>
                <a:ea typeface="Consolas"/>
              </a:rPr>
              <a:t>THREE DIRECT ROUTES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26"/>
          <p:cNvSpPr/>
          <p:nvPr/>
        </p:nvSpPr>
        <p:spPr>
          <a:xfrm>
            <a:off x="567000" y="5559480"/>
            <a:ext cx="3382560" cy="41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3970"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0" name="TextBox 27"/>
          <p:cNvSpPr/>
          <p:nvPr/>
        </p:nvSpPr>
        <p:spPr>
          <a:xfrm>
            <a:off x="621720" y="5721840"/>
            <a:ext cx="327276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2"/>
              </a:rPr>
              <a:t>Ecosystem Positioning →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28"/>
          <p:cNvSpPr/>
          <p:nvPr/>
        </p:nvSpPr>
        <p:spPr>
          <a:xfrm>
            <a:off x="4407480" y="5559480"/>
            <a:ext cx="3382560" cy="41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3970"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2" name="TextBox 29"/>
          <p:cNvSpPr/>
          <p:nvPr/>
        </p:nvSpPr>
        <p:spPr>
          <a:xfrm>
            <a:off x="4462200" y="5721840"/>
            <a:ext cx="327276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3"/>
              </a:rPr>
              <a:t>Ecosystem Awareness →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ounded Rectangle 30"/>
          <p:cNvSpPr/>
          <p:nvPr/>
        </p:nvSpPr>
        <p:spPr>
          <a:xfrm>
            <a:off x="8247960" y="5559480"/>
            <a:ext cx="3153960" cy="419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3970">
            <a:solidFill>
              <a:srgbClr val="d078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4" name="TextBox 31"/>
          <p:cNvSpPr/>
          <p:nvPr/>
        </p:nvSpPr>
        <p:spPr>
          <a:xfrm>
            <a:off x="8302680" y="5721840"/>
            <a:ext cx="304416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4"/>
              </a:rPr>
              <a:t>FG-TIDA application package →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ectangle 32"/>
          <p:cNvSpPr/>
          <p:nvPr/>
        </p:nvSpPr>
        <p:spPr>
          <a:xfrm>
            <a:off x="567000" y="6236280"/>
            <a:ext cx="10834920" cy="10080"/>
          </a:xfrm>
          <a:prstGeom prst="rect">
            <a:avLst/>
          </a:prstGeom>
          <a:solidFill>
            <a:srgbClr val="24355b"/>
          </a:solidFill>
          <a:ln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6" name="TextBox 33"/>
          <p:cNvSpPr/>
          <p:nvPr/>
        </p:nvSpPr>
        <p:spPr>
          <a:xfrm>
            <a:off x="3931920" y="6355080"/>
            <a:ext cx="3931200" cy="1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20" spc="-1" strike="noStrike">
                <a:solidFill>
                  <a:srgbClr val="5d6775"/>
                </a:solidFill>
                <a:latin typeface="Consolas"/>
                <a:ea typeface="Consolas"/>
              </a:rPr>
              <a:t>Ecosystem Positioning · bounded FG-TIDA application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34"/>
          <p:cNvSpPr/>
          <p:nvPr/>
        </p:nvSpPr>
        <p:spPr>
          <a:xfrm>
            <a:off x="11045880" y="6355080"/>
            <a:ext cx="27360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35"/>
          <p:cNvSpPr/>
          <p:nvPr/>
        </p:nvSpPr>
        <p:spPr>
          <a:xfrm>
            <a:off x="1444680" y="6510600"/>
            <a:ext cx="1809720" cy="1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680" spc="-1" strike="noStrike">
                <a:solidFill>
                  <a:srgbClr val="727a86"/>
                </a:solidFill>
                <a:latin typeface="Calibri"/>
                <a:ea typeface="Calibri"/>
              </a:rPr>
              <a:t>CORPUS ↗  </a:t>
            </a:r>
            <a:r>
              <a:rPr b="0" lang="en-US" sz="680" spc="-1" strike="noStrike" u="sng">
                <a:solidFill>
                  <a:srgbClr val="0563c1"/>
                </a:solidFill>
                <a:uFillTx/>
                <a:latin typeface="Calibri"/>
                <a:ea typeface="Calibri"/>
                <a:hlinkClick r:id="rId5"/>
              </a:rPr>
              <a:t>FG-TIDA application package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Box 1"/>
          <p:cNvSpPr/>
          <p:nvPr/>
        </p:nvSpPr>
        <p:spPr>
          <a:xfrm>
            <a:off x="585360" y="155520"/>
            <a:ext cx="31996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5d6775"/>
                </a:solidFill>
                <a:latin typeface="Consolas"/>
                <a:ea typeface="Consolas"/>
              </a:rPr>
              <a:t>CURRENT STATE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2"/>
          <p:cNvSpPr/>
          <p:nvPr/>
        </p:nvSpPr>
        <p:spPr>
          <a:xfrm>
            <a:off x="10561320" y="155520"/>
            <a:ext cx="6850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60" spc="-1" strike="noStrike">
                <a:solidFill>
                  <a:srgbClr val="5d6775"/>
                </a:solidFill>
                <a:latin typeface="Consolas"/>
                <a:ea typeface="Consolas"/>
              </a:rPr>
              <a:t>§ A1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Rectangle 3"/>
          <p:cNvSpPr/>
          <p:nvPr/>
        </p:nvSpPr>
        <p:spPr>
          <a:xfrm>
            <a:off x="585360" y="457200"/>
            <a:ext cx="10825920" cy="10080"/>
          </a:xfrm>
          <a:prstGeom prst="rect">
            <a:avLst/>
          </a:prstGeom>
          <a:solidFill>
            <a:srgbClr val="24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2" name="Rectangle 4"/>
          <p:cNvSpPr/>
          <p:nvPr/>
        </p:nvSpPr>
        <p:spPr>
          <a:xfrm>
            <a:off x="585360" y="511920"/>
            <a:ext cx="10825920" cy="4680"/>
          </a:xfrm>
          <a:prstGeom prst="rect">
            <a:avLst/>
          </a:prstGeom>
          <a:solidFill>
            <a:srgbClr val="24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9600" bIns="-396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3" name="TextBox 5"/>
          <p:cNvSpPr/>
          <p:nvPr/>
        </p:nvSpPr>
        <p:spPr>
          <a:xfrm>
            <a:off x="621720" y="694800"/>
            <a:ext cx="1060632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350" spc="-1" strike="noStrike">
                <a:solidFill>
                  <a:srgbClr val="24355b"/>
                </a:solidFill>
                <a:latin typeface="Cambria"/>
                <a:ea typeface="Cambria"/>
              </a:rPr>
              <a:t>What exists today — beyond the architecture diagram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6"/>
          <p:cNvSpPr/>
          <p:nvPr/>
        </p:nvSpPr>
        <p:spPr>
          <a:xfrm>
            <a:off x="621720" y="1152000"/>
            <a:ext cx="1051488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70" spc="-1" strike="noStrike">
                <a:solidFill>
                  <a:srgbClr val="5d6775"/>
                </a:solidFill>
                <a:latin typeface="Aptos"/>
                <a:ea typeface="Aptos"/>
              </a:rPr>
              <a:t>Working hypothesis, but not paper-only: canonical artefacts, executable harnesses and a standards-facing contribution route already exist.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Rectangle 7"/>
          <p:cNvSpPr/>
          <p:nvPr/>
        </p:nvSpPr>
        <p:spPr>
          <a:xfrm>
            <a:off x="585360" y="6446520"/>
            <a:ext cx="10825920" cy="10080"/>
          </a:xfrm>
          <a:prstGeom prst="rect">
            <a:avLst/>
          </a:prstGeom>
          <a:solidFill>
            <a:srgbClr val="24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6" name="TextBox 8"/>
          <p:cNvSpPr/>
          <p:nvPr/>
        </p:nvSpPr>
        <p:spPr>
          <a:xfrm>
            <a:off x="567000" y="6510600"/>
            <a:ext cx="52113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770" spc="-1" strike="noStrike">
                <a:solidFill>
                  <a:srgbClr val="5d6775"/>
                </a:solidFill>
                <a:latin typeface="Aptos"/>
                <a:ea typeface="Aptos"/>
              </a:rPr>
              <a:t>CORPUS ↗  00 · 04 · 05/05A · 00K/A1–A6 · CASE-EXTENSION · FG-TIDA package</a:t>
            </a:r>
            <a:endParaRPr b="0" lang="en-US" sz="7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9"/>
          <p:cNvSpPr/>
          <p:nvPr/>
        </p:nvSpPr>
        <p:spPr>
          <a:xfrm>
            <a:off x="4343400" y="6510600"/>
            <a:ext cx="36568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760" spc="-1" strike="noStrike">
                <a:solidFill>
                  <a:srgbClr val="5d6775"/>
                </a:solidFill>
                <a:latin typeface="Aptos"/>
                <a:ea typeface="Aptos"/>
              </a:rPr>
              <a:t>Ecosystem Positioning · canonical working proposal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10"/>
          <p:cNvSpPr/>
          <p:nvPr/>
        </p:nvSpPr>
        <p:spPr>
          <a:xfrm>
            <a:off x="11018520" y="6510600"/>
            <a:ext cx="227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850" spc="-1" strike="noStrike">
                <a:solidFill>
                  <a:srgbClr val="5d6775"/>
                </a:solidFill>
                <a:latin typeface="Aptos"/>
                <a:ea typeface="Aptos"/>
              </a:rPr>
              <a:t>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Rounded Rectangle 11"/>
          <p:cNvSpPr/>
          <p:nvPr/>
        </p:nvSpPr>
        <p:spPr>
          <a:xfrm>
            <a:off x="621720" y="1664280"/>
            <a:ext cx="3382560" cy="3181320"/>
          </a:xfrm>
          <a:prstGeom prst="roundRect">
            <a:avLst>
              <a:gd name="adj" fmla="val 16667"/>
            </a:avLst>
          </a:prstGeom>
          <a:solidFill>
            <a:srgbClr val="e8f6f5"/>
          </a:solidFill>
          <a:ln w="10160">
            <a:solidFill>
              <a:srgbClr val="d9d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0" name="Rectangle 12"/>
          <p:cNvSpPr/>
          <p:nvPr/>
        </p:nvSpPr>
        <p:spPr>
          <a:xfrm>
            <a:off x="621720" y="1664280"/>
            <a:ext cx="49680" cy="3181320"/>
          </a:xfrm>
          <a:prstGeom prst="rect">
            <a:avLst/>
          </a:prstGeom>
          <a:solidFill>
            <a:srgbClr val="008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1" name="TextBox 13"/>
          <p:cNvSpPr/>
          <p:nvPr/>
        </p:nvSpPr>
        <p:spPr>
          <a:xfrm>
            <a:off x="822960" y="1847160"/>
            <a:ext cx="297108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00848a"/>
                </a:solidFill>
                <a:latin typeface="Consolas"/>
                <a:ea typeface="Consolas"/>
              </a:rPr>
              <a:t>CANONICAL ARTEFACTS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14"/>
          <p:cNvSpPr/>
          <p:nvPr/>
        </p:nvSpPr>
        <p:spPr>
          <a:xfrm>
            <a:off x="822960" y="2258640"/>
            <a:ext cx="2971080" cy="11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</a:t>
            </a: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00 · S1–S14 / T1–T4 / KPI contract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04 · programme-independent interfaces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05 · ideal FG-TIDA projection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05A · current-state evidence bridge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draft charter / specification preparation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six Success Model Cases + extensibility profiles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15"/>
          <p:cNvSpPr/>
          <p:nvPr/>
        </p:nvSpPr>
        <p:spPr>
          <a:xfrm>
            <a:off x="4160520" y="1664280"/>
            <a:ext cx="3382560" cy="3181320"/>
          </a:xfrm>
          <a:prstGeom prst="roundRect">
            <a:avLst>
              <a:gd name="adj" fmla="val 16667"/>
            </a:avLst>
          </a:prstGeom>
          <a:solidFill>
            <a:srgbClr val="e9f2fb"/>
          </a:solidFill>
          <a:ln w="10160">
            <a:solidFill>
              <a:srgbClr val="d9d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4" name="Rectangle 16"/>
          <p:cNvSpPr/>
          <p:nvPr/>
        </p:nvSpPr>
        <p:spPr>
          <a:xfrm>
            <a:off x="4160520" y="1664280"/>
            <a:ext cx="49680" cy="3181320"/>
          </a:xfrm>
          <a:prstGeom prst="rect">
            <a:avLst/>
          </a:prstGeom>
          <a:solidFill>
            <a:srgbClr val="2f6f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5" name="TextBox 17"/>
          <p:cNvSpPr/>
          <p:nvPr/>
        </p:nvSpPr>
        <p:spPr>
          <a:xfrm>
            <a:off x="4361760" y="1847160"/>
            <a:ext cx="297108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2f6fb2"/>
                </a:solidFill>
                <a:latin typeface="Consolas"/>
                <a:ea typeface="Consolas"/>
              </a:rPr>
              <a:t>EXECUTABLE EVIDENCE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8"/>
          <p:cNvSpPr/>
          <p:nvPr/>
        </p:nvSpPr>
        <p:spPr>
          <a:xfrm>
            <a:off x="4361760" y="2258640"/>
            <a:ext cx="2971080" cy="11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</a:t>
            </a: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00E–00J quality-plan routes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A1–A6 ablation harnesses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379 registered symbolic tests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A22 full-cube certificate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A23 65,536-state conformance check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TRACE / CLOSURE / CASE-EXTENSION registries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Rounded Rectangle 19"/>
          <p:cNvSpPr/>
          <p:nvPr/>
        </p:nvSpPr>
        <p:spPr>
          <a:xfrm>
            <a:off x="7699320" y="1664280"/>
            <a:ext cx="3583800" cy="3181320"/>
          </a:xfrm>
          <a:prstGeom prst="roundRect">
            <a:avLst>
              <a:gd name="adj" fmla="val 16667"/>
            </a:avLst>
          </a:prstGeom>
          <a:solidFill>
            <a:srgbClr val="fbf1e5"/>
          </a:solidFill>
          <a:ln w="10160">
            <a:solidFill>
              <a:srgbClr val="d9dfe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8" name="Rectangle 20"/>
          <p:cNvSpPr/>
          <p:nvPr/>
        </p:nvSpPr>
        <p:spPr>
          <a:xfrm>
            <a:off x="7699320" y="1664280"/>
            <a:ext cx="49680" cy="3181320"/>
          </a:xfrm>
          <a:prstGeom prst="rect">
            <a:avLst/>
          </a:prstGeom>
          <a:solidFill>
            <a:srgbClr val="d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9" name="TextBox 21"/>
          <p:cNvSpPr/>
          <p:nvPr/>
        </p:nvSpPr>
        <p:spPr>
          <a:xfrm>
            <a:off x="7900560" y="1847160"/>
            <a:ext cx="317232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9" spc="-1" strike="noStrike">
                <a:solidFill>
                  <a:srgbClr val="d07800"/>
                </a:solidFill>
                <a:latin typeface="Consolas"/>
                <a:ea typeface="Consolas"/>
              </a:rPr>
              <a:t>STANDARDS-FACING WORK</a:t>
            </a:r>
            <a:endParaRPr b="0" lang="en-US" sz="9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22"/>
          <p:cNvSpPr/>
          <p:nvPr/>
        </p:nvSpPr>
        <p:spPr>
          <a:xfrm>
            <a:off x="7900560" y="2258640"/>
            <a:ext cx="3172320" cy="148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</a:t>
            </a: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FG-TIDA contribution package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Theme #13 architectural contribution route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cross-Theme interfaces, cases, tests &amp; provenance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harness / testbed paths for independent implementation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current-state vs ideal mapping kept explicit</a:t>
            </a:r>
            <a:br>
              <a:rPr sz="1020"/>
            </a:br>
            <a:r>
              <a:rPr b="0" lang="en-US" sz="1020" spc="-1" strike="noStrike">
                <a:solidFill>
                  <a:srgbClr val="1f2d3d"/>
                </a:solidFill>
                <a:latin typeface="Aptos"/>
                <a:ea typeface="Aptos"/>
              </a:rPr>
              <a:t>• no claim of formal ITU adoption or endorsement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23"/>
          <p:cNvSpPr/>
          <p:nvPr/>
        </p:nvSpPr>
        <p:spPr>
          <a:xfrm>
            <a:off x="658440" y="5074920"/>
            <a:ext cx="210240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930" spc="-1" strike="noStrike">
                <a:solidFill>
                  <a:srgbClr val="24355b"/>
                </a:solidFill>
                <a:latin typeface="Consolas"/>
                <a:ea typeface="Consolas"/>
              </a:rPr>
              <a:t>DEVELOPMENT PATH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24"/>
          <p:cNvSpPr/>
          <p:nvPr/>
        </p:nvSpPr>
        <p:spPr>
          <a:xfrm>
            <a:off x="658440" y="5431680"/>
            <a:ext cx="1965240" cy="50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24355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93" name="TextBox 25"/>
          <p:cNvSpPr/>
          <p:nvPr/>
        </p:nvSpPr>
        <p:spPr>
          <a:xfrm>
            <a:off x="731520" y="5543640"/>
            <a:ext cx="181908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24355b"/>
                </a:solidFill>
                <a:latin typeface="Aptos"/>
                <a:ea typeface="Aptos"/>
              </a:rPr>
              <a:t>Architecture hypothesis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26"/>
          <p:cNvSpPr/>
          <p:nvPr/>
        </p:nvSpPr>
        <p:spPr>
          <a:xfrm>
            <a:off x="2642760" y="5523120"/>
            <a:ext cx="246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ounded Rectangle 27"/>
          <p:cNvSpPr/>
          <p:nvPr/>
        </p:nvSpPr>
        <p:spPr>
          <a:xfrm>
            <a:off x="2935080" y="5431680"/>
            <a:ext cx="2239560" cy="50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2f6fb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96" name="TextBox 28"/>
          <p:cNvSpPr/>
          <p:nvPr/>
        </p:nvSpPr>
        <p:spPr>
          <a:xfrm>
            <a:off x="3008520" y="5477040"/>
            <a:ext cx="209340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2f6fb2"/>
                </a:solidFill>
                <a:latin typeface="Aptos"/>
                <a:ea typeface="Aptos"/>
              </a:rPr>
              <a:t>Frozen case / requirement route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29"/>
          <p:cNvSpPr/>
          <p:nvPr/>
        </p:nvSpPr>
        <p:spPr>
          <a:xfrm>
            <a:off x="5193720" y="5523120"/>
            <a:ext cx="246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ounded Rectangle 30"/>
          <p:cNvSpPr/>
          <p:nvPr/>
        </p:nvSpPr>
        <p:spPr>
          <a:xfrm>
            <a:off x="5486400" y="5431680"/>
            <a:ext cx="1782360" cy="50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00848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99" name="TextBox 31"/>
          <p:cNvSpPr/>
          <p:nvPr/>
        </p:nvSpPr>
        <p:spPr>
          <a:xfrm>
            <a:off x="5559480" y="5543640"/>
            <a:ext cx="163620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00848a"/>
                </a:solidFill>
                <a:latin typeface="Aptos"/>
                <a:ea typeface="Aptos"/>
              </a:rPr>
              <a:t>Executable harness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32"/>
          <p:cNvSpPr/>
          <p:nvPr/>
        </p:nvSpPr>
        <p:spPr>
          <a:xfrm>
            <a:off x="7287840" y="5523120"/>
            <a:ext cx="246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Rounded Rectangle 33"/>
          <p:cNvSpPr/>
          <p:nvPr/>
        </p:nvSpPr>
        <p:spPr>
          <a:xfrm>
            <a:off x="7580520" y="5431680"/>
            <a:ext cx="2102400" cy="50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86e1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2" name="TextBox 34"/>
          <p:cNvSpPr/>
          <p:nvPr/>
        </p:nvSpPr>
        <p:spPr>
          <a:xfrm>
            <a:off x="7653600" y="5477040"/>
            <a:ext cx="1956240" cy="3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c86e14"/>
                </a:solidFill>
                <a:latin typeface="Aptos"/>
                <a:ea typeface="Aptos"/>
              </a:rPr>
              <a:t>Interoperable implementation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35"/>
          <p:cNvSpPr/>
          <p:nvPr/>
        </p:nvSpPr>
        <p:spPr>
          <a:xfrm>
            <a:off x="9701640" y="5523120"/>
            <a:ext cx="246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5d6775"/>
                </a:solidFill>
                <a:latin typeface="Aptos"/>
                <a:ea typeface="Aptos"/>
              </a:rPr>
              <a:t>→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ounded Rectangle 36"/>
          <p:cNvSpPr/>
          <p:nvPr/>
        </p:nvSpPr>
        <p:spPr>
          <a:xfrm>
            <a:off x="9994320" y="5431680"/>
            <a:ext cx="2056680" cy="502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1f2d3d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5" name="TextBox 37"/>
          <p:cNvSpPr/>
          <p:nvPr/>
        </p:nvSpPr>
        <p:spPr>
          <a:xfrm>
            <a:off x="10067400" y="5543640"/>
            <a:ext cx="191052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80" spc="-1" strike="noStrike">
                <a:solidFill>
                  <a:srgbClr val="1f2d3d"/>
                </a:solidFill>
                <a:latin typeface="Aptos"/>
                <a:ea typeface="Aptos"/>
              </a:rPr>
              <a:t>Independent replication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38"/>
          <p:cNvSpPr/>
          <p:nvPr/>
        </p:nvSpPr>
        <p:spPr>
          <a:xfrm>
            <a:off x="667440" y="6126480"/>
            <a:ext cx="105606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860" spc="-1" strike="noStrike">
                <a:solidFill>
                  <a:srgbClr val="5d6775"/>
                </a:solidFill>
                <a:latin typeface="Consolas"/>
                <a:ea typeface="Consolas"/>
              </a:rPr>
              <a:t>STATUS BOUNDARY  ·  contributed ≠ adopted   ·   tested ≠ production-proven   ·   working architecture remains falsifiable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2026-09-27T10:23:55Z</dcterms:created>
  <dc:creator>Walnut Exporter</dc:creator>
  <dc:description/>
  <dc:language>en-US</dc:language>
  <cp:lastModifiedBy>Walnut Exporter</cp:lastModifiedBy>
  <dcterms:modified xsi:type="dcterms:W3CDTF">2026-09-27T10:23:55Z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